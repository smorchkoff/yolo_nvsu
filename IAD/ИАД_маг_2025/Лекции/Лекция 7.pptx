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3" r:id="rId11"/>
    <p:sldId id="264" r:id="rId12"/>
    <p:sldId id="265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16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18.09.2025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Анализ и прогнозирование временных рядов при помощи нейронных сетей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Основные понятия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b="1" dirty="0" smtClean="0"/>
              <a:t>Временной ряд </a:t>
            </a:r>
            <a:r>
              <a:rPr lang="ru-RU" dirty="0" smtClean="0"/>
              <a:t>– последовательность  векторов (скаляров), зависящая от времени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ru-RU" dirty="0" smtClean="0"/>
              <a:t>Это результат изучаемого процесса Р: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2928934"/>
            <a:ext cx="66373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4071942"/>
            <a:ext cx="3390900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Основные понятия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b="1" dirty="0" smtClean="0"/>
              <a:t>Примеры временных рядов:</a:t>
            </a:r>
            <a:endParaRPr lang="ru-RU" dirty="0" smtClean="0"/>
          </a:p>
          <a:p>
            <a:pPr marL="514350" indent="-514350">
              <a:buAutoNum type="arabicPeriod"/>
            </a:pPr>
            <a:r>
              <a:rPr lang="ru-RU" dirty="0" smtClean="0"/>
              <a:t>Изменение курса валюты</a:t>
            </a:r>
          </a:p>
          <a:p>
            <a:pPr marL="514350" indent="-514350">
              <a:buAutoNum type="arabicPeriod"/>
            </a:pPr>
            <a:r>
              <a:rPr lang="ru-RU" dirty="0" smtClean="0"/>
              <a:t>Солнечная активность</a:t>
            </a:r>
          </a:p>
          <a:p>
            <a:pPr marL="514350" indent="-514350">
              <a:buAutoNum type="arabicPeriod"/>
            </a:pPr>
            <a:r>
              <a:rPr lang="ru-RU" dirty="0" smtClean="0"/>
              <a:t>Затраты электроэнергии</a:t>
            </a:r>
          </a:p>
          <a:p>
            <a:pPr marL="514350" indent="-514350">
              <a:buAutoNum type="arabicPeriod"/>
            </a:pPr>
            <a:r>
              <a:rPr lang="ru-RU" dirty="0" smtClean="0"/>
              <a:t>Рождаемость</a:t>
            </a:r>
          </a:p>
          <a:p>
            <a:pPr marL="514350" indent="-514350">
              <a:buAutoNum type="arabicPeriod"/>
            </a:pPr>
            <a:r>
              <a:rPr lang="ru-RU" dirty="0" smtClean="0"/>
              <a:t>Температура воздуха в здании</a:t>
            </a:r>
          </a:p>
          <a:p>
            <a:pPr marL="514350" indent="-514350">
              <a:buNone/>
            </a:pPr>
            <a:endParaRPr lang="ru-RU" dirty="0" smtClean="0"/>
          </a:p>
          <a:p>
            <a:pPr marL="514350" indent="-514350">
              <a:buNone/>
            </a:pPr>
            <a:r>
              <a:rPr lang="ru-RU" dirty="0" smtClean="0"/>
              <a:t>Эти явления могут носить дискретный или непрерывный характер</a:t>
            </a:r>
            <a:endParaRPr lang="en-US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Основные понятия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ru-RU" b="1" dirty="0" smtClean="0"/>
              <a:t>Дискретные процессы:</a:t>
            </a:r>
          </a:p>
          <a:p>
            <a:pPr marL="514350" indent="-514350">
              <a:buNone/>
            </a:pP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солнечная активность за день</a:t>
            </a:r>
          </a:p>
          <a:p>
            <a:pPr marL="514350" indent="-514350">
              <a:buNone/>
            </a:pPr>
            <a:endParaRPr lang="ru-RU" dirty="0" smtClean="0"/>
          </a:p>
          <a:p>
            <a:pPr marL="514350" indent="-514350">
              <a:buNone/>
            </a:pPr>
            <a:r>
              <a:rPr lang="ru-RU" b="1" dirty="0" smtClean="0"/>
              <a:t>Иногда для получения значимых значений данные необходимо агрегировать.</a:t>
            </a:r>
          </a:p>
          <a:p>
            <a:pPr marL="514350" indent="-514350">
              <a:buNone/>
            </a:pPr>
            <a:endParaRPr lang="ru-RU" dirty="0" smtClean="0"/>
          </a:p>
          <a:p>
            <a:pPr marL="514350" indent="-514350">
              <a:buNone/>
            </a:pPr>
            <a:r>
              <a:rPr lang="ru-RU" dirty="0" smtClean="0"/>
              <a:t>Пример:</a:t>
            </a:r>
            <a:br>
              <a:rPr lang="ru-RU" dirty="0" smtClean="0"/>
            </a:br>
            <a:r>
              <a:rPr lang="ru-RU" dirty="0" smtClean="0"/>
              <a:t>Количество рождений в минуту может оказаться менее полезным, чем количество рождений в месяц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Основные понятия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ru-RU" sz="2000" b="1" dirty="0" smtClean="0"/>
              <a:t>Помимо непрерывных и </a:t>
            </a:r>
            <a:r>
              <a:rPr lang="ru-RU" sz="2000" dirty="0" smtClean="0"/>
              <a:t>дискретных </a:t>
            </a:r>
            <a:r>
              <a:rPr lang="ru-RU" sz="2000" b="1" dirty="0" smtClean="0"/>
              <a:t>, процессы бывают детерминированными и стохастическими, линейными и нелинейными и т.д.</a:t>
            </a:r>
          </a:p>
          <a:p>
            <a:pPr marL="514350" indent="-514350">
              <a:buNone/>
            </a:pPr>
            <a:endParaRPr lang="ru-RU" sz="2000" dirty="0" smtClean="0"/>
          </a:p>
          <a:p>
            <a:pPr marL="514350" indent="-514350">
              <a:buNone/>
            </a:pPr>
            <a:r>
              <a:rPr lang="ru-RU" sz="2000" b="1" dirty="0" smtClean="0"/>
              <a:t>Временные ряды изучают: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000" dirty="0" smtClean="0"/>
              <a:t>Теория информации касается описания стохастических временных рядов.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000" dirty="0" smtClean="0"/>
              <a:t>Теория динамических систем занимается описанием и манипулированием в основном нелинейных детерминированных временных рядов.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000" dirty="0" smtClean="0"/>
              <a:t>Цифровая обработка сигналов занимается описанием и манипулированием в основном линейными временными рядами, как детерминированными, так и стохастическими.</a:t>
            </a:r>
            <a:br>
              <a:rPr lang="ru-RU" sz="2000" dirty="0" smtClean="0"/>
            </a:br>
            <a:endParaRPr lang="ru-RU" sz="2000" dirty="0" smtClean="0"/>
          </a:p>
          <a:p>
            <a:pPr marL="514350" indent="-514350">
              <a:buNone/>
            </a:pPr>
            <a:endParaRPr lang="ru-RU" dirty="0" smtClean="0"/>
          </a:p>
          <a:p>
            <a:pPr marL="514350" indent="-514350">
              <a:buNone/>
            </a:pPr>
            <a:endParaRPr lang="ru-RU" dirty="0" smtClean="0"/>
          </a:p>
          <a:p>
            <a:pPr marL="514350" indent="-514350">
              <a:buNone/>
            </a:pPr>
            <a:endParaRPr lang="ru-RU" dirty="0" smtClean="0"/>
          </a:p>
          <a:p>
            <a:pPr marL="514350" indent="-514350">
              <a:buNone/>
            </a:pPr>
            <a:endParaRPr lang="ru-RU" dirty="0" smtClean="0"/>
          </a:p>
          <a:p>
            <a:pPr marL="514350" indent="-514350">
              <a:buNone/>
            </a:pPr>
            <a:endParaRPr lang="ru-RU" dirty="0" smtClean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Возможные виды обработки данных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ru-RU" sz="2000" dirty="0" smtClean="0"/>
              <a:t>прогнозирование будущих значений </a:t>
            </a:r>
            <a:r>
              <a:rPr lang="ru-RU" sz="2000" dirty="0" err="1" smtClean="0"/>
              <a:t>х</a:t>
            </a:r>
            <a:r>
              <a:rPr lang="ru-RU" sz="2000" dirty="0" smtClean="0"/>
              <a:t>[</a:t>
            </a:r>
            <a:r>
              <a:rPr lang="en-US" sz="2000" dirty="0" smtClean="0"/>
              <a:t>t</a:t>
            </a:r>
            <a:r>
              <a:rPr lang="ru-RU" sz="2000" dirty="0" smtClean="0"/>
              <a:t>]</a:t>
            </a:r>
            <a:endParaRPr lang="en-US" sz="2000" dirty="0" smtClean="0"/>
          </a:p>
          <a:p>
            <a:pPr marL="457200" indent="-457200">
              <a:buAutoNum type="arabicPeriod"/>
            </a:pPr>
            <a:r>
              <a:rPr lang="ru-RU" sz="2000" dirty="0" smtClean="0"/>
              <a:t>классификация рядов (один из нескольких классов)</a:t>
            </a:r>
            <a:br>
              <a:rPr lang="ru-RU" sz="2000" dirty="0" smtClean="0"/>
            </a:br>
            <a:r>
              <a:rPr lang="ru-RU" sz="2000" dirty="0" smtClean="0"/>
              <a:t>"цена будет расти"</a:t>
            </a:r>
            <a:br>
              <a:rPr lang="ru-RU" sz="2000" dirty="0" smtClean="0"/>
            </a:br>
            <a:r>
              <a:rPr lang="ru-RU" sz="2000" dirty="0" smtClean="0"/>
              <a:t>"цена пойдет вниз"</a:t>
            </a:r>
            <a:br>
              <a:rPr lang="ru-RU" sz="2000" dirty="0" smtClean="0"/>
            </a:br>
            <a:r>
              <a:rPr lang="ru-RU" sz="2000" dirty="0" smtClean="0"/>
              <a:t>"никаких изменений "</a:t>
            </a:r>
          </a:p>
          <a:p>
            <a:pPr marL="457200" indent="-457200">
              <a:buAutoNum type="arabicPeriod"/>
            </a:pPr>
            <a:r>
              <a:rPr lang="ru-RU" sz="2000" dirty="0" smtClean="0"/>
              <a:t>описание ряда с использованием нескольких значений параметров той или иной модели</a:t>
            </a:r>
          </a:p>
          <a:p>
            <a:pPr marL="457200" indent="-457200">
              <a:buAutoNum type="arabicPeriod"/>
            </a:pPr>
            <a:r>
              <a:rPr lang="ru-RU" sz="2000" dirty="0" smtClean="0"/>
              <a:t>преобразование одного временного ряда в другой</a:t>
            </a:r>
            <a:br>
              <a:rPr lang="ru-RU" sz="2000" dirty="0" smtClean="0"/>
            </a:br>
            <a:r>
              <a:rPr lang="ru-RU" sz="2000" dirty="0" smtClean="0"/>
              <a:t>цены на нефть  -  процентные ставки</a:t>
            </a:r>
            <a:endParaRPr lang="ru-RU" dirty="0" smtClean="0"/>
          </a:p>
          <a:p>
            <a:pPr marL="514350" indent="-514350">
              <a:buNone/>
            </a:pPr>
            <a:endParaRPr lang="ru-RU" dirty="0" smtClean="0"/>
          </a:p>
          <a:p>
            <a:pPr marL="514350" indent="-514350">
              <a:buNone/>
            </a:pPr>
            <a:endParaRPr lang="ru-RU" dirty="0" smtClean="0"/>
          </a:p>
          <a:p>
            <a:pPr marL="514350" indent="-514350">
              <a:buNone/>
            </a:pPr>
            <a:endParaRPr lang="ru-RU" dirty="0" smtClean="0"/>
          </a:p>
          <a:p>
            <a:pPr marL="514350" indent="-514350">
              <a:buNone/>
            </a:pPr>
            <a:endParaRPr lang="ru-RU" dirty="0" smtClean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Нейросетевые предсказатели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Стандартный метод нейронных сетей для выполнения предсказания временных рядов заключается в том, чтобы индуцировать функцию </a:t>
            </a:r>
            <a:r>
              <a:rPr lang="ru-RU" b="1" dirty="0" err="1" smtClean="0"/>
              <a:t>ƒ</a:t>
            </a:r>
            <a:r>
              <a:rPr lang="ru-RU" dirty="0" smtClean="0"/>
              <a:t>, используя любую аппроксимирующую </a:t>
            </a:r>
            <a:r>
              <a:rPr lang="ru-RU" dirty="0" err="1" smtClean="0"/>
              <a:t>нейросетевую</a:t>
            </a:r>
            <a:r>
              <a:rPr lang="ru-RU" dirty="0" smtClean="0"/>
              <a:t> архитектуру</a:t>
            </a:r>
            <a:r>
              <a:rPr lang="en-US" dirty="0" smtClean="0"/>
              <a:t> </a:t>
            </a:r>
            <a:r>
              <a:rPr lang="ru-RU" dirty="0" smtClean="0"/>
              <a:t>прямого распространения с использованием набора кортежей длиной </a:t>
            </a:r>
            <a:r>
              <a:rPr lang="en-US" dirty="0" smtClean="0"/>
              <a:t>n</a:t>
            </a:r>
            <a:r>
              <a:rPr lang="ru-RU" dirty="0" smtClean="0"/>
              <a:t> в качестве входов и одного вывода в качестве целевого значения сети.</a:t>
            </a:r>
          </a:p>
          <a:p>
            <a:pPr>
              <a:buNone/>
            </a:pPr>
            <a:endParaRPr lang="ru-RU" dirty="0" smtClean="0"/>
          </a:p>
          <a:p>
            <a:pPr marL="514350" indent="-514350">
              <a:buNone/>
            </a:pPr>
            <a:endParaRPr lang="ru-RU" dirty="0" smtClean="0"/>
          </a:p>
          <a:p>
            <a:pPr marL="514350" indent="-514350">
              <a:buNone/>
            </a:pPr>
            <a:endParaRPr lang="ru-RU" dirty="0" smtClean="0"/>
          </a:p>
          <a:p>
            <a:pPr marL="514350" indent="-514350">
              <a:buNone/>
            </a:pPr>
            <a:endParaRPr lang="ru-RU" dirty="0" smtClean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Нейросетевые предсказатели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85861"/>
            <a:ext cx="8229600" cy="2714644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ru-RU" sz="3400" b="1" dirty="0" smtClean="0"/>
              <a:t>Метод скользящего окна </a:t>
            </a:r>
            <a:r>
              <a:rPr lang="ru-RU" sz="3400" dirty="0" smtClean="0"/>
              <a:t>— алгоритм трансформации, позволяющий сформировать из членов временного ряда набор данных, который может служить обучающим множеством для построения модели прогнозирования.</a:t>
            </a:r>
          </a:p>
          <a:p>
            <a:pPr>
              <a:buNone/>
            </a:pPr>
            <a:r>
              <a:rPr lang="ru-RU" sz="3400" dirty="0" smtClean="0"/>
              <a:t>Под окном в данном случае понимается временной интервал, содержащий набор значений, которые используются для формирования обучающего примера. В процессе работы алгоритма окно смещается по временной последовательности на единицу наблюдения, и каждое положение окна образует один пример.</a:t>
            </a:r>
          </a:p>
          <a:p>
            <a:pPr>
              <a:buNone/>
            </a:pPr>
            <a:r>
              <a:rPr lang="ru-RU" sz="3400" b="1" dirty="0" smtClean="0"/>
              <a:t>Например</a:t>
            </a:r>
            <a:r>
              <a:rPr lang="ru-RU" sz="3400" dirty="0" smtClean="0"/>
              <a:t>, если еженедельно поступают данные о продажах в течение 50 недель и установлено окно в 5 недель, то в первом примере используются данные с 1 по 5 неделю, а целевым значением будут данные за 6-ю неделю. Во втором случае используются данные со 2 по 6 неделю, а в качестве целевого значения берутся данные за 7-ю и т.д.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 marL="514350" indent="-514350">
              <a:buNone/>
            </a:pPr>
            <a:endParaRPr lang="ru-RU" dirty="0" smtClean="0"/>
          </a:p>
          <a:p>
            <a:pPr marL="514350" indent="-514350">
              <a:buNone/>
            </a:pPr>
            <a:endParaRPr lang="ru-RU" dirty="0" smtClean="0"/>
          </a:p>
          <a:p>
            <a:pPr>
              <a:buNone/>
            </a:pPr>
            <a:endParaRPr lang="ru-RU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3786190"/>
            <a:ext cx="6959099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Содержимое 2"/>
          <p:cNvSpPr txBox="1">
            <a:spLocks/>
          </p:cNvSpPr>
          <p:nvPr/>
        </p:nvSpPr>
        <p:spPr>
          <a:xfrm>
            <a:off x="500034" y="5572140"/>
            <a:ext cx="8229600" cy="97154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ru-RU" sz="1600" dirty="0" smtClean="0"/>
              <a:t>Если требуется построить прогноз не на одну единицу наблюдения, а на несколько, то в качестве целевых выбирается соответствующее число значений, которое называется </a:t>
            </a:r>
            <a:r>
              <a:rPr lang="ru-RU" sz="1600" b="1" dirty="0" smtClean="0"/>
              <a:t>горизонтом прогноза</a:t>
            </a:r>
            <a:r>
              <a:rPr lang="ru-RU" sz="1600" dirty="0" smtClean="0"/>
              <a:t>. Количество наблюдений ряда, которые берутся в качестве входных значений называется </a:t>
            </a:r>
            <a:r>
              <a:rPr lang="ru-RU" sz="1600" b="1" dirty="0" smtClean="0"/>
              <a:t>глубиной прогноза</a:t>
            </a:r>
            <a:r>
              <a:rPr lang="ru-RU" sz="1600" dirty="0" smtClean="0"/>
              <a:t>.</a:t>
            </a:r>
            <a:endParaRPr kumimoji="0" lang="ru-RU" sz="16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Нейросетевые предсказатели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dirty="0" smtClean="0"/>
              <a:t>Стандартн</a:t>
            </a:r>
            <a:r>
              <a:rPr lang="ru-RU" dirty="0" smtClean="0"/>
              <a:t>ая</a:t>
            </a:r>
            <a:r>
              <a:rPr lang="ru-RU" dirty="0" smtClean="0"/>
              <a:t> </a:t>
            </a:r>
            <a:r>
              <a:rPr lang="ru-RU" dirty="0" smtClean="0"/>
              <a:t>нейросетевая архитектура с использованием метода скользящего окна</a:t>
            </a:r>
          </a:p>
          <a:p>
            <a:pPr>
              <a:buNone/>
            </a:pPr>
            <a:endParaRPr lang="ru-RU" dirty="0" smtClean="0"/>
          </a:p>
          <a:p>
            <a:pPr marL="514350" indent="-514350">
              <a:buNone/>
            </a:pPr>
            <a:endParaRPr lang="ru-RU" dirty="0" smtClean="0"/>
          </a:p>
          <a:p>
            <a:pPr marL="514350" indent="-514350">
              <a:buNone/>
            </a:pPr>
            <a:endParaRPr lang="ru-RU" dirty="0" smtClean="0"/>
          </a:p>
          <a:p>
            <a:pPr marL="514350" indent="-514350">
              <a:buNone/>
            </a:pPr>
            <a:endParaRPr lang="ru-RU" dirty="0" smtClean="0"/>
          </a:p>
          <a:p>
            <a:pPr>
              <a:buNone/>
            </a:pPr>
            <a:endParaRPr lang="ru-RU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0298" y="2857496"/>
            <a:ext cx="3248025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Нейросетевые предсказатели. Примеры архитектур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стандартная MLP</a:t>
            </a:r>
            <a:r>
              <a:rPr lang="en-US" dirty="0" smtClean="0"/>
              <a:t> (Multilayer </a:t>
            </a:r>
            <a:r>
              <a:rPr lang="en-US" dirty="0" err="1" smtClean="0"/>
              <a:t>perceptron</a:t>
            </a:r>
            <a:r>
              <a:rPr lang="en-US" dirty="0" smtClean="0"/>
              <a:t>), </a:t>
            </a:r>
            <a:r>
              <a:rPr lang="ru-RU" dirty="0" smtClean="0"/>
              <a:t>Многослойный </a:t>
            </a:r>
            <a:r>
              <a:rPr lang="ru-RU" dirty="0" err="1" smtClean="0"/>
              <a:t>перцептрон</a:t>
            </a:r>
            <a:r>
              <a:rPr lang="ru-RU" dirty="0" smtClean="0"/>
              <a:t> </a:t>
            </a:r>
            <a:r>
              <a:rPr lang="ru-RU" dirty="0" err="1" smtClean="0"/>
              <a:t>Румельхарта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Обязательное требование:</a:t>
            </a:r>
            <a:br>
              <a:rPr lang="ru-RU" dirty="0" smtClean="0"/>
            </a:br>
            <a:r>
              <a:rPr lang="ru-RU" dirty="0" smtClean="0"/>
              <a:t> наличие более чем одного</a:t>
            </a:r>
            <a:br>
              <a:rPr lang="ru-RU" dirty="0" smtClean="0"/>
            </a:br>
            <a:r>
              <a:rPr lang="ru-RU" dirty="0" smtClean="0"/>
              <a:t> обучаемого слоя</a:t>
            </a:r>
            <a:br>
              <a:rPr lang="ru-RU" dirty="0" smtClean="0"/>
            </a:br>
            <a:r>
              <a:rPr lang="ru-RU" dirty="0" smtClean="0"/>
              <a:t> (как правило — два или три)</a:t>
            </a:r>
          </a:p>
          <a:p>
            <a:pPr>
              <a:buNone/>
            </a:pPr>
            <a:endParaRPr lang="ru-RU" dirty="0" smtClean="0"/>
          </a:p>
          <a:p>
            <a:pPr marL="514350" indent="-514350">
              <a:buNone/>
            </a:pPr>
            <a:endParaRPr lang="ru-RU" dirty="0" smtClean="0"/>
          </a:p>
          <a:p>
            <a:pPr marL="514350" indent="-514350">
              <a:buNone/>
            </a:pPr>
            <a:endParaRPr lang="ru-RU" dirty="0" smtClean="0"/>
          </a:p>
          <a:p>
            <a:pPr>
              <a:buNone/>
            </a:pP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008" y="3500438"/>
            <a:ext cx="2999443" cy="3043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Нейросетевые предсказатели. Примеры архитектур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85720" y="1600200"/>
            <a:ext cx="8643998" cy="497207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ru-RU" sz="2800" dirty="0" smtClean="0"/>
              <a:t>архитектура RBF</a:t>
            </a:r>
            <a:r>
              <a:rPr lang="en-US" sz="2800" dirty="0" smtClean="0"/>
              <a:t> (</a:t>
            </a:r>
            <a:r>
              <a:rPr lang="ru-RU" sz="2800" dirty="0" smtClean="0"/>
              <a:t>сеть радиально-базисных функций</a:t>
            </a:r>
            <a:r>
              <a:rPr lang="en-US" sz="2800" dirty="0" smtClean="0"/>
              <a:t>)</a:t>
            </a:r>
            <a:endParaRPr lang="ru-RU" sz="2800" dirty="0" smtClean="0"/>
          </a:p>
          <a:p>
            <a:pPr>
              <a:buNone/>
            </a:pPr>
            <a:endParaRPr lang="ru-RU" sz="2400" dirty="0" smtClean="0"/>
          </a:p>
          <a:p>
            <a:pPr>
              <a:buNone/>
            </a:pPr>
            <a:r>
              <a:rPr lang="ru-RU" sz="2000" dirty="0" smtClean="0"/>
              <a:t>В качестве функций активации использует</a:t>
            </a:r>
            <a:br>
              <a:rPr lang="ru-RU" sz="2000" dirty="0" smtClean="0"/>
            </a:br>
            <a:r>
              <a:rPr lang="ru-RU" sz="2000" dirty="0" smtClean="0"/>
              <a:t>радиально-базисные функции вида:</a:t>
            </a:r>
          </a:p>
          <a:p>
            <a:pPr marL="514350" indent="-514350">
              <a:buNone/>
            </a:pPr>
            <a:endParaRPr lang="ru-RU" dirty="0" smtClean="0"/>
          </a:p>
          <a:p>
            <a:pPr marL="514350" indent="-514350">
              <a:buNone/>
            </a:pPr>
            <a:endParaRPr lang="ru-RU" sz="2000" dirty="0" smtClean="0"/>
          </a:p>
          <a:p>
            <a:pPr marL="0" indent="0">
              <a:buNone/>
            </a:pPr>
            <a:r>
              <a:rPr lang="ru-RU" sz="2000" dirty="0" smtClean="0"/>
              <a:t>где </a:t>
            </a:r>
            <a:r>
              <a:rPr lang="en-US" sz="2000" dirty="0" smtClean="0"/>
              <a:t>x — </a:t>
            </a:r>
            <a:r>
              <a:rPr lang="ru-RU" sz="2000" dirty="0" smtClean="0"/>
              <a:t>вектор входных сигналов нейрона,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l-GR" sz="2000" dirty="0" smtClean="0"/>
              <a:t>σ</a:t>
            </a:r>
            <a:r>
              <a:rPr lang="ru-RU" sz="2000" dirty="0" smtClean="0"/>
              <a:t> </a:t>
            </a:r>
            <a:r>
              <a:rPr lang="en-US" sz="2000" dirty="0" smtClean="0"/>
              <a:t> — </a:t>
            </a:r>
            <a:r>
              <a:rPr lang="ru-RU" sz="2000" dirty="0" smtClean="0"/>
              <a:t>ширина окна функции,</a:t>
            </a:r>
            <a:endParaRPr lang="en-US" sz="2000" dirty="0" smtClean="0"/>
          </a:p>
          <a:p>
            <a:pPr marL="514350" indent="-514350">
              <a:buNone/>
            </a:pPr>
            <a:r>
              <a:rPr lang="ru-RU" sz="2000" dirty="0" err="1" smtClean="0"/>
              <a:t>φ</a:t>
            </a:r>
            <a:r>
              <a:rPr lang="en-US" sz="2000" dirty="0" smtClean="0"/>
              <a:t>(y) - </a:t>
            </a:r>
            <a:r>
              <a:rPr lang="ru-RU" sz="2000" dirty="0" smtClean="0"/>
              <a:t>убывающая функция (чаще всего, равная нулю вне некоторого отрезка).</a:t>
            </a:r>
            <a:endParaRPr lang="en-US" sz="2000" dirty="0" smtClean="0"/>
          </a:p>
          <a:p>
            <a:pPr>
              <a:buNone/>
            </a:pPr>
            <a:r>
              <a:rPr lang="ru-RU" sz="2000" dirty="0" smtClean="0"/>
              <a:t>Радиально-базисная сеть характеризуется тремя особенностями:</a:t>
            </a:r>
          </a:p>
          <a:p>
            <a:r>
              <a:rPr lang="ru-RU" sz="2000" dirty="0" smtClean="0"/>
              <a:t>Единственный скрытый слой;</a:t>
            </a:r>
          </a:p>
          <a:p>
            <a:r>
              <a:rPr lang="ru-RU" sz="2000" dirty="0" smtClean="0"/>
              <a:t>Только нейроны скрытого слоя имеют нелинейную активационную функцию;</a:t>
            </a:r>
          </a:p>
          <a:p>
            <a:r>
              <a:rPr lang="ru-RU" sz="2000" dirty="0" err="1" smtClean="0"/>
              <a:t>Синаптические</a:t>
            </a:r>
            <a:r>
              <a:rPr lang="ru-RU" sz="2000" dirty="0" smtClean="0"/>
              <a:t> веса связей входного и скрытого слоёв равны единице.</a:t>
            </a:r>
          </a:p>
          <a:p>
            <a:pPr marL="514350" indent="-514350">
              <a:buNone/>
            </a:pPr>
            <a:endParaRPr lang="ru-RU" sz="2000" dirty="0" smtClean="0"/>
          </a:p>
        </p:txBody>
      </p:sp>
      <p:pic>
        <p:nvPicPr>
          <p:cNvPr id="2050" name="Picture 2" descr="https://upload.wikimedia.org/wikipedia/commons/thumb/7/7d/Radial_funktion_network.svg/220px-Radial_funktion_network.svg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72198" y="2214554"/>
            <a:ext cx="3071802" cy="2583107"/>
          </a:xfrm>
          <a:prstGeom prst="rect">
            <a:avLst/>
          </a:prstGeom>
          <a:noFill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3071810"/>
            <a:ext cx="523875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Нейросетевые предсказатели. Примеры архитектур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85720" y="1500174"/>
            <a:ext cx="8643998" cy="507209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sz="2800" b="1" dirty="0" smtClean="0"/>
              <a:t>Каскадная корреляционная модель. Самоорганизующиеся нейронные сети</a:t>
            </a:r>
            <a:r>
              <a:rPr lang="ru-RU" sz="2800" dirty="0" smtClean="0"/>
              <a:t>: сеть начинается только с входных и выходных нейронов. Во время тренировочного процесса нейроны выбираются из пула кандидатов и добавляются в скрытый слой. </a:t>
            </a:r>
          </a:p>
          <a:p>
            <a:pPr marL="0" indent="0">
              <a:buNone/>
            </a:pPr>
            <a:r>
              <a:rPr lang="ru-RU" sz="2800" b="1" dirty="0" smtClean="0"/>
              <a:t>Преимущества</a:t>
            </a:r>
            <a:r>
              <a:rPr lang="ru-RU" sz="2800" dirty="0" smtClean="0"/>
              <a:t> (перед многослойными </a:t>
            </a:r>
            <a:r>
              <a:rPr lang="ru-RU" sz="2800" dirty="0" err="1" smtClean="0"/>
              <a:t>персептронными</a:t>
            </a:r>
            <a:r>
              <a:rPr lang="ru-RU" sz="2800" dirty="0" smtClean="0"/>
              <a:t> сетями):</a:t>
            </a:r>
          </a:p>
          <a:p>
            <a:pPr marL="514350" indent="-514350">
              <a:buAutoNum type="arabicPeriod"/>
            </a:pPr>
            <a:r>
              <a:rPr lang="ru-RU" sz="2800" dirty="0" smtClean="0"/>
              <a:t>Поскольку они </a:t>
            </a:r>
            <a:r>
              <a:rPr lang="ru-RU" sz="2800" dirty="0" err="1" smtClean="0"/>
              <a:t>самоорганизуются</a:t>
            </a:r>
            <a:r>
              <a:rPr lang="ru-RU" sz="2800" dirty="0" smtClean="0"/>
              <a:t> и увеличивают скрытый слой во время тренировки, не нужно беспокоиться о том, сколько слоев и нейронов использовать в сети.</a:t>
            </a:r>
          </a:p>
          <a:p>
            <a:pPr marL="514350" indent="-514350">
              <a:buAutoNum type="arabicPeriod"/>
            </a:pPr>
            <a:r>
              <a:rPr lang="ru-RU" sz="2800" dirty="0" smtClean="0"/>
              <a:t>Большая скорость обучения чем </a:t>
            </a:r>
            <a:r>
              <a:rPr lang="ru-RU" sz="2800" dirty="0" err="1" smtClean="0"/>
              <a:t>персептронных</a:t>
            </a:r>
            <a:r>
              <a:rPr lang="ru-RU" sz="2800" dirty="0" smtClean="0"/>
              <a:t> сетей, особенно на больших наборах данных</a:t>
            </a:r>
          </a:p>
          <a:p>
            <a:pPr marL="514350" indent="-514350">
              <a:buAutoNum type="arabicPeriod"/>
            </a:pPr>
            <a:r>
              <a:rPr lang="ru-RU" sz="2800" dirty="0" smtClean="0"/>
              <a:t>Как правило, каскадные корреляционные сети довольно малы, часто имея менее десятка нейронов в скрытом слое.</a:t>
            </a:r>
          </a:p>
          <a:p>
            <a:pPr marL="514350" indent="-514350">
              <a:buAutoNum type="arabicPeriod"/>
            </a:pPr>
            <a:r>
              <a:rPr lang="ru-RU" sz="2400" dirty="0" smtClean="0"/>
              <a:t>Обучение является довольно надежным, и хорошие результаты обычно можно получить при незначительной корректировке параметров или без нее.</a:t>
            </a:r>
          </a:p>
          <a:p>
            <a:pPr marL="514350" indent="-514350">
              <a:buAutoNum type="arabicPeriod"/>
            </a:pPr>
            <a:r>
              <a:rPr lang="ru-RU" sz="2400" dirty="0" smtClean="0"/>
              <a:t>Каскадная корреляция с меньшей вероятностью попадает в локальные минимумы, чем многослойные сети персептронов.</a:t>
            </a:r>
            <a:endParaRPr lang="ru-RU" sz="2800" dirty="0" smtClean="0"/>
          </a:p>
          <a:p>
            <a:pPr>
              <a:buNone/>
            </a:pPr>
            <a:endParaRPr lang="ru-RU" sz="2400" dirty="0" smtClean="0"/>
          </a:p>
          <a:p>
            <a:pPr marL="514350" indent="-514350">
              <a:buNone/>
            </a:pPr>
            <a:endParaRPr lang="ru-RU" sz="2000" dirty="0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Нейросетевые предсказатели. Примеры архитектур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85720" y="1500174"/>
            <a:ext cx="8643998" cy="50720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b="1" dirty="0" smtClean="0"/>
              <a:t>Каскадная корреляционная модель. Самоорганизующиеся нейронные сети</a:t>
            </a:r>
            <a:r>
              <a:rPr lang="ru-RU" sz="1600" dirty="0" smtClean="0"/>
              <a:t>: сеть начинается только с входных и выходных нейронов. Во время тренировочного процесса нейроны выбираются из пула кандидатов и добавляются в скрытый слой. </a:t>
            </a:r>
          </a:p>
          <a:p>
            <a:pPr marL="0" indent="0">
              <a:buNone/>
            </a:pPr>
            <a:r>
              <a:rPr lang="ru-RU" sz="1600" b="1" dirty="0" smtClean="0"/>
              <a:t>Недостатки</a:t>
            </a:r>
            <a:r>
              <a:rPr lang="ru-RU" sz="1600" dirty="0" smtClean="0"/>
              <a:t>:</a:t>
            </a:r>
          </a:p>
          <a:p>
            <a:pPr marL="514350" indent="-514350">
              <a:buAutoNum type="arabicPeriod"/>
            </a:pPr>
            <a:r>
              <a:rPr lang="ru-RU" sz="1600" dirty="0" smtClean="0"/>
              <a:t>Переобучение.</a:t>
            </a:r>
          </a:p>
          <a:p>
            <a:pPr marL="514350" indent="-514350">
              <a:buAutoNum type="arabicPeriod"/>
            </a:pPr>
            <a:r>
              <a:rPr lang="ru-RU" sz="1600" dirty="0" smtClean="0"/>
              <a:t>Менее точны на небольших наборах данных.</a:t>
            </a:r>
          </a:p>
          <a:p>
            <a:pPr>
              <a:buNone/>
            </a:pPr>
            <a:endParaRPr lang="ru-RU" sz="2400" dirty="0" smtClean="0"/>
          </a:p>
          <a:p>
            <a:pPr marL="514350" indent="-514350">
              <a:buNone/>
            </a:pPr>
            <a:endParaRPr lang="ru-RU" sz="2000" dirty="0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Нейросетевые предсказатели. Примеры архитектур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85720" y="1500174"/>
            <a:ext cx="8643998" cy="50720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b="1" dirty="0" smtClean="0"/>
              <a:t>Каскадная корреляционная сеть  </a:t>
            </a:r>
            <a:r>
              <a:rPr lang="ru-RU" sz="1600" dirty="0" smtClean="0"/>
              <a:t>- скрытые нейроны добавляются в сеть по одному и не меняются после их добавления.</a:t>
            </a:r>
          </a:p>
          <a:p>
            <a:pPr marL="0" indent="0">
              <a:buNone/>
            </a:pPr>
            <a:r>
              <a:rPr lang="ru-RU" sz="1600" dirty="0" smtClean="0"/>
              <a:t> Она называется </a:t>
            </a:r>
            <a:r>
              <a:rPr lang="ru-RU" sz="1600" b="1" dirty="0" smtClean="0"/>
              <a:t>каскадом</a:t>
            </a:r>
            <a:r>
              <a:rPr lang="ru-RU" sz="1600" dirty="0" smtClean="0"/>
              <a:t>, потому что выход из всех нейронов, уже находящихся в сети, поступает на вход новых нейронов. </a:t>
            </a:r>
          </a:p>
          <a:p>
            <a:pPr marL="0" indent="0">
              <a:buNone/>
            </a:pPr>
            <a:r>
              <a:rPr lang="ru-RU" sz="1600" dirty="0" smtClean="0"/>
              <a:t>Когда новые нейроны добавляются в скрытый слой, обучающий алгоритм пытается максимизировать величину корреляции между выходом нового нейрона и ошибкой сети, которую необходимо минимизировать.</a:t>
            </a:r>
            <a:br>
              <a:rPr lang="ru-RU" sz="1600" dirty="0" smtClean="0"/>
            </a:b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>Каскадная корреляционная нейронная сеть имеет три слоя: </a:t>
            </a:r>
            <a:r>
              <a:rPr lang="ru-RU" sz="1600" b="1" dirty="0" smtClean="0"/>
              <a:t>входной, </a:t>
            </a:r>
            <a:r>
              <a:rPr lang="ru-RU" sz="1600" b="1" dirty="0" smtClean="0"/>
              <a:t>скрытый </a:t>
            </a:r>
            <a:r>
              <a:rPr lang="ru-RU" sz="1600" b="1" dirty="0" smtClean="0"/>
              <a:t>и выходной.</a:t>
            </a:r>
            <a:endParaRPr lang="ru-RU" sz="2400" b="1" dirty="0" smtClean="0"/>
          </a:p>
          <a:p>
            <a:pPr marL="514350" indent="-514350">
              <a:buNone/>
            </a:pPr>
            <a:endParaRPr lang="ru-RU" sz="2000" dirty="0" smtClean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2" y="4000504"/>
            <a:ext cx="2741564" cy="200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488" y="3823652"/>
            <a:ext cx="2881312" cy="2196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57884" y="4071942"/>
            <a:ext cx="3143272" cy="1973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Оценка размера окна - эвристики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85720" y="1500174"/>
            <a:ext cx="8643998" cy="507209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000" b="1" dirty="0" smtClean="0"/>
              <a:t>Если окно для предсказания слишком мало, то данных слишком мало для </a:t>
            </a:r>
            <a:r>
              <a:rPr lang="ru-RU" sz="2000" b="1" dirty="0" smtClean="0"/>
              <a:t>предсказания </a:t>
            </a:r>
            <a:r>
              <a:rPr lang="ru-RU" sz="2000" dirty="0" smtClean="0"/>
              <a:t>(то аттрактор системы проецируется на пространство недостаточной размерности, в которой близость не является надежным указанием на фактическую близость к искомому аттрактору)</a:t>
            </a:r>
            <a:endParaRPr lang="ru-RU" sz="2000" dirty="0" smtClean="0"/>
          </a:p>
          <a:p>
            <a:pPr marL="0" indent="0">
              <a:buNone/>
            </a:pPr>
            <a:endParaRPr lang="ru-RU" sz="2000" dirty="0" smtClean="0"/>
          </a:p>
          <a:p>
            <a:pPr marL="0" indent="0">
              <a:buNone/>
            </a:pPr>
            <a:r>
              <a:rPr lang="ru-RU" sz="2000" b="1" dirty="0" smtClean="0"/>
              <a:t>Окно слишком большого размера может также вызвать проблемы</a:t>
            </a:r>
            <a:r>
              <a:rPr lang="ru-RU" sz="2000" dirty="0" smtClean="0"/>
              <a:t>: поскольку вся необходимая информация находится в подмножестве окна, оставшиеся поля будут представлять шум или загрязнение. </a:t>
            </a:r>
          </a:p>
          <a:p>
            <a:pPr marL="0" indent="0">
              <a:buNone/>
            </a:pPr>
            <a:r>
              <a:rPr lang="ru-RU" sz="2000" dirty="0" smtClean="0"/>
              <a:t>Эвристики:</a:t>
            </a:r>
          </a:p>
          <a:p>
            <a:r>
              <a:rPr lang="ru-RU" sz="2000" dirty="0" smtClean="0"/>
              <a:t> Метод ближайших соседей: начинаем с размера окна </a:t>
            </a:r>
            <a:r>
              <a:rPr lang="en-US" sz="2000" dirty="0" smtClean="0"/>
              <a:t>N=1. </a:t>
            </a:r>
            <a:r>
              <a:rPr lang="ru-RU" sz="2000" dirty="0" smtClean="0"/>
              <a:t>Добавляем по одному значению в окно пока полученные результаты достаточно близки друг к другу. </a:t>
            </a:r>
          </a:p>
          <a:p>
            <a:r>
              <a:rPr lang="ru-RU" sz="2000" dirty="0" smtClean="0"/>
              <a:t>Сингулярный анализ: сначала выбирается относительно большое окно, для которого вычисляются ковариационные матрицы </a:t>
            </a:r>
            <a:r>
              <a:rPr lang="ru-RU" sz="2000" dirty="0" err="1" smtClean="0"/>
              <a:t>подвыборок</a:t>
            </a:r>
            <a:r>
              <a:rPr lang="ru-RU" sz="2000" dirty="0" smtClean="0"/>
              <a:t>. Малозначительные отбрасываются.</a:t>
            </a:r>
          </a:p>
          <a:p>
            <a:r>
              <a:rPr lang="ru-RU" sz="2000" dirty="0" smtClean="0"/>
              <a:t>и др.</a:t>
            </a:r>
            <a:br>
              <a:rPr lang="ru-RU" sz="2000" dirty="0" smtClean="0"/>
            </a:br>
            <a:endParaRPr lang="ru-RU" sz="2000" dirty="0" smtClean="0"/>
          </a:p>
          <a:p>
            <a:pPr marL="0" indent="0">
              <a:buNone/>
            </a:pPr>
            <a:endParaRPr lang="ru-RU" sz="2000" dirty="0" smtClean="0"/>
          </a:p>
          <a:p>
            <a:pPr marL="0" indent="0">
              <a:buNone/>
            </a:pPr>
            <a:endParaRPr lang="ru-RU" sz="2000" dirty="0" smtClean="0"/>
          </a:p>
          <a:p>
            <a:pPr marL="0" indent="0">
              <a:buNone/>
            </a:pPr>
            <a:endParaRPr lang="ru-RU" sz="2000" dirty="0" smtClean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Свёрточные</a:t>
            </a:r>
            <a:r>
              <a:rPr lang="ru-RU" dirty="0" smtClean="0"/>
              <a:t> сети для прогнозирования временных рядов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85720" y="1500174"/>
            <a:ext cx="8643998" cy="5072098"/>
          </a:xfrm>
        </p:spPr>
        <p:txBody>
          <a:bodyPr>
            <a:normAutofit/>
          </a:bodyPr>
          <a:lstStyle/>
          <a:p>
            <a:r>
              <a:rPr lang="ru-RU" sz="2000" dirty="0" smtClean="0"/>
              <a:t>CNN для одномерного прогнозирования временных рядов.</a:t>
            </a:r>
          </a:p>
          <a:p>
            <a:r>
              <a:rPr lang="ru-RU" sz="2000" dirty="0" smtClean="0"/>
              <a:t>CNN для прогнозирования многомерных временных рядов.</a:t>
            </a:r>
          </a:p>
          <a:p>
            <a:r>
              <a:rPr lang="ru-RU" sz="2000" dirty="0" smtClean="0"/>
              <a:t>CNN для многоэтапного прогнозирования временных рядов.</a:t>
            </a:r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r>
              <a:rPr lang="ru-RU" sz="2000" dirty="0" smtClean="0"/>
              <a:t/>
            </a:r>
            <a:br>
              <a:rPr lang="ru-RU" sz="2000" dirty="0" smtClean="0"/>
            </a:br>
            <a:endParaRPr lang="ru-RU" sz="2000" dirty="0" smtClean="0"/>
          </a:p>
          <a:p>
            <a:pPr marL="0" indent="0">
              <a:buNone/>
            </a:pPr>
            <a:endParaRPr lang="ru-RU" sz="2000" dirty="0" smtClean="0"/>
          </a:p>
          <a:p>
            <a:pPr marL="0" indent="0">
              <a:buNone/>
            </a:pPr>
            <a:endParaRPr lang="ru-RU" sz="2000" dirty="0" smtClean="0"/>
          </a:p>
          <a:p>
            <a:pPr marL="0" indent="0">
              <a:buNone/>
            </a:pPr>
            <a:endParaRPr lang="ru-RU" sz="2000" dirty="0" smtClean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Свёрточные</a:t>
            </a:r>
            <a:r>
              <a:rPr lang="ru-RU" dirty="0" smtClean="0"/>
              <a:t> сети для прогнозирования временных рядов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85720" y="1500174"/>
            <a:ext cx="8643998" cy="507209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ru-RU" sz="2000" b="1" dirty="0" smtClean="0"/>
              <a:t>Одномерные </a:t>
            </a:r>
            <a:r>
              <a:rPr lang="en-US" sz="2000" b="1" dirty="0" smtClean="0"/>
              <a:t>CNN </a:t>
            </a:r>
            <a:r>
              <a:rPr lang="en-US" sz="2000" dirty="0" smtClean="0"/>
              <a:t>(</a:t>
            </a:r>
            <a:r>
              <a:rPr lang="ru-RU" sz="2000" dirty="0" smtClean="0"/>
              <a:t>ядро свертки и входные </a:t>
            </a:r>
            <a:r>
              <a:rPr lang="ru-RU" sz="2000" dirty="0" smtClean="0"/>
              <a:t>данные </a:t>
            </a:r>
            <a:r>
              <a:rPr lang="ru-RU" sz="2000" dirty="0" smtClean="0"/>
              <a:t>– одномерные последовательности</a:t>
            </a:r>
            <a:r>
              <a:rPr lang="en-US" sz="2000" dirty="0" smtClean="0"/>
              <a:t>)</a:t>
            </a:r>
            <a:endParaRPr lang="ru-RU" sz="2000" dirty="0" smtClean="0"/>
          </a:p>
          <a:p>
            <a:pPr>
              <a:buNone/>
            </a:pPr>
            <a:r>
              <a:rPr lang="ru-RU" sz="2000" b="1" dirty="0" smtClean="0"/>
              <a:t>Многомерные модели CNN</a:t>
            </a:r>
            <a:r>
              <a:rPr lang="en-US" sz="2000" b="1" dirty="0" smtClean="0"/>
              <a:t> </a:t>
            </a:r>
            <a:r>
              <a:rPr lang="en-US" sz="2000" dirty="0" smtClean="0"/>
              <a:t>(</a:t>
            </a:r>
            <a:r>
              <a:rPr lang="ru-RU" sz="2000" dirty="0" smtClean="0"/>
              <a:t>данные многомерного временного ряда -данные, в которых имеется более одного наблюдения для каждого временного шага):</a:t>
            </a:r>
          </a:p>
          <a:p>
            <a:r>
              <a:rPr lang="ru-RU" sz="2000" dirty="0" smtClean="0"/>
              <a:t>Несколько входов серии (например, по два входа в каждый момент времени, один выход).</a:t>
            </a:r>
          </a:p>
          <a:p>
            <a:r>
              <a:rPr lang="ru-RU" sz="2000" dirty="0" smtClean="0"/>
              <a:t>Несколько параллельных серий (существует несколько параллельных временных рядов, и для каждого должно быть предсказано значение).</a:t>
            </a:r>
          </a:p>
          <a:p>
            <a:endParaRPr lang="ru-RU" sz="2000" dirty="0" smtClean="0"/>
          </a:p>
          <a:p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r>
              <a:rPr lang="ru-RU" sz="2000" dirty="0" smtClean="0"/>
              <a:t/>
            </a:r>
            <a:br>
              <a:rPr lang="ru-RU" sz="2000" dirty="0" smtClean="0"/>
            </a:br>
            <a:endParaRPr lang="ru-RU" sz="2000" dirty="0" smtClean="0"/>
          </a:p>
          <a:p>
            <a:pPr marL="0" indent="0">
              <a:buNone/>
            </a:pPr>
            <a:endParaRPr lang="ru-RU" sz="2000" dirty="0" smtClean="0"/>
          </a:p>
          <a:p>
            <a:pPr marL="0" indent="0">
              <a:buNone/>
            </a:pPr>
            <a:endParaRPr lang="ru-RU" sz="2000" dirty="0" smtClean="0"/>
          </a:p>
          <a:p>
            <a:pPr marL="0" indent="0">
              <a:buNone/>
            </a:pPr>
            <a:endParaRPr lang="ru-RU" sz="2000" dirty="0" smtClean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Свёрточные</a:t>
            </a:r>
            <a:r>
              <a:rPr lang="ru-RU" dirty="0" smtClean="0"/>
              <a:t> сети для прогнозирования временных рядов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85720" y="1500174"/>
            <a:ext cx="8643998" cy="507209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000" b="1" dirty="0" smtClean="0"/>
              <a:t>Многомерные модели CNN</a:t>
            </a:r>
            <a:r>
              <a:rPr lang="en-US" sz="2000" b="1" dirty="0" smtClean="0"/>
              <a:t> </a:t>
            </a:r>
            <a:r>
              <a:rPr lang="en-US" sz="2000" dirty="0" smtClean="0"/>
              <a:t>(</a:t>
            </a:r>
            <a:r>
              <a:rPr lang="ru-RU" sz="2000" dirty="0" smtClean="0"/>
              <a:t>данные многомерного временного ряда -данные, в которых имеется более одного наблюдения для каждого временного шага):</a:t>
            </a:r>
          </a:p>
          <a:p>
            <a:r>
              <a:rPr lang="ru-RU" sz="2000" dirty="0" smtClean="0"/>
              <a:t>Несколько входов серии.</a:t>
            </a:r>
          </a:p>
          <a:p>
            <a:endParaRPr lang="ru-RU" sz="2000" dirty="0" smtClean="0"/>
          </a:p>
          <a:p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r>
              <a:rPr lang="ru-RU" sz="2000" dirty="0" smtClean="0"/>
              <a:t/>
            </a:r>
            <a:br>
              <a:rPr lang="ru-RU" sz="2000" dirty="0" smtClean="0"/>
            </a:br>
            <a:endParaRPr lang="ru-RU" sz="2000" dirty="0" smtClean="0"/>
          </a:p>
          <a:p>
            <a:pPr marL="0" indent="0">
              <a:buNone/>
            </a:pPr>
            <a:endParaRPr lang="ru-RU" sz="2000" dirty="0" smtClean="0"/>
          </a:p>
          <a:p>
            <a:pPr marL="0" indent="0">
              <a:buNone/>
            </a:pPr>
            <a:endParaRPr lang="ru-RU" sz="2000" dirty="0" smtClean="0"/>
          </a:p>
          <a:p>
            <a:pPr marL="0" indent="0">
              <a:buNone/>
            </a:pPr>
            <a:endParaRPr lang="ru-RU" sz="2000" dirty="0" smtClean="0"/>
          </a:p>
        </p:txBody>
      </p:sp>
      <p:pic>
        <p:nvPicPr>
          <p:cNvPr id="25602" name="Picture 2" descr="https://www.machinelearningmastery.ru/img/2145679419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7554" y="2786058"/>
            <a:ext cx="5026946" cy="37347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Свёрточные</a:t>
            </a:r>
            <a:r>
              <a:rPr lang="ru-RU" dirty="0" smtClean="0"/>
              <a:t> сети для прогнозирования временных рядов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85720" y="1500174"/>
            <a:ext cx="8643998" cy="507209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000" b="1" dirty="0" smtClean="0"/>
              <a:t>Многомерные модели CNN</a:t>
            </a:r>
            <a:r>
              <a:rPr lang="en-US" sz="2000" b="1" dirty="0" smtClean="0"/>
              <a:t> </a:t>
            </a:r>
            <a:r>
              <a:rPr lang="en-US" sz="2000" dirty="0" smtClean="0"/>
              <a:t>(</a:t>
            </a:r>
            <a:r>
              <a:rPr lang="ru-RU" sz="2000" dirty="0" smtClean="0"/>
              <a:t>данные многомерного временного ряда -данные, в которых имеется более одного наблюдения для каждого временного шага):</a:t>
            </a:r>
          </a:p>
          <a:p>
            <a:r>
              <a:rPr lang="ru-RU" sz="2000" dirty="0" smtClean="0"/>
              <a:t>Несколько параллельных серий.</a:t>
            </a:r>
          </a:p>
          <a:p>
            <a:endParaRPr lang="ru-RU" sz="2000" dirty="0" smtClean="0"/>
          </a:p>
          <a:p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r>
              <a:rPr lang="ru-RU" sz="2000" dirty="0" smtClean="0"/>
              <a:t/>
            </a:r>
            <a:br>
              <a:rPr lang="ru-RU" sz="2000" dirty="0" smtClean="0"/>
            </a:br>
            <a:endParaRPr lang="ru-RU" sz="2000" dirty="0" smtClean="0"/>
          </a:p>
          <a:p>
            <a:pPr marL="0" indent="0">
              <a:buNone/>
            </a:pPr>
            <a:endParaRPr lang="ru-RU" sz="2000" dirty="0" smtClean="0"/>
          </a:p>
          <a:p>
            <a:pPr marL="0" indent="0">
              <a:buNone/>
            </a:pPr>
            <a:endParaRPr lang="ru-RU" sz="2000" dirty="0" smtClean="0"/>
          </a:p>
          <a:p>
            <a:pPr marL="0" indent="0">
              <a:buNone/>
            </a:pPr>
            <a:endParaRPr lang="ru-RU" sz="2000" dirty="0" smtClean="0"/>
          </a:p>
        </p:txBody>
      </p:sp>
      <p:pic>
        <p:nvPicPr>
          <p:cNvPr id="30722" name="Picture 2" descr="https://www.machinelearningmastery.ru/img/92788500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86050" y="2786058"/>
            <a:ext cx="6143636" cy="381014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Рекурентные</a:t>
            </a:r>
            <a:r>
              <a:rPr lang="ru-RU" dirty="0" smtClean="0"/>
              <a:t> нейронные сети прогнозирования временных рядов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85720" y="1500174"/>
            <a:ext cx="8643998" cy="507209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000" b="1" dirty="0" smtClean="0"/>
              <a:t>РНС</a:t>
            </a:r>
            <a:r>
              <a:rPr lang="ru-RU" sz="2000" dirty="0" smtClean="0"/>
              <a:t> шаг за шагом обрабатывает временную последовательность данных, перебирая её элементы и сохраняя внутреннее состояние, полученное при обработке предыдущих элементов.</a:t>
            </a:r>
          </a:p>
          <a:p>
            <a:pPr>
              <a:buNone/>
            </a:pPr>
            <a:r>
              <a:rPr lang="ru-RU" sz="2000" dirty="0" smtClean="0"/>
              <a:t>Эксперименты с архитектурой нейронных сетей показали, что модель глубокой нейронной сети, построенная на основе комбинирования архитектуры </a:t>
            </a:r>
            <a:r>
              <a:rPr lang="ru-RU" sz="2000" dirty="0" err="1" smtClean="0"/>
              <a:t>сверточных</a:t>
            </a:r>
            <a:r>
              <a:rPr lang="ru-RU" sz="2000" dirty="0" smtClean="0"/>
              <a:t> сетей со скрытыми слоями LSTM, ответственными за моделирование временных последовательностей, значительно лучше моделирует исследуемые данные, чем модели регрессионного анализа, и, соответственно, дает лучшие результаты прогнозирования.</a:t>
            </a:r>
          </a:p>
          <a:p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r>
              <a:rPr lang="ru-RU" sz="2000" dirty="0" smtClean="0"/>
              <a:t/>
            </a:r>
            <a:br>
              <a:rPr lang="ru-RU" sz="2000" dirty="0" smtClean="0"/>
            </a:br>
            <a:endParaRPr lang="ru-RU" sz="2000" dirty="0" smtClean="0"/>
          </a:p>
          <a:p>
            <a:pPr marL="0" indent="0">
              <a:buNone/>
            </a:pPr>
            <a:endParaRPr lang="ru-RU" sz="2000" dirty="0" smtClean="0"/>
          </a:p>
          <a:p>
            <a:pPr marL="0" indent="0">
              <a:buNone/>
            </a:pPr>
            <a:endParaRPr lang="ru-RU" sz="2000" dirty="0" smtClean="0"/>
          </a:p>
          <a:p>
            <a:pPr marL="0" indent="0">
              <a:buNone/>
            </a:pPr>
            <a:endParaRPr lang="ru-RU" sz="2000" dirty="0" smtClean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/>
              <a:t>Рекурентные</a:t>
            </a:r>
            <a:r>
              <a:rPr lang="ru-RU" dirty="0" smtClean="0"/>
              <a:t> нейронные сети прогнозирования временных рядов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85720" y="1500174"/>
            <a:ext cx="8643998" cy="507209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000" dirty="0" smtClean="0"/>
              <a:t>LSTM  используются для:</a:t>
            </a:r>
          </a:p>
          <a:p>
            <a:r>
              <a:rPr lang="ru-RU" sz="2000" dirty="0" smtClean="0"/>
              <a:t>однофакторного прогнозирования временных рядов</a:t>
            </a:r>
          </a:p>
          <a:p>
            <a:r>
              <a:rPr lang="ru-RU" sz="2000" dirty="0" smtClean="0"/>
              <a:t>многомерного прогнозирования временных рядов</a:t>
            </a:r>
          </a:p>
          <a:p>
            <a:r>
              <a:rPr lang="ru-RU" sz="2000" dirty="0" smtClean="0"/>
              <a:t>многошагового прогнозирования временных рядов (нужно предсказать несколько временных шагов </a:t>
            </a:r>
            <a:r>
              <a:rPr lang="ru-RU" sz="2000" smtClean="0"/>
              <a:t>в будущее)</a:t>
            </a: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pPr>
              <a:buNone/>
            </a:pPr>
            <a:r>
              <a:rPr lang="ru-RU" sz="2000" dirty="0" smtClean="0"/>
              <a:t/>
            </a:r>
            <a:br>
              <a:rPr lang="ru-RU" sz="2000" dirty="0" smtClean="0"/>
            </a:br>
            <a:endParaRPr lang="ru-RU" sz="2000" dirty="0" smtClean="0"/>
          </a:p>
          <a:p>
            <a:pPr marL="0" indent="0">
              <a:buNone/>
            </a:pPr>
            <a:endParaRPr lang="ru-RU" sz="2000" dirty="0" smtClean="0"/>
          </a:p>
          <a:p>
            <a:pPr marL="0" indent="0">
              <a:buNone/>
            </a:pPr>
            <a:endParaRPr lang="ru-RU" sz="2000" dirty="0" smtClean="0"/>
          </a:p>
          <a:p>
            <a:pPr marL="0" indent="0">
              <a:buNone/>
            </a:pPr>
            <a:endParaRPr lang="ru-RU" sz="2000" dirty="0" smtClean="0"/>
          </a:p>
        </p:txBody>
      </p:sp>
      <p:pic>
        <p:nvPicPr>
          <p:cNvPr id="32770" name="Picture 2" descr="Долгая краткосрочная память — Викиконспекты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5984" y="4000504"/>
            <a:ext cx="6191250" cy="23241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681</TotalTime>
  <Words>675</Words>
  <PresentationFormat>Экран (4:3)</PresentationFormat>
  <Paragraphs>161</Paragraphs>
  <Slides>21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2" baseType="lpstr">
      <vt:lpstr>Тема Office</vt:lpstr>
      <vt:lpstr>Анализ и прогнозирование временных рядов при помощи нейронных сетей</vt:lpstr>
      <vt:lpstr>Основные понятия</vt:lpstr>
      <vt:lpstr>Основные понятия</vt:lpstr>
      <vt:lpstr>Основные понятия</vt:lpstr>
      <vt:lpstr>Основные понятия</vt:lpstr>
      <vt:lpstr>Возможные виды обработки данных</vt:lpstr>
      <vt:lpstr>Нейросетевые предсказатели</vt:lpstr>
      <vt:lpstr>Нейросетевые предсказатели</vt:lpstr>
      <vt:lpstr>Нейросетевые предсказатели</vt:lpstr>
      <vt:lpstr>Нейросетевые предсказатели. Примеры архитектур</vt:lpstr>
      <vt:lpstr>Нейросетевые предсказатели. Примеры архитектур</vt:lpstr>
      <vt:lpstr>Нейросетевые предсказатели. Примеры архитектур</vt:lpstr>
      <vt:lpstr>Нейросетевые предсказатели. Примеры архитектур</vt:lpstr>
      <vt:lpstr>Нейросетевые предсказатели. Примеры архитектур</vt:lpstr>
      <vt:lpstr>Оценка размера окна - эвристики</vt:lpstr>
      <vt:lpstr>Свёрточные сети для прогнозирования временных рядов</vt:lpstr>
      <vt:lpstr>Свёрточные сети для прогнозирования временных рядов</vt:lpstr>
      <vt:lpstr>Свёрточные сети для прогнозирования временных рядов</vt:lpstr>
      <vt:lpstr>Свёрточные сети для прогнозирования временных рядов</vt:lpstr>
      <vt:lpstr>Рекурентные нейронные сети прогнозирования временных рядов</vt:lpstr>
      <vt:lpstr>Рекурентные нейронные сети прогнозирования временных рядов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и прогнозирование временных рядов при помощи нейронных сетей</dc:title>
  <dc:creator>Anton Katermin</dc:creator>
  <cp:lastModifiedBy>Antil</cp:lastModifiedBy>
  <cp:revision>62</cp:revision>
  <dcterms:created xsi:type="dcterms:W3CDTF">2021-11-26T10:52:23Z</dcterms:created>
  <dcterms:modified xsi:type="dcterms:W3CDTF">2025-09-18T11:10:32Z</dcterms:modified>
</cp:coreProperties>
</file>