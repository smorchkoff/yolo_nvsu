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Default Extension="gif" ContentType="image/gif"/>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9" r:id="rId3"/>
    <p:sldId id="280" r:id="rId4"/>
    <p:sldId id="281" r:id="rId5"/>
    <p:sldId id="282" r:id="rId6"/>
    <p:sldId id="283" r:id="rId7"/>
    <p:sldId id="284" r:id="rId8"/>
    <p:sldId id="285" r:id="rId9"/>
    <p:sldId id="257" r:id="rId10"/>
    <p:sldId id="259" r:id="rId11"/>
    <p:sldId id="260" r:id="rId12"/>
    <p:sldId id="261" r:id="rId13"/>
    <p:sldId id="262" r:id="rId14"/>
    <p:sldId id="263" r:id="rId15"/>
    <p:sldId id="264" r:id="rId16"/>
    <p:sldId id="286" r:id="rId17"/>
    <p:sldId id="287" r:id="rId18"/>
    <p:sldId id="288" r:id="rId19"/>
    <p:sldId id="265" r:id="rId20"/>
    <p:sldId id="289" r:id="rId21"/>
    <p:sldId id="266" r:id="rId22"/>
    <p:sldId id="267" r:id="rId23"/>
    <p:sldId id="270" r:id="rId24"/>
    <p:sldId id="271" r:id="rId25"/>
    <p:sldId id="290" r:id="rId26"/>
    <p:sldId id="291" r:id="rId27"/>
    <p:sldId id="292" r:id="rId28"/>
    <p:sldId id="293" r:id="rId29"/>
    <p:sldId id="294" r:id="rId30"/>
    <p:sldId id="295" r:id="rId31"/>
    <p:sldId id="296" r:id="rId32"/>
    <p:sldId id="297" r:id="rId33"/>
    <p:sldId id="298" r:id="rId34"/>
    <p:sldId id="299" r:id="rId35"/>
    <p:sldId id="300" r:id="rId36"/>
    <p:sldId id="302" r:id="rId37"/>
    <p:sldId id="301" r:id="rId38"/>
    <p:sldId id="304" r:id="rId39"/>
    <p:sldId id="303" r:id="rId40"/>
    <p:sldId id="273" r:id="rId41"/>
    <p:sldId id="274" r:id="rId42"/>
    <p:sldId id="275" r:id="rId43"/>
    <p:sldId id="276" r:id="rId44"/>
    <p:sldId id="305" r:id="rId45"/>
    <p:sldId id="277" r:id="rId46"/>
    <p:sldId id="278" r:id="rId47"/>
    <p:sldId id="308" r:id="rId48"/>
    <p:sldId id="309" r:id="rId49"/>
    <p:sldId id="310" r:id="rId50"/>
    <p:sldId id="311" r:id="rId51"/>
    <p:sldId id="312" r:id="rId52"/>
    <p:sldId id="313" r:id="rId53"/>
    <p:sldId id="314" r:id="rId54"/>
    <p:sldId id="315" r:id="rId55"/>
    <p:sldId id="316" r:id="rId56"/>
    <p:sldId id="318" r:id="rId57"/>
    <p:sldId id="317" r:id="rId58"/>
    <p:sldId id="319" r:id="rId59"/>
    <p:sldId id="320" r:id="rId60"/>
    <p:sldId id="321" r:id="rId61"/>
    <p:sldId id="322" r:id="rId62"/>
    <p:sldId id="323" r:id="rId63"/>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aximized">
    <p:restoredLeft sz="34587" autoAdjust="0"/>
    <p:restoredTop sz="94713" autoAdjust="0"/>
  </p:normalViewPr>
  <p:slideViewPr>
    <p:cSldViewPr>
      <p:cViewPr>
        <p:scale>
          <a:sx n="100" d="100"/>
          <a:sy n="100" d="100"/>
        </p:scale>
        <p:origin x="-114"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8.wmf"/><Relationship Id="rId7" Type="http://schemas.openxmlformats.org/officeDocument/2006/relationships/image" Target="../media/image22.wmf"/><Relationship Id="rId2" Type="http://schemas.openxmlformats.org/officeDocument/2006/relationships/image" Target="../media/image17.wmf"/><Relationship Id="rId1" Type="http://schemas.openxmlformats.org/officeDocument/2006/relationships/image" Target="../media/image16.wmf"/><Relationship Id="rId6" Type="http://schemas.openxmlformats.org/officeDocument/2006/relationships/image" Target="../media/image21.wmf"/><Relationship Id="rId5" Type="http://schemas.openxmlformats.org/officeDocument/2006/relationships/image" Target="../media/image20.wmf"/><Relationship Id="rId4" Type="http://schemas.openxmlformats.org/officeDocument/2006/relationships/image" Target="../media/image19.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9.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5B106E36-FD25-4E2D-B0AA-010F637433A0}" type="datetimeFigureOut">
              <a:rPr lang="ru-RU" smtClean="0"/>
              <a:pPr/>
              <a:t>24.02.2025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5B106E36-FD25-4E2D-B0AA-010F637433A0}" type="datetimeFigureOut">
              <a:rPr lang="ru-RU" smtClean="0"/>
              <a:pPr/>
              <a:t>24.02.2025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5B106E36-FD25-4E2D-B0AA-010F637433A0}" type="datetimeFigureOut">
              <a:rPr lang="ru-RU" smtClean="0"/>
              <a:pPr/>
              <a:t>24.02.2025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5B106E36-FD25-4E2D-B0AA-010F637433A0}" type="datetimeFigureOut">
              <a:rPr lang="ru-RU" smtClean="0"/>
              <a:pPr/>
              <a:t>24.02.2025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5B106E36-FD25-4E2D-B0AA-010F637433A0}" type="datetimeFigureOut">
              <a:rPr lang="ru-RU" smtClean="0"/>
              <a:pPr/>
              <a:t>24.02.2025</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5B106E36-FD25-4E2D-B0AA-010F637433A0}" type="datetimeFigureOut">
              <a:rPr lang="ru-RU" smtClean="0"/>
              <a:pPr/>
              <a:t>24.02.2025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5B106E36-FD25-4E2D-B0AA-010F637433A0}" type="datetimeFigureOut">
              <a:rPr lang="ru-RU" smtClean="0"/>
              <a:pPr/>
              <a:t>24.02.2025</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5B106E36-FD25-4E2D-B0AA-010F637433A0}" type="datetimeFigureOut">
              <a:rPr lang="ru-RU" smtClean="0"/>
              <a:pPr/>
              <a:t>24.02.2025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5B106E36-FD25-4E2D-B0AA-010F637433A0}" type="datetimeFigureOut">
              <a:rPr lang="ru-RU" smtClean="0"/>
              <a:pPr/>
              <a:t>24.02.2025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5B106E36-FD25-4E2D-B0AA-010F637433A0}" type="datetimeFigureOut">
              <a:rPr lang="ru-RU" smtClean="0"/>
              <a:pPr/>
              <a:t>24.02.2025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5B106E36-FD25-4E2D-B0AA-010F637433A0}" type="datetimeFigureOut">
              <a:rPr lang="ru-RU" smtClean="0"/>
              <a:pPr/>
              <a:t>24.02.2025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106E36-FD25-4E2D-B0AA-010F637433A0}" type="datetimeFigureOut">
              <a:rPr lang="ru-RU" smtClean="0"/>
              <a:pPr/>
              <a:t>24.02.2025</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5C68B6-61C2-468F-89AB-4B9F7531AA68}"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oleObject" Target="../embeddings/oleObject2.bin"/><Relationship Id="rId7"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5.bin"/><Relationship Id="rId5" Type="http://schemas.openxmlformats.org/officeDocument/2006/relationships/oleObject" Target="../embeddings/oleObject4.bin"/><Relationship Id="rId4" Type="http://schemas.openxmlformats.org/officeDocument/2006/relationships/oleObject" Target="../embeddings/oleObject3.bin"/><Relationship Id="rId9" Type="http://schemas.openxmlformats.org/officeDocument/2006/relationships/oleObject" Target="../embeddings/oleObject8.bin"/></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oleObject" Target="../embeddings/oleObject10.bin"/></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oleObject" Target="../embeddings/oleObject13.bin"/><Relationship Id="rId4" Type="http://schemas.openxmlformats.org/officeDocument/2006/relationships/oleObject" Target="../embeddings/oleObject12.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5.v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3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dirty="0" smtClean="0"/>
              <a:t>Кластерный анализ</a:t>
            </a:r>
            <a:endParaRPr lang="ru-RU" dirty="0"/>
          </a:p>
        </p:txBody>
      </p:sp>
      <p:sp>
        <p:nvSpPr>
          <p:cNvPr id="3" name="Подзаголовок 2"/>
          <p:cNvSpPr>
            <a:spLocks noGrp="1"/>
          </p:cNvSpPr>
          <p:nvPr>
            <p:ph type="subTitle" idx="1"/>
          </p:nvPr>
        </p:nvSpPr>
        <p:spPr/>
        <p:txBody>
          <a:bodyPr/>
          <a:lstStyle/>
          <a:p>
            <a:endParaRPr lang="ru-RU"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Шкалы</a:t>
            </a:r>
            <a:endParaRPr lang="ru-RU" dirty="0"/>
          </a:p>
        </p:txBody>
      </p:sp>
      <p:sp>
        <p:nvSpPr>
          <p:cNvPr id="3" name="Содержимое 2"/>
          <p:cNvSpPr>
            <a:spLocks noGrp="1"/>
          </p:cNvSpPr>
          <p:nvPr>
            <p:ph idx="1"/>
          </p:nvPr>
        </p:nvSpPr>
        <p:spPr/>
        <p:txBody>
          <a:bodyPr/>
          <a:lstStyle/>
          <a:p>
            <a:pPr>
              <a:buNone/>
            </a:pPr>
            <a:r>
              <a:rPr lang="ru-RU" b="1" dirty="0" smtClean="0"/>
              <a:t>Шкала измерений</a:t>
            </a:r>
            <a:r>
              <a:rPr lang="ru-RU" dirty="0" smtClean="0"/>
              <a:t> -  это система, в которой свойству  реального процесса, явления, объекта ставится в соответствие некоторый элемент знаковой системы. </a:t>
            </a:r>
          </a:p>
          <a:p>
            <a:pPr>
              <a:buNone/>
            </a:pPr>
            <a:r>
              <a:rPr lang="ru-RU" dirty="0" smtClean="0"/>
              <a:t>Шкалы различаются набором допустимых операций над элементами этой системы.</a:t>
            </a:r>
          </a:p>
          <a:p>
            <a:pPr>
              <a:buNone/>
            </a:pPr>
            <a:r>
              <a:rPr lang="ru-RU" dirty="0" smtClean="0"/>
              <a:t/>
            </a:r>
            <a:br>
              <a:rPr lang="ru-RU" dirty="0" smtClean="0"/>
            </a:br>
            <a:endParaRPr lang="ru-RU"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Виды шкал измерений</a:t>
            </a:r>
            <a:endParaRPr lang="ru-RU" dirty="0"/>
          </a:p>
        </p:txBody>
      </p:sp>
      <p:sp>
        <p:nvSpPr>
          <p:cNvPr id="3" name="Содержимое 2"/>
          <p:cNvSpPr>
            <a:spLocks noGrp="1"/>
          </p:cNvSpPr>
          <p:nvPr>
            <p:ph idx="1"/>
          </p:nvPr>
        </p:nvSpPr>
        <p:spPr/>
        <p:txBody>
          <a:bodyPr>
            <a:normAutofit fontScale="55000" lnSpcReduction="20000"/>
          </a:bodyPr>
          <a:lstStyle/>
          <a:p>
            <a:pPr>
              <a:buNone/>
            </a:pPr>
            <a:r>
              <a:rPr lang="ru-RU" b="1" dirty="0" smtClean="0"/>
              <a:t>1. шкала наименований (классификаций) </a:t>
            </a:r>
            <a:r>
              <a:rPr lang="ru-RU" dirty="0" smtClean="0"/>
              <a:t>– качественная шкала, не существуют нулевая отметка и единицы измерений. Подобные шкалы служат для классификации объектов, элементы таких шкал отображают только сходство и эквивалентность свойств объектов. </a:t>
            </a:r>
          </a:p>
          <a:p>
            <a:pPr>
              <a:buNone/>
            </a:pPr>
            <a:r>
              <a:rPr lang="ru-RU" dirty="0" smtClean="0"/>
              <a:t>Пример  - шкала соответствия цвета (синий, красный, зеленый). Соответствие может определяться по специальным атласам. </a:t>
            </a:r>
          </a:p>
          <a:p>
            <a:pPr>
              <a:buNone/>
            </a:pPr>
            <a:r>
              <a:rPr lang="ru-RU" dirty="0" smtClean="0"/>
              <a:t>Другие примеры: шкалы групп крови человека, шкалы наименований вкуса и запаха и т.д.</a:t>
            </a:r>
          </a:p>
          <a:p>
            <a:pPr>
              <a:buNone/>
            </a:pPr>
            <a:r>
              <a:rPr lang="ru-RU" b="1" dirty="0" smtClean="0"/>
              <a:t>2. шкала порядка (рангов)</a:t>
            </a:r>
            <a:r>
              <a:rPr lang="ru-RU" dirty="0" smtClean="0"/>
              <a:t> – это монотонно изменяющаяся шкала, позволяющая установить соотношения =,</a:t>
            </a:r>
            <a:r>
              <a:rPr lang="en-US" dirty="0" smtClean="0"/>
              <a:t> &gt;,&lt;, !=</a:t>
            </a:r>
            <a:r>
              <a:rPr lang="ru-RU" dirty="0" smtClean="0"/>
              <a:t>  для величин. Невозможно установить размерность и единицы измерения величин. Невозможно установить, во сколько раз одно значение величины больше или меньше другого.</a:t>
            </a:r>
          </a:p>
          <a:p>
            <a:pPr>
              <a:buNone/>
            </a:pPr>
            <a:r>
              <a:rPr lang="ru-RU" dirty="0" smtClean="0"/>
              <a:t>Примеры: шкала Бофорта для силы ветра, шкала интенсивности землетрясений, шкала интенсивности запаха, шкала оценки уровня боли и т.д.</a:t>
            </a:r>
          </a:p>
          <a:p>
            <a:pPr>
              <a:buNone/>
            </a:pPr>
            <a:r>
              <a:rPr lang="ru-RU" dirty="0" smtClean="0"/>
              <a:t/>
            </a:r>
            <a:br>
              <a:rPr lang="ru-RU" dirty="0" smtClean="0"/>
            </a:br>
            <a:endParaRPr lang="ru-RU"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Виды шкал измерений (продолжение)</a:t>
            </a:r>
            <a:endParaRPr lang="ru-RU" dirty="0"/>
          </a:p>
        </p:txBody>
      </p:sp>
      <p:sp>
        <p:nvSpPr>
          <p:cNvPr id="3" name="Содержимое 2"/>
          <p:cNvSpPr>
            <a:spLocks noGrp="1"/>
          </p:cNvSpPr>
          <p:nvPr>
            <p:ph idx="1"/>
          </p:nvPr>
        </p:nvSpPr>
        <p:spPr/>
        <p:txBody>
          <a:bodyPr>
            <a:normAutofit fontScale="62500" lnSpcReduction="20000"/>
          </a:bodyPr>
          <a:lstStyle/>
          <a:p>
            <a:pPr>
              <a:buNone/>
            </a:pPr>
            <a:r>
              <a:rPr lang="ru-RU" dirty="0" smtClean="0"/>
              <a:t>3. </a:t>
            </a:r>
            <a:r>
              <a:rPr lang="ru-RU" b="1" dirty="0" smtClean="0"/>
              <a:t>шкала интервалов (разностей)</a:t>
            </a:r>
            <a:r>
              <a:rPr lang="ru-RU" dirty="0" smtClean="0"/>
              <a:t> – это шкала, состоящая из одинаковых интервалов, имеющая единицы измерений и произвольно выбранную нулевую отметку. На этой шкале определены операции сложения и вычитания интервалов, но операции сложения и вычитания самих значений бессмысленны. </a:t>
            </a:r>
          </a:p>
          <a:p>
            <a:pPr>
              <a:buNone/>
            </a:pPr>
            <a:r>
              <a:rPr lang="ru-RU" dirty="0" smtClean="0"/>
              <a:t>Пример - температурные шкалы Цельсия, Фаренгейта, шкала времени. Примерами действий на шкале интервалов может быть сложение двух промежутков времени. Также, можно определить, во сколько раз один временной интервал больше другого. Но сами конкретные значения времени складывать или делить не имеет смысла.</a:t>
            </a:r>
          </a:p>
          <a:p>
            <a:pPr>
              <a:buNone/>
            </a:pPr>
            <a:r>
              <a:rPr lang="ru-RU" dirty="0" smtClean="0"/>
              <a:t>4. </a:t>
            </a:r>
            <a:r>
              <a:rPr lang="ru-RU" b="1" dirty="0" smtClean="0"/>
              <a:t>шкала отношений </a:t>
            </a:r>
            <a:r>
              <a:rPr lang="ru-RU" dirty="0" smtClean="0"/>
              <a:t>– это шкала, на которой определен однозначный естественный критерий нулевого значения, единица измерения. На данной шкале также определено понятие интервала и все арифметические действия. Примерами шкалы отношений являются шкала массы, длины, плотности веществ, яркости, уровня звука и т.д. </a:t>
            </a:r>
          </a:p>
          <a:p>
            <a:pPr>
              <a:buNone/>
            </a:pPr>
            <a:r>
              <a:rPr lang="ru-RU" dirty="0" smtClean="0"/>
              <a:t/>
            </a:r>
            <a:br>
              <a:rPr lang="ru-RU" dirty="0" smtClean="0"/>
            </a:br>
            <a:endParaRPr lang="ru-RU"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Метрики расстояний</a:t>
            </a:r>
            <a:endParaRPr lang="ru-RU" dirty="0"/>
          </a:p>
        </p:txBody>
      </p:sp>
      <p:sp>
        <p:nvSpPr>
          <p:cNvPr id="3" name="Содержимое 2"/>
          <p:cNvSpPr>
            <a:spLocks noGrp="1"/>
          </p:cNvSpPr>
          <p:nvPr>
            <p:ph idx="1"/>
          </p:nvPr>
        </p:nvSpPr>
        <p:spPr/>
        <p:txBody>
          <a:bodyPr>
            <a:normAutofit fontScale="92500"/>
          </a:bodyPr>
          <a:lstStyle/>
          <a:p>
            <a:pPr>
              <a:buNone/>
            </a:pPr>
            <a:r>
              <a:rPr lang="ru-RU" dirty="0" smtClean="0"/>
              <a:t>Если объекты находятся в пространстве </a:t>
            </a:r>
            <a:r>
              <a:rPr lang="ru-RU" dirty="0" smtClean="0"/>
              <a:t>больше</a:t>
            </a:r>
            <a:r>
              <a:rPr lang="ru-RU" dirty="0" smtClean="0"/>
              <a:t>м</a:t>
            </a:r>
            <a:r>
              <a:rPr lang="ru-RU" dirty="0" smtClean="0"/>
              <a:t>, </a:t>
            </a:r>
            <a:r>
              <a:rPr lang="ru-RU" dirty="0" smtClean="0"/>
              <a:t>чем единичной размерности, нужно выбрать способ, при помощи которого будет вычисляться расстояние между ними. Такой способ называется </a:t>
            </a:r>
            <a:r>
              <a:rPr lang="ru-RU" b="1" dirty="0" smtClean="0"/>
              <a:t>метрикой</a:t>
            </a:r>
            <a:r>
              <a:rPr lang="ru-RU" dirty="0" smtClean="0"/>
              <a:t>.</a:t>
            </a:r>
          </a:p>
          <a:p>
            <a:pPr>
              <a:buNone/>
            </a:pPr>
            <a:r>
              <a:rPr lang="ru-RU" b="1" dirty="0" smtClean="0"/>
              <a:t>Метрики расстояний</a:t>
            </a:r>
            <a:r>
              <a:rPr lang="ru-RU" dirty="0" smtClean="0"/>
              <a:t> показывают степень похожести объектов. Если метрика расстояния между двумя объектами равна 0, то объекты совпадают.</a:t>
            </a:r>
            <a:endParaRPr lang="ru-RU"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Метрики расстояний</a:t>
            </a:r>
            <a:endParaRPr lang="ru-RU" dirty="0"/>
          </a:p>
        </p:txBody>
      </p:sp>
      <p:sp>
        <p:nvSpPr>
          <p:cNvPr id="3" name="Содержимое 2"/>
          <p:cNvSpPr>
            <a:spLocks noGrp="1"/>
          </p:cNvSpPr>
          <p:nvPr>
            <p:ph idx="1"/>
          </p:nvPr>
        </p:nvSpPr>
        <p:spPr/>
        <p:txBody>
          <a:bodyPr>
            <a:normAutofit fontScale="55000" lnSpcReduction="20000"/>
          </a:bodyPr>
          <a:lstStyle/>
          <a:p>
            <a:r>
              <a:rPr lang="ru-RU" dirty="0" smtClean="0"/>
              <a:t>Евклидово расстояние –</a:t>
            </a:r>
          </a:p>
          <a:p>
            <a:pPr>
              <a:buNone/>
            </a:pPr>
            <a:r>
              <a:rPr lang="ru-RU" dirty="0" smtClean="0"/>
              <a:t>зависит от величины признаков</a:t>
            </a:r>
          </a:p>
          <a:p>
            <a:endParaRPr lang="ru-RU" dirty="0" smtClean="0"/>
          </a:p>
          <a:p>
            <a:r>
              <a:rPr lang="ru-RU" dirty="0" smtClean="0"/>
              <a:t> Квадрат евклидова расстояния</a:t>
            </a:r>
          </a:p>
          <a:p>
            <a:pPr>
              <a:buNone/>
            </a:pPr>
            <a:r>
              <a:rPr lang="ru-RU" sz="2900" dirty="0" smtClean="0"/>
              <a:t>используется, если необходимо придать </a:t>
            </a:r>
          </a:p>
          <a:p>
            <a:pPr>
              <a:buNone/>
            </a:pPr>
            <a:r>
              <a:rPr lang="ru-RU" sz="2900" dirty="0" smtClean="0"/>
              <a:t>больший вес наиболее удаленным объектам.</a:t>
            </a:r>
          </a:p>
          <a:p>
            <a:endParaRPr lang="ru-RU" dirty="0" smtClean="0"/>
          </a:p>
          <a:p>
            <a:r>
              <a:rPr lang="ru-RU" dirty="0" smtClean="0"/>
              <a:t>Манхэттенское расстояние </a:t>
            </a:r>
          </a:p>
          <a:p>
            <a:pPr>
              <a:buNone/>
            </a:pPr>
            <a:r>
              <a:rPr lang="ru-RU" dirty="0" smtClean="0"/>
              <a:t>(расстояние городских кварталов) </a:t>
            </a:r>
          </a:p>
          <a:p>
            <a:endParaRPr lang="ru-RU" dirty="0" smtClean="0"/>
          </a:p>
          <a:p>
            <a:r>
              <a:rPr lang="ru-RU" dirty="0" smtClean="0"/>
              <a:t>Расстояние Чебышева</a:t>
            </a:r>
          </a:p>
          <a:p>
            <a:pPr>
              <a:buNone/>
            </a:pPr>
            <a:r>
              <a:rPr lang="ru-RU" sz="2900" dirty="0" smtClean="0"/>
              <a:t>нужно явно “разделить” объекты, равные </a:t>
            </a:r>
          </a:p>
          <a:p>
            <a:pPr>
              <a:buNone/>
            </a:pPr>
            <a:r>
              <a:rPr lang="ru-RU" sz="2900" dirty="0" smtClean="0"/>
              <a:t>(или почти равные) по всем признакам, кроме одного</a:t>
            </a:r>
          </a:p>
          <a:p>
            <a:endParaRPr lang="ru-RU" dirty="0" smtClean="0"/>
          </a:p>
          <a:p>
            <a:r>
              <a:rPr lang="ru-RU" dirty="0" smtClean="0"/>
              <a:t>Степенное расстояние </a:t>
            </a:r>
          </a:p>
          <a:p>
            <a:pPr>
              <a:buNone/>
            </a:pPr>
            <a:r>
              <a:rPr lang="ru-RU" sz="2900" dirty="0" smtClean="0"/>
              <a:t>когда необходимо управлять влиянием </a:t>
            </a:r>
          </a:p>
          <a:p>
            <a:pPr>
              <a:buNone/>
            </a:pPr>
            <a:r>
              <a:rPr lang="ru-RU" sz="2900" dirty="0" smtClean="0"/>
              <a:t>конкретных признаков объектов на расстояние</a:t>
            </a:r>
            <a:endParaRPr lang="ru-RU" sz="2900" dirty="0"/>
          </a:p>
        </p:txBody>
      </p:sp>
      <p:sp>
        <p:nvSpPr>
          <p:cNvPr id="21506" name="AutoShape 2" descr="Расстояние между двумя точками на поверхности Земли | by shemanovskiy |  Medium"/>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21508" name="AutoShape 4" descr="Расстояние между двумя точками на поверхности Земли | by shemanovskiy |  Medium"/>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21510" name="AutoShape 6" descr="Расстояние между двумя точками на поверхности Земли | by shemanovskiy |  Medium"/>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21514" name="AutoShape 10" descr="Презентация PowerPoin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21516" name="AutoShape 12" descr="Студопедия — Выбор меры расстояния."/>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pic>
        <p:nvPicPr>
          <p:cNvPr id="21522" name="Picture 18" descr="https://habrastorage.org/getpro/habr/post_images/ccd/79d/96b/ccd79d96ba5a93373b4daab5650ea7d2.jpg"/>
          <p:cNvPicPr>
            <a:picLocks noChangeAspect="1" noChangeArrowheads="1"/>
          </p:cNvPicPr>
          <p:nvPr/>
        </p:nvPicPr>
        <p:blipFill>
          <a:blip r:embed="rId2" cstate="print"/>
          <a:srcRect/>
          <a:stretch>
            <a:fillRect/>
          </a:stretch>
        </p:blipFill>
        <p:spPr bwMode="auto">
          <a:xfrm>
            <a:off x="5724128" y="4653136"/>
            <a:ext cx="2815761" cy="432048"/>
          </a:xfrm>
          <a:prstGeom prst="rect">
            <a:avLst/>
          </a:prstGeom>
          <a:noFill/>
        </p:spPr>
      </p:pic>
      <p:pic>
        <p:nvPicPr>
          <p:cNvPr id="21524" name="Picture 20" descr="https://habrastorage.org/getpro/habr/post_images/4cf/36c/f90/4cf36cf908a6c2c27a0b87039d82d6e6.jpg"/>
          <p:cNvPicPr>
            <a:picLocks noChangeAspect="1" noChangeArrowheads="1"/>
          </p:cNvPicPr>
          <p:nvPr/>
        </p:nvPicPr>
        <p:blipFill>
          <a:blip r:embed="rId3" cstate="print"/>
          <a:srcRect/>
          <a:stretch>
            <a:fillRect/>
          </a:stretch>
        </p:blipFill>
        <p:spPr bwMode="auto">
          <a:xfrm>
            <a:off x="5796136" y="5373216"/>
            <a:ext cx="2635746" cy="821901"/>
          </a:xfrm>
          <a:prstGeom prst="rect">
            <a:avLst/>
          </a:prstGeom>
          <a:noFill/>
        </p:spPr>
      </p:pic>
      <p:pic>
        <p:nvPicPr>
          <p:cNvPr id="21526" name="Picture 22" descr="https://habrastorage.org/getpro/habr/post_images/aa4/6e7/d7b/aa46e7d7b544dbaa221a43bb671fb43c.jpg"/>
          <p:cNvPicPr>
            <a:picLocks noChangeAspect="1" noChangeArrowheads="1"/>
          </p:cNvPicPr>
          <p:nvPr/>
        </p:nvPicPr>
        <p:blipFill>
          <a:blip r:embed="rId4" cstate="print"/>
          <a:srcRect/>
          <a:stretch>
            <a:fillRect/>
          </a:stretch>
        </p:blipFill>
        <p:spPr bwMode="auto">
          <a:xfrm>
            <a:off x="5940152" y="1484783"/>
            <a:ext cx="2641079" cy="826259"/>
          </a:xfrm>
          <a:prstGeom prst="rect">
            <a:avLst/>
          </a:prstGeom>
          <a:noFill/>
        </p:spPr>
      </p:pic>
      <p:pic>
        <p:nvPicPr>
          <p:cNvPr id="21528" name="Picture 24" descr="https://habrastorage.org/getpro/habr/post_images/5dc/84a/1d6/5dc84a1d66392e9f11ba13be381ad036.jpg"/>
          <p:cNvPicPr>
            <a:picLocks noChangeAspect="1" noChangeArrowheads="1"/>
          </p:cNvPicPr>
          <p:nvPr/>
        </p:nvPicPr>
        <p:blipFill>
          <a:blip r:embed="rId5" cstate="print"/>
          <a:srcRect/>
          <a:stretch>
            <a:fillRect/>
          </a:stretch>
        </p:blipFill>
        <p:spPr bwMode="auto">
          <a:xfrm>
            <a:off x="6300192" y="2420888"/>
            <a:ext cx="2520280" cy="751662"/>
          </a:xfrm>
          <a:prstGeom prst="rect">
            <a:avLst/>
          </a:prstGeom>
          <a:noFill/>
        </p:spPr>
      </p:pic>
      <p:pic>
        <p:nvPicPr>
          <p:cNvPr id="21530" name="Picture 26" descr="https://habrastorage.org/getpro/habr/post_images/930/f68/0a2/930f680a27caed2bed04f6b09a70a785.jpg"/>
          <p:cNvPicPr>
            <a:picLocks noChangeAspect="1" noChangeArrowheads="1"/>
          </p:cNvPicPr>
          <p:nvPr/>
        </p:nvPicPr>
        <p:blipFill>
          <a:blip r:embed="rId6" cstate="print"/>
          <a:srcRect/>
          <a:stretch>
            <a:fillRect/>
          </a:stretch>
        </p:blipFill>
        <p:spPr bwMode="auto">
          <a:xfrm>
            <a:off x="6012160" y="3789040"/>
            <a:ext cx="2469629" cy="782305"/>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Метрики расстояний (продолжение)</a:t>
            </a:r>
            <a:endParaRPr lang="ru-RU" dirty="0"/>
          </a:p>
        </p:txBody>
      </p:sp>
      <p:sp>
        <p:nvSpPr>
          <p:cNvPr id="3" name="Содержимое 2"/>
          <p:cNvSpPr>
            <a:spLocks noGrp="1"/>
          </p:cNvSpPr>
          <p:nvPr>
            <p:ph idx="1"/>
          </p:nvPr>
        </p:nvSpPr>
        <p:spPr/>
        <p:txBody>
          <a:bodyPr>
            <a:normAutofit fontScale="92500" lnSpcReduction="10000"/>
          </a:bodyPr>
          <a:lstStyle/>
          <a:p>
            <a:pPr>
              <a:buNone/>
            </a:pPr>
            <a:r>
              <a:rPr lang="ru-RU" dirty="0" smtClean="0"/>
              <a:t>Если требуется анализировать категориальные данные, то можно применить такую метрику, как </a:t>
            </a:r>
            <a:r>
              <a:rPr lang="ru-RU" b="1" dirty="0" smtClean="0"/>
              <a:t>процент несогласия: </a:t>
            </a:r>
            <a:endParaRPr lang="ru-RU" dirty="0" smtClean="0"/>
          </a:p>
          <a:p>
            <a:pPr>
              <a:buNone/>
            </a:pPr>
            <a:endParaRPr lang="ru-RU" dirty="0" smtClean="0"/>
          </a:p>
          <a:p>
            <a:pPr>
              <a:buNone/>
            </a:pPr>
            <a:endParaRPr lang="ru-RU" dirty="0" smtClean="0"/>
          </a:p>
          <a:p>
            <a:pPr>
              <a:buNone/>
            </a:pPr>
            <a:r>
              <a:rPr lang="ru-RU" dirty="0" smtClean="0"/>
              <a:t>где </a:t>
            </a:r>
            <a:r>
              <a:rPr lang="ru-RU" dirty="0" err="1" smtClean="0"/>
              <a:t>i</a:t>
            </a:r>
            <a:r>
              <a:rPr lang="ru-RU" dirty="0" smtClean="0"/>
              <a:t> - количество признаков, которыми описываются объекты.</a:t>
            </a:r>
          </a:p>
          <a:p>
            <a:pPr>
              <a:buNone/>
            </a:pPr>
            <a:r>
              <a:rPr lang="ru-RU" dirty="0" smtClean="0"/>
              <a:t/>
            </a:r>
            <a:br>
              <a:rPr lang="ru-RU" dirty="0" smtClean="0"/>
            </a:br>
            <a:endParaRPr lang="ru-RU" dirty="0"/>
          </a:p>
        </p:txBody>
      </p:sp>
      <p:graphicFrame>
        <p:nvGraphicFramePr>
          <p:cNvPr id="4" name="Объект 3"/>
          <p:cNvGraphicFramePr>
            <a:graphicFrameLocks noChangeAspect="1"/>
          </p:cNvGraphicFramePr>
          <p:nvPr/>
        </p:nvGraphicFramePr>
        <p:xfrm>
          <a:off x="1714480" y="3071810"/>
          <a:ext cx="4479155" cy="471490"/>
        </p:xfrm>
        <a:graphic>
          <a:graphicData uri="http://schemas.openxmlformats.org/presentationml/2006/ole">
            <p:oleObj spid="_x0000_s64514" name="Формула" r:id="rId3" imgW="2171520" imgH="228600" progId="Equation.3">
              <p:embed/>
            </p:oleObj>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Кластерный анализ</a:t>
            </a:r>
            <a:endParaRPr lang="ru-RU" dirty="0"/>
          </a:p>
        </p:txBody>
      </p:sp>
      <p:sp>
        <p:nvSpPr>
          <p:cNvPr id="3" name="Содержимое 2"/>
          <p:cNvSpPr>
            <a:spLocks noGrp="1"/>
          </p:cNvSpPr>
          <p:nvPr>
            <p:ph idx="1"/>
          </p:nvPr>
        </p:nvSpPr>
        <p:spPr/>
        <p:txBody>
          <a:bodyPr>
            <a:normAutofit lnSpcReduction="10000"/>
          </a:bodyPr>
          <a:lstStyle/>
          <a:p>
            <a:pPr>
              <a:buNone/>
            </a:pPr>
            <a:r>
              <a:rPr lang="ru-RU" b="1" dirty="0" smtClean="0"/>
              <a:t>Способность к абстракциям</a:t>
            </a:r>
          </a:p>
          <a:p>
            <a:pPr>
              <a:buNone/>
            </a:pPr>
            <a:r>
              <a:rPr lang="ru-RU" dirty="0" smtClean="0"/>
              <a:t>Кластерный анализ является одним из мощных инструментов интеллектуального анализа данных и используется там, где нужно разделить объекты на группы, не задавая предварительно отличительные признаки групп.</a:t>
            </a:r>
          </a:p>
          <a:p>
            <a:pPr>
              <a:buNone/>
            </a:pPr>
            <a:r>
              <a:rPr lang="ru-RU" dirty="0" smtClean="0"/>
              <a:t/>
            </a:r>
            <a:br>
              <a:rPr lang="ru-RU" dirty="0" smtClean="0"/>
            </a:br>
            <a:endParaRPr lang="ru-RU"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dirty="0"/>
          </a:p>
        </p:txBody>
      </p:sp>
      <p:sp>
        <p:nvSpPr>
          <p:cNvPr id="3" name="Содержимое 2"/>
          <p:cNvSpPr>
            <a:spLocks noGrp="1"/>
          </p:cNvSpPr>
          <p:nvPr>
            <p:ph idx="1"/>
          </p:nvPr>
        </p:nvSpPr>
        <p:spPr/>
        <p:txBody>
          <a:bodyPr/>
          <a:lstStyle/>
          <a:p>
            <a:endParaRPr lang="ru-RU" dirty="0"/>
          </a:p>
        </p:txBody>
      </p:sp>
      <p:sp>
        <p:nvSpPr>
          <p:cNvPr id="1026" name="AutoShape 2" descr="Презентация на тему: &quot;Кластерный анализ. Цель работы ознакомление с  проблемой кластерного анализа при интеллектуальной обработке данных в  информационных системах; изучение.&quot;. Скачать бесплатно и без регистрации."/>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028" name="AutoShape 4" descr="Презентация на тему: &quot;Кластерный анализ. Цель работы ознакомление с  проблемой кластерного анализа при интеллектуальной обработке данных в  информационных системах; изучение.&quot;. Скачать бесплатно и без регистрации."/>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030" name="AutoShape 6" descr="Презентация на тему: &quot;Кластерный анализ. Цель работы ознакомление с  проблемой кластерного анализа при интеллектуальной обработке данных в  информационных системах; изучение.&quot;. Скачать бесплатно и без регистрации."/>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032" name="AutoShape 8" descr="Презентация на тему: &quot;Кластерный анализ. Цель работы ознакомление с  проблемой кластерного анализа при интеллектуальной обработке данных в  информационных системах; изучение.&quot;. Скачать бесплатно и без регистрации."/>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034" name="AutoShape 10" descr="Кластерный анализ - МЕТОДЫ АНАЛИЗА"/>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pic>
        <p:nvPicPr>
          <p:cNvPr id="1036" name="Picture 12" descr="http://player.myshared.ru/6/746372/slides/slide_1.jpg"/>
          <p:cNvPicPr>
            <a:picLocks noChangeAspect="1" noChangeArrowheads="1"/>
          </p:cNvPicPr>
          <p:nvPr/>
        </p:nvPicPr>
        <p:blipFill>
          <a:blip r:embed="rId2" cstate="print"/>
          <a:srcRect/>
          <a:stretch>
            <a:fillRect/>
          </a:stretch>
        </p:blipFill>
        <p:spPr bwMode="auto">
          <a:xfrm>
            <a:off x="323528" y="116632"/>
            <a:ext cx="8352927" cy="6264696"/>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dirty="0"/>
          </a:p>
        </p:txBody>
      </p:sp>
      <p:sp>
        <p:nvSpPr>
          <p:cNvPr id="3" name="Содержимое 2"/>
          <p:cNvSpPr>
            <a:spLocks noGrp="1"/>
          </p:cNvSpPr>
          <p:nvPr>
            <p:ph idx="1"/>
          </p:nvPr>
        </p:nvSpPr>
        <p:spPr/>
        <p:txBody>
          <a:bodyPr/>
          <a:lstStyle/>
          <a:p>
            <a:endParaRPr lang="ru-RU" dirty="0"/>
          </a:p>
        </p:txBody>
      </p:sp>
      <p:sp>
        <p:nvSpPr>
          <p:cNvPr id="1026" name="AutoShape 2" descr="Презентация на тему: &quot;Кластерный анализ. Цель работы ознакомление с  проблемой кластерного анализа при интеллектуальной обработке данных в  информационных системах; изучение.&quot;. Скачать бесплатно и без регистрации."/>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028" name="AutoShape 4" descr="Презентация на тему: &quot;Кластерный анализ. Цель работы ознакомление с  проблемой кластерного анализа при интеллектуальной обработке данных в  информационных системах; изучение.&quot;. Скачать бесплатно и без регистрации."/>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030" name="AutoShape 6" descr="Презентация на тему: &quot;Кластерный анализ. Цель работы ознакомление с  проблемой кластерного анализа при интеллектуальной обработке данных в  информационных системах; изучение.&quot;. Скачать бесплатно и без регистрации."/>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032" name="AutoShape 8" descr="Презентация на тему: &quot;Кластерный анализ. Цель работы ознакомление с  проблемой кластерного анализа при интеллектуальной обработке данных в  информационных системах; изучение.&quot;. Скачать бесплатно и без регистрации."/>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034" name="AutoShape 10" descr="Кластерный анализ - МЕТОДЫ АНАЛИЗА"/>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pic>
        <p:nvPicPr>
          <p:cNvPr id="16386" name="Picture 2" descr="Что такое кластерный анализ? | Основы торговли по кластерам"/>
          <p:cNvPicPr>
            <a:picLocks noChangeAspect="1" noChangeArrowheads="1"/>
          </p:cNvPicPr>
          <p:nvPr/>
        </p:nvPicPr>
        <p:blipFill>
          <a:blip r:embed="rId2" cstate="print"/>
          <a:srcRect/>
          <a:stretch>
            <a:fillRect/>
          </a:stretch>
        </p:blipFill>
        <p:spPr bwMode="auto">
          <a:xfrm>
            <a:off x="755576" y="1844824"/>
            <a:ext cx="7831239" cy="432048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dirty="0"/>
          </a:p>
        </p:txBody>
      </p:sp>
      <p:sp>
        <p:nvSpPr>
          <p:cNvPr id="3" name="Содержимое 2"/>
          <p:cNvSpPr>
            <a:spLocks noGrp="1"/>
          </p:cNvSpPr>
          <p:nvPr>
            <p:ph idx="1"/>
          </p:nvPr>
        </p:nvSpPr>
        <p:spPr/>
        <p:txBody>
          <a:bodyPr/>
          <a:lstStyle/>
          <a:p>
            <a:endParaRPr lang="ru-RU" dirty="0"/>
          </a:p>
        </p:txBody>
      </p:sp>
      <p:sp>
        <p:nvSpPr>
          <p:cNvPr id="1026" name="AutoShape 2" descr="Презентация на тему: &quot;Кластерный анализ. Цель работы ознакомление с  проблемой кластерного анализа при интеллектуальной обработке данных в  информационных системах; изучение.&quot;. Скачать бесплатно и без регистрации."/>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028" name="AutoShape 4" descr="Презентация на тему: &quot;Кластерный анализ. Цель работы ознакомление с  проблемой кластерного анализа при интеллектуальной обработке данных в  информационных системах; изучение.&quot;. Скачать бесплатно и без регистрации."/>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030" name="AutoShape 6" descr="Презентация на тему: &quot;Кластерный анализ. Цель работы ознакомление с  проблемой кластерного анализа при интеллектуальной обработке данных в  информационных системах; изучение.&quot;. Скачать бесплатно и без регистрации."/>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032" name="AutoShape 8" descr="Презентация на тему: &quot;Кластерный анализ. Цель работы ознакомление с  проблемой кластерного анализа при интеллектуальной обработке данных в  информационных системах; изучение.&quot;. Скачать бесплатно и без регистрации."/>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034" name="AutoShape 10" descr="Кластерный анализ - МЕТОДЫ АНАЛИЗА"/>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pic>
        <p:nvPicPr>
          <p:cNvPr id="17410" name="Picture 2" descr="Кластерный анализ — Systems Engineering Thinking Wiki"/>
          <p:cNvPicPr>
            <a:picLocks noChangeAspect="1" noChangeArrowheads="1"/>
          </p:cNvPicPr>
          <p:nvPr/>
        </p:nvPicPr>
        <p:blipFill>
          <a:blip r:embed="rId2" cstate="print"/>
          <a:srcRect/>
          <a:stretch>
            <a:fillRect/>
          </a:stretch>
        </p:blipFill>
        <p:spPr bwMode="auto">
          <a:xfrm>
            <a:off x="899592" y="1052736"/>
            <a:ext cx="5616624" cy="5487508"/>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dirty="0"/>
          </a:p>
        </p:txBody>
      </p:sp>
      <p:sp>
        <p:nvSpPr>
          <p:cNvPr id="3" name="Содержимое 2"/>
          <p:cNvSpPr>
            <a:spLocks noGrp="1"/>
          </p:cNvSpPr>
          <p:nvPr>
            <p:ph idx="1"/>
          </p:nvPr>
        </p:nvSpPr>
        <p:spPr/>
        <p:txBody>
          <a:bodyPr/>
          <a:lstStyle/>
          <a:p>
            <a:endParaRPr lang="ru-RU" dirty="0"/>
          </a:p>
        </p:txBody>
      </p:sp>
      <p:sp>
        <p:nvSpPr>
          <p:cNvPr id="1026" name="AutoShape 2" descr="Презентация на тему: &quot;Кластерный анализ. Цель работы ознакомление с  проблемой кластерного анализа при интеллектуальной обработке данных в  информационных системах; изучение.&quot;. Скачать бесплатно и без регистрации."/>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028" name="AutoShape 4" descr="Презентация на тему: &quot;Кластерный анализ. Цель работы ознакомление с  проблемой кластерного анализа при интеллектуальной обработке данных в  информационных системах; изучение.&quot;. Скачать бесплатно и без регистрации."/>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030" name="AutoShape 6" descr="Презентация на тему: &quot;Кластерный анализ. Цель работы ознакомление с  проблемой кластерного анализа при интеллектуальной обработке данных в  информационных системах; изучение.&quot;. Скачать бесплатно и без регистрации."/>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032" name="AutoShape 8" descr="Презентация на тему: &quot;Кластерный анализ. Цель работы ознакомление с  проблемой кластерного анализа при интеллектуальной обработке данных в  информационных системах; изучение.&quot;. Скачать бесплатно и без регистрации."/>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034" name="AutoShape 10" descr="Кластерный анализ - МЕТОДЫ АНАЛИЗА"/>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8434" name="AutoShape 2" descr="Кластерный анализ · Loginom Wiki"/>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8436" name="AutoShape 4" descr="Кластерный анализ · Loginom Wiki"/>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8438" name="AutoShape 6" descr="Кластерный анализ"/>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8440" name="AutoShape 8" descr="Кластерный анализ"/>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pic>
        <p:nvPicPr>
          <p:cNvPr id="18442" name="Picture 10" descr="Кластерный анализ. Спектральная кластеризация. К-средняя кластеризация.  Машинное обучение. Обучение без контроля, матричный код. PNG | HotPNG"/>
          <p:cNvPicPr>
            <a:picLocks noChangeAspect="1" noChangeArrowheads="1"/>
          </p:cNvPicPr>
          <p:nvPr/>
        </p:nvPicPr>
        <p:blipFill>
          <a:blip r:embed="rId2" cstate="print"/>
          <a:srcRect/>
          <a:stretch>
            <a:fillRect/>
          </a:stretch>
        </p:blipFill>
        <p:spPr bwMode="auto">
          <a:xfrm>
            <a:off x="1403648" y="2204864"/>
            <a:ext cx="4608512" cy="3690482"/>
          </a:xfrm>
          <a:prstGeom prst="rect">
            <a:avLst/>
          </a:prstGeo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dirty="0"/>
          </a:p>
        </p:txBody>
      </p:sp>
      <p:sp>
        <p:nvSpPr>
          <p:cNvPr id="3" name="Содержимое 2"/>
          <p:cNvSpPr>
            <a:spLocks noGrp="1"/>
          </p:cNvSpPr>
          <p:nvPr>
            <p:ph idx="1"/>
          </p:nvPr>
        </p:nvSpPr>
        <p:spPr/>
        <p:txBody>
          <a:bodyPr/>
          <a:lstStyle/>
          <a:p>
            <a:endParaRPr lang="ru-RU" dirty="0"/>
          </a:p>
        </p:txBody>
      </p:sp>
      <p:sp>
        <p:nvSpPr>
          <p:cNvPr id="1026" name="AutoShape 2" descr="Презентация на тему: &quot;Кластерный анализ. Цель работы ознакомление с  проблемой кластерного анализа при интеллектуальной обработке данных в  информационных системах; изучение.&quot;. Скачать бесплатно и без регистрации."/>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028" name="AutoShape 4" descr="Презентация на тему: &quot;Кластерный анализ. Цель работы ознакомление с  проблемой кластерного анализа при интеллектуальной обработке данных в  информационных системах; изучение.&quot;. Скачать бесплатно и без регистрации."/>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030" name="AutoShape 6" descr="Презентация на тему: &quot;Кластерный анализ. Цель работы ознакомление с  проблемой кластерного анализа при интеллектуальной обработке данных в  информационных системах; изучение.&quot;. Скачать бесплатно и без регистрации."/>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032" name="AutoShape 8" descr="Презентация на тему: &quot;Кластерный анализ. Цель работы ознакомление с  проблемой кластерного анализа при интеллектуальной обработке данных в  информационных системах; изучение.&quot;. Скачать бесплатно и без регистрации."/>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034" name="AutoShape 10" descr="Кластерный анализ - МЕТОДЫ АНАЛИЗА"/>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8434" name="AutoShape 2" descr="Кластерный анализ · Loginom Wiki"/>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8436" name="AutoShape 4" descr="Кластерный анализ · Loginom Wiki"/>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8438" name="AutoShape 6" descr="Кластерный анализ"/>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8440" name="AutoShape 8" descr="Кластерный анализ"/>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pic>
        <p:nvPicPr>
          <p:cNvPr id="19458" name="Picture 2" descr="кластерный анализ , иерархическая кластеризация, Kmeans кластеризации"/>
          <p:cNvPicPr>
            <a:picLocks noChangeAspect="1" noChangeArrowheads="1"/>
          </p:cNvPicPr>
          <p:nvPr/>
        </p:nvPicPr>
        <p:blipFill>
          <a:blip r:embed="rId2" cstate="print"/>
          <a:srcRect/>
          <a:stretch>
            <a:fillRect/>
          </a:stretch>
        </p:blipFill>
        <p:spPr bwMode="auto">
          <a:xfrm>
            <a:off x="1043608" y="548680"/>
            <a:ext cx="5621033" cy="6120680"/>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AutoShape 2" descr="Презентация на тему: &quot;Кластерный анализ. Цель работы ознакомление с  проблемой кластерного анализа при интеллектуальной обработке данных в  информационных системах; изучение.&quot;. Скачать бесплатно и без регистрации."/>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028" name="AutoShape 4" descr="Презентация на тему: &quot;Кластерный анализ. Цель работы ознакомление с  проблемой кластерного анализа при интеллектуальной обработке данных в  информационных системах; изучение.&quot;. Скачать бесплатно и без регистрации."/>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030" name="AutoShape 6" descr="Презентация на тему: &quot;Кластерный анализ. Цель работы ознакомление с  проблемой кластерного анализа при интеллектуальной обработке данных в  информационных системах; изучение.&quot;. Скачать бесплатно и без регистрации."/>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032" name="AutoShape 8" descr="Презентация на тему: &quot;Кластерный анализ. Цель работы ознакомление с  проблемой кластерного анализа при интеллектуальной обработке данных в  информационных системах; изучение.&quot;. Скачать бесплатно и без регистрации."/>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034" name="AutoShape 10" descr="Кластерный анализ - МЕТОДЫ АНАЛИЗА"/>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8434" name="AutoShape 2" descr="Кластерный анализ · Loginom Wiki"/>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8436" name="AutoShape 4" descr="Кластерный анализ · Loginom Wiki"/>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8438" name="AutoShape 6" descr="Кластерный анализ"/>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18440" name="AutoShape 8" descr="Кластерный анализ"/>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pic>
        <p:nvPicPr>
          <p:cNvPr id="20482" name="Picture 2" descr="Кластерный анализ — Википедия"/>
          <p:cNvPicPr>
            <a:picLocks noChangeAspect="1" noChangeArrowheads="1"/>
          </p:cNvPicPr>
          <p:nvPr/>
        </p:nvPicPr>
        <p:blipFill>
          <a:blip r:embed="rId2" cstate="print"/>
          <a:srcRect/>
          <a:stretch>
            <a:fillRect/>
          </a:stretch>
        </p:blipFill>
        <p:spPr bwMode="auto">
          <a:xfrm>
            <a:off x="467544" y="836712"/>
            <a:ext cx="7855417" cy="5256584"/>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Общая характеристика задачи кластерного анализа</a:t>
            </a:r>
            <a:endParaRPr lang="ru-RU" dirty="0"/>
          </a:p>
        </p:txBody>
      </p:sp>
      <p:sp>
        <p:nvSpPr>
          <p:cNvPr id="3" name="Содержимое 2"/>
          <p:cNvSpPr>
            <a:spLocks noGrp="1"/>
          </p:cNvSpPr>
          <p:nvPr>
            <p:ph idx="1"/>
          </p:nvPr>
        </p:nvSpPr>
        <p:spPr/>
        <p:txBody>
          <a:bodyPr>
            <a:normAutofit fontScale="77500" lnSpcReduction="20000"/>
          </a:bodyPr>
          <a:lstStyle/>
          <a:p>
            <a:pPr>
              <a:buNone/>
            </a:pPr>
            <a:r>
              <a:rPr lang="ru-RU" b="1" dirty="0" smtClean="0"/>
              <a:t>Кластерный анализ </a:t>
            </a:r>
            <a:r>
              <a:rPr lang="ru-RU" dirty="0" smtClean="0"/>
              <a:t>– совокупность методов, подходов и процедур, применяемых для решения проблемы формирования однородных классов в произвольной проблемной области.</a:t>
            </a:r>
          </a:p>
          <a:p>
            <a:pPr>
              <a:buNone/>
            </a:pPr>
            <a:r>
              <a:rPr lang="ru-RU" b="1" dirty="0" smtClean="0"/>
              <a:t>Необходимо</a:t>
            </a:r>
            <a:r>
              <a:rPr lang="ru-RU" dirty="0" smtClean="0"/>
              <a:t>, чтобы при разбиении на классы, сходство объектов в классе было больше, чем с объектами в других классах. </a:t>
            </a:r>
          </a:p>
          <a:p>
            <a:pPr>
              <a:buNone/>
            </a:pPr>
            <a:r>
              <a:rPr lang="ru-RU" i="1" dirty="0" smtClean="0"/>
              <a:t>Методы анализа данных </a:t>
            </a:r>
            <a:r>
              <a:rPr lang="ru-RU" dirty="0" smtClean="0"/>
              <a:t>(в отличие от методов статистики) не требуют априорной информации о вероятностной природе исходной информации, руководствуются только эвристическими соображениями о характере и особенностях объектов.</a:t>
            </a:r>
            <a:endParaRPr lang="ru-RU"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Общая характеристика задачи кластерного анализа</a:t>
            </a:r>
            <a:endParaRPr lang="ru-RU" dirty="0"/>
          </a:p>
        </p:txBody>
      </p:sp>
      <p:sp>
        <p:nvSpPr>
          <p:cNvPr id="3" name="Содержимое 2"/>
          <p:cNvSpPr>
            <a:spLocks noGrp="1"/>
          </p:cNvSpPr>
          <p:nvPr>
            <p:ph idx="1"/>
          </p:nvPr>
        </p:nvSpPr>
        <p:spPr/>
        <p:txBody>
          <a:bodyPr>
            <a:normAutofit fontScale="85000" lnSpcReduction="10000"/>
          </a:bodyPr>
          <a:lstStyle/>
          <a:p>
            <a:r>
              <a:rPr lang="ru-RU" b="1" dirty="0" smtClean="0"/>
              <a:t>Задача кластерного анализа не равна задаче классификации!</a:t>
            </a:r>
          </a:p>
          <a:p>
            <a:pPr>
              <a:buNone/>
            </a:pPr>
            <a:r>
              <a:rPr lang="ru-RU" dirty="0" smtClean="0"/>
              <a:t> При решении задачи кластерного анализа заранее нельзя выделить точные характеристики классов, а иногда изначально неизвестно и количество классов.</a:t>
            </a:r>
          </a:p>
          <a:p>
            <a:pPr>
              <a:buNone/>
            </a:pPr>
            <a:r>
              <a:rPr lang="ru-RU" dirty="0" smtClean="0"/>
              <a:t> Характеристики классов, а в случае некоторых методов и их количество, заранее можно только предполагать, исходя из знания предметной области, и проверить предположения по завершении процесса кластеризации.</a:t>
            </a:r>
          </a:p>
          <a:p>
            <a:pPr>
              <a:buNone/>
            </a:pPr>
            <a:endParaRPr lang="ru-RU"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Преимущества кластерного анализа: </a:t>
            </a:r>
            <a:endParaRPr lang="ru-RU" dirty="0"/>
          </a:p>
        </p:txBody>
      </p:sp>
      <p:sp>
        <p:nvSpPr>
          <p:cNvPr id="3" name="Содержимое 2"/>
          <p:cNvSpPr>
            <a:spLocks noGrp="1"/>
          </p:cNvSpPr>
          <p:nvPr>
            <p:ph idx="1"/>
          </p:nvPr>
        </p:nvSpPr>
        <p:spPr/>
        <p:txBody>
          <a:bodyPr>
            <a:normAutofit fontScale="85000" lnSpcReduction="10000"/>
          </a:bodyPr>
          <a:lstStyle/>
          <a:p>
            <a:pPr fontAlgn="base"/>
            <a:r>
              <a:rPr lang="ru-RU" dirty="0" smtClean="0"/>
              <a:t>нет необходимости заранее определять характеристики (а иногда и количество) выделяемых классов;</a:t>
            </a:r>
          </a:p>
          <a:p>
            <a:pPr fontAlgn="base"/>
            <a:r>
              <a:rPr lang="ru-RU" dirty="0" smtClean="0"/>
              <a:t>в ходе кластерного анализа могут обнаружиться кластеры с “особенными объектами”, которые не были выявлены экспертами предметной области при предварительном анализе информации;</a:t>
            </a:r>
          </a:p>
          <a:p>
            <a:pPr fontAlgn="base"/>
            <a:r>
              <a:rPr lang="ru-RU" dirty="0" smtClean="0"/>
              <a:t>инструментарий кластерного анализа достаточно разнообразен и может быть использован исследователями разного уровня подготовки.</a:t>
            </a:r>
          </a:p>
          <a:p>
            <a:endParaRPr lang="ru-RU"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Общая характеристика задачи кластерного анализа</a:t>
            </a:r>
            <a:endParaRPr lang="ru-RU" dirty="0"/>
          </a:p>
        </p:txBody>
      </p:sp>
      <p:sp>
        <p:nvSpPr>
          <p:cNvPr id="3" name="Содержимое 2"/>
          <p:cNvSpPr>
            <a:spLocks noGrp="1"/>
          </p:cNvSpPr>
          <p:nvPr>
            <p:ph idx="1"/>
          </p:nvPr>
        </p:nvSpPr>
        <p:spPr/>
        <p:txBody>
          <a:bodyPr>
            <a:normAutofit fontScale="70000" lnSpcReduction="20000"/>
          </a:bodyPr>
          <a:lstStyle/>
          <a:p>
            <a:pPr>
              <a:buNone/>
            </a:pPr>
            <a:r>
              <a:rPr lang="ru-RU" dirty="0" smtClean="0"/>
              <a:t>кластерный анализ заключается в выявлении взаимосвязей между объектами выборки, определении, какие из них находятся ближе друг к другу, чем к другим объектам. При этом не требуется предварительно никак помечать данные. В таком случае говорят об </a:t>
            </a:r>
            <a:r>
              <a:rPr lang="ru-RU" b="1" dirty="0" smtClean="0"/>
              <a:t>обучении без учителя. </a:t>
            </a:r>
            <a:endParaRPr lang="ru-RU" dirty="0" smtClean="0"/>
          </a:p>
          <a:p>
            <a:pPr>
              <a:buNone/>
            </a:pPr>
            <a:r>
              <a:rPr lang="ru-RU" b="1" dirty="0" smtClean="0"/>
              <a:t>Обучение без учителя - </a:t>
            </a:r>
            <a:r>
              <a:rPr lang="ru-RU" dirty="0" smtClean="0"/>
              <a:t>способ машинного обучения, характеризующийся тем, что обучающаяся система не получает никакие метаданные или размеченные данные (т.е. не получает никаких подсказок от исследователя), а обучается выполнять поставленную задачу, имея массив описанных объектов и правила выявления закономерностей и зависимостей между ними.</a:t>
            </a:r>
          </a:p>
          <a:p>
            <a:pPr>
              <a:buNone/>
            </a:pPr>
            <a:r>
              <a:rPr lang="ru-RU" dirty="0" smtClean="0"/>
              <a:t/>
            </a:r>
            <a:br>
              <a:rPr lang="ru-RU" dirty="0" smtClean="0"/>
            </a:br>
            <a:endParaRPr lang="ru-RU"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Общая характеристика задачи кластерного анализа</a:t>
            </a:r>
            <a:endParaRPr lang="ru-RU" dirty="0"/>
          </a:p>
        </p:txBody>
      </p:sp>
      <p:sp>
        <p:nvSpPr>
          <p:cNvPr id="3" name="Содержимое 2"/>
          <p:cNvSpPr>
            <a:spLocks noGrp="1"/>
          </p:cNvSpPr>
          <p:nvPr>
            <p:ph idx="1"/>
          </p:nvPr>
        </p:nvSpPr>
        <p:spPr/>
        <p:txBody>
          <a:bodyPr>
            <a:normAutofit/>
          </a:bodyPr>
          <a:lstStyle/>
          <a:p>
            <a:pPr>
              <a:buNone/>
            </a:pPr>
            <a:r>
              <a:rPr lang="ru-RU" b="1" dirty="0" smtClean="0"/>
              <a:t>Кластерный анализ </a:t>
            </a:r>
            <a:r>
              <a:rPr lang="ru-RU" dirty="0" smtClean="0"/>
              <a:t>– нахождение разбиения исходного множества объектов на подмножество сходных между собой объектов. Подмножество –кластер, класс, таксон.  Сходство объектов в кластере больше, чем с объектами в других кластерах.</a:t>
            </a:r>
            <a:endParaRPr lang="ru-RU"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Применение кластерного анализа</a:t>
            </a:r>
            <a:endParaRPr lang="ru-RU" dirty="0"/>
          </a:p>
        </p:txBody>
      </p:sp>
      <p:sp>
        <p:nvSpPr>
          <p:cNvPr id="3" name="Содержимое 2"/>
          <p:cNvSpPr>
            <a:spLocks noGrp="1"/>
          </p:cNvSpPr>
          <p:nvPr>
            <p:ph idx="1"/>
          </p:nvPr>
        </p:nvSpPr>
        <p:spPr/>
        <p:txBody>
          <a:bodyPr>
            <a:normAutofit fontScale="55000" lnSpcReduction="20000"/>
          </a:bodyPr>
          <a:lstStyle/>
          <a:p>
            <a:pPr>
              <a:buNone/>
            </a:pPr>
            <a:r>
              <a:rPr lang="ru-RU" dirty="0" smtClean="0"/>
              <a:t>Области применения - медицина, биология, маркетинг, экономика, исследования в различных областях, распознавание образов, анализ изображений  и т.д.</a:t>
            </a:r>
          </a:p>
          <a:p>
            <a:pPr>
              <a:buNone/>
            </a:pPr>
            <a:r>
              <a:rPr lang="ru-RU" dirty="0" smtClean="0"/>
              <a:t>Примеры:</a:t>
            </a:r>
          </a:p>
          <a:p>
            <a:pPr marL="514350" indent="-514350">
              <a:buAutoNum type="arabicPeriod"/>
            </a:pPr>
            <a:r>
              <a:rPr lang="ru-RU" dirty="0" smtClean="0"/>
              <a:t>Анализ аномалий в данных.</a:t>
            </a:r>
          </a:p>
          <a:p>
            <a:pPr marL="514350" indent="-514350">
              <a:buAutoNum type="arabicPeriod"/>
            </a:pPr>
            <a:r>
              <a:rPr lang="ru-RU" dirty="0" smtClean="0"/>
              <a:t>Анализ активности и других данных (пол, возраст, местоположение) пользователей для объединения их в группы и предъявления группам </a:t>
            </a:r>
            <a:r>
              <a:rPr lang="ru-RU" dirty="0" err="1" smtClean="0"/>
              <a:t>таргетированных</a:t>
            </a:r>
            <a:r>
              <a:rPr lang="ru-RU" dirty="0" smtClean="0"/>
              <a:t> рекомендаций. Это могут быть товары в </a:t>
            </a:r>
            <a:r>
              <a:rPr lang="ru-RU" dirty="0" err="1" smtClean="0"/>
              <a:t>онлайн</a:t>
            </a:r>
            <a:r>
              <a:rPr lang="ru-RU" dirty="0" smtClean="0"/>
              <a:t> магазинах, группы по интересам, предстоящие события или возможные друзья в социальных сетях и.т.д.</a:t>
            </a:r>
          </a:p>
          <a:p>
            <a:pPr fontAlgn="base">
              <a:buNone/>
            </a:pPr>
            <a:r>
              <a:rPr lang="ru-RU" dirty="0" smtClean="0"/>
              <a:t>3.  Определение групп лиц для кредитного </a:t>
            </a:r>
            <a:r>
              <a:rPr lang="ru-RU" dirty="0" err="1" smtClean="0"/>
              <a:t>скоринга</a:t>
            </a:r>
            <a:r>
              <a:rPr lang="ru-RU" dirty="0" smtClean="0"/>
              <a:t>.</a:t>
            </a:r>
          </a:p>
          <a:p>
            <a:pPr fontAlgn="base">
              <a:buNone/>
            </a:pPr>
            <a:r>
              <a:rPr lang="ru-RU" dirty="0" smtClean="0"/>
              <a:t>4. Выявление критических ситуаций на производстве, которые требуют вмешательства человека.  Например, выявление ситуаций, когда какой-либо объект близок к состоянию выхода из эксплуатации, аварийному состоянию.</a:t>
            </a:r>
          </a:p>
          <a:p>
            <a:pPr fontAlgn="base">
              <a:buNone/>
            </a:pPr>
            <a:r>
              <a:rPr lang="ru-RU" dirty="0" smtClean="0"/>
              <a:t>5. Выявление угроз безопасности компьютерных сетей.</a:t>
            </a:r>
          </a:p>
          <a:p>
            <a:pPr fontAlgn="base">
              <a:buNone/>
            </a:pPr>
            <a:r>
              <a:rPr lang="ru-RU" dirty="0" smtClean="0"/>
              <a:t>6. И т.д.</a:t>
            </a:r>
          </a:p>
          <a:p>
            <a:pPr marL="514350" indent="-514350">
              <a:buAutoNum type="arabicPeriod"/>
            </a:pPr>
            <a:endParaRPr lang="ru-RU" dirty="0" smtClean="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Требования к кластерам</a:t>
            </a:r>
            <a:endParaRPr lang="ru-RU" dirty="0"/>
          </a:p>
        </p:txBody>
      </p:sp>
      <p:sp>
        <p:nvSpPr>
          <p:cNvPr id="3" name="Содержимое 2"/>
          <p:cNvSpPr>
            <a:spLocks noGrp="1"/>
          </p:cNvSpPr>
          <p:nvPr>
            <p:ph idx="1"/>
          </p:nvPr>
        </p:nvSpPr>
        <p:spPr/>
        <p:txBody>
          <a:bodyPr>
            <a:normAutofit/>
          </a:bodyPr>
          <a:lstStyle/>
          <a:p>
            <a:pPr marL="514350" indent="-514350">
              <a:buNone/>
            </a:pPr>
            <a:r>
              <a:rPr lang="ru-RU" b="1" dirty="0" smtClean="0"/>
              <a:t>Кластер – </a:t>
            </a:r>
            <a:r>
              <a:rPr lang="ru-RU" dirty="0" smtClean="0"/>
              <a:t>однородная группа, объекты внутри которой ближе друг к другу, чем к объектам в других кластерах.</a:t>
            </a:r>
          </a:p>
          <a:p>
            <a:pPr marL="514350" indent="-514350">
              <a:buNone/>
            </a:pPr>
            <a:r>
              <a:rPr lang="ru-RU" b="1" dirty="0" smtClean="0"/>
              <a:t>Требования к кластерам:</a:t>
            </a:r>
          </a:p>
          <a:p>
            <a:pPr fontAlgn="base"/>
            <a:r>
              <a:rPr lang="ru-RU" dirty="0" smtClean="0"/>
              <a:t>кластеры должны быть однородными;</a:t>
            </a:r>
          </a:p>
          <a:p>
            <a:pPr fontAlgn="base"/>
            <a:r>
              <a:rPr lang="ru-RU" dirty="0" smtClean="0"/>
              <a:t>не один из объектов не должен быть вне кластера;</a:t>
            </a:r>
          </a:p>
          <a:p>
            <a:pPr fontAlgn="base"/>
            <a:r>
              <a:rPr lang="ru-RU" dirty="0" smtClean="0"/>
              <a:t>кластеры </a:t>
            </a:r>
            <a:r>
              <a:rPr lang="ru-RU" dirty="0" err="1" smtClean="0"/>
              <a:t>взаимоисключают</a:t>
            </a:r>
            <a:r>
              <a:rPr lang="ru-RU" dirty="0" smtClean="0"/>
              <a:t> друг друга.</a:t>
            </a:r>
            <a:endParaRPr lang="ru-RU"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Основные этапы построения модели кластерного анализа</a:t>
            </a:r>
            <a:endParaRPr lang="ru-RU" dirty="0"/>
          </a:p>
        </p:txBody>
      </p:sp>
      <p:sp>
        <p:nvSpPr>
          <p:cNvPr id="3" name="Содержимое 2"/>
          <p:cNvSpPr>
            <a:spLocks noGrp="1"/>
          </p:cNvSpPr>
          <p:nvPr>
            <p:ph idx="1"/>
          </p:nvPr>
        </p:nvSpPr>
        <p:spPr/>
        <p:txBody>
          <a:bodyPr>
            <a:normAutofit fontScale="92500" lnSpcReduction="20000"/>
          </a:bodyPr>
          <a:lstStyle/>
          <a:p>
            <a:pPr fontAlgn="base">
              <a:buNone/>
            </a:pPr>
            <a:r>
              <a:rPr lang="ru-RU" dirty="0" smtClean="0"/>
              <a:t>1. Определение задачи моделирования.</a:t>
            </a:r>
          </a:p>
          <a:p>
            <a:pPr fontAlgn="base">
              <a:buNone/>
            </a:pPr>
            <a:r>
              <a:rPr lang="ru-RU" dirty="0" smtClean="0"/>
              <a:t>2. Определение признаков, описывающих объекты.</a:t>
            </a:r>
          </a:p>
          <a:p>
            <a:pPr fontAlgn="base">
              <a:buNone/>
            </a:pPr>
            <a:r>
              <a:rPr lang="ru-RU" dirty="0" smtClean="0"/>
              <a:t>3. Формирование обучающей выборки. </a:t>
            </a:r>
          </a:p>
          <a:p>
            <a:pPr fontAlgn="base">
              <a:buNone/>
            </a:pPr>
            <a:r>
              <a:rPr lang="ru-RU" dirty="0" smtClean="0"/>
              <a:t>4. Выбор метода кластерного анализа. Обучение модели на обучающей выборке.</a:t>
            </a:r>
          </a:p>
          <a:p>
            <a:pPr fontAlgn="base">
              <a:buNone/>
            </a:pPr>
            <a:r>
              <a:rPr lang="ru-RU" dirty="0" smtClean="0"/>
              <a:t>5. Интерпретация полученной модели и выделенных кластеров.</a:t>
            </a:r>
          </a:p>
          <a:p>
            <a:pPr fontAlgn="base">
              <a:buNone/>
            </a:pPr>
            <a:r>
              <a:rPr lang="ru-RU" dirty="0" smtClean="0"/>
              <a:t>6. Проверка модели.</a:t>
            </a:r>
          </a:p>
          <a:p>
            <a:pPr fontAlgn="base">
              <a:buNone/>
            </a:pPr>
            <a:r>
              <a:rPr lang="ru-RU" dirty="0" smtClean="0"/>
              <a:t>7. Применение модели.</a:t>
            </a:r>
            <a:endParaRPr lang="ru-RU"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Классификация методов</a:t>
            </a:r>
            <a:endParaRPr lang="ru-RU" dirty="0"/>
          </a:p>
        </p:txBody>
      </p:sp>
      <p:sp>
        <p:nvSpPr>
          <p:cNvPr id="3" name="Содержимое 2"/>
          <p:cNvSpPr>
            <a:spLocks noGrp="1"/>
          </p:cNvSpPr>
          <p:nvPr>
            <p:ph idx="1"/>
          </p:nvPr>
        </p:nvSpPr>
        <p:spPr/>
        <p:txBody>
          <a:bodyPr>
            <a:normAutofit fontScale="55000" lnSpcReduction="20000"/>
          </a:bodyPr>
          <a:lstStyle/>
          <a:p>
            <a:r>
              <a:rPr lang="ru-RU" dirty="0" smtClean="0"/>
              <a:t>Иерархические и плоские.</a:t>
            </a:r>
            <a:br>
              <a:rPr lang="ru-RU" dirty="0" smtClean="0"/>
            </a:br>
            <a:r>
              <a:rPr lang="ru-RU" dirty="0" smtClean="0"/>
              <a:t>Иерархические алгоритмы (также называемые алгоритмами таксономии) строят не одно разбиение выборки на непересекающиеся кластеры, а систему вложенных разбиений. Т.о. на выходе мы получаем дерево кластеров, корнем которого является вся выборка, а листьями — наиболее мелкие кластера.</a:t>
            </a:r>
            <a:br>
              <a:rPr lang="ru-RU" dirty="0" smtClean="0"/>
            </a:br>
            <a:endParaRPr lang="ru-RU" dirty="0" smtClean="0"/>
          </a:p>
          <a:p>
            <a:pPr>
              <a:buNone/>
            </a:pPr>
            <a:r>
              <a:rPr lang="ru-RU" dirty="0" smtClean="0"/>
              <a:t>	Плоские алгоритмы строят одно разбиение объектов на кластеры.</a:t>
            </a:r>
          </a:p>
          <a:p>
            <a:pPr>
              <a:buNone/>
            </a:pPr>
            <a:endParaRPr lang="ru-RU" dirty="0" smtClean="0"/>
          </a:p>
          <a:p>
            <a:r>
              <a:rPr lang="ru-RU" dirty="0" smtClean="0"/>
              <a:t>Четкие и нечеткие.</a:t>
            </a:r>
            <a:br>
              <a:rPr lang="ru-RU" dirty="0" smtClean="0"/>
            </a:br>
            <a:r>
              <a:rPr lang="ru-RU" dirty="0" smtClean="0"/>
              <a:t>Четкие (или непересекающиеся) алгоритмы каждому объекту выборки ставят в соответствие номер кластера, т.е. каждый объект принадлежит только одному кластеру. Нечеткие (или пересекающиеся) алгоритмы каждому объекту ставят в соответствие набор вещественных значений, показывающих степень отношения объекта к кластерам. Т.е. каждый объект относится к каждому кластеру с некоторой вероятностью.</a:t>
            </a:r>
          </a:p>
          <a:p>
            <a:pPr>
              <a:buNone/>
            </a:pPr>
            <a:r>
              <a:rPr lang="ru-RU" dirty="0" smtClean="0"/>
              <a:t/>
            </a:r>
            <a:br>
              <a:rPr lang="ru-RU" dirty="0" smtClean="0"/>
            </a:br>
            <a:endParaRPr lang="ru-RU" dirty="0"/>
          </a:p>
        </p:txBody>
      </p:sp>
      <p:sp>
        <p:nvSpPr>
          <p:cNvPr id="21506" name="AutoShape 2" descr="Расстояние между двумя точками на поверхности Земли | by shemanovskiy |  Medium"/>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21508" name="AutoShape 4" descr="Расстояние между двумя точками на поверхности Земли | by shemanovskiy |  Medium"/>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21510" name="AutoShape 6" descr="Расстояние между двумя точками на поверхности Земли | by shemanovskiy |  Medium"/>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21514" name="AutoShape 10" descr="Презентация PowerPoin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21516" name="AutoShape 12" descr="Студопедия — Выбор меры расстояния."/>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pic>
        <p:nvPicPr>
          <p:cNvPr id="27650" name="Picture 2" descr="https://moluch.ru/blmcbn/2584/5e4d72b8.png"/>
          <p:cNvPicPr>
            <a:picLocks noChangeAspect="1" noChangeArrowheads="1"/>
          </p:cNvPicPr>
          <p:nvPr/>
        </p:nvPicPr>
        <p:blipFill>
          <a:blip r:embed="rId2" cstate="print"/>
          <a:srcRect/>
          <a:stretch>
            <a:fillRect/>
          </a:stretch>
        </p:blipFill>
        <p:spPr bwMode="auto">
          <a:xfrm>
            <a:off x="1403648" y="1268760"/>
            <a:ext cx="5981700" cy="4514851"/>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650"/>
                                        </p:tgtEl>
                                        <p:attrNameLst>
                                          <p:attrName>style.visibility</p:attrName>
                                        </p:attrNameLst>
                                      </p:cBhvr>
                                      <p:to>
                                        <p:strVal val="visible"/>
                                      </p:to>
                                    </p:set>
                                    <p:anim calcmode="lin" valueType="num">
                                      <p:cBhvr additive="base">
                                        <p:cTn id="7" dur="500" fill="hold"/>
                                        <p:tgtEl>
                                          <p:spTgt spid="27650"/>
                                        </p:tgtEl>
                                        <p:attrNameLst>
                                          <p:attrName>ppt_x</p:attrName>
                                        </p:attrNameLst>
                                      </p:cBhvr>
                                      <p:tavLst>
                                        <p:tav tm="0">
                                          <p:val>
                                            <p:strVal val="#ppt_x"/>
                                          </p:val>
                                        </p:tav>
                                        <p:tav tm="100000">
                                          <p:val>
                                            <p:strVal val="#ppt_x"/>
                                          </p:val>
                                        </p:tav>
                                      </p:tavLst>
                                    </p:anim>
                                    <p:anim calcmode="lin" valueType="num">
                                      <p:cBhvr additive="base">
                                        <p:cTn id="8" dur="500" fill="hold"/>
                                        <p:tgtEl>
                                          <p:spTgt spid="276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Другие классификации</a:t>
            </a:r>
            <a:endParaRPr lang="ru-RU" dirty="0"/>
          </a:p>
        </p:txBody>
      </p:sp>
      <p:sp>
        <p:nvSpPr>
          <p:cNvPr id="3" name="Содержимое 2"/>
          <p:cNvSpPr>
            <a:spLocks noGrp="1"/>
          </p:cNvSpPr>
          <p:nvPr>
            <p:ph idx="1"/>
          </p:nvPr>
        </p:nvSpPr>
        <p:spPr/>
        <p:txBody>
          <a:bodyPr>
            <a:normAutofit fontScale="47500" lnSpcReduction="20000"/>
          </a:bodyPr>
          <a:lstStyle/>
          <a:p>
            <a:r>
              <a:rPr lang="ru-RU" sz="3500" i="1" dirty="0" smtClean="0"/>
              <a:t>Вероятностный подход</a:t>
            </a:r>
            <a:r>
              <a:rPr lang="ru-RU" sz="3500" dirty="0" smtClean="0"/>
              <a:t>. Предполагается, что каждый рассматриваемый объект относится к одному из </a:t>
            </a:r>
            <a:r>
              <a:rPr lang="ru-RU" sz="3500" dirty="0" err="1" smtClean="0"/>
              <a:t>k</a:t>
            </a:r>
            <a:r>
              <a:rPr lang="ru-RU" sz="3500" dirty="0" smtClean="0"/>
              <a:t> классов. Некоторые авторы (например, А. И. Орлов) считают, что данная группа вовсе не относится к кластеризации и противопоставляют её под названием «дискриминация», то есть выбор отнесения объектов к одной из известных групп (обучающих выборок).</a:t>
            </a:r>
          </a:p>
          <a:p>
            <a:pPr lvl="1"/>
            <a:r>
              <a:rPr lang="ru-RU" sz="3000" dirty="0" smtClean="0"/>
              <a:t>K-средних</a:t>
            </a:r>
          </a:p>
          <a:p>
            <a:r>
              <a:rPr lang="ru-RU" sz="3500" dirty="0" smtClean="0"/>
              <a:t>Подходы на основе систем искусственного интеллекта: весьма условная группа, так как методов очень много и методически они весьма различны.</a:t>
            </a:r>
          </a:p>
          <a:p>
            <a:pPr lvl="1"/>
            <a:r>
              <a:rPr lang="ru-RU" sz="3000" dirty="0" smtClean="0"/>
              <a:t>Нейронная сеть </a:t>
            </a:r>
            <a:r>
              <a:rPr lang="ru-RU" sz="3000" dirty="0" err="1" smtClean="0"/>
              <a:t>Кохонена</a:t>
            </a:r>
            <a:endParaRPr lang="ru-RU" sz="3000" dirty="0" smtClean="0"/>
          </a:p>
          <a:p>
            <a:pPr lvl="1"/>
            <a:r>
              <a:rPr lang="ru-RU" sz="3000" dirty="0" smtClean="0"/>
              <a:t>Генетический алгоритм</a:t>
            </a:r>
          </a:p>
          <a:p>
            <a:pPr lvl="1"/>
            <a:r>
              <a:rPr lang="ru-RU" sz="3000" dirty="0" smtClean="0"/>
              <a:t>С-</a:t>
            </a:r>
            <a:r>
              <a:rPr lang="en-US" sz="3000" dirty="0" smtClean="0"/>
              <a:t>means</a:t>
            </a:r>
            <a:endParaRPr lang="ru-RU" sz="3000" dirty="0" smtClean="0"/>
          </a:p>
          <a:p>
            <a:r>
              <a:rPr lang="ru-RU" sz="3500" dirty="0" smtClean="0"/>
              <a:t>Логический подход. Построение </a:t>
            </a:r>
            <a:r>
              <a:rPr lang="ru-RU" sz="3500" dirty="0" err="1" smtClean="0"/>
              <a:t>дендрограммы</a:t>
            </a:r>
            <a:r>
              <a:rPr lang="ru-RU" sz="3500" dirty="0" smtClean="0"/>
              <a:t> осуществляется с помощью дерева решений.</a:t>
            </a:r>
          </a:p>
          <a:p>
            <a:r>
              <a:rPr lang="ru-RU" sz="3500" dirty="0" err="1" smtClean="0"/>
              <a:t>Теоретико-графовый</a:t>
            </a:r>
            <a:r>
              <a:rPr lang="ru-RU" sz="3500" dirty="0" smtClean="0"/>
              <a:t> подход.</a:t>
            </a:r>
          </a:p>
          <a:p>
            <a:r>
              <a:rPr lang="ru-RU" sz="3500" dirty="0" smtClean="0"/>
              <a:t>Иерархический подход. Предполагается наличие вложенных групп (кластеров различного порядка). Алгоритмы в свою очередь подразделяются на </a:t>
            </a:r>
            <a:r>
              <a:rPr lang="ru-RU" sz="3500" dirty="0" err="1" smtClean="0"/>
              <a:t>агломеративные</a:t>
            </a:r>
            <a:r>
              <a:rPr lang="ru-RU" sz="3500" dirty="0" smtClean="0"/>
              <a:t> (объединительные) и </a:t>
            </a:r>
            <a:r>
              <a:rPr lang="ru-RU" sz="3500" dirty="0" err="1" smtClean="0"/>
              <a:t>дивизивные</a:t>
            </a:r>
            <a:r>
              <a:rPr lang="ru-RU" sz="3500" dirty="0" smtClean="0"/>
              <a:t> (разделяющие). По количеству признаков иногда выделяют </a:t>
            </a:r>
            <a:r>
              <a:rPr lang="ru-RU" sz="3500" dirty="0" err="1" smtClean="0"/>
              <a:t>монотетические</a:t>
            </a:r>
            <a:r>
              <a:rPr lang="ru-RU" sz="3500" dirty="0" smtClean="0"/>
              <a:t> и </a:t>
            </a:r>
            <a:r>
              <a:rPr lang="ru-RU" sz="3500" dirty="0" err="1" smtClean="0"/>
              <a:t>политетические</a:t>
            </a:r>
            <a:r>
              <a:rPr lang="ru-RU" sz="3500" dirty="0" smtClean="0"/>
              <a:t> методы классификации.</a:t>
            </a:r>
          </a:p>
          <a:p>
            <a:r>
              <a:rPr lang="ru-RU" sz="3500" dirty="0" smtClean="0"/>
              <a:t>Другие методы.</a:t>
            </a:r>
            <a:endParaRPr lang="ru-RU" sz="3000" dirty="0" smtClean="0"/>
          </a:p>
        </p:txBody>
      </p:sp>
      <p:sp>
        <p:nvSpPr>
          <p:cNvPr id="21506" name="AutoShape 2" descr="Расстояние между двумя точками на поверхности Земли | by shemanovskiy |  Medium"/>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21508" name="AutoShape 4" descr="Расстояние между двумя точками на поверхности Земли | by shemanovskiy |  Medium"/>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21510" name="AutoShape 6" descr="Расстояние между двумя точками на поверхности Земли | by shemanovskiy |  Medium"/>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21514" name="AutoShape 10" descr="Презентация PowerPoin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21516" name="AutoShape 12" descr="Студопедия — Выбор меры расстояния."/>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Иерархические методы кластерного анализа</a:t>
            </a:r>
            <a:endParaRPr lang="ru-RU" dirty="0"/>
          </a:p>
        </p:txBody>
      </p:sp>
      <p:sp>
        <p:nvSpPr>
          <p:cNvPr id="3" name="Содержимое 2"/>
          <p:cNvSpPr>
            <a:spLocks noGrp="1"/>
          </p:cNvSpPr>
          <p:nvPr>
            <p:ph idx="1"/>
          </p:nvPr>
        </p:nvSpPr>
        <p:spPr/>
        <p:txBody>
          <a:bodyPr>
            <a:normAutofit fontScale="92500" lnSpcReduction="10000"/>
          </a:bodyPr>
          <a:lstStyle/>
          <a:p>
            <a:pPr marL="514350" indent="-514350">
              <a:buAutoNum type="arabicPeriod"/>
            </a:pPr>
            <a:r>
              <a:rPr lang="ru-RU" b="1" dirty="0" err="1" smtClean="0"/>
              <a:t>агломеративные</a:t>
            </a:r>
            <a:r>
              <a:rPr lang="ru-RU" b="1" dirty="0" smtClean="0"/>
              <a:t> </a:t>
            </a:r>
            <a:r>
              <a:rPr lang="ru-RU" dirty="0" smtClean="0"/>
              <a:t>(изначально каждый кластер включает только один объект, а затем кластеры объединяются, их количество уменьшается)</a:t>
            </a:r>
          </a:p>
          <a:p>
            <a:pPr marL="514350" indent="-514350">
              <a:buAutoNum type="arabicPeriod"/>
            </a:pPr>
            <a:r>
              <a:rPr lang="ru-RU" b="1" dirty="0" smtClean="0"/>
              <a:t>дивизионные </a:t>
            </a:r>
            <a:r>
              <a:rPr lang="ru-RU" dirty="0" smtClean="0"/>
              <a:t>(изначально существует только один кластер, включающий в себя все объекты, на каждом новом шаге каждый существующий кластер делится на меньшие).</a:t>
            </a:r>
          </a:p>
          <a:p>
            <a:pPr>
              <a:buNone/>
            </a:pPr>
            <a:r>
              <a:rPr lang="ru-RU" dirty="0" smtClean="0"/>
              <a:t/>
            </a:r>
            <a:br>
              <a:rPr lang="ru-RU" dirty="0" smtClean="0"/>
            </a:br>
            <a:endParaRPr lang="ru-RU"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r>
              <a:rPr lang="ru-RU" sz="3200" dirty="0" smtClean="0"/>
              <a:t>Правила определения расстояния  между кластерами для иерархической кластеризации</a:t>
            </a:r>
            <a:endParaRPr lang="ru-RU" sz="3200" dirty="0"/>
          </a:p>
        </p:txBody>
      </p:sp>
      <p:sp>
        <p:nvSpPr>
          <p:cNvPr id="3" name="Содержимое 2"/>
          <p:cNvSpPr>
            <a:spLocks noGrp="1"/>
          </p:cNvSpPr>
          <p:nvPr>
            <p:ph idx="1"/>
          </p:nvPr>
        </p:nvSpPr>
        <p:spPr/>
        <p:txBody>
          <a:bodyPr>
            <a:normAutofit fontScale="70000" lnSpcReduction="20000"/>
          </a:bodyPr>
          <a:lstStyle/>
          <a:p>
            <a:pPr fontAlgn="base"/>
            <a:r>
              <a:rPr lang="ru-RU" dirty="0" smtClean="0"/>
              <a:t> </a:t>
            </a:r>
            <a:r>
              <a:rPr lang="ru-RU" b="1" dirty="0" smtClean="0"/>
              <a:t>Метод ближайших соседей</a:t>
            </a:r>
            <a:r>
              <a:rPr lang="ru-RU" dirty="0" smtClean="0"/>
              <a:t> (одиночная связь) заключается в нахождении расстояния между кластерами как расстояния между двумя ближайшими объектами кластеров. Наиболее близкие объекты в двух кластерах называются ближайшими соседями. Метод позволяет выявить, какие кластеры стоит объединять (кластеры, разделенные наименьшим расстоянием), а результирующий кластер может быть сколь угодно сложной формы.</a:t>
            </a:r>
          </a:p>
          <a:p>
            <a:r>
              <a:rPr lang="ru-RU" b="1" dirty="0" smtClean="0"/>
              <a:t>Метод наиболее удаленных соседей</a:t>
            </a:r>
            <a:r>
              <a:rPr lang="ru-RU" dirty="0" smtClean="0"/>
              <a:t> (полная связь) предполагает вычисление дистанции между кластерами как расстояние между двумя самыми удаленными друг от друга объектами этих кластеров. Далее производится объединение кластеров, расстояние между которыми наименьшее. Результирующие кластеры обычно достаточно компактны и содержат наиболее похожие элементы.</a:t>
            </a:r>
            <a:endParaRPr lang="ru-RU"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r>
              <a:rPr lang="ru-RU" sz="3200" dirty="0" smtClean="0"/>
              <a:t>Правила определения расстояния  между кластерами для иерархической кластеризации</a:t>
            </a:r>
            <a:endParaRPr lang="ru-RU" sz="3200" dirty="0"/>
          </a:p>
        </p:txBody>
      </p:sp>
      <p:sp>
        <p:nvSpPr>
          <p:cNvPr id="3" name="Содержимое 2"/>
          <p:cNvSpPr>
            <a:spLocks noGrp="1"/>
          </p:cNvSpPr>
          <p:nvPr>
            <p:ph idx="1"/>
          </p:nvPr>
        </p:nvSpPr>
        <p:spPr/>
        <p:txBody>
          <a:bodyPr>
            <a:normAutofit fontScale="77500" lnSpcReduction="20000"/>
          </a:bodyPr>
          <a:lstStyle/>
          <a:p>
            <a:pPr fontAlgn="base"/>
            <a:r>
              <a:rPr lang="ru-RU" b="1" dirty="0" smtClean="0"/>
              <a:t>Алгоритм Уорда</a:t>
            </a:r>
            <a:r>
              <a:rPr lang="ru-RU" dirty="0" smtClean="0"/>
              <a:t> (</a:t>
            </a:r>
            <a:r>
              <a:rPr lang="ru-RU" dirty="0" err="1" smtClean="0"/>
              <a:t>Варда</a:t>
            </a:r>
            <a:r>
              <a:rPr lang="ru-RU" dirty="0" smtClean="0"/>
              <a:t>) включает несколько этапов. На первом этапе вычисляется среднее значение по отдельным свойствам объектов кластера. Далее вычисляются  расстояния как квадрат евклидова расстояния от каждого объекта кластера до вычисленного среднего значения, которые затем суммируются. Объединяются кластеры таким образом, чтобы минимизировать увеличение прироста суммы расстояния от объектов до центра кластера.</a:t>
            </a:r>
          </a:p>
          <a:p>
            <a:pPr fontAlgn="base"/>
            <a:r>
              <a:rPr lang="ru-RU" b="1" dirty="0" err="1" smtClean="0"/>
              <a:t>Невзвешенное</a:t>
            </a:r>
            <a:r>
              <a:rPr lang="ru-RU" b="1" dirty="0" smtClean="0"/>
              <a:t> </a:t>
            </a:r>
            <a:r>
              <a:rPr lang="ru-RU" b="1" dirty="0" err="1" smtClean="0"/>
              <a:t>попарное</a:t>
            </a:r>
            <a:r>
              <a:rPr lang="ru-RU" b="1" dirty="0" smtClean="0"/>
              <a:t> среднее</a:t>
            </a:r>
            <a:r>
              <a:rPr lang="ru-RU" dirty="0" smtClean="0"/>
              <a:t>. Как следует из названия, расстояние между кластерами вычисляется как среднее значение расстояний между всеми парами объектов этих кластеров. </a:t>
            </a:r>
            <a:endParaRPr lang="ru-RU"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r>
              <a:rPr lang="ru-RU" sz="3200" dirty="0" smtClean="0"/>
              <a:t>Правила определения расстояния  между кластерами для иерархической кластеризации</a:t>
            </a:r>
            <a:endParaRPr lang="ru-RU" sz="3200" dirty="0"/>
          </a:p>
        </p:txBody>
      </p:sp>
      <p:sp>
        <p:nvSpPr>
          <p:cNvPr id="3" name="Содержимое 2"/>
          <p:cNvSpPr>
            <a:spLocks noGrp="1"/>
          </p:cNvSpPr>
          <p:nvPr>
            <p:ph idx="1"/>
          </p:nvPr>
        </p:nvSpPr>
        <p:spPr/>
        <p:txBody>
          <a:bodyPr>
            <a:normAutofit fontScale="70000" lnSpcReduction="20000"/>
          </a:bodyPr>
          <a:lstStyle/>
          <a:p>
            <a:pPr fontAlgn="base"/>
            <a:r>
              <a:rPr lang="ru-RU" b="1" dirty="0" smtClean="0"/>
              <a:t>Взвешенное </a:t>
            </a:r>
            <a:r>
              <a:rPr lang="ru-RU" b="1" dirty="0" err="1" smtClean="0"/>
              <a:t>попарное</a:t>
            </a:r>
            <a:r>
              <a:rPr lang="ru-RU" b="1" dirty="0" smtClean="0"/>
              <a:t> среднее.</a:t>
            </a:r>
            <a:r>
              <a:rPr lang="ru-RU" dirty="0" smtClean="0"/>
              <a:t> В отличие от предыдущего, при вычислении расстояния используются весовые коэффициенты, равные размерам кластеров. В таком случае удается учесть число объектов в кластерах , если один из кластеров значительно больше другого.</a:t>
            </a:r>
          </a:p>
          <a:p>
            <a:pPr fontAlgn="base"/>
            <a:r>
              <a:rPr lang="ru-RU" b="1" dirty="0" err="1" smtClean="0"/>
              <a:t>Центроидная</a:t>
            </a:r>
            <a:r>
              <a:rPr lang="ru-RU" b="1" dirty="0" smtClean="0"/>
              <a:t> кластеризация.</a:t>
            </a:r>
            <a:r>
              <a:rPr lang="ru-RU" dirty="0" smtClean="0"/>
              <a:t> Для двух кластеров рассчитывается среднее значение объектов по всем переменным. Расстоянием между кластерами считают расстояние между этими усредненными объектами.</a:t>
            </a:r>
          </a:p>
          <a:p>
            <a:pPr fontAlgn="base"/>
            <a:r>
              <a:rPr lang="ru-RU" b="1" dirty="0" smtClean="0"/>
              <a:t>Взвешенная </a:t>
            </a:r>
            <a:r>
              <a:rPr lang="ru-RU" b="1" dirty="0" err="1" smtClean="0"/>
              <a:t>центроидная</a:t>
            </a:r>
            <a:r>
              <a:rPr lang="ru-RU" b="1" dirty="0" smtClean="0"/>
              <a:t> кластеризация</a:t>
            </a:r>
            <a:r>
              <a:rPr lang="ru-RU" dirty="0" smtClean="0"/>
              <a:t>. Расстояние между кластерами вычисляется также, как в предыдущем методе, но используются веса, пропорциональные размерам кластеров. Этот метод используют, когда необходимо учесть разницу в размерах кластеров.</a:t>
            </a:r>
          </a:p>
          <a:p>
            <a:pPr fontAlgn="base"/>
            <a:endParaRPr lang="ru-RU"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r>
              <a:rPr lang="ru-RU" sz="3200" dirty="0" smtClean="0"/>
              <a:t>Процесс выполнения </a:t>
            </a:r>
            <a:r>
              <a:rPr lang="ru-RU" sz="3200" dirty="0" err="1" smtClean="0"/>
              <a:t>агломеративного</a:t>
            </a:r>
            <a:r>
              <a:rPr lang="ru-RU" sz="3200" dirty="0" smtClean="0"/>
              <a:t> иерархического кластерного анализа.</a:t>
            </a:r>
            <a:endParaRPr lang="ru-RU" sz="3200" dirty="0"/>
          </a:p>
        </p:txBody>
      </p:sp>
      <p:sp>
        <p:nvSpPr>
          <p:cNvPr id="3" name="Содержимое 2"/>
          <p:cNvSpPr>
            <a:spLocks noGrp="1"/>
          </p:cNvSpPr>
          <p:nvPr>
            <p:ph idx="1"/>
          </p:nvPr>
        </p:nvSpPr>
        <p:spPr/>
        <p:txBody>
          <a:bodyPr>
            <a:normAutofit fontScale="92500" lnSpcReduction="20000"/>
          </a:bodyPr>
          <a:lstStyle/>
          <a:p>
            <a:pPr fontAlgn="base"/>
            <a:r>
              <a:rPr lang="ru-RU" dirty="0" smtClean="0"/>
              <a:t>Выбрать меру расстояния между объектами.</a:t>
            </a:r>
          </a:p>
          <a:p>
            <a:pPr fontAlgn="base"/>
            <a:r>
              <a:rPr lang="ru-RU" dirty="0" smtClean="0"/>
              <a:t>Каждый объект присвоить отдельному кластеру.</a:t>
            </a:r>
          </a:p>
          <a:p>
            <a:pPr fontAlgn="base"/>
            <a:r>
              <a:rPr lang="ru-RU" dirty="0" smtClean="0"/>
              <a:t>Выбрать метод вычисления расстояния между кластерами.</a:t>
            </a:r>
          </a:p>
          <a:p>
            <a:pPr fontAlgn="base"/>
            <a:r>
              <a:rPr lang="ru-RU" dirty="0" smtClean="0"/>
              <a:t>Определить пары кластеров, которые сливаются в один.</a:t>
            </a:r>
          </a:p>
          <a:p>
            <a:pPr fontAlgn="base"/>
            <a:r>
              <a:rPr lang="ru-RU" dirty="0" smtClean="0"/>
              <a:t>Повторить пункты 3-4 либо до объединения всех кластеров в один, либо до необходимого количества кластеров. </a:t>
            </a:r>
          </a:p>
          <a:p>
            <a:pPr>
              <a:buNone/>
            </a:pPr>
            <a:endParaRPr lang="ru-RU"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Выбор количества кластеров</a:t>
            </a:r>
            <a:endParaRPr lang="ru-RU" dirty="0"/>
          </a:p>
        </p:txBody>
      </p:sp>
      <p:sp>
        <p:nvSpPr>
          <p:cNvPr id="3" name="Содержимое 2"/>
          <p:cNvSpPr>
            <a:spLocks noGrp="1"/>
          </p:cNvSpPr>
          <p:nvPr>
            <p:ph idx="1"/>
          </p:nvPr>
        </p:nvSpPr>
        <p:spPr/>
        <p:txBody>
          <a:bodyPr>
            <a:normAutofit fontScale="77500" lnSpcReduction="20000"/>
          </a:bodyPr>
          <a:lstStyle/>
          <a:p>
            <a:pPr fontAlgn="base"/>
            <a:r>
              <a:rPr lang="ru-RU" dirty="0" smtClean="0"/>
              <a:t>Заранее известно требуемое количество кластеров.</a:t>
            </a:r>
          </a:p>
          <a:p>
            <a:pPr fontAlgn="base"/>
            <a:r>
              <a:rPr lang="ru-RU" dirty="0" smtClean="0"/>
              <a:t>Можно анализировать изменение расстояний между кластерами, фиксируя его резкое изменение. Этот скачок будет означать, что начинают объединяться кластеры, находящиеся далеко друг от друга и результирующий кластер может быть недостаточно сильно связанным. Для этого анализа используют специальный коэффициент, равный расстоянию между кластерами, вычисленному соответственно выбранной мере. Поэтому необходимо фиксировать изменение данного коэффициента на каждом этапе объединения кластеров. </a:t>
            </a:r>
          </a:p>
          <a:p>
            <a:r>
              <a:rPr lang="ru-RU" dirty="0" smtClean="0"/>
              <a:t>Число кластеров, равное разности числа объектов и числа объединений, считается оптимальным.</a:t>
            </a:r>
          </a:p>
          <a:p>
            <a:pPr>
              <a:buNone/>
            </a:pPr>
            <a:endParaRPr lang="ru-RU" dirty="0">
              <a:solidFill>
                <a:srgbClr val="FF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r>
              <a:rPr lang="ru-RU" sz="2800" dirty="0" smtClean="0"/>
              <a:t>Пример </a:t>
            </a:r>
            <a:r>
              <a:rPr lang="ru-RU" sz="2800" dirty="0" err="1" smtClean="0"/>
              <a:t>агломеративной</a:t>
            </a:r>
            <a:r>
              <a:rPr lang="ru-RU" sz="2800" dirty="0" smtClean="0"/>
              <a:t> иерархической кластеризации</a:t>
            </a:r>
            <a:endParaRPr lang="ru-RU" sz="2800" dirty="0"/>
          </a:p>
        </p:txBody>
      </p:sp>
      <p:sp>
        <p:nvSpPr>
          <p:cNvPr id="3" name="Содержимое 2"/>
          <p:cNvSpPr>
            <a:spLocks noGrp="1"/>
          </p:cNvSpPr>
          <p:nvPr>
            <p:ph idx="1"/>
          </p:nvPr>
        </p:nvSpPr>
        <p:spPr>
          <a:xfrm>
            <a:off x="457200" y="1285860"/>
            <a:ext cx="8229600" cy="4840303"/>
          </a:xfrm>
        </p:spPr>
        <p:txBody>
          <a:bodyPr/>
          <a:lstStyle/>
          <a:p>
            <a:pPr>
              <a:buNone/>
            </a:pPr>
            <a:r>
              <a:rPr lang="ru-RU" sz="1800" dirty="0" smtClean="0"/>
              <a:t>Допустим, мы имеем набор данных А, состоящий из 14-ти примеров, у которых имеется по два признака X и Y.</a:t>
            </a:r>
          </a:p>
          <a:p>
            <a:pPr>
              <a:buNone/>
            </a:pPr>
            <a:endParaRPr lang="ru-RU" dirty="0"/>
          </a:p>
        </p:txBody>
      </p:sp>
      <p:graphicFrame>
        <p:nvGraphicFramePr>
          <p:cNvPr id="4" name="Таблица 3"/>
          <p:cNvGraphicFramePr>
            <a:graphicFrameLocks noGrp="1"/>
          </p:cNvGraphicFramePr>
          <p:nvPr/>
        </p:nvGraphicFramePr>
        <p:xfrm>
          <a:off x="1571604" y="1928802"/>
          <a:ext cx="5572164" cy="4572000"/>
        </p:xfrm>
        <a:graphic>
          <a:graphicData uri="http://schemas.openxmlformats.org/drawingml/2006/table">
            <a:tbl>
              <a:tblPr firstRow="1" bandRow="1">
                <a:tableStyleId>{5C22544A-7EE6-4342-B048-85BDC9FD1C3A}</a:tableStyleId>
              </a:tblPr>
              <a:tblGrid>
                <a:gridCol w="1857388"/>
                <a:gridCol w="1857388"/>
                <a:gridCol w="1857388"/>
              </a:tblGrid>
              <a:tr h="250403">
                <a:tc>
                  <a:txBody>
                    <a:bodyPr/>
                    <a:lstStyle/>
                    <a:p>
                      <a:pPr algn="ctr"/>
                      <a:r>
                        <a:rPr lang="ru-RU" dirty="0"/>
                        <a:t>№ примера</a:t>
                      </a:r>
                    </a:p>
                  </a:txBody>
                  <a:tcPr marL="15240" marR="15240" marT="15240" marB="15240" anchor="ctr"/>
                </a:tc>
                <a:tc>
                  <a:txBody>
                    <a:bodyPr/>
                    <a:lstStyle/>
                    <a:p>
                      <a:pPr algn="ctr"/>
                      <a:r>
                        <a:rPr lang="ru-RU"/>
                        <a:t>признак </a:t>
                      </a:r>
                      <a:r>
                        <a:rPr lang="en-US"/>
                        <a:t>X</a:t>
                      </a:r>
                    </a:p>
                  </a:txBody>
                  <a:tcPr marL="15240" marR="15240" marT="15240" marB="15240" anchor="ctr"/>
                </a:tc>
                <a:tc>
                  <a:txBody>
                    <a:bodyPr/>
                    <a:lstStyle/>
                    <a:p>
                      <a:pPr algn="ctr"/>
                      <a:r>
                        <a:rPr lang="ru-RU"/>
                        <a:t>признак </a:t>
                      </a:r>
                      <a:r>
                        <a:rPr lang="en-US"/>
                        <a:t>Y</a:t>
                      </a:r>
                    </a:p>
                  </a:txBody>
                  <a:tcPr marL="15240" marR="15240" marT="15240" marB="15240" anchor="ctr"/>
                </a:tc>
              </a:tr>
              <a:tr h="250403">
                <a:tc>
                  <a:txBody>
                    <a:bodyPr/>
                    <a:lstStyle/>
                    <a:p>
                      <a:r>
                        <a:rPr lang="ru-RU"/>
                        <a:t>1</a:t>
                      </a:r>
                    </a:p>
                  </a:txBody>
                  <a:tcPr marL="15240" marR="15240" marT="15240" marB="15240"/>
                </a:tc>
                <a:tc>
                  <a:txBody>
                    <a:bodyPr/>
                    <a:lstStyle/>
                    <a:p>
                      <a:r>
                        <a:rPr lang="ru-RU"/>
                        <a:t>27</a:t>
                      </a:r>
                    </a:p>
                  </a:txBody>
                  <a:tcPr marL="15240" marR="15240" marT="15240" marB="15240"/>
                </a:tc>
                <a:tc>
                  <a:txBody>
                    <a:bodyPr/>
                    <a:lstStyle/>
                    <a:p>
                      <a:r>
                        <a:rPr lang="ru-RU"/>
                        <a:t>19</a:t>
                      </a:r>
                    </a:p>
                  </a:txBody>
                  <a:tcPr marL="15240" marR="15240" marT="15240" marB="15240"/>
                </a:tc>
              </a:tr>
              <a:tr h="250403">
                <a:tc>
                  <a:txBody>
                    <a:bodyPr/>
                    <a:lstStyle/>
                    <a:p>
                      <a:r>
                        <a:rPr lang="ru-RU"/>
                        <a:t>2</a:t>
                      </a:r>
                    </a:p>
                  </a:txBody>
                  <a:tcPr marL="15240" marR="15240" marT="15240" marB="15240"/>
                </a:tc>
                <a:tc>
                  <a:txBody>
                    <a:bodyPr/>
                    <a:lstStyle/>
                    <a:p>
                      <a:r>
                        <a:rPr lang="ru-RU"/>
                        <a:t>11</a:t>
                      </a:r>
                    </a:p>
                  </a:txBody>
                  <a:tcPr marL="15240" marR="15240" marT="15240" marB="15240"/>
                </a:tc>
                <a:tc>
                  <a:txBody>
                    <a:bodyPr/>
                    <a:lstStyle/>
                    <a:p>
                      <a:r>
                        <a:rPr lang="ru-RU"/>
                        <a:t>46</a:t>
                      </a:r>
                    </a:p>
                  </a:txBody>
                  <a:tcPr marL="15240" marR="15240" marT="15240" marB="15240"/>
                </a:tc>
              </a:tr>
              <a:tr h="250403">
                <a:tc>
                  <a:txBody>
                    <a:bodyPr/>
                    <a:lstStyle/>
                    <a:p>
                      <a:r>
                        <a:rPr lang="ru-RU"/>
                        <a:t>3</a:t>
                      </a:r>
                    </a:p>
                  </a:txBody>
                  <a:tcPr marL="15240" marR="15240" marT="15240" marB="15240"/>
                </a:tc>
                <a:tc>
                  <a:txBody>
                    <a:bodyPr/>
                    <a:lstStyle/>
                    <a:p>
                      <a:r>
                        <a:rPr lang="ru-RU"/>
                        <a:t>25</a:t>
                      </a:r>
                    </a:p>
                  </a:txBody>
                  <a:tcPr marL="15240" marR="15240" marT="15240" marB="15240"/>
                </a:tc>
                <a:tc>
                  <a:txBody>
                    <a:bodyPr/>
                    <a:lstStyle/>
                    <a:p>
                      <a:r>
                        <a:rPr lang="ru-RU"/>
                        <a:t>15</a:t>
                      </a:r>
                    </a:p>
                  </a:txBody>
                  <a:tcPr marL="15240" marR="15240" marT="15240" marB="15240"/>
                </a:tc>
              </a:tr>
              <a:tr h="250403">
                <a:tc>
                  <a:txBody>
                    <a:bodyPr/>
                    <a:lstStyle/>
                    <a:p>
                      <a:r>
                        <a:rPr lang="ru-RU" dirty="0"/>
                        <a:t>4</a:t>
                      </a:r>
                    </a:p>
                  </a:txBody>
                  <a:tcPr marL="15240" marR="15240" marT="15240" marB="15240"/>
                </a:tc>
                <a:tc>
                  <a:txBody>
                    <a:bodyPr/>
                    <a:lstStyle/>
                    <a:p>
                      <a:r>
                        <a:rPr lang="ru-RU"/>
                        <a:t>36</a:t>
                      </a:r>
                    </a:p>
                  </a:txBody>
                  <a:tcPr marL="15240" marR="15240" marT="15240" marB="15240"/>
                </a:tc>
                <a:tc>
                  <a:txBody>
                    <a:bodyPr/>
                    <a:lstStyle/>
                    <a:p>
                      <a:r>
                        <a:rPr lang="ru-RU"/>
                        <a:t>27</a:t>
                      </a:r>
                    </a:p>
                  </a:txBody>
                  <a:tcPr marL="15240" marR="15240" marT="15240" marB="15240"/>
                </a:tc>
              </a:tr>
              <a:tr h="250403">
                <a:tc>
                  <a:txBody>
                    <a:bodyPr/>
                    <a:lstStyle/>
                    <a:p>
                      <a:r>
                        <a:rPr lang="ru-RU"/>
                        <a:t>5</a:t>
                      </a:r>
                    </a:p>
                  </a:txBody>
                  <a:tcPr marL="15240" marR="15240" marT="15240" marB="15240"/>
                </a:tc>
                <a:tc>
                  <a:txBody>
                    <a:bodyPr/>
                    <a:lstStyle/>
                    <a:p>
                      <a:r>
                        <a:rPr lang="ru-RU"/>
                        <a:t>35</a:t>
                      </a:r>
                    </a:p>
                  </a:txBody>
                  <a:tcPr marL="15240" marR="15240" marT="15240" marB="15240"/>
                </a:tc>
                <a:tc>
                  <a:txBody>
                    <a:bodyPr/>
                    <a:lstStyle/>
                    <a:p>
                      <a:r>
                        <a:rPr lang="ru-RU"/>
                        <a:t>25</a:t>
                      </a:r>
                    </a:p>
                  </a:txBody>
                  <a:tcPr marL="15240" marR="15240" marT="15240" marB="15240"/>
                </a:tc>
              </a:tr>
              <a:tr h="250403">
                <a:tc>
                  <a:txBody>
                    <a:bodyPr/>
                    <a:lstStyle/>
                    <a:p>
                      <a:r>
                        <a:rPr lang="ru-RU"/>
                        <a:t>6</a:t>
                      </a:r>
                    </a:p>
                  </a:txBody>
                  <a:tcPr marL="15240" marR="15240" marT="15240" marB="15240"/>
                </a:tc>
                <a:tc>
                  <a:txBody>
                    <a:bodyPr/>
                    <a:lstStyle/>
                    <a:p>
                      <a:r>
                        <a:rPr lang="ru-RU"/>
                        <a:t>10</a:t>
                      </a:r>
                    </a:p>
                  </a:txBody>
                  <a:tcPr marL="15240" marR="15240" marT="15240" marB="15240"/>
                </a:tc>
                <a:tc>
                  <a:txBody>
                    <a:bodyPr/>
                    <a:lstStyle/>
                    <a:p>
                      <a:r>
                        <a:rPr lang="ru-RU"/>
                        <a:t>43</a:t>
                      </a:r>
                    </a:p>
                  </a:txBody>
                  <a:tcPr marL="15240" marR="15240" marT="15240" marB="15240"/>
                </a:tc>
              </a:tr>
              <a:tr h="250403">
                <a:tc>
                  <a:txBody>
                    <a:bodyPr/>
                    <a:lstStyle/>
                    <a:p>
                      <a:r>
                        <a:rPr lang="ru-RU"/>
                        <a:t>7</a:t>
                      </a:r>
                    </a:p>
                  </a:txBody>
                  <a:tcPr marL="15240" marR="15240" marT="15240" marB="15240"/>
                </a:tc>
                <a:tc>
                  <a:txBody>
                    <a:bodyPr/>
                    <a:lstStyle/>
                    <a:p>
                      <a:r>
                        <a:rPr lang="ru-RU"/>
                        <a:t>11</a:t>
                      </a:r>
                    </a:p>
                  </a:txBody>
                  <a:tcPr marL="15240" marR="15240" marT="15240" marB="15240"/>
                </a:tc>
                <a:tc>
                  <a:txBody>
                    <a:bodyPr/>
                    <a:lstStyle/>
                    <a:p>
                      <a:r>
                        <a:rPr lang="ru-RU"/>
                        <a:t>44</a:t>
                      </a:r>
                    </a:p>
                  </a:txBody>
                  <a:tcPr marL="15240" marR="15240" marT="15240" marB="15240"/>
                </a:tc>
              </a:tr>
              <a:tr h="250403">
                <a:tc>
                  <a:txBody>
                    <a:bodyPr/>
                    <a:lstStyle/>
                    <a:p>
                      <a:r>
                        <a:rPr lang="ru-RU"/>
                        <a:t>8</a:t>
                      </a:r>
                    </a:p>
                  </a:txBody>
                  <a:tcPr marL="15240" marR="15240" marT="15240" marB="15240"/>
                </a:tc>
                <a:tc>
                  <a:txBody>
                    <a:bodyPr/>
                    <a:lstStyle/>
                    <a:p>
                      <a:r>
                        <a:rPr lang="ru-RU"/>
                        <a:t>36</a:t>
                      </a:r>
                    </a:p>
                  </a:txBody>
                  <a:tcPr marL="15240" marR="15240" marT="15240" marB="15240"/>
                </a:tc>
                <a:tc>
                  <a:txBody>
                    <a:bodyPr/>
                    <a:lstStyle/>
                    <a:p>
                      <a:r>
                        <a:rPr lang="ru-RU"/>
                        <a:t>24</a:t>
                      </a:r>
                    </a:p>
                  </a:txBody>
                  <a:tcPr marL="15240" marR="15240" marT="15240" marB="15240"/>
                </a:tc>
              </a:tr>
              <a:tr h="250403">
                <a:tc>
                  <a:txBody>
                    <a:bodyPr/>
                    <a:lstStyle/>
                    <a:p>
                      <a:r>
                        <a:rPr lang="ru-RU"/>
                        <a:t>9</a:t>
                      </a:r>
                    </a:p>
                  </a:txBody>
                  <a:tcPr marL="15240" marR="15240" marT="15240" marB="15240"/>
                </a:tc>
                <a:tc>
                  <a:txBody>
                    <a:bodyPr/>
                    <a:lstStyle/>
                    <a:p>
                      <a:r>
                        <a:rPr lang="ru-RU"/>
                        <a:t>26</a:t>
                      </a:r>
                    </a:p>
                  </a:txBody>
                  <a:tcPr marL="15240" marR="15240" marT="15240" marB="15240"/>
                </a:tc>
                <a:tc>
                  <a:txBody>
                    <a:bodyPr/>
                    <a:lstStyle/>
                    <a:p>
                      <a:r>
                        <a:rPr lang="ru-RU"/>
                        <a:t>14</a:t>
                      </a:r>
                    </a:p>
                  </a:txBody>
                  <a:tcPr marL="15240" marR="15240" marT="15240" marB="15240"/>
                </a:tc>
              </a:tr>
              <a:tr h="250403">
                <a:tc>
                  <a:txBody>
                    <a:bodyPr/>
                    <a:lstStyle/>
                    <a:p>
                      <a:r>
                        <a:rPr lang="ru-RU"/>
                        <a:t>10</a:t>
                      </a:r>
                    </a:p>
                  </a:txBody>
                  <a:tcPr marL="15240" marR="15240" marT="15240" marB="15240"/>
                </a:tc>
                <a:tc>
                  <a:txBody>
                    <a:bodyPr/>
                    <a:lstStyle/>
                    <a:p>
                      <a:r>
                        <a:rPr lang="ru-RU"/>
                        <a:t>26</a:t>
                      </a:r>
                    </a:p>
                  </a:txBody>
                  <a:tcPr marL="15240" marR="15240" marT="15240" marB="15240"/>
                </a:tc>
                <a:tc>
                  <a:txBody>
                    <a:bodyPr/>
                    <a:lstStyle/>
                    <a:p>
                      <a:r>
                        <a:rPr lang="ru-RU"/>
                        <a:t>14</a:t>
                      </a:r>
                    </a:p>
                  </a:txBody>
                  <a:tcPr marL="15240" marR="15240" marT="15240" marB="15240"/>
                </a:tc>
              </a:tr>
              <a:tr h="250403">
                <a:tc>
                  <a:txBody>
                    <a:bodyPr/>
                    <a:lstStyle/>
                    <a:p>
                      <a:r>
                        <a:rPr lang="ru-RU"/>
                        <a:t>11</a:t>
                      </a:r>
                    </a:p>
                  </a:txBody>
                  <a:tcPr marL="15240" marR="15240" marT="15240" marB="15240"/>
                </a:tc>
                <a:tc>
                  <a:txBody>
                    <a:bodyPr/>
                    <a:lstStyle/>
                    <a:p>
                      <a:r>
                        <a:rPr lang="ru-RU"/>
                        <a:t>9</a:t>
                      </a:r>
                    </a:p>
                  </a:txBody>
                  <a:tcPr marL="15240" marR="15240" marT="15240" marB="15240"/>
                </a:tc>
                <a:tc>
                  <a:txBody>
                    <a:bodyPr/>
                    <a:lstStyle/>
                    <a:p>
                      <a:r>
                        <a:rPr lang="ru-RU"/>
                        <a:t>45</a:t>
                      </a:r>
                    </a:p>
                  </a:txBody>
                  <a:tcPr marL="15240" marR="15240" marT="15240" marB="15240"/>
                </a:tc>
              </a:tr>
              <a:tr h="250403">
                <a:tc>
                  <a:txBody>
                    <a:bodyPr/>
                    <a:lstStyle/>
                    <a:p>
                      <a:r>
                        <a:rPr lang="ru-RU"/>
                        <a:t>12</a:t>
                      </a:r>
                    </a:p>
                  </a:txBody>
                  <a:tcPr marL="15240" marR="15240" marT="15240" marB="15240"/>
                </a:tc>
                <a:tc>
                  <a:txBody>
                    <a:bodyPr/>
                    <a:lstStyle/>
                    <a:p>
                      <a:r>
                        <a:rPr lang="ru-RU"/>
                        <a:t>33</a:t>
                      </a:r>
                    </a:p>
                  </a:txBody>
                  <a:tcPr marL="15240" marR="15240" marT="15240" marB="15240"/>
                </a:tc>
                <a:tc>
                  <a:txBody>
                    <a:bodyPr/>
                    <a:lstStyle/>
                    <a:p>
                      <a:r>
                        <a:rPr lang="ru-RU"/>
                        <a:t>23</a:t>
                      </a:r>
                    </a:p>
                  </a:txBody>
                  <a:tcPr marL="15240" marR="15240" marT="15240" marB="15240"/>
                </a:tc>
              </a:tr>
              <a:tr h="250403">
                <a:tc>
                  <a:txBody>
                    <a:bodyPr/>
                    <a:lstStyle/>
                    <a:p>
                      <a:r>
                        <a:rPr lang="ru-RU"/>
                        <a:t>13</a:t>
                      </a:r>
                    </a:p>
                  </a:txBody>
                  <a:tcPr marL="15240" marR="15240" marT="15240" marB="15240"/>
                </a:tc>
                <a:tc>
                  <a:txBody>
                    <a:bodyPr/>
                    <a:lstStyle/>
                    <a:p>
                      <a:r>
                        <a:rPr lang="ru-RU"/>
                        <a:t>27</a:t>
                      </a:r>
                    </a:p>
                  </a:txBody>
                  <a:tcPr marL="15240" marR="15240" marT="15240" marB="15240"/>
                </a:tc>
                <a:tc>
                  <a:txBody>
                    <a:bodyPr/>
                    <a:lstStyle/>
                    <a:p>
                      <a:r>
                        <a:rPr lang="ru-RU"/>
                        <a:t>16</a:t>
                      </a:r>
                    </a:p>
                  </a:txBody>
                  <a:tcPr marL="15240" marR="15240" marT="15240" marB="15240"/>
                </a:tc>
              </a:tr>
              <a:tr h="250403">
                <a:tc>
                  <a:txBody>
                    <a:bodyPr/>
                    <a:lstStyle/>
                    <a:p>
                      <a:r>
                        <a:rPr lang="ru-RU"/>
                        <a:t>14</a:t>
                      </a:r>
                    </a:p>
                  </a:txBody>
                  <a:tcPr marL="15240" marR="15240" marT="15240" marB="15240"/>
                </a:tc>
                <a:tc>
                  <a:txBody>
                    <a:bodyPr/>
                    <a:lstStyle/>
                    <a:p>
                      <a:r>
                        <a:rPr lang="ru-RU"/>
                        <a:t>10</a:t>
                      </a:r>
                    </a:p>
                  </a:txBody>
                  <a:tcPr marL="15240" marR="15240" marT="15240" marB="15240"/>
                </a:tc>
                <a:tc>
                  <a:txBody>
                    <a:bodyPr/>
                    <a:lstStyle/>
                    <a:p>
                      <a:r>
                        <a:rPr lang="ru-RU" dirty="0"/>
                        <a:t>47</a:t>
                      </a:r>
                    </a:p>
                  </a:txBody>
                  <a:tcPr marL="15240" marR="15240" marT="15240" marB="15240"/>
                </a:tc>
              </a:tr>
            </a:tbl>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Пример </a:t>
            </a:r>
            <a:r>
              <a:rPr lang="ru-RU" dirty="0" err="1" smtClean="0"/>
              <a:t>агломеративной</a:t>
            </a:r>
            <a:r>
              <a:rPr lang="ru-RU" dirty="0" smtClean="0"/>
              <a:t> иерархической кластеризации</a:t>
            </a:r>
            <a:endParaRPr lang="ru-RU" dirty="0"/>
          </a:p>
        </p:txBody>
      </p:sp>
      <p:sp>
        <p:nvSpPr>
          <p:cNvPr id="7" name="Содержимое 6"/>
          <p:cNvSpPr>
            <a:spLocks noGrp="1"/>
          </p:cNvSpPr>
          <p:nvPr>
            <p:ph idx="1"/>
          </p:nvPr>
        </p:nvSpPr>
        <p:spPr/>
        <p:txBody>
          <a:bodyPr/>
          <a:lstStyle/>
          <a:p>
            <a:pPr>
              <a:buNone/>
            </a:pPr>
            <a:r>
              <a:rPr lang="ru-RU" dirty="0" smtClean="0"/>
              <a:t>Пример интуитивного разбиения на кластеры</a:t>
            </a:r>
            <a:endParaRPr lang="ru-RU" dirty="0"/>
          </a:p>
        </p:txBody>
      </p:sp>
      <p:pic>
        <p:nvPicPr>
          <p:cNvPr id="108546" name="Picture 2" descr="Диаграмма рассеивания переменных X и Y"/>
          <p:cNvPicPr>
            <a:picLocks noChangeAspect="1" noChangeArrowheads="1"/>
          </p:cNvPicPr>
          <p:nvPr/>
        </p:nvPicPr>
        <p:blipFill>
          <a:blip r:embed="rId2" cstate="print"/>
          <a:srcRect/>
          <a:stretch>
            <a:fillRect/>
          </a:stretch>
        </p:blipFill>
        <p:spPr bwMode="auto">
          <a:xfrm>
            <a:off x="2571736" y="2428868"/>
            <a:ext cx="4114805" cy="3711393"/>
          </a:xfrm>
          <a:prstGeom prst="rect">
            <a:avLst/>
          </a:prstGeom>
          <a:noFill/>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Пример </a:t>
            </a:r>
            <a:r>
              <a:rPr lang="ru-RU" dirty="0" err="1" smtClean="0"/>
              <a:t>агломеративной</a:t>
            </a:r>
            <a:r>
              <a:rPr lang="ru-RU" dirty="0" smtClean="0"/>
              <a:t> иерархической кластеризации</a:t>
            </a:r>
            <a:endParaRPr lang="ru-RU" dirty="0"/>
          </a:p>
        </p:txBody>
      </p:sp>
      <p:graphicFrame>
        <p:nvGraphicFramePr>
          <p:cNvPr id="4" name="Содержимое 3"/>
          <p:cNvGraphicFramePr>
            <a:graphicFrameLocks noGrp="1"/>
          </p:cNvGraphicFramePr>
          <p:nvPr>
            <p:ph idx="1"/>
          </p:nvPr>
        </p:nvGraphicFramePr>
        <p:xfrm>
          <a:off x="1428728" y="1857364"/>
          <a:ext cx="4929224" cy="4846320"/>
        </p:xfrm>
        <a:graphic>
          <a:graphicData uri="http://schemas.openxmlformats.org/drawingml/2006/table">
            <a:tbl>
              <a:tblPr firstRow="1" bandRow="1">
                <a:tableStyleId>{5C22544A-7EE6-4342-B048-85BDC9FD1C3A}</a:tableStyleId>
              </a:tblPr>
              <a:tblGrid>
                <a:gridCol w="1232306"/>
                <a:gridCol w="1232306"/>
                <a:gridCol w="1232306"/>
                <a:gridCol w="1232306"/>
              </a:tblGrid>
              <a:tr h="452441">
                <a:tc>
                  <a:txBody>
                    <a:bodyPr/>
                    <a:lstStyle/>
                    <a:p>
                      <a:pPr algn="ctr"/>
                      <a:endParaRPr lang="en-US" sz="1200" dirty="0"/>
                    </a:p>
                  </a:txBody>
                  <a:tcPr anchor="ctr"/>
                </a:tc>
                <a:tc gridSpan="2">
                  <a:txBody>
                    <a:bodyPr/>
                    <a:lstStyle/>
                    <a:p>
                      <a:pPr algn="ctr"/>
                      <a:r>
                        <a:rPr lang="en-US" sz="1200" dirty="0" smtClean="0"/>
                        <a:t/>
                      </a:r>
                      <a:br>
                        <a:rPr lang="en-US" sz="1200" dirty="0" smtClean="0"/>
                      </a:br>
                      <a:r>
                        <a:rPr lang="en-US" sz="1200" dirty="0" smtClean="0"/>
                        <a:t>Cluster Combined</a:t>
                      </a:r>
                      <a:endParaRPr lang="en-US" sz="1200" dirty="0"/>
                    </a:p>
                  </a:txBody>
                  <a:tcPr anchor="ctr"/>
                </a:tc>
                <a:tc hMerge="1">
                  <a:txBody>
                    <a:bodyPr/>
                    <a:lstStyle/>
                    <a:p>
                      <a:pPr algn="ctr"/>
                      <a:endParaRPr lang="en-US" dirty="0"/>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i="1" dirty="0" smtClean="0"/>
                        <a:t>Coefficients</a:t>
                      </a:r>
                      <a:r>
                        <a:rPr lang="ru-RU" sz="1200" i="1" dirty="0" smtClean="0"/>
                        <a:t> (расстояние</a:t>
                      </a:r>
                      <a:r>
                        <a:rPr lang="ru-RU" sz="1200" i="1" baseline="0" dirty="0" smtClean="0"/>
                        <a:t> между кластерами</a:t>
                      </a:r>
                      <a:r>
                        <a:rPr lang="ru-RU" sz="1200" i="1" dirty="0" smtClean="0"/>
                        <a:t>)</a:t>
                      </a:r>
                      <a:endParaRPr lang="en-US" sz="1200" dirty="0" smtClean="0"/>
                    </a:p>
                    <a:p>
                      <a:endParaRPr lang="ru-RU" sz="1200" dirty="0"/>
                    </a:p>
                  </a:txBody>
                  <a:tcPr/>
                </a:tc>
              </a:tr>
              <a:tr h="258538">
                <a:tc>
                  <a:txBody>
                    <a:bodyPr/>
                    <a:lstStyle/>
                    <a:p>
                      <a:pPr algn="ctr"/>
                      <a:endParaRPr lang="ru-RU" sz="1200"/>
                    </a:p>
                  </a:txBody>
                  <a:tcPr anchor="ctr"/>
                </a:tc>
                <a:tc>
                  <a:txBody>
                    <a:bodyPr/>
                    <a:lstStyle/>
                    <a:p>
                      <a:pPr algn="ctr"/>
                      <a:r>
                        <a:rPr lang="en-US" sz="1200"/>
                        <a:t>Cluster 1</a:t>
                      </a:r>
                    </a:p>
                  </a:txBody>
                  <a:tcPr anchor="ctr"/>
                </a:tc>
                <a:tc>
                  <a:txBody>
                    <a:bodyPr/>
                    <a:lstStyle/>
                    <a:p>
                      <a:pPr algn="ctr"/>
                      <a:r>
                        <a:rPr lang="en-US" sz="1200"/>
                        <a:t>Cluster 2</a:t>
                      </a:r>
                    </a:p>
                  </a:txBody>
                  <a:tcPr anchor="ctr"/>
                </a:tc>
                <a:tc>
                  <a:txBody>
                    <a:bodyPr/>
                    <a:lstStyle/>
                    <a:p>
                      <a:pPr algn="ctr"/>
                      <a:endParaRPr lang="ru-RU" sz="1200"/>
                    </a:p>
                  </a:txBody>
                  <a:tcPr anchor="ctr"/>
                </a:tc>
              </a:tr>
              <a:tr h="258538">
                <a:tc>
                  <a:txBody>
                    <a:bodyPr/>
                    <a:lstStyle/>
                    <a:p>
                      <a:r>
                        <a:rPr lang="ru-RU" sz="1200"/>
                        <a:t>1</a:t>
                      </a:r>
                    </a:p>
                  </a:txBody>
                  <a:tcPr/>
                </a:tc>
                <a:tc>
                  <a:txBody>
                    <a:bodyPr/>
                    <a:lstStyle/>
                    <a:p>
                      <a:r>
                        <a:rPr lang="ru-RU" sz="1200"/>
                        <a:t>9</a:t>
                      </a:r>
                    </a:p>
                  </a:txBody>
                  <a:tcPr/>
                </a:tc>
                <a:tc>
                  <a:txBody>
                    <a:bodyPr/>
                    <a:lstStyle/>
                    <a:p>
                      <a:r>
                        <a:rPr lang="ru-RU" sz="1200"/>
                        <a:t>10</a:t>
                      </a:r>
                    </a:p>
                  </a:txBody>
                  <a:tcPr/>
                </a:tc>
                <a:tc>
                  <a:txBody>
                    <a:bodyPr/>
                    <a:lstStyle/>
                    <a:p>
                      <a:r>
                        <a:rPr lang="ru-RU" sz="1200"/>
                        <a:t>,000</a:t>
                      </a:r>
                    </a:p>
                  </a:txBody>
                  <a:tcPr/>
                </a:tc>
              </a:tr>
              <a:tr h="258538">
                <a:tc>
                  <a:txBody>
                    <a:bodyPr/>
                    <a:lstStyle/>
                    <a:p>
                      <a:r>
                        <a:rPr lang="ru-RU" sz="1200"/>
                        <a:t>2</a:t>
                      </a:r>
                    </a:p>
                  </a:txBody>
                  <a:tcPr/>
                </a:tc>
                <a:tc>
                  <a:txBody>
                    <a:bodyPr/>
                    <a:lstStyle/>
                    <a:p>
                      <a:r>
                        <a:rPr lang="ru-RU" sz="1200"/>
                        <a:t>2</a:t>
                      </a:r>
                    </a:p>
                  </a:txBody>
                  <a:tcPr/>
                </a:tc>
                <a:tc>
                  <a:txBody>
                    <a:bodyPr/>
                    <a:lstStyle/>
                    <a:p>
                      <a:r>
                        <a:rPr lang="ru-RU" sz="1200"/>
                        <a:t>14</a:t>
                      </a:r>
                    </a:p>
                  </a:txBody>
                  <a:tcPr/>
                </a:tc>
                <a:tc>
                  <a:txBody>
                    <a:bodyPr/>
                    <a:lstStyle/>
                    <a:p>
                      <a:r>
                        <a:rPr lang="en-US" sz="1200"/>
                        <a:t>1,461E-02</a:t>
                      </a:r>
                    </a:p>
                  </a:txBody>
                  <a:tcPr/>
                </a:tc>
              </a:tr>
              <a:tr h="258538">
                <a:tc>
                  <a:txBody>
                    <a:bodyPr/>
                    <a:lstStyle/>
                    <a:p>
                      <a:r>
                        <a:rPr lang="ru-RU" sz="1200"/>
                        <a:t>3</a:t>
                      </a:r>
                    </a:p>
                  </a:txBody>
                  <a:tcPr/>
                </a:tc>
                <a:tc>
                  <a:txBody>
                    <a:bodyPr/>
                    <a:lstStyle/>
                    <a:p>
                      <a:r>
                        <a:rPr lang="ru-RU" sz="1200"/>
                        <a:t>3</a:t>
                      </a:r>
                    </a:p>
                  </a:txBody>
                  <a:tcPr/>
                </a:tc>
                <a:tc>
                  <a:txBody>
                    <a:bodyPr/>
                    <a:lstStyle/>
                    <a:p>
                      <a:r>
                        <a:rPr lang="ru-RU" sz="1200"/>
                        <a:t>9</a:t>
                      </a:r>
                    </a:p>
                  </a:txBody>
                  <a:tcPr/>
                </a:tc>
                <a:tc>
                  <a:txBody>
                    <a:bodyPr/>
                    <a:lstStyle/>
                    <a:p>
                      <a:r>
                        <a:rPr lang="en-US" sz="1200"/>
                        <a:t>1,461E-02</a:t>
                      </a:r>
                    </a:p>
                  </a:txBody>
                  <a:tcPr/>
                </a:tc>
              </a:tr>
              <a:tr h="258538">
                <a:tc>
                  <a:txBody>
                    <a:bodyPr/>
                    <a:lstStyle/>
                    <a:p>
                      <a:r>
                        <a:rPr lang="ru-RU" sz="1200"/>
                        <a:t>4</a:t>
                      </a:r>
                    </a:p>
                  </a:txBody>
                  <a:tcPr/>
                </a:tc>
                <a:tc>
                  <a:txBody>
                    <a:bodyPr/>
                    <a:lstStyle/>
                    <a:p>
                      <a:r>
                        <a:rPr lang="ru-RU" sz="1200"/>
                        <a:t>5</a:t>
                      </a:r>
                    </a:p>
                  </a:txBody>
                  <a:tcPr/>
                </a:tc>
                <a:tc>
                  <a:txBody>
                    <a:bodyPr/>
                    <a:lstStyle/>
                    <a:p>
                      <a:r>
                        <a:rPr lang="ru-RU" sz="1200"/>
                        <a:t>8</a:t>
                      </a:r>
                    </a:p>
                  </a:txBody>
                  <a:tcPr/>
                </a:tc>
                <a:tc>
                  <a:txBody>
                    <a:bodyPr/>
                    <a:lstStyle/>
                    <a:p>
                      <a:r>
                        <a:rPr lang="en-US" sz="1200"/>
                        <a:t>1,461E-02</a:t>
                      </a:r>
                    </a:p>
                  </a:txBody>
                  <a:tcPr/>
                </a:tc>
              </a:tr>
              <a:tr h="258538">
                <a:tc>
                  <a:txBody>
                    <a:bodyPr/>
                    <a:lstStyle/>
                    <a:p>
                      <a:r>
                        <a:rPr lang="ru-RU" sz="1200"/>
                        <a:t>5</a:t>
                      </a:r>
                    </a:p>
                  </a:txBody>
                  <a:tcPr/>
                </a:tc>
                <a:tc>
                  <a:txBody>
                    <a:bodyPr/>
                    <a:lstStyle/>
                    <a:p>
                      <a:r>
                        <a:rPr lang="ru-RU" sz="1200"/>
                        <a:t>6</a:t>
                      </a:r>
                    </a:p>
                  </a:txBody>
                  <a:tcPr/>
                </a:tc>
                <a:tc>
                  <a:txBody>
                    <a:bodyPr/>
                    <a:lstStyle/>
                    <a:p>
                      <a:r>
                        <a:rPr lang="ru-RU" sz="1200"/>
                        <a:t>7</a:t>
                      </a:r>
                    </a:p>
                  </a:txBody>
                  <a:tcPr/>
                </a:tc>
                <a:tc>
                  <a:txBody>
                    <a:bodyPr/>
                    <a:lstStyle/>
                    <a:p>
                      <a:r>
                        <a:rPr lang="en-US" sz="1200"/>
                        <a:t>1,461E-02</a:t>
                      </a:r>
                    </a:p>
                  </a:txBody>
                  <a:tcPr/>
                </a:tc>
              </a:tr>
              <a:tr h="258538">
                <a:tc>
                  <a:txBody>
                    <a:bodyPr/>
                    <a:lstStyle/>
                    <a:p>
                      <a:r>
                        <a:rPr lang="ru-RU" sz="1200"/>
                        <a:t>6</a:t>
                      </a:r>
                    </a:p>
                  </a:txBody>
                  <a:tcPr/>
                </a:tc>
                <a:tc>
                  <a:txBody>
                    <a:bodyPr/>
                    <a:lstStyle/>
                    <a:p>
                      <a:r>
                        <a:rPr lang="ru-RU" sz="1200"/>
                        <a:t>3</a:t>
                      </a:r>
                    </a:p>
                  </a:txBody>
                  <a:tcPr/>
                </a:tc>
                <a:tc>
                  <a:txBody>
                    <a:bodyPr/>
                    <a:lstStyle/>
                    <a:p>
                      <a:r>
                        <a:rPr lang="ru-RU" sz="1200"/>
                        <a:t>13</a:t>
                      </a:r>
                    </a:p>
                  </a:txBody>
                  <a:tcPr/>
                </a:tc>
                <a:tc>
                  <a:txBody>
                    <a:bodyPr/>
                    <a:lstStyle/>
                    <a:p>
                      <a:r>
                        <a:rPr lang="en-US" sz="1200"/>
                        <a:t>3,490E-02</a:t>
                      </a:r>
                    </a:p>
                  </a:txBody>
                  <a:tcPr/>
                </a:tc>
              </a:tr>
              <a:tr h="258538">
                <a:tc>
                  <a:txBody>
                    <a:bodyPr/>
                    <a:lstStyle/>
                    <a:p>
                      <a:r>
                        <a:rPr lang="ru-RU" sz="1200"/>
                        <a:t>7</a:t>
                      </a:r>
                    </a:p>
                  </a:txBody>
                  <a:tcPr/>
                </a:tc>
                <a:tc>
                  <a:txBody>
                    <a:bodyPr/>
                    <a:lstStyle/>
                    <a:p>
                      <a:r>
                        <a:rPr lang="ru-RU" sz="1200"/>
                        <a:t>2</a:t>
                      </a:r>
                    </a:p>
                  </a:txBody>
                  <a:tcPr/>
                </a:tc>
                <a:tc>
                  <a:txBody>
                    <a:bodyPr/>
                    <a:lstStyle/>
                    <a:p>
                      <a:r>
                        <a:rPr lang="ru-RU" sz="1200"/>
                        <a:t>11</a:t>
                      </a:r>
                    </a:p>
                  </a:txBody>
                  <a:tcPr/>
                </a:tc>
                <a:tc>
                  <a:txBody>
                    <a:bodyPr/>
                    <a:lstStyle/>
                    <a:p>
                      <a:r>
                        <a:rPr lang="en-US" sz="1200"/>
                        <a:t>3,651E-02</a:t>
                      </a:r>
                    </a:p>
                  </a:txBody>
                  <a:tcPr/>
                </a:tc>
              </a:tr>
              <a:tr h="258538">
                <a:tc>
                  <a:txBody>
                    <a:bodyPr/>
                    <a:lstStyle/>
                    <a:p>
                      <a:r>
                        <a:rPr lang="ru-RU" sz="1200"/>
                        <a:t>8</a:t>
                      </a:r>
                    </a:p>
                  </a:txBody>
                  <a:tcPr/>
                </a:tc>
                <a:tc>
                  <a:txBody>
                    <a:bodyPr/>
                    <a:lstStyle/>
                    <a:p>
                      <a:r>
                        <a:rPr lang="ru-RU" sz="1200"/>
                        <a:t>4</a:t>
                      </a:r>
                    </a:p>
                  </a:txBody>
                  <a:tcPr/>
                </a:tc>
                <a:tc>
                  <a:txBody>
                    <a:bodyPr/>
                    <a:lstStyle/>
                    <a:p>
                      <a:r>
                        <a:rPr lang="ru-RU" sz="1200"/>
                        <a:t>5</a:t>
                      </a:r>
                    </a:p>
                  </a:txBody>
                  <a:tcPr/>
                </a:tc>
                <a:tc>
                  <a:txBody>
                    <a:bodyPr/>
                    <a:lstStyle/>
                    <a:p>
                      <a:r>
                        <a:rPr lang="en-US" sz="1200" dirty="0"/>
                        <a:t>4,144E-02</a:t>
                      </a:r>
                    </a:p>
                  </a:txBody>
                  <a:tcPr/>
                </a:tc>
              </a:tr>
              <a:tr h="258538">
                <a:tc>
                  <a:txBody>
                    <a:bodyPr/>
                    <a:lstStyle/>
                    <a:p>
                      <a:r>
                        <a:rPr lang="ru-RU" sz="1200"/>
                        <a:t>9</a:t>
                      </a:r>
                    </a:p>
                  </a:txBody>
                  <a:tcPr/>
                </a:tc>
                <a:tc>
                  <a:txBody>
                    <a:bodyPr/>
                    <a:lstStyle/>
                    <a:p>
                      <a:r>
                        <a:rPr lang="ru-RU" sz="1200"/>
                        <a:t>2</a:t>
                      </a:r>
                    </a:p>
                  </a:txBody>
                  <a:tcPr/>
                </a:tc>
                <a:tc>
                  <a:txBody>
                    <a:bodyPr/>
                    <a:lstStyle/>
                    <a:p>
                      <a:r>
                        <a:rPr lang="ru-RU" sz="1200"/>
                        <a:t>6</a:t>
                      </a:r>
                    </a:p>
                  </a:txBody>
                  <a:tcPr/>
                </a:tc>
                <a:tc>
                  <a:txBody>
                    <a:bodyPr/>
                    <a:lstStyle/>
                    <a:p>
                      <a:r>
                        <a:rPr lang="en-US" sz="1200" dirty="0"/>
                        <a:t>5,118E-02</a:t>
                      </a:r>
                    </a:p>
                  </a:txBody>
                  <a:tcPr/>
                </a:tc>
              </a:tr>
              <a:tr h="258538">
                <a:tc>
                  <a:txBody>
                    <a:bodyPr/>
                    <a:lstStyle/>
                    <a:p>
                      <a:r>
                        <a:rPr lang="ru-RU" sz="1200"/>
                        <a:t>10</a:t>
                      </a:r>
                    </a:p>
                  </a:txBody>
                  <a:tcPr/>
                </a:tc>
                <a:tc>
                  <a:txBody>
                    <a:bodyPr/>
                    <a:lstStyle/>
                    <a:p>
                      <a:r>
                        <a:rPr lang="ru-RU" sz="1200"/>
                        <a:t>4</a:t>
                      </a:r>
                    </a:p>
                  </a:txBody>
                  <a:tcPr/>
                </a:tc>
                <a:tc>
                  <a:txBody>
                    <a:bodyPr/>
                    <a:lstStyle/>
                    <a:p>
                      <a:r>
                        <a:rPr lang="ru-RU" sz="1200"/>
                        <a:t>12</a:t>
                      </a:r>
                    </a:p>
                  </a:txBody>
                  <a:tcPr/>
                </a:tc>
                <a:tc>
                  <a:txBody>
                    <a:bodyPr/>
                    <a:lstStyle/>
                    <a:p>
                      <a:r>
                        <a:rPr lang="ru-RU" sz="1200"/>
                        <a:t>,105</a:t>
                      </a:r>
                    </a:p>
                  </a:txBody>
                  <a:tcPr/>
                </a:tc>
              </a:tr>
              <a:tr h="258538">
                <a:tc>
                  <a:txBody>
                    <a:bodyPr/>
                    <a:lstStyle/>
                    <a:p>
                      <a:r>
                        <a:rPr lang="ru-RU" sz="1200"/>
                        <a:t>11</a:t>
                      </a:r>
                    </a:p>
                  </a:txBody>
                  <a:tcPr/>
                </a:tc>
                <a:tc>
                  <a:txBody>
                    <a:bodyPr/>
                    <a:lstStyle/>
                    <a:p>
                      <a:r>
                        <a:rPr lang="ru-RU" sz="1200"/>
                        <a:t>1</a:t>
                      </a:r>
                    </a:p>
                  </a:txBody>
                  <a:tcPr/>
                </a:tc>
                <a:tc>
                  <a:txBody>
                    <a:bodyPr/>
                    <a:lstStyle/>
                    <a:p>
                      <a:r>
                        <a:rPr lang="ru-RU" sz="1200"/>
                        <a:t>3</a:t>
                      </a:r>
                    </a:p>
                  </a:txBody>
                  <a:tcPr/>
                </a:tc>
                <a:tc>
                  <a:txBody>
                    <a:bodyPr/>
                    <a:lstStyle/>
                    <a:p>
                      <a:r>
                        <a:rPr lang="ru-RU" sz="1200"/>
                        <a:t>,120</a:t>
                      </a:r>
                    </a:p>
                  </a:txBody>
                  <a:tcPr/>
                </a:tc>
              </a:tr>
              <a:tr h="258538">
                <a:tc>
                  <a:txBody>
                    <a:bodyPr/>
                    <a:lstStyle/>
                    <a:p>
                      <a:r>
                        <a:rPr lang="ru-RU" sz="1200"/>
                        <a:t>12</a:t>
                      </a:r>
                    </a:p>
                  </a:txBody>
                  <a:tcPr/>
                </a:tc>
                <a:tc>
                  <a:txBody>
                    <a:bodyPr/>
                    <a:lstStyle/>
                    <a:p>
                      <a:r>
                        <a:rPr lang="ru-RU" sz="1200"/>
                        <a:t>1</a:t>
                      </a:r>
                    </a:p>
                  </a:txBody>
                  <a:tcPr/>
                </a:tc>
                <a:tc>
                  <a:txBody>
                    <a:bodyPr/>
                    <a:lstStyle/>
                    <a:p>
                      <a:r>
                        <a:rPr lang="ru-RU" sz="1200"/>
                        <a:t>4</a:t>
                      </a:r>
                    </a:p>
                  </a:txBody>
                  <a:tcPr/>
                </a:tc>
                <a:tc>
                  <a:txBody>
                    <a:bodyPr/>
                    <a:lstStyle/>
                    <a:p>
                      <a:r>
                        <a:rPr lang="ru-RU" sz="1200"/>
                        <a:t>1,217</a:t>
                      </a:r>
                    </a:p>
                  </a:txBody>
                  <a:tcPr/>
                </a:tc>
              </a:tr>
              <a:tr h="258538">
                <a:tc>
                  <a:txBody>
                    <a:bodyPr/>
                    <a:lstStyle/>
                    <a:p>
                      <a:r>
                        <a:rPr lang="ru-RU" sz="1200"/>
                        <a:t>13</a:t>
                      </a:r>
                    </a:p>
                  </a:txBody>
                  <a:tcPr/>
                </a:tc>
                <a:tc>
                  <a:txBody>
                    <a:bodyPr/>
                    <a:lstStyle/>
                    <a:p>
                      <a:r>
                        <a:rPr lang="ru-RU" sz="1200"/>
                        <a:t>1</a:t>
                      </a:r>
                    </a:p>
                  </a:txBody>
                  <a:tcPr/>
                </a:tc>
                <a:tc>
                  <a:txBody>
                    <a:bodyPr/>
                    <a:lstStyle/>
                    <a:p>
                      <a:r>
                        <a:rPr lang="ru-RU" sz="1200"/>
                        <a:t>2</a:t>
                      </a:r>
                    </a:p>
                  </a:txBody>
                  <a:tcPr/>
                </a:tc>
                <a:tc>
                  <a:txBody>
                    <a:bodyPr/>
                    <a:lstStyle/>
                    <a:p>
                      <a:r>
                        <a:rPr lang="ru-RU" sz="1200" dirty="0"/>
                        <a:t>7,516</a:t>
                      </a:r>
                    </a:p>
                  </a:txBody>
                  <a:tcPr/>
                </a:tc>
              </a:tr>
            </a:tbl>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r>
              <a:rPr lang="ru-RU" sz="3200" b="1" dirty="0" smtClean="0"/>
              <a:t>Визуализация структуры кластеров, получаемых иерархическими методами</a:t>
            </a:r>
            <a:r>
              <a:rPr lang="ru-RU" sz="3200" dirty="0" smtClean="0"/>
              <a:t/>
            </a:r>
            <a:br>
              <a:rPr lang="ru-RU" sz="3200" dirty="0" smtClean="0"/>
            </a:br>
            <a:endParaRPr lang="ru-RU" sz="3200" dirty="0"/>
          </a:p>
        </p:txBody>
      </p:sp>
      <p:sp>
        <p:nvSpPr>
          <p:cNvPr id="3" name="Содержимое 2"/>
          <p:cNvSpPr>
            <a:spLocks noGrp="1"/>
          </p:cNvSpPr>
          <p:nvPr>
            <p:ph idx="1"/>
          </p:nvPr>
        </p:nvSpPr>
        <p:spPr/>
        <p:txBody>
          <a:bodyPr>
            <a:normAutofit/>
          </a:bodyPr>
          <a:lstStyle/>
          <a:p>
            <a:pPr>
              <a:buNone/>
            </a:pPr>
            <a:r>
              <a:rPr lang="ru-RU" dirty="0" smtClean="0"/>
              <a:t>Визуализация кластерной структуры производится при помощи </a:t>
            </a:r>
            <a:r>
              <a:rPr lang="ru-RU" b="1" dirty="0" err="1" smtClean="0"/>
              <a:t>дендрограммы</a:t>
            </a:r>
            <a:r>
              <a:rPr lang="ru-RU" b="1" dirty="0" smtClean="0"/>
              <a:t> </a:t>
            </a:r>
            <a:r>
              <a:rPr lang="ru-RU" dirty="0" smtClean="0"/>
              <a:t>- графика древовидной структуры, показывающего объединения кластеров и шаги, на которых эти объединения происходят. </a:t>
            </a:r>
          </a:p>
          <a:p>
            <a:pPr>
              <a:buNone/>
            </a:pPr>
            <a:r>
              <a:rPr lang="ru-RU" dirty="0" smtClean="0"/>
              <a:t/>
            </a:r>
            <a:br>
              <a:rPr lang="ru-RU" dirty="0" smtClean="0"/>
            </a:br>
            <a:endParaRPr lang="ru-RU"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Кластеризация методом </a:t>
            </a:r>
            <a:r>
              <a:rPr lang="en-US" dirty="0" smtClean="0"/>
              <a:t>k-</a:t>
            </a:r>
            <a:r>
              <a:rPr lang="ru-RU" dirty="0" smtClean="0"/>
              <a:t>средних</a:t>
            </a:r>
            <a:endParaRPr lang="ru-RU" dirty="0"/>
          </a:p>
        </p:txBody>
      </p:sp>
      <p:sp>
        <p:nvSpPr>
          <p:cNvPr id="3" name="Содержимое 2"/>
          <p:cNvSpPr>
            <a:spLocks noGrp="1"/>
          </p:cNvSpPr>
          <p:nvPr>
            <p:ph idx="1"/>
          </p:nvPr>
        </p:nvSpPr>
        <p:spPr/>
        <p:txBody>
          <a:bodyPr>
            <a:normAutofit fontScale="77500" lnSpcReduction="20000"/>
          </a:bodyPr>
          <a:lstStyle/>
          <a:p>
            <a:pPr>
              <a:buNone/>
            </a:pPr>
            <a:r>
              <a:rPr lang="ru-RU" b="1" dirty="0" smtClean="0"/>
              <a:t>Постановка задачи алгоритма</a:t>
            </a:r>
          </a:p>
          <a:p>
            <a:pPr>
              <a:buNone/>
            </a:pPr>
            <a:r>
              <a:rPr lang="ru-RU" dirty="0" smtClean="0"/>
              <a:t>Пусть имеется множество объектов A=</a:t>
            </a:r>
            <a:r>
              <a:rPr lang="en-US" dirty="0" smtClean="0"/>
              <a:t>{</a:t>
            </a:r>
            <a:r>
              <a:rPr lang="ru-RU" dirty="0" smtClean="0"/>
              <a:t>a</a:t>
            </a:r>
            <a:r>
              <a:rPr lang="ru-RU" baseline="-25000" dirty="0" smtClean="0"/>
              <a:t>1</a:t>
            </a:r>
            <a:r>
              <a:rPr lang="ru-RU" dirty="0" smtClean="0"/>
              <a:t>,a</a:t>
            </a:r>
            <a:r>
              <a:rPr lang="ru-RU" baseline="-25000" dirty="0" smtClean="0"/>
              <a:t>2</a:t>
            </a:r>
            <a:r>
              <a:rPr lang="ru-RU" dirty="0" smtClean="0"/>
              <a:t>,...,a</a:t>
            </a:r>
            <a:r>
              <a:rPr lang="ru-RU" baseline="-25000" dirty="0" smtClean="0"/>
              <a:t>n</a:t>
            </a:r>
            <a:r>
              <a:rPr lang="en-US" dirty="0" smtClean="0"/>
              <a:t>}</a:t>
            </a:r>
            <a:r>
              <a:rPr lang="ru-RU" dirty="0" smtClean="0"/>
              <a:t> и множество признаков, их описывающих - P=</a:t>
            </a:r>
            <a:r>
              <a:rPr lang="en-US" dirty="0" smtClean="0"/>
              <a:t>{p</a:t>
            </a:r>
            <a:r>
              <a:rPr lang="ru-RU" baseline="-25000" dirty="0" smtClean="0"/>
              <a:t>1</a:t>
            </a:r>
            <a:r>
              <a:rPr lang="ru-RU" dirty="0" smtClean="0"/>
              <a:t>,</a:t>
            </a:r>
            <a:r>
              <a:rPr lang="en-US" dirty="0" smtClean="0"/>
              <a:t>p</a:t>
            </a:r>
            <a:r>
              <a:rPr lang="ru-RU" baseline="-25000" dirty="0" smtClean="0"/>
              <a:t>2</a:t>
            </a:r>
            <a:r>
              <a:rPr lang="ru-RU" dirty="0" smtClean="0"/>
              <a:t>,...,</a:t>
            </a:r>
            <a:r>
              <a:rPr lang="en-US" dirty="0" err="1" smtClean="0"/>
              <a:t>p</a:t>
            </a:r>
            <a:r>
              <a:rPr lang="en-US" baseline="-25000" dirty="0" err="1" smtClean="0"/>
              <a:t>q</a:t>
            </a:r>
            <a:r>
              <a:rPr lang="en-US" dirty="0" smtClean="0"/>
              <a:t>}</a:t>
            </a:r>
            <a:r>
              <a:rPr lang="ru-RU" dirty="0" smtClean="0"/>
              <a:t>.</a:t>
            </a:r>
            <a:endParaRPr lang="en-US" dirty="0" smtClean="0"/>
          </a:p>
          <a:p>
            <a:pPr>
              <a:buNone/>
            </a:pPr>
            <a:r>
              <a:rPr lang="ru-RU" dirty="0" smtClean="0"/>
              <a:t> </a:t>
            </a:r>
            <a:r>
              <a:rPr lang="ru-RU" b="1" dirty="0" smtClean="0"/>
              <a:t>Задача</a:t>
            </a:r>
            <a:r>
              <a:rPr lang="ru-RU" dirty="0" smtClean="0"/>
              <a:t> </a:t>
            </a:r>
            <a:r>
              <a:rPr lang="ru-RU" b="1" dirty="0" smtClean="0"/>
              <a:t>алгоритма</a:t>
            </a:r>
            <a:r>
              <a:rPr lang="en-US" b="1" dirty="0" smtClean="0"/>
              <a:t>:</a:t>
            </a:r>
            <a:r>
              <a:rPr lang="ru-RU" dirty="0" smtClean="0"/>
              <a:t>каждому объекту выборки поставить в соответствие один и только один кластер из множества непересекающихся кластеров S=</a:t>
            </a:r>
            <a:r>
              <a:rPr lang="en-US" dirty="0" smtClean="0"/>
              <a:t>{s</a:t>
            </a:r>
            <a:r>
              <a:rPr lang="ru-RU" baseline="-25000" dirty="0" smtClean="0"/>
              <a:t>1</a:t>
            </a:r>
            <a:r>
              <a:rPr lang="ru-RU" dirty="0" smtClean="0"/>
              <a:t>,</a:t>
            </a:r>
            <a:r>
              <a:rPr lang="en-US" dirty="0" smtClean="0"/>
              <a:t>s</a:t>
            </a:r>
            <a:r>
              <a:rPr lang="ru-RU" baseline="-25000" dirty="0" smtClean="0"/>
              <a:t>2</a:t>
            </a:r>
            <a:r>
              <a:rPr lang="ru-RU" dirty="0" smtClean="0"/>
              <a:t>,...,</a:t>
            </a:r>
            <a:r>
              <a:rPr lang="en-US" dirty="0" err="1" smtClean="0"/>
              <a:t>s</a:t>
            </a:r>
            <a:r>
              <a:rPr lang="en-US" baseline="-25000" dirty="0" err="1" smtClean="0"/>
              <a:t>k</a:t>
            </a:r>
            <a:r>
              <a:rPr lang="en-US" dirty="0" smtClean="0"/>
              <a:t>}</a:t>
            </a:r>
            <a:r>
              <a:rPr lang="ru-RU" dirty="0" smtClean="0"/>
              <a:t> . Объект считается принадлежащим тому кластеру, к центру которого объект находится ближе. </a:t>
            </a:r>
            <a:endParaRPr lang="en-US" dirty="0" smtClean="0"/>
          </a:p>
          <a:p>
            <a:pPr>
              <a:buNone/>
            </a:pPr>
            <a:r>
              <a:rPr lang="ru-RU" b="1" dirty="0" smtClean="0"/>
              <a:t>Алгоритм</a:t>
            </a:r>
            <a:r>
              <a:rPr lang="ru-RU" dirty="0" smtClean="0"/>
              <a:t> имеет итеративный характер и </a:t>
            </a:r>
            <a:r>
              <a:rPr lang="ru-RU" b="1" dirty="0" smtClean="0"/>
              <a:t>цель</a:t>
            </a:r>
            <a:r>
              <a:rPr lang="ru-RU" dirty="0" smtClean="0"/>
              <a:t> минимизировать сумму квадратов расстояний от каждой точки кластера до центра масс кластера в соответствии с заранее выбранной мерой расстояния</a:t>
            </a:r>
            <a:endParaRPr lang="ru-RU"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Кластеризация методом </a:t>
            </a:r>
            <a:r>
              <a:rPr lang="en-US" dirty="0" smtClean="0"/>
              <a:t>k-</a:t>
            </a:r>
            <a:r>
              <a:rPr lang="ru-RU" dirty="0" smtClean="0"/>
              <a:t>средних</a:t>
            </a:r>
            <a:endParaRPr lang="ru-RU" dirty="0"/>
          </a:p>
        </p:txBody>
      </p:sp>
      <p:sp>
        <p:nvSpPr>
          <p:cNvPr id="3" name="Содержимое 2"/>
          <p:cNvSpPr>
            <a:spLocks noGrp="1"/>
          </p:cNvSpPr>
          <p:nvPr>
            <p:ph idx="1"/>
          </p:nvPr>
        </p:nvSpPr>
        <p:spPr/>
        <p:txBody>
          <a:bodyPr>
            <a:normAutofit fontScale="85000" lnSpcReduction="20000"/>
          </a:bodyPr>
          <a:lstStyle/>
          <a:p>
            <a:pPr>
              <a:buNone/>
            </a:pPr>
            <a:r>
              <a:rPr lang="ru-RU" dirty="0" smtClean="0"/>
              <a:t>Алгоритм не гарантирует достижение глобального минимума целевой функции, достигается один из </a:t>
            </a:r>
            <a:r>
              <a:rPr lang="ru-RU" b="1" dirty="0" smtClean="0"/>
              <a:t>локальных минимумов</a:t>
            </a:r>
            <a:r>
              <a:rPr lang="ru-RU" dirty="0" smtClean="0"/>
              <a:t>. </a:t>
            </a:r>
            <a:endParaRPr lang="en-US" dirty="0" smtClean="0"/>
          </a:p>
          <a:p>
            <a:pPr>
              <a:buNone/>
            </a:pPr>
            <a:r>
              <a:rPr lang="ru-RU" dirty="0" smtClean="0"/>
              <a:t>Значение целевой функции зависит от случайного выбора начальных точек центров кластеров, которые уточняются на каждом шаге алгоритма, но способ выбора оптимальных начальных значений не известен.</a:t>
            </a:r>
            <a:endParaRPr lang="en-US" dirty="0" smtClean="0"/>
          </a:p>
          <a:p>
            <a:pPr>
              <a:buNone/>
            </a:pPr>
            <a:r>
              <a:rPr lang="ru-RU" dirty="0" smtClean="0"/>
              <a:t>Еще одним </a:t>
            </a:r>
            <a:r>
              <a:rPr lang="ru-RU" b="1" dirty="0" smtClean="0"/>
              <a:t>недостатком</a:t>
            </a:r>
            <a:r>
              <a:rPr lang="ru-RU" dirty="0" smtClean="0"/>
              <a:t> алгоритма k-средних является необходимость </a:t>
            </a:r>
            <a:r>
              <a:rPr lang="ru-RU" b="1" dirty="0" smtClean="0"/>
              <a:t>заранее знать количество кластеров</a:t>
            </a:r>
            <a:r>
              <a:rPr lang="ru-RU" dirty="0" smtClean="0"/>
              <a:t>. Для этого нужно провести предварительный анализ данных.</a:t>
            </a:r>
            <a:endParaRPr lang="ru-RU"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Кластеризация методом </a:t>
            </a:r>
            <a:r>
              <a:rPr lang="en-US" dirty="0" smtClean="0"/>
              <a:t>k-</a:t>
            </a:r>
            <a:r>
              <a:rPr lang="ru-RU" dirty="0" smtClean="0"/>
              <a:t>средних</a:t>
            </a:r>
            <a:endParaRPr lang="ru-RU" dirty="0"/>
          </a:p>
        </p:txBody>
      </p:sp>
      <p:sp>
        <p:nvSpPr>
          <p:cNvPr id="9" name="Содержимое 8"/>
          <p:cNvSpPr>
            <a:spLocks noGrp="1"/>
          </p:cNvSpPr>
          <p:nvPr>
            <p:ph idx="1"/>
          </p:nvPr>
        </p:nvSpPr>
        <p:spPr/>
        <p:txBody>
          <a:bodyPr/>
          <a:lstStyle/>
          <a:p>
            <a:pPr>
              <a:buNone/>
            </a:pPr>
            <a:r>
              <a:rPr lang="ru-RU" dirty="0" smtClean="0"/>
              <a:t>Целевая функция, которую необходимо минимизировать:</a:t>
            </a:r>
            <a:endParaRPr lang="en-US" dirty="0" smtClean="0"/>
          </a:p>
          <a:p>
            <a:pPr>
              <a:buNone/>
            </a:pPr>
            <a:endParaRPr lang="ru-RU" dirty="0"/>
          </a:p>
        </p:txBody>
      </p:sp>
      <p:pic>
        <p:nvPicPr>
          <p:cNvPr id="112643" name="Picture 3"/>
          <p:cNvPicPr>
            <a:picLocks noChangeAspect="1" noChangeArrowheads="1"/>
          </p:cNvPicPr>
          <p:nvPr/>
        </p:nvPicPr>
        <p:blipFill>
          <a:blip r:embed="rId2" cstate="print"/>
          <a:srcRect/>
          <a:stretch>
            <a:fillRect/>
          </a:stretch>
        </p:blipFill>
        <p:spPr bwMode="auto">
          <a:xfrm>
            <a:off x="857223" y="2857496"/>
            <a:ext cx="5727647" cy="207170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Кластеризация методом </a:t>
            </a:r>
            <a:r>
              <a:rPr lang="en-US" dirty="0" smtClean="0"/>
              <a:t>k-</a:t>
            </a:r>
            <a:r>
              <a:rPr lang="ru-RU" dirty="0" smtClean="0"/>
              <a:t>средних</a:t>
            </a:r>
            <a:endParaRPr lang="ru-RU" dirty="0"/>
          </a:p>
        </p:txBody>
      </p:sp>
      <p:sp>
        <p:nvSpPr>
          <p:cNvPr id="9" name="Содержимое 8"/>
          <p:cNvSpPr>
            <a:spLocks noGrp="1"/>
          </p:cNvSpPr>
          <p:nvPr>
            <p:ph idx="1"/>
          </p:nvPr>
        </p:nvSpPr>
        <p:spPr/>
        <p:txBody>
          <a:bodyPr>
            <a:normAutofit fontScale="70000" lnSpcReduction="20000"/>
          </a:bodyPr>
          <a:lstStyle/>
          <a:p>
            <a:pPr>
              <a:buNone/>
            </a:pPr>
            <a:r>
              <a:rPr lang="ru-RU" b="1" dirty="0" smtClean="0"/>
              <a:t>Процедура алгоритма:</a:t>
            </a:r>
          </a:p>
          <a:p>
            <a:pPr fontAlgn="base">
              <a:buNone/>
            </a:pPr>
            <a:r>
              <a:rPr lang="en-US" dirty="0" smtClean="0"/>
              <a:t>1. </a:t>
            </a:r>
            <a:r>
              <a:rPr lang="ru-RU" dirty="0" smtClean="0"/>
              <a:t>случайным образом выбрать начальные точки центров кластеров;</a:t>
            </a:r>
          </a:p>
          <a:p>
            <a:pPr fontAlgn="base">
              <a:buNone/>
            </a:pPr>
            <a:r>
              <a:rPr lang="en-US" dirty="0" smtClean="0"/>
              <a:t>2. </a:t>
            </a:r>
            <a:r>
              <a:rPr lang="ru-RU" dirty="0" smtClean="0"/>
              <a:t>для каждого объекта определить ближайший центр согласно выбранной метрике расстояния. Если объект равноудален от двух и более центров, выбирается один из них;</a:t>
            </a:r>
          </a:p>
          <a:p>
            <a:pPr fontAlgn="base">
              <a:buNone/>
            </a:pPr>
            <a:r>
              <a:rPr lang="en-US" dirty="0" smtClean="0"/>
              <a:t>3. </a:t>
            </a:r>
            <a:r>
              <a:rPr lang="ru-RU" dirty="0" smtClean="0"/>
              <a:t>выполнить перерасчет центра кластера как центра масс кластера;</a:t>
            </a:r>
          </a:p>
          <a:p>
            <a:pPr fontAlgn="base">
              <a:buNone/>
            </a:pPr>
            <a:r>
              <a:rPr lang="en-US" dirty="0" smtClean="0"/>
              <a:t>4. </a:t>
            </a:r>
            <a:r>
              <a:rPr lang="ru-RU" dirty="0" smtClean="0"/>
              <a:t>повторить пункты 2-3 пока алгоритм не сойдется, т.е. на какой-либо итерации не будет происходить  перераспределение объектов.</a:t>
            </a:r>
          </a:p>
          <a:p>
            <a:pPr>
              <a:buNone/>
            </a:pPr>
            <a:r>
              <a:rPr lang="ru-RU" b="1" dirty="0" smtClean="0"/>
              <a:t>Вычисленные таким образом центры кластеров могут использоваться для аппроксимации объектов кластера.</a:t>
            </a:r>
          </a:p>
          <a:p>
            <a:pPr>
              <a:buNone/>
            </a:pPr>
            <a:r>
              <a:rPr lang="ru-RU" dirty="0" smtClean="0"/>
              <a:t/>
            </a:r>
            <a:br>
              <a:rPr lang="ru-RU" dirty="0" smtClean="0"/>
            </a:br>
            <a:endParaRPr lang="ru-RU"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Алгоритм </a:t>
            </a:r>
            <a:r>
              <a:rPr lang="en-US" dirty="0" smtClean="0"/>
              <a:t>C-means, c-</a:t>
            </a:r>
            <a:r>
              <a:rPr lang="ru-RU" dirty="0" smtClean="0"/>
              <a:t>средних, </a:t>
            </a:r>
            <a:r>
              <a:rPr lang="en-US" dirty="0" err="1" smtClean="0"/>
              <a:t>fcm</a:t>
            </a:r>
            <a:endParaRPr lang="ru-RU" dirty="0"/>
          </a:p>
        </p:txBody>
      </p:sp>
      <p:sp>
        <p:nvSpPr>
          <p:cNvPr id="3" name="Содержимое 2"/>
          <p:cNvSpPr>
            <a:spLocks noGrp="1"/>
          </p:cNvSpPr>
          <p:nvPr>
            <p:ph idx="1"/>
          </p:nvPr>
        </p:nvSpPr>
        <p:spPr/>
        <p:txBody>
          <a:bodyPr>
            <a:normAutofit fontScale="92500" lnSpcReduction="10000"/>
          </a:bodyPr>
          <a:lstStyle/>
          <a:p>
            <a:pPr>
              <a:buNone/>
            </a:pPr>
            <a:r>
              <a:rPr lang="ru-RU" dirty="0" smtClean="0"/>
              <a:t>В отличие от четких алгоритмов кластеризации, рассмотренных выше, нечеткие предполагают что объект выборки принадлежит не к одному кластеру, а с разной степенью принадлежности (от 0 до 1) ко всем выделенным кластерам. </a:t>
            </a:r>
          </a:p>
          <a:p>
            <a:pPr>
              <a:buNone/>
            </a:pPr>
            <a:r>
              <a:rPr lang="ru-RU" dirty="0" smtClean="0"/>
              <a:t>Сумма степеней принадлежности объекта к кластерам должна быть равна 1.</a:t>
            </a:r>
          </a:p>
          <a:p>
            <a:pPr>
              <a:buNone/>
            </a:pPr>
            <a:r>
              <a:rPr lang="ru-RU" dirty="0" smtClean="0"/>
              <a:t/>
            </a:r>
            <a:br>
              <a:rPr lang="ru-RU" dirty="0" smtClean="0"/>
            </a:br>
            <a:endParaRPr lang="ru-RU"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Метод </a:t>
            </a:r>
            <a:r>
              <a:rPr lang="en-US" dirty="0" smtClean="0"/>
              <a:t>c-means</a:t>
            </a:r>
            <a:endParaRPr lang="ru-RU" dirty="0"/>
          </a:p>
        </p:txBody>
      </p:sp>
      <p:pic>
        <p:nvPicPr>
          <p:cNvPr id="5" name="Picture 2" descr="Кластерный анализ — Википедия"/>
          <p:cNvPicPr>
            <a:picLocks noChangeAspect="1" noChangeArrowheads="1"/>
          </p:cNvPicPr>
          <p:nvPr/>
        </p:nvPicPr>
        <p:blipFill>
          <a:blip r:embed="rId2" cstate="print"/>
          <a:srcRect/>
          <a:stretch>
            <a:fillRect/>
          </a:stretch>
        </p:blipFill>
        <p:spPr bwMode="auto">
          <a:xfrm>
            <a:off x="467544" y="1196752"/>
            <a:ext cx="7855417" cy="5256584"/>
          </a:xfrm>
          <a:prstGeom prst="rect">
            <a:avLst/>
          </a:prstGeom>
          <a:noFill/>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Метод </a:t>
            </a:r>
            <a:r>
              <a:rPr lang="en-US" dirty="0" smtClean="0"/>
              <a:t>c-means</a:t>
            </a:r>
            <a:endParaRPr lang="ru-RU" dirty="0"/>
          </a:p>
        </p:txBody>
      </p:sp>
      <p:sp>
        <p:nvSpPr>
          <p:cNvPr id="4" name="Содержимое 3"/>
          <p:cNvSpPr>
            <a:spLocks noGrp="1"/>
          </p:cNvSpPr>
          <p:nvPr>
            <p:ph idx="1"/>
          </p:nvPr>
        </p:nvSpPr>
        <p:spPr/>
        <p:txBody>
          <a:bodyPr/>
          <a:lstStyle/>
          <a:p>
            <a:r>
              <a:rPr lang="ru-RU" dirty="0" smtClean="0"/>
              <a:t>Множество объектов</a:t>
            </a:r>
          </a:p>
          <a:p>
            <a:r>
              <a:rPr lang="ru-RU" dirty="0" smtClean="0"/>
              <a:t> Множество признаков</a:t>
            </a:r>
          </a:p>
          <a:p>
            <a:r>
              <a:rPr lang="ru-RU" dirty="0" smtClean="0"/>
              <a:t>Каждому            ставится в соответствии вектор 				</a:t>
            </a:r>
          </a:p>
          <a:p>
            <a:r>
              <a:rPr lang="ru-RU" dirty="0" smtClean="0"/>
              <a:t>        - количественное значение признака</a:t>
            </a:r>
          </a:p>
          <a:p>
            <a:r>
              <a:rPr lang="ru-RU" dirty="0" smtClean="0"/>
              <a:t>   все         должны быть в шкале отношений или интервалов        </a:t>
            </a:r>
          </a:p>
          <a:p>
            <a:pPr>
              <a:buNone/>
            </a:pPr>
            <a:r>
              <a:rPr lang="ru-RU" dirty="0" smtClean="0"/>
              <a:t>      </a:t>
            </a:r>
          </a:p>
        </p:txBody>
      </p:sp>
      <p:graphicFrame>
        <p:nvGraphicFramePr>
          <p:cNvPr id="6" name="Объект 5"/>
          <p:cNvGraphicFramePr>
            <a:graphicFrameLocks noChangeAspect="1"/>
          </p:cNvGraphicFramePr>
          <p:nvPr/>
        </p:nvGraphicFramePr>
        <p:xfrm>
          <a:off x="5364088" y="1556792"/>
          <a:ext cx="2592288" cy="576064"/>
        </p:xfrm>
        <a:graphic>
          <a:graphicData uri="http://schemas.openxmlformats.org/presentationml/2006/ole">
            <p:oleObj spid="_x0000_s31746" name="Equation" r:id="rId3" imgW="1143000" imgH="253800" progId="">
              <p:embed/>
            </p:oleObj>
          </a:graphicData>
        </a:graphic>
      </p:graphicFrame>
      <p:graphicFrame>
        <p:nvGraphicFramePr>
          <p:cNvPr id="31747" name="Object 3"/>
          <p:cNvGraphicFramePr>
            <a:graphicFrameLocks noChangeAspect="1"/>
          </p:cNvGraphicFramePr>
          <p:nvPr/>
        </p:nvGraphicFramePr>
        <p:xfrm>
          <a:off x="5292725" y="2176463"/>
          <a:ext cx="2735263" cy="633412"/>
        </p:xfrm>
        <a:graphic>
          <a:graphicData uri="http://schemas.openxmlformats.org/presentationml/2006/ole">
            <p:oleObj spid="_x0000_s31747" name="Equation" r:id="rId4" imgW="1206360" imgH="279360" progId="">
              <p:embed/>
            </p:oleObj>
          </a:graphicData>
        </a:graphic>
      </p:graphicFrame>
      <p:graphicFrame>
        <p:nvGraphicFramePr>
          <p:cNvPr id="31748" name="Object 4"/>
          <p:cNvGraphicFramePr>
            <a:graphicFrameLocks noChangeAspect="1"/>
          </p:cNvGraphicFramePr>
          <p:nvPr/>
        </p:nvGraphicFramePr>
        <p:xfrm>
          <a:off x="2555776" y="2852936"/>
          <a:ext cx="996925" cy="543777"/>
        </p:xfrm>
        <a:graphic>
          <a:graphicData uri="http://schemas.openxmlformats.org/presentationml/2006/ole">
            <p:oleObj spid="_x0000_s31748" name="Equation" r:id="rId5" imgW="419040" imgH="228600" progId="">
              <p:embed/>
            </p:oleObj>
          </a:graphicData>
        </a:graphic>
      </p:graphicFrame>
      <p:graphicFrame>
        <p:nvGraphicFramePr>
          <p:cNvPr id="31750" name="Object 6"/>
          <p:cNvGraphicFramePr>
            <a:graphicFrameLocks noChangeAspect="1"/>
          </p:cNvGraphicFramePr>
          <p:nvPr/>
        </p:nvGraphicFramePr>
        <p:xfrm>
          <a:off x="2397125" y="3227388"/>
          <a:ext cx="2620963" cy="690562"/>
        </p:xfrm>
        <a:graphic>
          <a:graphicData uri="http://schemas.openxmlformats.org/presentationml/2006/ole">
            <p:oleObj spid="_x0000_s31750" name="Equation" r:id="rId6" imgW="1155600" imgH="304560" progId="">
              <p:embed/>
            </p:oleObj>
          </a:graphicData>
        </a:graphic>
      </p:graphicFrame>
      <p:graphicFrame>
        <p:nvGraphicFramePr>
          <p:cNvPr id="31751" name="Object 7"/>
          <p:cNvGraphicFramePr>
            <a:graphicFrameLocks noChangeAspect="1"/>
          </p:cNvGraphicFramePr>
          <p:nvPr/>
        </p:nvGraphicFramePr>
        <p:xfrm>
          <a:off x="952500" y="3846513"/>
          <a:ext cx="544513" cy="635000"/>
        </p:xfrm>
        <a:graphic>
          <a:graphicData uri="http://schemas.openxmlformats.org/presentationml/2006/ole">
            <p:oleObj spid="_x0000_s31751" name="Equation" r:id="rId7" imgW="177480" imgH="266400" progId="">
              <p:embed/>
            </p:oleObj>
          </a:graphicData>
        </a:graphic>
      </p:graphicFrame>
      <p:graphicFrame>
        <p:nvGraphicFramePr>
          <p:cNvPr id="31752" name="Object 8"/>
          <p:cNvGraphicFramePr>
            <a:graphicFrameLocks noChangeAspect="1"/>
          </p:cNvGraphicFramePr>
          <p:nvPr/>
        </p:nvGraphicFramePr>
        <p:xfrm>
          <a:off x="8100392" y="3861048"/>
          <a:ext cx="438348" cy="555241"/>
        </p:xfrm>
        <a:graphic>
          <a:graphicData uri="http://schemas.openxmlformats.org/presentationml/2006/ole">
            <p:oleObj spid="_x0000_s31752" name="Equation" r:id="rId8" imgW="190440" imgH="241200" progId="">
              <p:embed/>
            </p:oleObj>
          </a:graphicData>
        </a:graphic>
      </p:graphicFrame>
      <p:graphicFrame>
        <p:nvGraphicFramePr>
          <p:cNvPr id="31753" name="Object 9"/>
          <p:cNvGraphicFramePr>
            <a:graphicFrameLocks noChangeAspect="1"/>
          </p:cNvGraphicFramePr>
          <p:nvPr/>
        </p:nvGraphicFramePr>
        <p:xfrm>
          <a:off x="1835696" y="4437112"/>
          <a:ext cx="544513" cy="635000"/>
        </p:xfrm>
        <a:graphic>
          <a:graphicData uri="http://schemas.openxmlformats.org/presentationml/2006/ole">
            <p:oleObj spid="_x0000_s31753" name="Equation" r:id="rId9" imgW="177480" imgH="266400" progId="">
              <p:embed/>
            </p:oleObj>
          </a:graphicData>
        </a:graphic>
      </p:graphicFrame>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Уточненная постановка задачи нечеткой кластеризации</a:t>
            </a:r>
            <a:endParaRPr lang="ru-RU" dirty="0"/>
          </a:p>
        </p:txBody>
      </p:sp>
      <p:graphicFrame>
        <p:nvGraphicFramePr>
          <p:cNvPr id="4" name="Содержимое 3"/>
          <p:cNvGraphicFramePr>
            <a:graphicFrameLocks noChangeAspect="1"/>
          </p:cNvGraphicFramePr>
          <p:nvPr>
            <p:ph idx="1"/>
          </p:nvPr>
        </p:nvGraphicFramePr>
        <p:xfrm>
          <a:off x="1331640" y="1988840"/>
          <a:ext cx="1872208" cy="976804"/>
        </p:xfrm>
        <a:graphic>
          <a:graphicData uri="http://schemas.openxmlformats.org/presentationml/2006/ole">
            <p:oleObj spid="_x0000_s32770" name="Equation" r:id="rId3" imgW="876240" imgH="457200" progId="">
              <p:embed/>
            </p:oleObj>
          </a:graphicData>
        </a:graphic>
      </p:graphicFrame>
      <p:sp>
        <p:nvSpPr>
          <p:cNvPr id="5" name="TextBox 4"/>
          <p:cNvSpPr txBox="1"/>
          <p:nvPr/>
        </p:nvSpPr>
        <p:spPr>
          <a:xfrm>
            <a:off x="1907704" y="3645024"/>
            <a:ext cx="2819811" cy="369332"/>
          </a:xfrm>
          <a:prstGeom prst="rect">
            <a:avLst/>
          </a:prstGeom>
          <a:noFill/>
        </p:spPr>
        <p:txBody>
          <a:bodyPr wrap="none" rtlCol="0">
            <a:spAutoFit/>
          </a:bodyPr>
          <a:lstStyle/>
          <a:p>
            <a:r>
              <a:rPr lang="ru-RU" dirty="0" smtClean="0"/>
              <a:t>Функция принадлежности </a:t>
            </a:r>
            <a:endParaRPr lang="ru-RU" dirty="0"/>
          </a:p>
        </p:txBody>
      </p:sp>
      <p:cxnSp>
        <p:nvCxnSpPr>
          <p:cNvPr id="7" name="Прямая со стрелкой 6"/>
          <p:cNvCxnSpPr/>
          <p:nvPr/>
        </p:nvCxnSpPr>
        <p:spPr>
          <a:xfrm flipH="1" flipV="1">
            <a:off x="1979712" y="2780928"/>
            <a:ext cx="864096" cy="9361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8" name="Объект 7"/>
          <p:cNvGraphicFramePr>
            <a:graphicFrameLocks noChangeAspect="1"/>
          </p:cNvGraphicFramePr>
          <p:nvPr/>
        </p:nvGraphicFramePr>
        <p:xfrm>
          <a:off x="3707904" y="2204864"/>
          <a:ext cx="1656184" cy="608394"/>
        </p:xfrm>
        <a:graphic>
          <a:graphicData uri="http://schemas.openxmlformats.org/presentationml/2006/ole">
            <p:oleObj spid="_x0000_s32771" name="Equation" r:id="rId4" imgW="622080" imgH="228600" progId="">
              <p:embed/>
            </p:oleObj>
          </a:graphicData>
        </a:graphic>
      </p:graphicFrame>
      <p:sp>
        <p:nvSpPr>
          <p:cNvPr id="10" name="Содержимое 3"/>
          <p:cNvSpPr txBox="1">
            <a:spLocks/>
          </p:cNvSpPr>
          <p:nvPr/>
        </p:nvSpPr>
        <p:spPr>
          <a:xfrm>
            <a:off x="457200" y="1600200"/>
            <a:ext cx="8229600" cy="4525963"/>
          </a:xfrm>
          <a:prstGeom prst="rect">
            <a:avLst/>
          </a:prstGeom>
        </p:spPr>
        <p:txBody>
          <a:bodyPr vert="horz" lIns="91440" tIns="45720" rIns="91440" bIns="45720" rtlCol="0">
            <a:normAutofit fontScale="77500" lnSpcReduction="2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ru-RU"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ru-RU" sz="32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ru-RU"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ru-RU" sz="32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ru-RU"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ru-RU"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ru-RU" sz="3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ru-RU" sz="3200" dirty="0" smtClean="0"/>
          </a:p>
          <a:p>
            <a:pPr marL="342900" lvl="0" indent="-342900">
              <a:spcBef>
                <a:spcPct val="20000"/>
              </a:spcBef>
              <a:buFont typeface="Arial" pitchFamily="34" charset="0"/>
              <a:buChar char="•"/>
            </a:pPr>
            <a:r>
              <a:rPr lang="en-US" sz="3200" dirty="0" err="1" smtClean="0">
                <a:latin typeface="Blackadder ITC" pitchFamily="82" charset="0"/>
              </a:rPr>
              <a:t>A</a:t>
            </a:r>
            <a:r>
              <a:rPr lang="en-US" sz="3200" baseline="-25000" dirty="0" err="1" smtClean="0"/>
              <a:t>k</a:t>
            </a:r>
            <a:r>
              <a:rPr lang="en-US" sz="3200" dirty="0" smtClean="0"/>
              <a:t>- </a:t>
            </a:r>
            <a:r>
              <a:rPr lang="ru-RU" sz="3200" dirty="0" smtClean="0"/>
              <a:t>нечеткие кластеры, их количество задается до начала работы алгоритма. </a:t>
            </a:r>
            <a:r>
              <a:rPr lang="en-US" sz="3200" dirty="0" smtClean="0">
                <a:latin typeface="Blackadder ITC" pitchFamily="82" charset="0"/>
              </a:rPr>
              <a:t>A</a:t>
            </a:r>
            <a:r>
              <a:rPr lang="ru-RU" sz="3200" dirty="0" smtClean="0">
                <a:latin typeface="Blackadder ITC" pitchFamily="82" charset="0"/>
              </a:rPr>
              <a:t>=А.</a:t>
            </a:r>
          </a:p>
          <a:p>
            <a:pPr marL="342900" lvl="0" indent="-342900">
              <a:spcBef>
                <a:spcPct val="20000"/>
              </a:spcBef>
            </a:pPr>
            <a:endParaRPr kumimoji="0" lang="ru-RU" sz="3200" b="0" i="0" u="none" strike="noStrike" kern="1200" cap="none" spc="0" normalizeH="0" baseline="0" noProof="0" dirty="0" smtClean="0">
              <a:ln>
                <a:noFill/>
              </a:ln>
              <a:solidFill>
                <a:schemeClr val="tx1"/>
              </a:solidFill>
              <a:effectLst/>
              <a:uLnTx/>
              <a:uFillTx/>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ru-RU" sz="3200" b="0" i="0" u="none" strike="noStrike" kern="1200" cap="none" spc="0" normalizeH="0" baseline="0" noProof="0" dirty="0" smtClean="0">
                <a:ln>
                  <a:noFill/>
                </a:ln>
                <a:solidFill>
                  <a:schemeClr val="tx1"/>
                </a:solidFill>
                <a:effectLst/>
                <a:uLnTx/>
                <a:uFillTx/>
                <a:latin typeface="+mn-lt"/>
                <a:ea typeface="+mn-ea"/>
                <a:cs typeface="+mn-cs"/>
              </a:rPr>
              <a:t>      </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Уточненная постановка задачи нечеткой кластеризации</a:t>
            </a:r>
            <a:endParaRPr lang="ru-RU" dirty="0"/>
          </a:p>
        </p:txBody>
      </p:sp>
      <p:sp>
        <p:nvSpPr>
          <p:cNvPr id="10" name="Содержимое 3"/>
          <p:cNvSpPr txBox="1">
            <a:spLocks/>
          </p:cNvSpPr>
          <p:nvPr/>
        </p:nvSpPr>
        <p:spPr>
          <a:xfrm>
            <a:off x="467544" y="1700808"/>
            <a:ext cx="8229600" cy="4525963"/>
          </a:xfrm>
          <a:prstGeom prst="rect">
            <a:avLst/>
          </a:prstGeom>
        </p:spPr>
        <p:txBody>
          <a:bodyPr vert="horz" lIns="91440" tIns="45720" rIns="91440" bIns="45720" rtlCol="0">
            <a:normAutofit/>
          </a:bodyPr>
          <a:lstStyle/>
          <a:p>
            <a:pPr marL="342900" lvl="0" indent="-342900">
              <a:spcBef>
                <a:spcPct val="20000"/>
              </a:spcBef>
            </a:pPr>
            <a:r>
              <a:rPr lang="ru-RU" sz="3200" dirty="0" smtClean="0"/>
              <a:t>Для каждого нечеткого кластера вводятся </a:t>
            </a:r>
            <a:r>
              <a:rPr lang="ru-RU" sz="3200" i="1" dirty="0" smtClean="0"/>
              <a:t>типичные представители </a:t>
            </a:r>
            <a:r>
              <a:rPr lang="ru-RU" sz="3200" dirty="0" smtClean="0"/>
              <a:t>или </a:t>
            </a:r>
            <a:r>
              <a:rPr lang="ru-RU" sz="3200" i="1" dirty="0" smtClean="0"/>
              <a:t>центры кластеров (высчитываются для каждого кластера по каждому признаку):</a:t>
            </a:r>
          </a:p>
          <a:p>
            <a:pPr marL="342900" lvl="0" indent="-342900">
              <a:spcBef>
                <a:spcPct val="20000"/>
              </a:spcBef>
            </a:pPr>
            <a:endParaRPr lang="ru-RU" sz="3200" i="1" dirty="0" smtClean="0"/>
          </a:p>
          <a:p>
            <a:pPr marL="342900" lvl="0" indent="-342900">
              <a:spcBef>
                <a:spcPct val="20000"/>
              </a:spcBef>
            </a:pPr>
            <a:endParaRPr lang="ru-RU" sz="3200" i="1" dirty="0" smtClean="0"/>
          </a:p>
          <a:p>
            <a:pPr marL="342900" lvl="0" indent="-342900">
              <a:spcBef>
                <a:spcPct val="20000"/>
              </a:spcBef>
            </a:pPr>
            <a:endParaRPr lang="ru-RU" sz="3200" i="1" dirty="0" smtClean="0">
              <a:latin typeface="Blackadder ITC" pitchFamily="82"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ru-RU" sz="3200" b="0" i="0" u="none" strike="noStrike" kern="1200" cap="none" spc="0" normalizeH="0" baseline="0" noProof="0" dirty="0" smtClean="0">
                <a:ln>
                  <a:noFill/>
                </a:ln>
                <a:solidFill>
                  <a:schemeClr val="tx1"/>
                </a:solidFill>
                <a:effectLst/>
                <a:uLnTx/>
                <a:uFillTx/>
                <a:latin typeface="+mn-lt"/>
                <a:ea typeface="+mn-ea"/>
                <a:cs typeface="+mn-cs"/>
              </a:rPr>
              <a:t>Каждый</a:t>
            </a:r>
            <a:r>
              <a:rPr kumimoji="0" lang="ru-RU" sz="3200" b="0" i="0" u="none" strike="noStrike" kern="1200" cap="none" spc="0" normalizeH="0" noProof="0" dirty="0" smtClean="0">
                <a:ln>
                  <a:noFill/>
                </a:ln>
                <a:solidFill>
                  <a:schemeClr val="tx1"/>
                </a:solidFill>
                <a:effectLst/>
                <a:uLnTx/>
                <a:uFillTx/>
                <a:latin typeface="+mn-lt"/>
                <a:ea typeface="+mn-ea"/>
                <a:cs typeface="+mn-cs"/>
              </a:rPr>
              <a:t> из центров кластеров - вектор</a:t>
            </a:r>
            <a:endParaRPr kumimoji="0" lang="ru-RU" sz="3200" b="0" i="0" u="none" strike="noStrike" kern="1200" cap="none" spc="0" normalizeH="0" baseline="0" noProof="0" dirty="0" smtClean="0">
              <a:ln>
                <a:noFill/>
              </a:ln>
              <a:solidFill>
                <a:schemeClr val="tx1"/>
              </a:solidFill>
              <a:effectLst/>
              <a:uLnTx/>
              <a:uFillTx/>
              <a:latin typeface="+mn-lt"/>
              <a:ea typeface="+mn-ea"/>
              <a:cs typeface="+mn-cs"/>
            </a:endParaRPr>
          </a:p>
        </p:txBody>
      </p:sp>
      <p:graphicFrame>
        <p:nvGraphicFramePr>
          <p:cNvPr id="11" name="Объект 10"/>
          <p:cNvGraphicFramePr>
            <a:graphicFrameLocks noChangeAspect="1"/>
          </p:cNvGraphicFramePr>
          <p:nvPr/>
        </p:nvGraphicFramePr>
        <p:xfrm>
          <a:off x="395536" y="3717032"/>
          <a:ext cx="2808312" cy="1724402"/>
        </p:xfrm>
        <a:graphic>
          <a:graphicData uri="http://schemas.openxmlformats.org/presentationml/2006/ole">
            <p:oleObj spid="_x0000_s33796" name="Equation" r:id="rId3" imgW="1447560" imgH="888840" progId="">
              <p:embed/>
            </p:oleObj>
          </a:graphicData>
        </a:graphic>
      </p:graphicFrame>
      <p:graphicFrame>
        <p:nvGraphicFramePr>
          <p:cNvPr id="33797" name="Object 5"/>
          <p:cNvGraphicFramePr>
            <a:graphicFrameLocks noChangeAspect="1"/>
          </p:cNvGraphicFramePr>
          <p:nvPr/>
        </p:nvGraphicFramePr>
        <p:xfrm>
          <a:off x="3995936" y="4365104"/>
          <a:ext cx="3335337" cy="555625"/>
        </p:xfrm>
        <a:graphic>
          <a:graphicData uri="http://schemas.openxmlformats.org/presentationml/2006/ole">
            <p:oleObj spid="_x0000_s33797" name="Equation" r:id="rId4" imgW="1523880" imgH="253800" progId="">
              <p:embed/>
            </p:oleObj>
          </a:graphicData>
        </a:graphic>
      </p:graphicFrame>
      <p:graphicFrame>
        <p:nvGraphicFramePr>
          <p:cNvPr id="33798" name="Object 6"/>
          <p:cNvGraphicFramePr>
            <a:graphicFrameLocks noChangeAspect="1"/>
          </p:cNvGraphicFramePr>
          <p:nvPr/>
        </p:nvGraphicFramePr>
        <p:xfrm>
          <a:off x="1979712" y="6021288"/>
          <a:ext cx="2584450" cy="584200"/>
        </p:xfrm>
        <a:graphic>
          <a:graphicData uri="http://schemas.openxmlformats.org/presentationml/2006/ole">
            <p:oleObj spid="_x0000_s33798" name="Equation" r:id="rId5" imgW="1180800" imgH="266400" progId="">
              <p:embed/>
            </p:oleObj>
          </a:graphicData>
        </a:graphic>
      </p:graphicFrame>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Уточненная постановка задачи нечеткой кластеризации</a:t>
            </a:r>
            <a:endParaRPr lang="ru-RU" dirty="0"/>
          </a:p>
        </p:txBody>
      </p:sp>
      <p:sp>
        <p:nvSpPr>
          <p:cNvPr id="10" name="Содержимое 3"/>
          <p:cNvSpPr txBox="1">
            <a:spLocks/>
          </p:cNvSpPr>
          <p:nvPr/>
        </p:nvSpPr>
        <p:spPr>
          <a:xfrm>
            <a:off x="467544" y="1700808"/>
            <a:ext cx="8229600" cy="4525963"/>
          </a:xfrm>
          <a:prstGeom prst="rect">
            <a:avLst/>
          </a:prstGeom>
        </p:spPr>
        <p:txBody>
          <a:bodyPr vert="horz" lIns="91440" tIns="45720" rIns="91440" bIns="45720" rtlCol="0">
            <a:normAutofit fontScale="70000" lnSpcReduction="2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3400" dirty="0" smtClean="0"/>
              <a:t>m</a:t>
            </a:r>
            <a:r>
              <a:rPr lang="ru-RU" sz="3400" dirty="0" smtClean="0"/>
              <a:t>- </a:t>
            </a:r>
            <a:r>
              <a:rPr lang="ru-RU" sz="3400" b="1" dirty="0" smtClean="0"/>
              <a:t>экспоненциальный вес </a:t>
            </a:r>
            <a:r>
              <a:rPr lang="ru-RU" sz="3400" dirty="0" smtClean="0"/>
              <a:t>(</a:t>
            </a:r>
            <a:r>
              <a:rPr lang="en-US" sz="3400" dirty="0" smtClean="0"/>
              <a:t>m&gt;1</a:t>
            </a:r>
            <a:r>
              <a:rPr lang="ru-RU" sz="3400" dirty="0" smtClean="0"/>
              <a:t>) –</a:t>
            </a:r>
            <a:r>
              <a:rPr lang="ru-RU" sz="3400" dirty="0" err="1" smtClean="0"/>
              <a:t>гиперпараметр</a:t>
            </a:r>
            <a:r>
              <a:rPr lang="ru-RU" sz="3400" dirty="0" smtClean="0"/>
              <a:t>, определяющий степень “нечеткости” кластеров. Чем </a:t>
            </a:r>
            <a:r>
              <a:rPr lang="ru-RU" sz="3400" dirty="0" err="1" smtClean="0"/>
              <a:t>m</a:t>
            </a:r>
            <a:r>
              <a:rPr lang="ru-RU" sz="3400" dirty="0" smtClean="0"/>
              <a:t> больше, тем более “нечеткими” будут кластеры.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lang="ru-RU" sz="34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ru-RU" sz="3400" dirty="0" smtClean="0"/>
              <a:t> Чем ближе </a:t>
            </a:r>
            <a:r>
              <a:rPr lang="ru-RU" sz="3400" dirty="0" err="1" smtClean="0"/>
              <a:t>m</a:t>
            </a:r>
            <a:r>
              <a:rPr lang="ru-RU" sz="3400" dirty="0" smtClean="0"/>
              <a:t> к 1, тем ближе результаты работы алгоритма к результатам, возвращаемым алгоритмом k-средних - объекты расположенные вблизи центра кластера имеют гораздо большее значение функции принадлежности, чем остальные.</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ru-RU" sz="3400" dirty="0" smtClean="0"/>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ru-RU" sz="3400" dirty="0" smtClean="0"/>
              <a:t>Чем больше объектов в множестве А, тем меньше выбирают </a:t>
            </a:r>
            <a:r>
              <a:rPr lang="ru-RU" sz="3400" dirty="0" err="1" smtClean="0"/>
              <a:t>m</a:t>
            </a:r>
            <a:r>
              <a:rPr lang="ru-RU" sz="3400" dirty="0" smtClean="0"/>
              <a:t>.</a:t>
            </a:r>
          </a:p>
          <a:p>
            <a:r>
              <a:rPr lang="ru-RU" sz="3200" dirty="0" smtClean="0"/>
              <a:t/>
            </a:r>
            <a:br>
              <a:rPr lang="ru-RU" sz="3200" dirty="0" smtClean="0"/>
            </a:br>
            <a:endParaRPr lang="ru-RU" sz="32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ru-RU" sz="32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Задача нечеткой кластеризации</a:t>
            </a:r>
            <a:endParaRPr lang="ru-RU" dirty="0"/>
          </a:p>
        </p:txBody>
      </p:sp>
      <p:sp>
        <p:nvSpPr>
          <p:cNvPr id="3" name="Содержимое 2"/>
          <p:cNvSpPr>
            <a:spLocks noGrp="1"/>
          </p:cNvSpPr>
          <p:nvPr>
            <p:ph idx="1"/>
          </p:nvPr>
        </p:nvSpPr>
        <p:spPr/>
        <p:txBody>
          <a:bodyPr>
            <a:normAutofit fontScale="85000" lnSpcReduction="10000"/>
          </a:bodyPr>
          <a:lstStyle/>
          <a:p>
            <a:pPr>
              <a:buNone/>
            </a:pPr>
            <a:r>
              <a:rPr lang="ru-RU" dirty="0" smtClean="0"/>
              <a:t>Целевая функция – сумма квадратов взвешенных отклонений координат объектов кластеризации от центров искомых нечетких кластеров:</a:t>
            </a:r>
          </a:p>
          <a:p>
            <a:pPr>
              <a:buNone/>
            </a:pPr>
            <a:endParaRPr lang="ru-RU" dirty="0" smtClean="0"/>
          </a:p>
          <a:p>
            <a:pPr>
              <a:buNone/>
            </a:pPr>
            <a:endParaRPr lang="ru-RU" dirty="0" smtClean="0"/>
          </a:p>
          <a:p>
            <a:pPr>
              <a:buNone/>
            </a:pPr>
            <a:endParaRPr lang="ru-RU" dirty="0" smtClean="0"/>
          </a:p>
          <a:p>
            <a:pPr>
              <a:buNone/>
            </a:pPr>
            <a:r>
              <a:rPr lang="ru-RU" dirty="0" smtClean="0"/>
              <a:t>Число кластеров </a:t>
            </a:r>
            <a:r>
              <a:rPr lang="en-US" dirty="0" smtClean="0"/>
              <a:t>&gt;2</a:t>
            </a:r>
            <a:r>
              <a:rPr lang="ru-RU" dirty="0" smtClean="0"/>
              <a:t>, пустые кластеры исключены.</a:t>
            </a:r>
          </a:p>
          <a:p>
            <a:pPr>
              <a:buNone/>
            </a:pPr>
            <a:endParaRPr lang="ru-RU" dirty="0" smtClean="0"/>
          </a:p>
          <a:p>
            <a:pPr>
              <a:buNone/>
            </a:pPr>
            <a:r>
              <a:rPr lang="ru-RU" dirty="0" smtClean="0"/>
              <a:t>Многоэкстремальное нелинейное  программирование.</a:t>
            </a:r>
          </a:p>
          <a:p>
            <a:pPr>
              <a:buNone/>
            </a:pPr>
            <a:endParaRPr lang="ru-RU" dirty="0"/>
          </a:p>
        </p:txBody>
      </p:sp>
      <p:graphicFrame>
        <p:nvGraphicFramePr>
          <p:cNvPr id="4" name="Объект 3"/>
          <p:cNvGraphicFramePr>
            <a:graphicFrameLocks noChangeAspect="1"/>
          </p:cNvGraphicFramePr>
          <p:nvPr/>
        </p:nvGraphicFramePr>
        <p:xfrm>
          <a:off x="971600" y="2989268"/>
          <a:ext cx="7283450" cy="1296988"/>
        </p:xfrm>
        <a:graphic>
          <a:graphicData uri="http://schemas.openxmlformats.org/presentationml/2006/ole">
            <p:oleObj spid="_x0000_s34818" name="Equation" r:id="rId3" imgW="2997000" imgH="533160" progId="">
              <p:embed/>
            </p:oleObj>
          </a:graphicData>
        </a:graphic>
      </p:graphicFrame>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Алгоритм с-</a:t>
            </a:r>
            <a:r>
              <a:rPr lang="en-US" dirty="0" smtClean="0"/>
              <a:t>means</a:t>
            </a:r>
            <a:endParaRPr lang="ru-RU" dirty="0"/>
          </a:p>
        </p:txBody>
      </p:sp>
      <p:sp>
        <p:nvSpPr>
          <p:cNvPr id="3" name="Содержимое 2"/>
          <p:cNvSpPr>
            <a:spLocks noGrp="1"/>
          </p:cNvSpPr>
          <p:nvPr>
            <p:ph idx="1"/>
          </p:nvPr>
        </p:nvSpPr>
        <p:spPr/>
        <p:txBody>
          <a:bodyPr>
            <a:normAutofit fontScale="85000" lnSpcReduction="10000"/>
          </a:bodyPr>
          <a:lstStyle/>
          <a:p>
            <a:pPr marL="514350" indent="-514350">
              <a:buAutoNum type="arabicPeriod"/>
            </a:pPr>
            <a:r>
              <a:rPr lang="ru-RU" dirty="0" smtClean="0"/>
              <a:t>Задать число кластеров, макс. количество итераций алгоритма, параметр сходимости (</a:t>
            </a:r>
            <a:r>
              <a:rPr lang="el-GR" dirty="0" smtClean="0"/>
              <a:t>ε</a:t>
            </a:r>
            <a:r>
              <a:rPr lang="ru-RU" dirty="0" smtClean="0"/>
              <a:t>), экспоненциальный вес (как правило </a:t>
            </a:r>
            <a:r>
              <a:rPr lang="en-US" dirty="0" smtClean="0"/>
              <a:t>m=2</a:t>
            </a:r>
            <a:r>
              <a:rPr lang="ru-RU" dirty="0" smtClean="0"/>
              <a:t>). Задать начальное случайное разбиение.</a:t>
            </a:r>
          </a:p>
          <a:p>
            <a:pPr fontAlgn="base">
              <a:buNone/>
            </a:pPr>
            <a:r>
              <a:rPr lang="ru-RU" dirty="0" smtClean="0"/>
              <a:t>2.	Рассчитать центры кластеров и целевую функцию.</a:t>
            </a:r>
          </a:p>
          <a:p>
            <a:pPr fontAlgn="base">
              <a:buNone/>
            </a:pPr>
            <a:r>
              <a:rPr lang="ru-RU" dirty="0" smtClean="0"/>
              <a:t>3. Сформировать новое разбиение.</a:t>
            </a:r>
          </a:p>
          <a:p>
            <a:pPr fontAlgn="base">
              <a:buNone/>
            </a:pPr>
            <a:r>
              <a:rPr lang="ru-RU" dirty="0" smtClean="0"/>
              <a:t>4. Рассчитать центры </a:t>
            </a:r>
            <a:r>
              <a:rPr lang="ru-RU" dirty="0" smtClean="0"/>
              <a:t>кластеров, </a:t>
            </a:r>
            <a:r>
              <a:rPr lang="ru-RU" dirty="0" smtClean="0"/>
              <a:t>целевую функцию. </a:t>
            </a:r>
          </a:p>
          <a:p>
            <a:pPr fontAlgn="base">
              <a:buNone/>
            </a:pPr>
            <a:r>
              <a:rPr lang="ru-RU" dirty="0" smtClean="0"/>
              <a:t>5. Проверить условия остановки алгоритма. </a:t>
            </a:r>
          </a:p>
          <a:p>
            <a:pPr fontAlgn="base">
              <a:buNone/>
            </a:pPr>
            <a:r>
              <a:rPr lang="ru-RU" dirty="0" smtClean="0"/>
              <a:t>6. Повторить шаги 3-5.</a:t>
            </a:r>
            <a:endParaRPr lang="ru-RU"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Алгоритм с-</a:t>
            </a:r>
            <a:r>
              <a:rPr lang="en-US" dirty="0" smtClean="0"/>
              <a:t>means</a:t>
            </a:r>
            <a:endParaRPr lang="ru-RU" dirty="0"/>
          </a:p>
        </p:txBody>
      </p:sp>
      <p:sp>
        <p:nvSpPr>
          <p:cNvPr id="3" name="Содержимое 2"/>
          <p:cNvSpPr>
            <a:spLocks noGrp="1"/>
          </p:cNvSpPr>
          <p:nvPr>
            <p:ph idx="1"/>
          </p:nvPr>
        </p:nvSpPr>
        <p:spPr/>
        <p:txBody>
          <a:bodyPr>
            <a:normAutofit fontScale="85000" lnSpcReduction="10000"/>
          </a:bodyPr>
          <a:lstStyle/>
          <a:p>
            <a:pPr>
              <a:buNone/>
            </a:pPr>
            <a:r>
              <a:rPr lang="ru-RU" dirty="0" smtClean="0"/>
              <a:t>Параметр сходимости алгоритма используется следующим образом:</a:t>
            </a:r>
          </a:p>
          <a:p>
            <a:pPr fontAlgn="base"/>
            <a:r>
              <a:rPr lang="ru-RU" dirty="0" smtClean="0"/>
              <a:t>Выбирается значение  .</a:t>
            </a:r>
          </a:p>
          <a:p>
            <a:pPr fontAlgn="base"/>
            <a:r>
              <a:rPr lang="ru-RU" dirty="0" smtClean="0"/>
              <a:t>На каждой итерации алгоритма вычисляется абсолютная разность между целевой функцией на текущей итерации и на предыдущей итерации:</a:t>
            </a:r>
          </a:p>
          <a:p>
            <a:pPr>
              <a:buNone/>
            </a:pPr>
            <a:endParaRPr lang="ru-RU" dirty="0" smtClean="0"/>
          </a:p>
          <a:p>
            <a:pPr fontAlgn="base"/>
            <a:r>
              <a:rPr lang="ru-RU" dirty="0" smtClean="0"/>
              <a:t>Если абсолютная разность больше параметра сходимости , то алгоритм продолжает выполняться, в противном случае выполнение алгоритма останавливается.</a:t>
            </a:r>
            <a:endParaRPr lang="ru-RU" dirty="0"/>
          </a:p>
        </p:txBody>
      </p:sp>
      <p:graphicFrame>
        <p:nvGraphicFramePr>
          <p:cNvPr id="4" name="Объект 3"/>
          <p:cNvGraphicFramePr>
            <a:graphicFrameLocks noChangeAspect="1"/>
          </p:cNvGraphicFramePr>
          <p:nvPr/>
        </p:nvGraphicFramePr>
        <p:xfrm>
          <a:off x="4071934" y="2571743"/>
          <a:ext cx="214314" cy="235745"/>
        </p:xfrm>
        <a:graphic>
          <a:graphicData uri="http://schemas.openxmlformats.org/presentationml/2006/ole">
            <p:oleObj spid="_x0000_s114690" name="Формула" r:id="rId3" imgW="126720" imgH="139680" progId="Equation.3">
              <p:embed/>
            </p:oleObj>
          </a:graphicData>
        </a:graphic>
      </p:graphicFrame>
      <p:pic>
        <p:nvPicPr>
          <p:cNvPr id="114693" name="Picture 5"/>
          <p:cNvPicPr>
            <a:picLocks noChangeAspect="1" noChangeArrowheads="1"/>
          </p:cNvPicPr>
          <p:nvPr/>
        </p:nvPicPr>
        <p:blipFill>
          <a:blip r:embed="rId4" cstate="print"/>
          <a:srcRect/>
          <a:stretch>
            <a:fillRect/>
          </a:stretch>
        </p:blipFill>
        <p:spPr bwMode="auto">
          <a:xfrm>
            <a:off x="2000232" y="4071942"/>
            <a:ext cx="2800350" cy="5238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Нейронные сети кластеризации данных</a:t>
            </a:r>
            <a:endParaRPr lang="ru-RU" dirty="0"/>
          </a:p>
        </p:txBody>
      </p:sp>
      <p:sp>
        <p:nvSpPr>
          <p:cNvPr id="3" name="Содержимое 2"/>
          <p:cNvSpPr>
            <a:spLocks noGrp="1"/>
          </p:cNvSpPr>
          <p:nvPr>
            <p:ph idx="1"/>
          </p:nvPr>
        </p:nvSpPr>
        <p:spPr/>
        <p:txBody>
          <a:bodyPr>
            <a:normAutofit fontScale="62500" lnSpcReduction="20000"/>
          </a:bodyPr>
          <a:lstStyle/>
          <a:p>
            <a:pPr>
              <a:buNone/>
            </a:pPr>
            <a:r>
              <a:rPr lang="ru-RU" dirty="0" smtClean="0"/>
              <a:t>Задача поиска скрытых закономерностей данных -оптимизационная задача  – задача кластеризации  - перевод объектов из пространства одной размерности в пространство другой размерности – нейронные сети для решения оптимизационных задач.</a:t>
            </a:r>
          </a:p>
          <a:p>
            <a:pPr>
              <a:buNone/>
            </a:pPr>
            <a:endParaRPr lang="ru-RU" dirty="0" smtClean="0"/>
          </a:p>
          <a:p>
            <a:pPr>
              <a:buNone/>
            </a:pPr>
            <a:r>
              <a:rPr lang="ru-RU" dirty="0" smtClean="0"/>
              <a:t>Примерами таких архитектур могут быть:</a:t>
            </a:r>
          </a:p>
          <a:p>
            <a:pPr>
              <a:buNone/>
            </a:pPr>
            <a:endParaRPr lang="ru-RU" dirty="0" smtClean="0"/>
          </a:p>
          <a:p>
            <a:pPr>
              <a:buNone/>
            </a:pPr>
            <a:r>
              <a:rPr lang="ru-RU" dirty="0" smtClean="0"/>
              <a:t> 1. самоорганизующиеся сети;</a:t>
            </a:r>
          </a:p>
          <a:p>
            <a:pPr>
              <a:buNone/>
            </a:pPr>
            <a:r>
              <a:rPr lang="ru-RU" dirty="0" smtClean="0"/>
              <a:t>2. многослойный персептрон;</a:t>
            </a:r>
          </a:p>
          <a:p>
            <a:pPr>
              <a:buNone/>
            </a:pPr>
            <a:r>
              <a:rPr lang="ru-RU" dirty="0" smtClean="0"/>
              <a:t>3. сигма-пи сети. </a:t>
            </a:r>
          </a:p>
          <a:p>
            <a:pPr>
              <a:buNone/>
            </a:pPr>
            <a:endParaRPr lang="ru-RU" dirty="0" smtClean="0"/>
          </a:p>
          <a:p>
            <a:pPr>
              <a:buNone/>
            </a:pPr>
            <a:r>
              <a:rPr lang="ru-RU" dirty="0" smtClean="0"/>
              <a:t>Обучаться нейронные сети могут как с учителем, так и без.</a:t>
            </a:r>
          </a:p>
          <a:p>
            <a:pPr>
              <a:buNone/>
            </a:pPr>
            <a:r>
              <a:rPr lang="ru-RU" dirty="0" smtClean="0"/>
              <a:t/>
            </a:r>
            <a:br>
              <a:rPr lang="ru-RU" dirty="0" smtClean="0"/>
            </a:br>
            <a:endParaRPr lang="ru-RU"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Кластеризация при помощи сети </a:t>
            </a:r>
            <a:r>
              <a:rPr lang="ru-RU" dirty="0" err="1" smtClean="0"/>
              <a:t>Кохонена</a:t>
            </a:r>
            <a:endParaRPr lang="ru-RU" dirty="0"/>
          </a:p>
        </p:txBody>
      </p:sp>
      <p:sp>
        <p:nvSpPr>
          <p:cNvPr id="3" name="Содержимое 2"/>
          <p:cNvSpPr>
            <a:spLocks noGrp="1"/>
          </p:cNvSpPr>
          <p:nvPr>
            <p:ph idx="1"/>
          </p:nvPr>
        </p:nvSpPr>
        <p:spPr/>
        <p:txBody>
          <a:bodyPr/>
          <a:lstStyle/>
          <a:p>
            <a:pPr marL="514350" indent="-514350">
              <a:buAutoNum type="arabicPeriod"/>
            </a:pPr>
            <a:r>
              <a:rPr lang="ru-RU" dirty="0" smtClean="0"/>
              <a:t>Обучение без учителя.</a:t>
            </a:r>
          </a:p>
          <a:p>
            <a:pPr>
              <a:buNone/>
            </a:pPr>
            <a:r>
              <a:rPr lang="ru-RU" dirty="0" smtClean="0"/>
              <a:t>2. Образцы, относящиеся к одной и той же группе должны быть подобны друг другу в некотором смысле.</a:t>
            </a:r>
          </a:p>
          <a:p>
            <a:pPr>
              <a:buNone/>
            </a:pPr>
            <a:r>
              <a:rPr lang="ru-RU" dirty="0" smtClean="0"/>
              <a:t>3. Группы, подобные друг другу, в свою очередь, должны размещаться близко друг к другу.</a:t>
            </a:r>
          </a:p>
          <a:p>
            <a:pPr marL="514350" indent="-514350">
              <a:buAutoNum type="arabicPeriod"/>
            </a:pPr>
            <a:endParaRPr lang="ru-RU"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Кластеризация при помощи сети </a:t>
            </a:r>
            <a:r>
              <a:rPr lang="ru-RU" dirty="0" err="1" smtClean="0"/>
              <a:t>Кохонена</a:t>
            </a:r>
            <a:endParaRPr lang="ru-RU" dirty="0"/>
          </a:p>
        </p:txBody>
      </p:sp>
      <p:sp>
        <p:nvSpPr>
          <p:cNvPr id="4" name="Содержимое 3"/>
          <p:cNvSpPr>
            <a:spLocks noGrp="1"/>
          </p:cNvSpPr>
          <p:nvPr>
            <p:ph idx="1"/>
          </p:nvPr>
        </p:nvSpPr>
        <p:spPr/>
        <p:txBody>
          <a:bodyPr/>
          <a:lstStyle/>
          <a:p>
            <a:pPr>
              <a:buNone/>
            </a:pPr>
            <a:r>
              <a:rPr lang="ru-RU" dirty="0" smtClean="0"/>
              <a:t>Структура сети</a:t>
            </a:r>
            <a:endParaRPr lang="ru-RU" dirty="0"/>
          </a:p>
        </p:txBody>
      </p:sp>
      <p:pic>
        <p:nvPicPr>
          <p:cNvPr id="115714" name="Picture 2" descr="Структура нейронной сети Кохонена."/>
          <p:cNvPicPr>
            <a:picLocks noChangeAspect="1" noChangeArrowheads="1"/>
          </p:cNvPicPr>
          <p:nvPr/>
        </p:nvPicPr>
        <p:blipFill>
          <a:blip r:embed="rId2" cstate="print"/>
          <a:srcRect/>
          <a:stretch>
            <a:fillRect/>
          </a:stretch>
        </p:blipFill>
        <p:spPr bwMode="auto">
          <a:xfrm>
            <a:off x="3429000" y="1714488"/>
            <a:ext cx="5715000" cy="4772025"/>
          </a:xfrm>
          <a:prstGeom prst="rect">
            <a:avLst/>
          </a:prstGeom>
          <a:noFill/>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Кластеризация при помощи сети </a:t>
            </a:r>
            <a:r>
              <a:rPr lang="ru-RU" dirty="0" err="1" smtClean="0"/>
              <a:t>Кохонена</a:t>
            </a:r>
            <a:endParaRPr lang="ru-RU" dirty="0"/>
          </a:p>
        </p:txBody>
      </p:sp>
      <p:sp>
        <p:nvSpPr>
          <p:cNvPr id="4" name="Содержимое 3"/>
          <p:cNvSpPr>
            <a:spLocks noGrp="1"/>
          </p:cNvSpPr>
          <p:nvPr>
            <p:ph idx="1"/>
          </p:nvPr>
        </p:nvSpPr>
        <p:spPr/>
        <p:txBody>
          <a:bodyPr>
            <a:normAutofit fontScale="47500" lnSpcReduction="20000"/>
          </a:bodyPr>
          <a:lstStyle/>
          <a:p>
            <a:pPr>
              <a:buNone/>
            </a:pPr>
            <a:r>
              <a:rPr lang="ru-RU" b="1" dirty="0" smtClean="0"/>
              <a:t>Структура сети:</a:t>
            </a:r>
          </a:p>
          <a:p>
            <a:pPr>
              <a:buNone/>
            </a:pPr>
            <a:r>
              <a:rPr lang="ru-RU" dirty="0" smtClean="0"/>
              <a:t>1. Число входных нейронов равно количеству признаков объектов.</a:t>
            </a:r>
          </a:p>
          <a:p>
            <a:pPr>
              <a:buNone/>
            </a:pPr>
            <a:r>
              <a:rPr lang="ru-RU" dirty="0" smtClean="0"/>
              <a:t>2. Количество выходных нейронов равно числу кластеров.</a:t>
            </a:r>
          </a:p>
          <a:p>
            <a:pPr>
              <a:buNone/>
            </a:pPr>
            <a:r>
              <a:rPr lang="ru-RU" dirty="0" smtClean="0"/>
              <a:t> </a:t>
            </a:r>
            <a:r>
              <a:rPr lang="ru-RU" b="1" dirty="0" smtClean="0"/>
              <a:t>Принцип</a:t>
            </a:r>
            <a:r>
              <a:rPr lang="ru-RU" dirty="0" smtClean="0"/>
              <a:t>:  «победитель получает все» -  наибольший выходной сигнал трансформируется в единичный, а остальные выходы обнуляются. </a:t>
            </a:r>
          </a:p>
          <a:p>
            <a:pPr>
              <a:buNone/>
            </a:pPr>
            <a:r>
              <a:rPr lang="ru-RU" dirty="0" smtClean="0"/>
              <a:t>Т.о., подавая признаки некоторого объекта на вход, на выходе получаем ряд нулевых значений, и лишь у одного нейрона значение будет равно единице. Это и сигнализирует о том, что объект отнесен к данному кластеру.</a:t>
            </a:r>
          </a:p>
          <a:p>
            <a:endParaRPr lang="ru-RU" dirty="0" smtClean="0"/>
          </a:p>
          <a:p>
            <a:pPr>
              <a:buNone/>
            </a:pPr>
            <a:r>
              <a:rPr lang="ru-RU" dirty="0" smtClean="0"/>
              <a:t>Удобно считать объекты, подаваемые на вход сети, векторами с координатами, равными значениям признаков:</a:t>
            </a:r>
          </a:p>
          <a:p>
            <a:pPr>
              <a:buNone/>
            </a:pPr>
            <a:r>
              <a:rPr lang="ru-RU" dirty="0" err="1" smtClean="0"/>
              <a:t>x=</a:t>
            </a:r>
            <a:r>
              <a:rPr lang="ru-RU" dirty="0" smtClean="0"/>
              <a:t>{x</a:t>
            </a:r>
            <a:r>
              <a:rPr lang="ru-RU" baseline="-25000" dirty="0" smtClean="0"/>
              <a:t>1</a:t>
            </a:r>
            <a:r>
              <a:rPr lang="ru-RU" dirty="0" smtClean="0"/>
              <a:t>,x</a:t>
            </a:r>
            <a:r>
              <a:rPr lang="ru-RU" baseline="-25000" dirty="0" smtClean="0"/>
              <a:t>2</a:t>
            </a:r>
            <a:r>
              <a:rPr lang="ru-RU" dirty="0" smtClean="0"/>
              <a:t>,x</a:t>
            </a:r>
            <a:r>
              <a:rPr lang="ru-RU" baseline="-25000" dirty="0" smtClean="0"/>
              <a:t>3</a:t>
            </a:r>
            <a:r>
              <a:rPr lang="ru-RU" dirty="0" smtClean="0"/>
              <a:t>...x</a:t>
            </a:r>
            <a:r>
              <a:rPr lang="ru-RU" baseline="-25000" dirty="0" smtClean="0"/>
              <a:t>n</a:t>
            </a:r>
            <a:r>
              <a:rPr lang="ru-RU" dirty="0" smtClean="0"/>
              <a:t>}</a:t>
            </a:r>
          </a:p>
          <a:p>
            <a:pPr>
              <a:buNone/>
            </a:pPr>
            <a:r>
              <a:rPr lang="ru-RU" dirty="0" smtClean="0"/>
              <a:t>Выходные элементы также можно представить в виде векторов, координаты которых равны весам связей, приходящих к ним от нейронов входного слоя:</a:t>
            </a:r>
          </a:p>
          <a:p>
            <a:pPr>
              <a:buNone/>
            </a:pPr>
            <a:r>
              <a:rPr lang="ru-RU" dirty="0" err="1" smtClean="0"/>
              <a:t>yk=</a:t>
            </a:r>
            <a:r>
              <a:rPr lang="ru-RU" dirty="0" smtClean="0"/>
              <a:t>{w</a:t>
            </a:r>
            <a:r>
              <a:rPr lang="ru-RU" baseline="-25000" dirty="0" smtClean="0"/>
              <a:t>1k</a:t>
            </a:r>
            <a:r>
              <a:rPr lang="ru-RU" dirty="0" smtClean="0"/>
              <a:t>,w</a:t>
            </a:r>
            <a:r>
              <a:rPr lang="ru-RU" baseline="-25000" dirty="0" smtClean="0"/>
              <a:t>2k</a:t>
            </a:r>
            <a:r>
              <a:rPr lang="ru-RU" dirty="0" smtClean="0"/>
              <a:t>,w</a:t>
            </a:r>
            <a:r>
              <a:rPr lang="ru-RU" baseline="-25000" dirty="0" smtClean="0"/>
              <a:t>3k</a:t>
            </a:r>
            <a:r>
              <a:rPr lang="ru-RU" dirty="0" smtClean="0"/>
              <a:t>,...,w</a:t>
            </a:r>
            <a:r>
              <a:rPr lang="ru-RU" baseline="-25000" dirty="0" smtClean="0"/>
              <a:t>nk</a:t>
            </a:r>
            <a:r>
              <a:rPr lang="ru-RU" dirty="0" smtClean="0"/>
              <a:t>}</a:t>
            </a:r>
          </a:p>
          <a:p>
            <a:pPr>
              <a:buNone/>
            </a:pPr>
            <a:endParaRPr lang="ru-RU" dirty="0" smtClean="0"/>
          </a:p>
          <a:p>
            <a:r>
              <a:rPr lang="ru-RU" dirty="0" smtClean="0"/>
              <a:t>Здесь </a:t>
            </a:r>
            <a:r>
              <a:rPr lang="ru-RU" dirty="0" err="1" smtClean="0"/>
              <a:t>x</a:t>
            </a:r>
            <a:r>
              <a:rPr lang="ru-RU" dirty="0" smtClean="0"/>
              <a:t> - объект на входе, </a:t>
            </a:r>
            <a:r>
              <a:rPr lang="ru-RU" dirty="0" err="1" smtClean="0"/>
              <a:t>y</a:t>
            </a:r>
            <a:r>
              <a:rPr lang="ru-RU" baseline="-25000" dirty="0" err="1" smtClean="0"/>
              <a:t>k</a:t>
            </a:r>
            <a:r>
              <a:rPr lang="ru-RU" i="1" dirty="0" smtClean="0"/>
              <a:t>​</a:t>
            </a:r>
            <a:r>
              <a:rPr lang="ru-RU" dirty="0" smtClean="0"/>
              <a:t> - </a:t>
            </a:r>
            <a:r>
              <a:rPr lang="ru-RU" dirty="0" err="1" smtClean="0"/>
              <a:t>k-ый</a:t>
            </a:r>
            <a:r>
              <a:rPr lang="ru-RU" dirty="0" smtClean="0"/>
              <a:t> выходной нейрон, w</a:t>
            </a:r>
            <a:r>
              <a:rPr lang="ru-RU" baseline="-25000" dirty="0" smtClean="0"/>
              <a:t>1k</a:t>
            </a:r>
            <a:r>
              <a:rPr lang="ru-RU" dirty="0" smtClean="0"/>
              <a:t>- весовой коэффициент связи между 1-м входным и </a:t>
            </a:r>
            <a:r>
              <a:rPr lang="ru-RU" dirty="0" err="1" smtClean="0"/>
              <a:t>k-ым</a:t>
            </a:r>
            <a:r>
              <a:rPr lang="ru-RU" dirty="0" smtClean="0"/>
              <a:t> выходным нейронами, аналогично и для остальных весов.</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Кластеризация при помощи сети </a:t>
            </a:r>
            <a:r>
              <a:rPr lang="ru-RU" dirty="0" err="1" smtClean="0"/>
              <a:t>Кохонена</a:t>
            </a:r>
            <a:endParaRPr lang="ru-RU" dirty="0"/>
          </a:p>
        </p:txBody>
      </p:sp>
      <p:sp>
        <p:nvSpPr>
          <p:cNvPr id="4" name="Содержимое 3"/>
          <p:cNvSpPr>
            <a:spLocks noGrp="1"/>
          </p:cNvSpPr>
          <p:nvPr>
            <p:ph idx="1"/>
          </p:nvPr>
        </p:nvSpPr>
        <p:spPr/>
        <p:txBody>
          <a:bodyPr>
            <a:normAutofit fontScale="62500" lnSpcReduction="20000"/>
          </a:bodyPr>
          <a:lstStyle/>
          <a:p>
            <a:pPr>
              <a:buNone/>
            </a:pPr>
            <a:r>
              <a:rPr lang="ru-RU" b="1" dirty="0" smtClean="0"/>
              <a:t>Обучение </a:t>
            </a:r>
            <a:r>
              <a:rPr lang="ru-RU" dirty="0" smtClean="0"/>
              <a:t>заключается в настройке весовых значений связей.</a:t>
            </a:r>
          </a:p>
          <a:p>
            <a:pPr>
              <a:buNone/>
            </a:pPr>
            <a:r>
              <a:rPr lang="ru-RU" b="1" dirty="0" smtClean="0"/>
              <a:t>Этап 1.</a:t>
            </a:r>
            <a:endParaRPr lang="ru-RU" dirty="0" smtClean="0"/>
          </a:p>
          <a:p>
            <a:r>
              <a:rPr lang="ru-RU" dirty="0" smtClean="0"/>
              <a:t>Инициализируем весовые коэффициенты случайными значениями. </a:t>
            </a:r>
          </a:p>
          <a:p>
            <a:r>
              <a:rPr lang="ru-RU" dirty="0" smtClean="0"/>
              <a:t>Входные признаки обычно нормализуются так, чтобы их значения находились либо в диапазоне от -1 до 1, либо от 0 до 1.</a:t>
            </a:r>
          </a:p>
          <a:p>
            <a:r>
              <a:rPr lang="ru-RU" dirty="0" smtClean="0"/>
              <a:t>В зависимости от этого вводятся ограничения на начальные веса связей:</a:t>
            </a:r>
          </a:p>
          <a:p>
            <a:pPr>
              <a:buNone/>
            </a:pPr>
            <a:r>
              <a:rPr lang="ru-RU" dirty="0" smtClean="0"/>
              <a:t>Нормализация выборки в пределах [-1; 1] – начальные значения весов должны удовлетворять соотношению </a:t>
            </a:r>
          </a:p>
          <a:p>
            <a:pPr>
              <a:buNone/>
            </a:pPr>
            <a:endParaRPr lang="ru-RU" dirty="0" smtClean="0"/>
          </a:p>
          <a:p>
            <a:pPr>
              <a:buNone/>
            </a:pPr>
            <a:endParaRPr lang="ru-RU" i="1" dirty="0" smtClean="0"/>
          </a:p>
          <a:p>
            <a:pPr>
              <a:buNone/>
            </a:pPr>
            <a:r>
              <a:rPr lang="ru-RU" i="1" dirty="0" err="1" smtClean="0"/>
              <a:t>n</a:t>
            </a:r>
            <a:r>
              <a:rPr lang="ru-RU" dirty="0" smtClean="0"/>
              <a:t> – это число признаков, оно же – число нейронов входного слоя.</a:t>
            </a:r>
          </a:p>
          <a:p>
            <a:pPr>
              <a:buNone/>
            </a:pPr>
            <a:endParaRPr lang="ru-RU" dirty="0" smtClean="0"/>
          </a:p>
          <a:p>
            <a:pPr>
              <a:buNone/>
            </a:pPr>
            <a:r>
              <a:rPr lang="ru-RU" dirty="0" smtClean="0"/>
              <a:t>Нормализация выборки в пределах [0; 1] – и для этого случая: </a:t>
            </a:r>
          </a:p>
          <a:p>
            <a:pPr>
              <a:buNone/>
            </a:pPr>
            <a:endParaRPr lang="ru-RU" i="1" dirty="0" smtClean="0"/>
          </a:p>
          <a:p>
            <a:pPr>
              <a:buNone/>
            </a:pPr>
            <a:endParaRPr lang="ru-RU" dirty="0" smtClean="0"/>
          </a:p>
          <a:p>
            <a:pPr>
              <a:buNone/>
            </a:pPr>
            <a:endParaRPr lang="ru-RU" b="1" dirty="0" smtClean="0"/>
          </a:p>
          <a:p>
            <a:pPr>
              <a:buNone/>
            </a:pPr>
            <a:endParaRPr lang="ru-RU" dirty="0" smtClean="0"/>
          </a:p>
        </p:txBody>
      </p:sp>
      <p:pic>
        <p:nvPicPr>
          <p:cNvPr id="124930" name="Picture 2"/>
          <p:cNvPicPr>
            <a:picLocks noChangeAspect="1" noChangeArrowheads="1"/>
          </p:cNvPicPr>
          <p:nvPr/>
        </p:nvPicPr>
        <p:blipFill>
          <a:blip r:embed="rId2" cstate="print"/>
          <a:srcRect/>
          <a:stretch>
            <a:fillRect/>
          </a:stretch>
        </p:blipFill>
        <p:spPr bwMode="auto">
          <a:xfrm>
            <a:off x="928662" y="4186247"/>
            <a:ext cx="990600" cy="600075"/>
          </a:xfrm>
          <a:prstGeom prst="rect">
            <a:avLst/>
          </a:prstGeom>
          <a:noFill/>
          <a:ln w="9525">
            <a:noFill/>
            <a:miter lim="800000"/>
            <a:headEnd/>
            <a:tailEnd/>
          </a:ln>
          <a:effectLst/>
        </p:spPr>
      </p:pic>
      <p:pic>
        <p:nvPicPr>
          <p:cNvPr id="124931" name="Picture 3"/>
          <p:cNvPicPr>
            <a:picLocks noChangeAspect="1" noChangeArrowheads="1"/>
          </p:cNvPicPr>
          <p:nvPr/>
        </p:nvPicPr>
        <p:blipFill>
          <a:blip r:embed="rId3" cstate="print"/>
          <a:srcRect/>
          <a:stretch>
            <a:fillRect/>
          </a:stretch>
        </p:blipFill>
        <p:spPr bwMode="auto">
          <a:xfrm>
            <a:off x="642910" y="5786454"/>
            <a:ext cx="2781300" cy="552450"/>
          </a:xfrm>
          <a:prstGeom prst="rect">
            <a:avLst/>
          </a:prstGeom>
          <a:noFill/>
          <a:ln w="9525">
            <a:noFill/>
            <a:miter lim="800000"/>
            <a:headEnd/>
            <a:tailEnd/>
          </a:ln>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Кластеризация при помощи сети </a:t>
            </a:r>
            <a:r>
              <a:rPr lang="ru-RU" dirty="0" err="1" smtClean="0"/>
              <a:t>Кохонена</a:t>
            </a:r>
            <a:endParaRPr lang="ru-RU" dirty="0"/>
          </a:p>
        </p:txBody>
      </p:sp>
      <p:sp>
        <p:nvSpPr>
          <p:cNvPr id="4" name="Содержимое 3"/>
          <p:cNvSpPr>
            <a:spLocks noGrp="1"/>
          </p:cNvSpPr>
          <p:nvPr>
            <p:ph idx="1"/>
          </p:nvPr>
        </p:nvSpPr>
        <p:spPr>
          <a:xfrm>
            <a:off x="457200" y="1500174"/>
            <a:ext cx="8229600" cy="4625989"/>
          </a:xfrm>
        </p:spPr>
        <p:txBody>
          <a:bodyPr>
            <a:normAutofit fontScale="62500" lnSpcReduction="20000"/>
          </a:bodyPr>
          <a:lstStyle/>
          <a:p>
            <a:pPr>
              <a:buNone/>
            </a:pPr>
            <a:r>
              <a:rPr lang="ru-RU" b="1" dirty="0" smtClean="0"/>
              <a:t>Этап 2.</a:t>
            </a:r>
            <a:endParaRPr lang="ru-RU" dirty="0" smtClean="0"/>
          </a:p>
          <a:p>
            <a:r>
              <a:rPr lang="ru-RU" dirty="0" smtClean="0"/>
              <a:t>На входы сети подаются значения из обучающей выборки, то есть признаки одного из исследуемых объектов. И для этих значений производится расчет </a:t>
            </a:r>
            <a:r>
              <a:rPr lang="ru-RU" b="1" dirty="0" smtClean="0"/>
              <a:t>евклидовых расстояний</a:t>
            </a:r>
            <a:r>
              <a:rPr lang="ru-RU" dirty="0" smtClean="0"/>
              <a:t> от входного вектора до центров каждого из кластеров в отдельности (пусть всего K кластеров - выходных нейронов):</a:t>
            </a:r>
          </a:p>
          <a:p>
            <a:pPr>
              <a:buNone/>
            </a:pPr>
            <a:endParaRPr lang="ru-RU" dirty="0" smtClean="0"/>
          </a:p>
          <a:p>
            <a:pPr>
              <a:buNone/>
            </a:pPr>
            <a:endParaRPr lang="ru-RU" dirty="0" smtClean="0"/>
          </a:p>
          <a:p>
            <a:endParaRPr lang="ru-RU" dirty="0" smtClean="0"/>
          </a:p>
          <a:p>
            <a:r>
              <a:rPr lang="ru-RU" dirty="0" smtClean="0"/>
              <a:t>В данном соотношении участвуют:</a:t>
            </a:r>
          </a:p>
          <a:p>
            <a:r>
              <a:rPr lang="ru-RU" dirty="0" err="1" smtClean="0"/>
              <a:t>Rj</a:t>
            </a:r>
            <a:r>
              <a:rPr lang="ru-RU" dirty="0" smtClean="0"/>
              <a:t> - евклидово расстояние от текущего вектора на входе до j-го выходного нейрона.</a:t>
            </a:r>
          </a:p>
          <a:p>
            <a:r>
              <a:rPr lang="ru-RU" dirty="0" err="1" smtClean="0"/>
              <a:t>n</a:t>
            </a:r>
            <a:r>
              <a:rPr lang="ru-RU" dirty="0" smtClean="0"/>
              <a:t> - число признаков, оно же - число входных нейронов.</a:t>
            </a:r>
          </a:p>
          <a:p>
            <a:r>
              <a:rPr lang="ru-RU" dirty="0" err="1" smtClean="0"/>
              <a:t>xi</a:t>
            </a:r>
            <a:r>
              <a:rPr lang="ru-RU" dirty="0" smtClean="0"/>
              <a:t> - значение i-го признака текущего объекта на входе.</a:t>
            </a:r>
          </a:p>
          <a:p>
            <a:r>
              <a:rPr lang="ru-RU" dirty="0" err="1" smtClean="0"/>
              <a:t>wij</a:t>
            </a:r>
            <a:r>
              <a:rPr lang="ru-RU" i="1" dirty="0" smtClean="0"/>
              <a:t>​</a:t>
            </a:r>
            <a:r>
              <a:rPr lang="ru-RU" dirty="0" smtClean="0"/>
              <a:t> - вес связи между i-м входным нейроном и j-м выходным.</a:t>
            </a:r>
          </a:p>
          <a:p>
            <a:pPr>
              <a:buNone/>
            </a:pPr>
            <a:endParaRPr lang="ru-RU" dirty="0" smtClean="0"/>
          </a:p>
        </p:txBody>
      </p:sp>
      <p:pic>
        <p:nvPicPr>
          <p:cNvPr id="125954" name="Picture 2"/>
          <p:cNvPicPr>
            <a:picLocks noChangeAspect="1" noChangeArrowheads="1"/>
          </p:cNvPicPr>
          <p:nvPr/>
        </p:nvPicPr>
        <p:blipFill>
          <a:blip r:embed="rId2" cstate="print"/>
          <a:srcRect/>
          <a:stretch>
            <a:fillRect/>
          </a:stretch>
        </p:blipFill>
        <p:spPr bwMode="auto">
          <a:xfrm>
            <a:off x="1285852" y="3119020"/>
            <a:ext cx="1762122" cy="781463"/>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Кластеризация при помощи сети </a:t>
            </a:r>
            <a:r>
              <a:rPr lang="ru-RU" dirty="0" err="1" smtClean="0"/>
              <a:t>Кохонена</a:t>
            </a:r>
            <a:endParaRPr lang="ru-RU" dirty="0"/>
          </a:p>
        </p:txBody>
      </p:sp>
      <p:sp>
        <p:nvSpPr>
          <p:cNvPr id="4" name="Содержимое 3"/>
          <p:cNvSpPr>
            <a:spLocks noGrp="1"/>
          </p:cNvSpPr>
          <p:nvPr>
            <p:ph idx="1"/>
          </p:nvPr>
        </p:nvSpPr>
        <p:spPr>
          <a:xfrm>
            <a:off x="457200" y="1500174"/>
            <a:ext cx="8229600" cy="4625989"/>
          </a:xfrm>
        </p:spPr>
        <p:txBody>
          <a:bodyPr>
            <a:normAutofit fontScale="47500" lnSpcReduction="20000"/>
          </a:bodyPr>
          <a:lstStyle/>
          <a:p>
            <a:pPr>
              <a:buNone/>
            </a:pPr>
            <a:r>
              <a:rPr lang="ru-RU" b="1" dirty="0" smtClean="0"/>
              <a:t>Этап 3.</a:t>
            </a:r>
            <a:endParaRPr lang="ru-RU" dirty="0" smtClean="0"/>
          </a:p>
          <a:p>
            <a:pPr>
              <a:buNone/>
            </a:pPr>
            <a:r>
              <a:rPr lang="ru-RU" dirty="0" smtClean="0"/>
              <a:t>Полученные на втором этапе расстояния R1,R2,R3...RK</a:t>
            </a:r>
            <a:r>
              <a:rPr lang="ru-RU" i="1" dirty="0" smtClean="0"/>
              <a:t>​</a:t>
            </a:r>
            <a:r>
              <a:rPr lang="ru-RU" dirty="0" smtClean="0"/>
              <a:t> анализируются на предмет поиска минимального из них. Пусть минимальным оказался </a:t>
            </a:r>
            <a:r>
              <a:rPr lang="ru-RU" dirty="0" err="1" smtClean="0"/>
              <a:t>Rk</a:t>
            </a:r>
            <a:r>
              <a:rPr lang="ru-RU" i="1" dirty="0" smtClean="0"/>
              <a:t>​</a:t>
            </a:r>
            <a:r>
              <a:rPr lang="ru-RU" dirty="0" smtClean="0"/>
              <a:t>, тогда выходной нейрон </a:t>
            </a:r>
            <a:r>
              <a:rPr lang="ru-RU" dirty="0" err="1" smtClean="0"/>
              <a:t>k</a:t>
            </a:r>
            <a:r>
              <a:rPr lang="ru-RU" dirty="0" smtClean="0"/>
              <a:t> объявляется победителем и начинается корректировка весовых коэффициентов в соответствии с соотношением:</a:t>
            </a:r>
          </a:p>
          <a:p>
            <a:pPr>
              <a:buNone/>
            </a:pPr>
            <a:endParaRPr lang="ru-RU" dirty="0" smtClean="0"/>
          </a:p>
          <a:p>
            <a:pPr>
              <a:buNone/>
            </a:pPr>
            <a:endParaRPr lang="ru-RU" dirty="0" smtClean="0"/>
          </a:p>
          <a:p>
            <a:pPr>
              <a:buNone/>
            </a:pPr>
            <a:endParaRPr lang="ru-RU" dirty="0" smtClean="0"/>
          </a:p>
          <a:p>
            <a:pPr>
              <a:buNone/>
            </a:pPr>
            <a:r>
              <a:rPr lang="en-US" dirty="0" smtClean="0"/>
              <a:t>W</a:t>
            </a:r>
            <a:r>
              <a:rPr lang="ru-RU" baseline="-25000" dirty="0" err="1" smtClean="0"/>
              <a:t>ik</a:t>
            </a:r>
            <a:r>
              <a:rPr lang="ru-RU" baseline="-25000" dirty="0" smtClean="0"/>
              <a:t> </a:t>
            </a:r>
            <a:r>
              <a:rPr lang="ru-RU" baseline="-25000" dirty="0" err="1" smtClean="0"/>
              <a:t>old</a:t>
            </a:r>
            <a:r>
              <a:rPr lang="ru-RU" dirty="0" smtClean="0"/>
              <a:t> - текущее значение весового коэффициента.</a:t>
            </a:r>
          </a:p>
          <a:p>
            <a:pPr>
              <a:buNone/>
            </a:pPr>
            <a:r>
              <a:rPr lang="en-US" dirty="0" smtClean="0"/>
              <a:t>W</a:t>
            </a:r>
            <a:r>
              <a:rPr lang="ru-RU" baseline="-25000" dirty="0" err="1" smtClean="0"/>
              <a:t>ik</a:t>
            </a:r>
            <a:r>
              <a:rPr lang="ru-RU" baseline="-25000" dirty="0" smtClean="0"/>
              <a:t> </a:t>
            </a:r>
            <a:r>
              <a:rPr lang="en-US" baseline="-25000" dirty="0" smtClean="0"/>
              <a:t>new</a:t>
            </a:r>
            <a:r>
              <a:rPr lang="ru-RU" i="1" dirty="0" smtClean="0"/>
              <a:t>​</a:t>
            </a:r>
            <a:r>
              <a:rPr lang="ru-RU" dirty="0" smtClean="0"/>
              <a:t> - новое значение.</a:t>
            </a:r>
          </a:p>
          <a:p>
            <a:pPr>
              <a:buNone/>
            </a:pPr>
            <a:r>
              <a:rPr lang="ru-RU" dirty="0" err="1" smtClean="0"/>
              <a:t>x</a:t>
            </a:r>
            <a:r>
              <a:rPr lang="ru-RU" baseline="-25000" dirty="0" err="1" smtClean="0"/>
              <a:t>i</a:t>
            </a:r>
            <a:r>
              <a:rPr lang="ru-RU" dirty="0" smtClean="0"/>
              <a:t> - значение i-го признака текущего объекта на входе.</a:t>
            </a:r>
          </a:p>
          <a:p>
            <a:pPr>
              <a:buNone/>
            </a:pPr>
            <a:r>
              <a:rPr lang="ru-RU" dirty="0" err="1" smtClean="0"/>
              <a:t>η</a:t>
            </a:r>
            <a:r>
              <a:rPr lang="ru-RU" dirty="0" smtClean="0"/>
              <a:t>(</a:t>
            </a:r>
            <a:r>
              <a:rPr lang="ru-RU" dirty="0" err="1" smtClean="0"/>
              <a:t>s</a:t>
            </a:r>
            <a:r>
              <a:rPr lang="ru-RU" dirty="0" smtClean="0"/>
              <a:t>) - скорость обучения, убывает с течением времени, </a:t>
            </a:r>
          </a:p>
          <a:p>
            <a:pPr>
              <a:buNone/>
            </a:pPr>
            <a:r>
              <a:rPr lang="ru-RU" dirty="0" err="1" smtClean="0"/>
              <a:t>s</a:t>
            </a:r>
            <a:r>
              <a:rPr lang="ru-RU" dirty="0" smtClean="0"/>
              <a:t> - текущая итерация обучения.</a:t>
            </a:r>
          </a:p>
          <a:p>
            <a:pPr>
              <a:buNone/>
            </a:pPr>
            <a:endParaRPr lang="ru-RU" dirty="0" smtClean="0"/>
          </a:p>
          <a:p>
            <a:pPr>
              <a:buNone/>
            </a:pPr>
            <a:r>
              <a:rPr lang="ru-RU" dirty="0" smtClean="0"/>
              <a:t>Таким образом весовые коэффициенты нейрона-победителя будут изменяться все в меньшей степени по мере протекания процесса, например:</a:t>
            </a:r>
          </a:p>
          <a:p>
            <a:endParaRPr lang="ru-RU" dirty="0" smtClean="0"/>
          </a:p>
          <a:p>
            <a:endParaRPr lang="ru-RU" dirty="0" smtClean="0"/>
          </a:p>
          <a:p>
            <a:pPr>
              <a:buNone/>
            </a:pPr>
            <a:r>
              <a:rPr lang="ru-RU" dirty="0" smtClean="0"/>
              <a:t>η0</a:t>
            </a:r>
            <a:r>
              <a:rPr lang="ru-RU" i="1" dirty="0" smtClean="0"/>
              <a:t>​</a:t>
            </a:r>
            <a:r>
              <a:rPr lang="ru-RU" dirty="0" smtClean="0"/>
              <a:t> - некое начальное значение для первой итерации обучения, когда s=1.</a:t>
            </a:r>
            <a:endParaRPr lang="ru-RU" dirty="0"/>
          </a:p>
        </p:txBody>
      </p:sp>
      <p:pic>
        <p:nvPicPr>
          <p:cNvPr id="126978" name="Picture 2"/>
          <p:cNvPicPr>
            <a:picLocks noChangeAspect="1" noChangeArrowheads="1"/>
          </p:cNvPicPr>
          <p:nvPr/>
        </p:nvPicPr>
        <p:blipFill>
          <a:blip r:embed="rId2" cstate="print"/>
          <a:srcRect/>
          <a:stretch>
            <a:fillRect/>
          </a:stretch>
        </p:blipFill>
        <p:spPr bwMode="auto">
          <a:xfrm>
            <a:off x="1000100" y="2500306"/>
            <a:ext cx="2705108" cy="433764"/>
          </a:xfrm>
          <a:prstGeom prst="rect">
            <a:avLst/>
          </a:prstGeom>
          <a:noFill/>
          <a:ln w="9525">
            <a:noFill/>
            <a:miter lim="800000"/>
            <a:headEnd/>
            <a:tailEnd/>
          </a:ln>
          <a:effectLst/>
        </p:spPr>
      </p:pic>
      <p:pic>
        <p:nvPicPr>
          <p:cNvPr id="126979" name="Picture 3"/>
          <p:cNvPicPr>
            <a:picLocks noChangeAspect="1" noChangeArrowheads="1"/>
          </p:cNvPicPr>
          <p:nvPr/>
        </p:nvPicPr>
        <p:blipFill>
          <a:blip r:embed="rId3" cstate="print"/>
          <a:srcRect/>
          <a:stretch>
            <a:fillRect/>
          </a:stretch>
        </p:blipFill>
        <p:spPr bwMode="auto">
          <a:xfrm>
            <a:off x="1214414" y="5072074"/>
            <a:ext cx="852486" cy="411020"/>
          </a:xfrm>
          <a:prstGeom prst="rect">
            <a:avLst/>
          </a:prstGeom>
          <a:noFill/>
          <a:ln w="9525">
            <a:noFill/>
            <a:miter lim="800000"/>
            <a:headEnd/>
            <a:tailEnd/>
          </a:ln>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Кластеризация при помощи сети </a:t>
            </a:r>
            <a:r>
              <a:rPr lang="ru-RU" dirty="0" err="1" smtClean="0"/>
              <a:t>Кохонена</a:t>
            </a:r>
            <a:endParaRPr lang="ru-RU" dirty="0"/>
          </a:p>
        </p:txBody>
      </p:sp>
      <p:sp>
        <p:nvSpPr>
          <p:cNvPr id="4" name="Содержимое 3"/>
          <p:cNvSpPr>
            <a:spLocks noGrp="1"/>
          </p:cNvSpPr>
          <p:nvPr>
            <p:ph idx="1"/>
          </p:nvPr>
        </p:nvSpPr>
        <p:spPr>
          <a:xfrm>
            <a:off x="457200" y="1500174"/>
            <a:ext cx="8229600" cy="4625989"/>
          </a:xfrm>
        </p:spPr>
        <p:txBody>
          <a:bodyPr>
            <a:normAutofit/>
          </a:bodyPr>
          <a:lstStyle/>
          <a:p>
            <a:pPr>
              <a:buNone/>
            </a:pPr>
            <a:r>
              <a:rPr lang="ru-RU" b="1" dirty="0" smtClean="0"/>
              <a:t>Этап 4.</a:t>
            </a:r>
            <a:endParaRPr lang="ru-RU" dirty="0" smtClean="0"/>
          </a:p>
          <a:p>
            <a:pPr>
              <a:buNone/>
            </a:pPr>
            <a:r>
              <a:rPr lang="ru-RU" dirty="0" smtClean="0"/>
              <a:t>Этапы 2-3 повторяются пока не выполнится условие окончания обучения:</a:t>
            </a:r>
          </a:p>
          <a:p>
            <a:pPr marL="514350" indent="-514350">
              <a:buAutoNum type="arabicPeriod"/>
            </a:pPr>
            <a:r>
              <a:rPr lang="ru-RU" dirty="0" smtClean="0"/>
              <a:t>время, затраченное на обучение;</a:t>
            </a:r>
          </a:p>
          <a:p>
            <a:pPr marL="514350" indent="-514350">
              <a:buAutoNum type="arabicPeriod"/>
            </a:pPr>
            <a:r>
              <a:rPr lang="ru-RU" dirty="0" smtClean="0"/>
              <a:t>количество эпох обучения.</a:t>
            </a:r>
            <a:endParaRPr lang="ru-RU"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Кластеризация при помощи сети </a:t>
            </a:r>
            <a:r>
              <a:rPr lang="ru-RU" dirty="0" err="1" smtClean="0"/>
              <a:t>Кохонена</a:t>
            </a:r>
            <a:r>
              <a:rPr lang="ru-RU" dirty="0" smtClean="0"/>
              <a:t>. Пример</a:t>
            </a:r>
            <a:endParaRPr lang="ru-RU" dirty="0"/>
          </a:p>
        </p:txBody>
      </p:sp>
      <p:sp>
        <p:nvSpPr>
          <p:cNvPr id="4" name="Содержимое 3"/>
          <p:cNvSpPr>
            <a:spLocks noGrp="1"/>
          </p:cNvSpPr>
          <p:nvPr>
            <p:ph idx="1"/>
          </p:nvPr>
        </p:nvSpPr>
        <p:spPr>
          <a:xfrm>
            <a:off x="457200" y="1500174"/>
            <a:ext cx="8229600" cy="4625989"/>
          </a:xfrm>
        </p:spPr>
        <p:txBody>
          <a:bodyPr>
            <a:normAutofit/>
          </a:bodyPr>
          <a:lstStyle/>
          <a:p>
            <a:pPr marL="514350" indent="-514350">
              <a:buNone/>
            </a:pPr>
            <a:r>
              <a:rPr lang="ru-RU" dirty="0" smtClean="0"/>
              <a:t>Пусть даны объекты:</a:t>
            </a:r>
          </a:p>
          <a:p>
            <a:pPr marL="514350" indent="-514350">
              <a:buNone/>
            </a:pPr>
            <a:endParaRPr lang="ru-RU" dirty="0" smtClean="0"/>
          </a:p>
          <a:p>
            <a:pPr marL="514350" indent="-514350">
              <a:buNone/>
            </a:pPr>
            <a:endParaRPr lang="ru-RU" dirty="0" smtClean="0"/>
          </a:p>
          <a:p>
            <a:pPr marL="514350" indent="-514350">
              <a:buNone/>
            </a:pPr>
            <a:endParaRPr lang="ru-RU" dirty="0" smtClean="0"/>
          </a:p>
          <a:p>
            <a:pPr marL="514350" indent="-514350">
              <a:buNone/>
            </a:pPr>
            <a:r>
              <a:rPr lang="ru-RU" dirty="0" smtClean="0"/>
              <a:t>Количество кластеров = 2.</a:t>
            </a:r>
          </a:p>
          <a:p>
            <a:pPr marL="514350" indent="-514350">
              <a:buNone/>
            </a:pPr>
            <a:r>
              <a:rPr lang="ru-RU" dirty="0" smtClean="0"/>
              <a:t> При обучении изменяются веса только нейрона-победителя. </a:t>
            </a:r>
          </a:p>
        </p:txBody>
      </p:sp>
      <p:pic>
        <p:nvPicPr>
          <p:cNvPr id="120834" name="Picture 2"/>
          <p:cNvPicPr>
            <a:picLocks noChangeAspect="1" noChangeArrowheads="1"/>
          </p:cNvPicPr>
          <p:nvPr/>
        </p:nvPicPr>
        <p:blipFill>
          <a:blip r:embed="rId2" cstate="print"/>
          <a:srcRect/>
          <a:stretch>
            <a:fillRect/>
          </a:stretch>
        </p:blipFill>
        <p:spPr bwMode="auto">
          <a:xfrm>
            <a:off x="142844" y="2285992"/>
            <a:ext cx="4695825" cy="1133475"/>
          </a:xfrm>
          <a:prstGeom prst="rect">
            <a:avLst/>
          </a:prstGeom>
          <a:noFill/>
          <a:ln w="9525">
            <a:noFill/>
            <a:miter lim="800000"/>
            <a:headEnd/>
            <a:tailEnd/>
          </a:ln>
          <a:effec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Кластеризация при помощи сети </a:t>
            </a:r>
            <a:r>
              <a:rPr lang="ru-RU" dirty="0" err="1" smtClean="0"/>
              <a:t>Кохонена</a:t>
            </a:r>
            <a:r>
              <a:rPr lang="ru-RU" dirty="0" smtClean="0"/>
              <a:t>. Пример</a:t>
            </a:r>
            <a:endParaRPr lang="ru-RU" dirty="0"/>
          </a:p>
        </p:txBody>
      </p:sp>
      <p:sp>
        <p:nvSpPr>
          <p:cNvPr id="4" name="Содержимое 3"/>
          <p:cNvSpPr>
            <a:spLocks noGrp="1"/>
          </p:cNvSpPr>
          <p:nvPr>
            <p:ph idx="1"/>
          </p:nvPr>
        </p:nvSpPr>
        <p:spPr>
          <a:xfrm>
            <a:off x="457200" y="1500174"/>
            <a:ext cx="8229600" cy="4625989"/>
          </a:xfrm>
        </p:spPr>
        <p:txBody>
          <a:bodyPr>
            <a:normAutofit/>
          </a:bodyPr>
          <a:lstStyle/>
          <a:p>
            <a:pPr marL="514350" indent="-514350">
              <a:buNone/>
            </a:pPr>
            <a:r>
              <a:rPr lang="ru-RU" dirty="0" smtClean="0"/>
              <a:t>Пусть веса нейронов получили некоторые случайные начальные значения (ненормализованные):</a:t>
            </a:r>
            <a:endParaRPr lang="ru-RU" dirty="0"/>
          </a:p>
        </p:txBody>
      </p:sp>
      <p:pic>
        <p:nvPicPr>
          <p:cNvPr id="120835" name="Picture 3"/>
          <p:cNvPicPr>
            <a:picLocks noChangeAspect="1" noChangeArrowheads="1"/>
          </p:cNvPicPr>
          <p:nvPr/>
        </p:nvPicPr>
        <p:blipFill>
          <a:blip r:embed="rId2" cstate="print"/>
          <a:srcRect/>
          <a:stretch>
            <a:fillRect/>
          </a:stretch>
        </p:blipFill>
        <p:spPr bwMode="auto">
          <a:xfrm>
            <a:off x="642910" y="3429000"/>
            <a:ext cx="3743325" cy="1343025"/>
          </a:xfrm>
          <a:prstGeom prst="rect">
            <a:avLst/>
          </a:prstGeom>
          <a:noFill/>
          <a:ln w="9525">
            <a:noFill/>
            <a:miter lim="800000"/>
            <a:headEnd/>
            <a:tailEnd/>
          </a:ln>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Кластеризация при помощи сети </a:t>
            </a:r>
            <a:r>
              <a:rPr lang="ru-RU" dirty="0" err="1" smtClean="0"/>
              <a:t>Кохонена</a:t>
            </a:r>
            <a:r>
              <a:rPr lang="ru-RU" dirty="0" smtClean="0"/>
              <a:t>. Пример</a:t>
            </a:r>
            <a:endParaRPr lang="ru-RU" dirty="0"/>
          </a:p>
        </p:txBody>
      </p:sp>
      <p:sp>
        <p:nvSpPr>
          <p:cNvPr id="4" name="Содержимое 3"/>
          <p:cNvSpPr>
            <a:spLocks noGrp="1"/>
          </p:cNvSpPr>
          <p:nvPr>
            <p:ph idx="1"/>
          </p:nvPr>
        </p:nvSpPr>
        <p:spPr>
          <a:xfrm>
            <a:off x="457200" y="1500174"/>
            <a:ext cx="8229600" cy="4625989"/>
          </a:xfrm>
        </p:spPr>
        <p:txBody>
          <a:bodyPr>
            <a:normAutofit/>
          </a:bodyPr>
          <a:lstStyle/>
          <a:p>
            <a:pPr marL="514350" indent="-514350">
              <a:buNone/>
            </a:pPr>
            <a:r>
              <a:rPr lang="ru-RU" dirty="0" smtClean="0"/>
              <a:t>На первом шаге обучения подается входной вектор 𝑋1 и вычисляется расстояние от него до весовых векторов</a:t>
            </a:r>
            <a:endParaRPr lang="ru-RU" dirty="0"/>
          </a:p>
        </p:txBody>
      </p:sp>
      <p:pic>
        <p:nvPicPr>
          <p:cNvPr id="121858" name="Picture 2"/>
          <p:cNvPicPr>
            <a:picLocks noChangeAspect="1" noChangeArrowheads="1"/>
          </p:cNvPicPr>
          <p:nvPr/>
        </p:nvPicPr>
        <p:blipFill>
          <a:blip r:embed="rId2" cstate="print"/>
          <a:srcRect/>
          <a:stretch>
            <a:fillRect/>
          </a:stretch>
        </p:blipFill>
        <p:spPr bwMode="auto">
          <a:xfrm>
            <a:off x="571472" y="3429000"/>
            <a:ext cx="6973887" cy="2619375"/>
          </a:xfrm>
          <a:prstGeom prst="rect">
            <a:avLst/>
          </a:prstGeom>
          <a:noFill/>
          <a:ln w="9525">
            <a:noFill/>
            <a:miter lim="800000"/>
            <a:headEnd/>
            <a:tailEnd/>
          </a:ln>
          <a:effec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Кластеризация при помощи сети </a:t>
            </a:r>
            <a:r>
              <a:rPr lang="ru-RU" dirty="0" err="1" smtClean="0"/>
              <a:t>Кохонена</a:t>
            </a:r>
            <a:r>
              <a:rPr lang="ru-RU" dirty="0" smtClean="0"/>
              <a:t>. Пример</a:t>
            </a:r>
            <a:endParaRPr lang="ru-RU" dirty="0"/>
          </a:p>
        </p:txBody>
      </p:sp>
      <p:sp>
        <p:nvSpPr>
          <p:cNvPr id="4" name="Содержимое 3"/>
          <p:cNvSpPr>
            <a:spLocks noGrp="1"/>
          </p:cNvSpPr>
          <p:nvPr>
            <p:ph idx="1"/>
          </p:nvPr>
        </p:nvSpPr>
        <p:spPr>
          <a:xfrm>
            <a:off x="457200" y="1500174"/>
            <a:ext cx="8229600" cy="4625989"/>
          </a:xfrm>
        </p:spPr>
        <p:txBody>
          <a:bodyPr>
            <a:normAutofit/>
          </a:bodyPr>
          <a:lstStyle/>
          <a:p>
            <a:pPr marL="514350" indent="-514350">
              <a:buNone/>
            </a:pPr>
            <a:r>
              <a:rPr lang="ru-RU" dirty="0" smtClean="0"/>
              <a:t>Таким образом, победившим оказывается второй нейрон, и его веса подстраиваются (</a:t>
            </a:r>
            <a:r>
              <a:rPr lang="ru-RU" dirty="0" err="1" smtClean="0"/>
              <a:t>η </a:t>
            </a:r>
            <a:r>
              <a:rPr lang="ru-RU" dirty="0" smtClean="0"/>
              <a:t>= 0,6):</a:t>
            </a:r>
            <a:endParaRPr lang="ru-RU" dirty="0"/>
          </a:p>
        </p:txBody>
      </p:sp>
      <p:pic>
        <p:nvPicPr>
          <p:cNvPr id="122882" name="Picture 2"/>
          <p:cNvPicPr>
            <a:picLocks noChangeAspect="1" noChangeArrowheads="1"/>
          </p:cNvPicPr>
          <p:nvPr/>
        </p:nvPicPr>
        <p:blipFill>
          <a:blip r:embed="rId2" cstate="print"/>
          <a:srcRect/>
          <a:stretch>
            <a:fillRect/>
          </a:stretch>
        </p:blipFill>
        <p:spPr bwMode="auto">
          <a:xfrm>
            <a:off x="1357290" y="3500438"/>
            <a:ext cx="4476750" cy="1409700"/>
          </a:xfrm>
          <a:prstGeom prst="rect">
            <a:avLst/>
          </a:prstGeom>
          <a:noFill/>
          <a:ln w="9525">
            <a:noFill/>
            <a:miter lim="800000"/>
            <a:headEnd/>
            <a:tailEnd/>
          </a:ln>
          <a:effec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Кластеризация при помощи сети </a:t>
            </a:r>
            <a:r>
              <a:rPr lang="ru-RU" dirty="0" err="1" smtClean="0"/>
              <a:t>Кохонена</a:t>
            </a:r>
            <a:r>
              <a:rPr lang="ru-RU" dirty="0" smtClean="0"/>
              <a:t>. Пример</a:t>
            </a:r>
            <a:endParaRPr lang="ru-RU" dirty="0"/>
          </a:p>
        </p:txBody>
      </p:sp>
      <p:sp>
        <p:nvSpPr>
          <p:cNvPr id="4" name="Содержимое 3"/>
          <p:cNvSpPr>
            <a:spLocks noGrp="1"/>
          </p:cNvSpPr>
          <p:nvPr>
            <p:ph idx="1"/>
          </p:nvPr>
        </p:nvSpPr>
        <p:spPr>
          <a:xfrm>
            <a:off x="457200" y="1500174"/>
            <a:ext cx="8229600" cy="4625989"/>
          </a:xfrm>
        </p:spPr>
        <p:txBody>
          <a:bodyPr>
            <a:normAutofit/>
          </a:bodyPr>
          <a:lstStyle/>
          <a:p>
            <a:pPr marL="514350" indent="-514350">
              <a:buNone/>
            </a:pPr>
            <a:r>
              <a:rPr lang="ru-RU" dirty="0" smtClean="0"/>
              <a:t>На втором шаге обучения подается входной вектор 𝑋2:</a:t>
            </a:r>
            <a:endParaRPr lang="ru-RU" dirty="0"/>
          </a:p>
        </p:txBody>
      </p:sp>
      <p:pic>
        <p:nvPicPr>
          <p:cNvPr id="123906" name="Picture 2"/>
          <p:cNvPicPr>
            <a:picLocks noChangeAspect="1" noChangeArrowheads="1"/>
          </p:cNvPicPr>
          <p:nvPr/>
        </p:nvPicPr>
        <p:blipFill>
          <a:blip r:embed="rId2" cstate="print"/>
          <a:srcRect/>
          <a:stretch>
            <a:fillRect/>
          </a:stretch>
        </p:blipFill>
        <p:spPr bwMode="auto">
          <a:xfrm>
            <a:off x="785786" y="2857496"/>
            <a:ext cx="4305300" cy="1695450"/>
          </a:xfrm>
          <a:prstGeom prst="rect">
            <a:avLst/>
          </a:prstGeom>
          <a:noFill/>
          <a:ln w="9525">
            <a:noFill/>
            <a:miter lim="800000"/>
            <a:headEnd/>
            <a:tailEnd/>
          </a:ln>
          <a:effec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Кластеризация при помощи сети </a:t>
            </a:r>
            <a:r>
              <a:rPr lang="ru-RU" dirty="0" err="1" smtClean="0"/>
              <a:t>Кохонена</a:t>
            </a:r>
            <a:r>
              <a:rPr lang="ru-RU" dirty="0" smtClean="0"/>
              <a:t>. Пример</a:t>
            </a:r>
            <a:endParaRPr lang="ru-RU" dirty="0"/>
          </a:p>
        </p:txBody>
      </p:sp>
      <p:sp>
        <p:nvSpPr>
          <p:cNvPr id="4" name="Содержимое 3"/>
          <p:cNvSpPr>
            <a:spLocks noGrp="1"/>
          </p:cNvSpPr>
          <p:nvPr>
            <p:ph idx="1"/>
          </p:nvPr>
        </p:nvSpPr>
        <p:spPr>
          <a:xfrm>
            <a:off x="457200" y="1500174"/>
            <a:ext cx="8229600" cy="4625989"/>
          </a:xfrm>
        </p:spPr>
        <p:txBody>
          <a:bodyPr>
            <a:normAutofit/>
          </a:bodyPr>
          <a:lstStyle/>
          <a:p>
            <a:pPr marL="514350" indent="-514350">
              <a:buNone/>
            </a:pPr>
            <a:r>
              <a:rPr lang="ru-RU" dirty="0" smtClean="0"/>
              <a:t>Победившим оказывается первый нейрон, и его веса подстраиваются:</a:t>
            </a:r>
            <a:endParaRPr lang="ru-RU" dirty="0"/>
          </a:p>
        </p:txBody>
      </p:sp>
      <p:pic>
        <p:nvPicPr>
          <p:cNvPr id="124930" name="Picture 2"/>
          <p:cNvPicPr>
            <a:picLocks noChangeAspect="1" noChangeArrowheads="1"/>
          </p:cNvPicPr>
          <p:nvPr/>
        </p:nvPicPr>
        <p:blipFill>
          <a:blip r:embed="rId2" cstate="print"/>
          <a:srcRect/>
          <a:stretch>
            <a:fillRect/>
          </a:stretch>
        </p:blipFill>
        <p:spPr bwMode="auto">
          <a:xfrm>
            <a:off x="1142976" y="3286124"/>
            <a:ext cx="3857625" cy="1400175"/>
          </a:xfrm>
          <a:prstGeom prst="rect">
            <a:avLst/>
          </a:prstGeom>
          <a:noFill/>
          <a:ln w="9525">
            <a:noFill/>
            <a:miter lim="800000"/>
            <a:headEnd/>
            <a:tailEnd/>
          </a:ln>
          <a:effec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Кластеризация при помощи сети </a:t>
            </a:r>
            <a:r>
              <a:rPr lang="ru-RU" dirty="0" err="1" smtClean="0"/>
              <a:t>Кохонена</a:t>
            </a:r>
            <a:r>
              <a:rPr lang="ru-RU" dirty="0" smtClean="0"/>
              <a:t>. Пример</a:t>
            </a:r>
            <a:endParaRPr lang="ru-RU" dirty="0"/>
          </a:p>
        </p:txBody>
      </p:sp>
      <p:sp>
        <p:nvSpPr>
          <p:cNvPr id="4" name="Содержимое 3"/>
          <p:cNvSpPr>
            <a:spLocks noGrp="1"/>
          </p:cNvSpPr>
          <p:nvPr>
            <p:ph idx="1"/>
          </p:nvPr>
        </p:nvSpPr>
        <p:spPr>
          <a:xfrm>
            <a:off x="457200" y="1500174"/>
            <a:ext cx="8229600" cy="4625989"/>
          </a:xfrm>
        </p:spPr>
        <p:txBody>
          <a:bodyPr>
            <a:normAutofit fontScale="92500"/>
          </a:bodyPr>
          <a:lstStyle/>
          <a:p>
            <a:pPr marL="514350" indent="-514350">
              <a:buNone/>
            </a:pPr>
            <a:r>
              <a:rPr lang="ru-RU" sz="2400" dirty="0" smtClean="0"/>
              <a:t>Аналогично подаются векторы 𝑋3 и 𝑋4, корректируются веса, и первая эпоха обучения заканчивается. На второй и последующих эпохах значение </a:t>
            </a:r>
            <a:r>
              <a:rPr lang="ru-RU" sz="2400" dirty="0" err="1" smtClean="0"/>
              <a:t>η </a:t>
            </a:r>
            <a:r>
              <a:rPr lang="ru-RU" sz="2400" dirty="0" smtClean="0"/>
              <a:t>постепенно уменьшается, происходит приближение весов к предельным значениям:</a:t>
            </a:r>
          </a:p>
          <a:p>
            <a:pPr marL="514350" indent="-514350">
              <a:buNone/>
            </a:pPr>
            <a:endParaRPr lang="ru-RU" sz="2400" dirty="0" smtClean="0"/>
          </a:p>
          <a:p>
            <a:pPr marL="514350" indent="-514350">
              <a:buNone/>
            </a:pPr>
            <a:endParaRPr lang="ru-RU" sz="2400" dirty="0" smtClean="0"/>
          </a:p>
          <a:p>
            <a:pPr marL="514350" indent="-514350">
              <a:buNone/>
            </a:pPr>
            <a:endParaRPr lang="ru-RU" sz="2400" dirty="0" smtClean="0"/>
          </a:p>
          <a:p>
            <a:pPr marL="514350" indent="-514350">
              <a:buNone/>
            </a:pPr>
            <a:endParaRPr lang="ru-RU" sz="2400" dirty="0" smtClean="0"/>
          </a:p>
          <a:p>
            <a:pPr marL="514350" indent="-514350">
              <a:buNone/>
            </a:pPr>
            <a:r>
              <a:rPr lang="ru-RU" sz="2400" dirty="0" smtClean="0"/>
              <a:t>Таким образом, центр первого кластера (𝑊1) оказывается усреднением компонент векторов 𝑋2 и 𝑋4, а центр второго кластера (𝑊2) – усреднением компонент векторов 𝑋1 и 𝑋3.</a:t>
            </a:r>
            <a:endParaRPr lang="ru-RU" sz="2400" dirty="0"/>
          </a:p>
        </p:txBody>
      </p:sp>
      <p:pic>
        <p:nvPicPr>
          <p:cNvPr id="125954" name="Picture 2"/>
          <p:cNvPicPr>
            <a:picLocks noChangeAspect="1" noChangeArrowheads="1"/>
          </p:cNvPicPr>
          <p:nvPr/>
        </p:nvPicPr>
        <p:blipFill>
          <a:blip r:embed="rId2" cstate="print"/>
          <a:srcRect/>
          <a:stretch>
            <a:fillRect/>
          </a:stretch>
        </p:blipFill>
        <p:spPr bwMode="auto">
          <a:xfrm>
            <a:off x="1857356" y="3143248"/>
            <a:ext cx="2514600" cy="131445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690</TotalTime>
  <Words>2557</Words>
  <Application>Microsoft Office PowerPoint</Application>
  <PresentationFormat>Экран (4:3)</PresentationFormat>
  <Paragraphs>417</Paragraphs>
  <Slides>62</Slides>
  <Notes>0</Notes>
  <HiddenSlides>0</HiddenSlides>
  <MMClips>0</MMClips>
  <ScaleCrop>false</ScaleCrop>
  <HeadingPairs>
    <vt:vector size="6" baseType="variant">
      <vt:variant>
        <vt:lpstr>Тема</vt:lpstr>
      </vt:variant>
      <vt:variant>
        <vt:i4>1</vt:i4>
      </vt:variant>
      <vt:variant>
        <vt:lpstr>Внедренные серверы OLE</vt:lpstr>
      </vt:variant>
      <vt:variant>
        <vt:i4>2</vt:i4>
      </vt:variant>
      <vt:variant>
        <vt:lpstr>Заголовки слайдов</vt:lpstr>
      </vt:variant>
      <vt:variant>
        <vt:i4>62</vt:i4>
      </vt:variant>
    </vt:vector>
  </HeadingPairs>
  <TitlesOfParts>
    <vt:vector size="65" baseType="lpstr">
      <vt:lpstr>Тема Office</vt:lpstr>
      <vt:lpstr>Формула</vt:lpstr>
      <vt:lpstr>Equation</vt:lpstr>
      <vt:lpstr>Кластерный анализ</vt:lpstr>
      <vt:lpstr>Шкалы</vt:lpstr>
      <vt:lpstr>Виды шкал измерений</vt:lpstr>
      <vt:lpstr>Виды шкал измерений (продолжение)</vt:lpstr>
      <vt:lpstr>Метрики расстояний</vt:lpstr>
      <vt:lpstr>Метрики расстояний</vt:lpstr>
      <vt:lpstr>Метрики расстояний (продолжение)</vt:lpstr>
      <vt:lpstr>Кластерный анализ</vt:lpstr>
      <vt:lpstr>Слайд 9</vt:lpstr>
      <vt:lpstr>Слайд 10</vt:lpstr>
      <vt:lpstr>Слайд 11</vt:lpstr>
      <vt:lpstr>Слайд 12</vt:lpstr>
      <vt:lpstr>Слайд 13</vt:lpstr>
      <vt:lpstr>Слайд 14</vt:lpstr>
      <vt:lpstr>Общая характеристика задачи кластерного анализа</vt:lpstr>
      <vt:lpstr>Общая характеристика задачи кластерного анализа</vt:lpstr>
      <vt:lpstr>Преимущества кластерного анализа: </vt:lpstr>
      <vt:lpstr>Общая характеристика задачи кластерного анализа</vt:lpstr>
      <vt:lpstr>Общая характеристика задачи кластерного анализа</vt:lpstr>
      <vt:lpstr>Применение кластерного анализа</vt:lpstr>
      <vt:lpstr>Требования к кластерам</vt:lpstr>
      <vt:lpstr>Основные этапы построения модели кластерного анализа</vt:lpstr>
      <vt:lpstr>Классификация методов</vt:lpstr>
      <vt:lpstr>Другие классификации</vt:lpstr>
      <vt:lpstr>Иерархические методы кластерного анализа</vt:lpstr>
      <vt:lpstr>Правила определения расстояния  между кластерами для иерархической кластеризации</vt:lpstr>
      <vt:lpstr>Правила определения расстояния  между кластерами для иерархической кластеризации</vt:lpstr>
      <vt:lpstr>Правила определения расстояния  между кластерами для иерархической кластеризации</vt:lpstr>
      <vt:lpstr>Процесс выполнения агломеративного иерархического кластерного анализа.</vt:lpstr>
      <vt:lpstr>Выбор количества кластеров</vt:lpstr>
      <vt:lpstr>Пример агломеративной иерархической кластеризации</vt:lpstr>
      <vt:lpstr>Пример агломеративной иерархической кластеризации</vt:lpstr>
      <vt:lpstr>Пример агломеративной иерархической кластеризации</vt:lpstr>
      <vt:lpstr>Визуализация структуры кластеров, получаемых иерархическими методами </vt:lpstr>
      <vt:lpstr>Кластеризация методом k-средних</vt:lpstr>
      <vt:lpstr>Кластеризация методом k-средних</vt:lpstr>
      <vt:lpstr>Кластеризация методом k-средних</vt:lpstr>
      <vt:lpstr>Кластеризация методом k-средних</vt:lpstr>
      <vt:lpstr>Алгоритм C-means, c-средних, fcm</vt:lpstr>
      <vt:lpstr>Метод c-means</vt:lpstr>
      <vt:lpstr>Метод c-means</vt:lpstr>
      <vt:lpstr>Уточненная постановка задачи нечеткой кластеризации</vt:lpstr>
      <vt:lpstr>Уточненная постановка задачи нечеткой кластеризации</vt:lpstr>
      <vt:lpstr>Уточненная постановка задачи нечеткой кластеризации</vt:lpstr>
      <vt:lpstr>Задача нечеткой кластеризации</vt:lpstr>
      <vt:lpstr>Алгоритм с-means</vt:lpstr>
      <vt:lpstr>Алгоритм с-means</vt:lpstr>
      <vt:lpstr>Нейронные сети кластеризации данных</vt:lpstr>
      <vt:lpstr>Кластеризация при помощи сети Кохонена</vt:lpstr>
      <vt:lpstr>Кластеризация при помощи сети Кохонена</vt:lpstr>
      <vt:lpstr>Кластеризация при помощи сети Кохонена</vt:lpstr>
      <vt:lpstr>Кластеризация при помощи сети Кохонена</vt:lpstr>
      <vt:lpstr>Кластеризация при помощи сети Кохонена</vt:lpstr>
      <vt:lpstr>Кластеризация при помощи сети Кохонена</vt:lpstr>
      <vt:lpstr>Кластеризация при помощи сети Кохонена</vt:lpstr>
      <vt:lpstr>Кластеризация при помощи сети Кохонена. Пример</vt:lpstr>
      <vt:lpstr>Кластеризация при помощи сети Кохонена. Пример</vt:lpstr>
      <vt:lpstr>Кластеризация при помощи сети Кохонена. Пример</vt:lpstr>
      <vt:lpstr>Кластеризация при помощи сети Кохонена. Пример</vt:lpstr>
      <vt:lpstr>Кластеризация при помощи сети Кохонена. Пример</vt:lpstr>
      <vt:lpstr>Кластеризация при помощи сети Кохонена. Пример</vt:lpstr>
      <vt:lpstr>Кластеризация при помощи сети Кохонена. Пример</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Кластерный анализ</dc:title>
  <dc:creator>Antil2</dc:creator>
  <cp:lastModifiedBy>Antil</cp:lastModifiedBy>
  <cp:revision>79</cp:revision>
  <dcterms:created xsi:type="dcterms:W3CDTF">2020-08-30T15:26:23Z</dcterms:created>
  <dcterms:modified xsi:type="dcterms:W3CDTF">2025-02-24T13:06:57Z</dcterms:modified>
</cp:coreProperties>
</file>