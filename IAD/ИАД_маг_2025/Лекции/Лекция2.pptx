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1" r:id="rId91"/>
    <p:sldId id="352" r:id="rId92"/>
    <p:sldId id="353" r:id="rId93"/>
    <p:sldId id="355" r:id="rId94"/>
    <p:sldId id="356" r:id="rId95"/>
    <p:sldId id="357" r:id="rId96"/>
    <p:sldId id="358" r:id="rId97"/>
    <p:sldId id="359" r:id="rId98"/>
    <p:sldId id="360" r:id="rId99"/>
    <p:sldId id="361" r:id="rId100"/>
    <p:sldId id="362" r:id="rId101"/>
    <p:sldId id="363" r:id="rId102"/>
    <p:sldId id="364" r:id="rId103"/>
    <p:sldId id="365" r:id="rId104"/>
    <p:sldId id="366" r:id="rId105"/>
    <p:sldId id="367" r:id="rId106"/>
    <p:sldId id="368" r:id="rId107"/>
    <p:sldId id="369" r:id="rId108"/>
    <p:sldId id="370" r:id="rId109"/>
    <p:sldId id="372" r:id="rId110"/>
    <p:sldId id="373" r:id="rId111"/>
    <p:sldId id="374" r:id="rId112"/>
    <p:sldId id="375" r:id="rId113"/>
    <p:sldId id="376" r:id="rId114"/>
    <p:sldId id="377" r:id="rId115"/>
    <p:sldId id="378" r:id="rId116"/>
    <p:sldId id="379" r:id="rId117"/>
    <p:sldId id="380" r:id="rId118"/>
    <p:sldId id="381" r:id="rId119"/>
    <p:sldId id="382" r:id="rId120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504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06104" y="1233335"/>
            <a:ext cx="17291890" cy="779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Verdana"/>
                <a:cs typeface="Verdana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‹#›</a:t>
            </a:fld>
            <a:endParaRPr spc="-37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1" i="1">
                <a:solidFill>
                  <a:srgbClr val="1E1E1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Verdana"/>
                <a:cs typeface="Verdana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‹#›</a:t>
            </a:fld>
            <a:endParaRPr spc="-37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Verdana"/>
                <a:cs typeface="Verdana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‹#›</a:t>
            </a:fld>
            <a:endParaRPr spc="-37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Verdana"/>
                <a:cs typeface="Verdana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‹#›</a:t>
            </a:fld>
            <a:endParaRPr spc="-37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09417" y="209417"/>
            <a:ext cx="19685635" cy="10890250"/>
          </a:xfrm>
          <a:custGeom>
            <a:avLst/>
            <a:gdLst/>
            <a:ahLst/>
            <a:cxnLst/>
            <a:rect l="l" t="t" r="r" b="b"/>
            <a:pathLst>
              <a:path w="19685635" h="10890250">
                <a:moveTo>
                  <a:pt x="0" y="10889720"/>
                </a:moveTo>
                <a:lnTo>
                  <a:pt x="19685264" y="10889720"/>
                </a:lnTo>
                <a:lnTo>
                  <a:pt x="19685264" y="0"/>
                </a:lnTo>
                <a:lnTo>
                  <a:pt x="0" y="0"/>
                </a:lnTo>
                <a:lnTo>
                  <a:pt x="0" y="10889720"/>
                </a:lnTo>
                <a:close/>
              </a:path>
            </a:pathLst>
          </a:custGeom>
          <a:ln w="418835">
            <a:solidFill>
              <a:srgbClr val="BDD9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8389717" y="647781"/>
            <a:ext cx="0" cy="420370"/>
          </a:xfrm>
          <a:custGeom>
            <a:avLst/>
            <a:gdLst/>
            <a:ahLst/>
            <a:cxnLst/>
            <a:rect l="l" t="t" r="r" b="b"/>
            <a:pathLst>
              <a:path h="420369">
                <a:moveTo>
                  <a:pt x="0" y="0"/>
                </a:moveTo>
                <a:lnTo>
                  <a:pt x="0" y="420102"/>
                </a:lnTo>
              </a:path>
            </a:pathLst>
          </a:custGeom>
          <a:ln w="11905">
            <a:solidFill>
              <a:srgbClr val="BDD9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7902742" y="624303"/>
            <a:ext cx="404228" cy="467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8517803" y="754961"/>
            <a:ext cx="963930" cy="218440"/>
          </a:xfrm>
          <a:custGeom>
            <a:avLst/>
            <a:gdLst/>
            <a:ahLst/>
            <a:cxnLst/>
            <a:rect l="l" t="t" r="r" b="b"/>
            <a:pathLst>
              <a:path w="963930" h="218440">
                <a:moveTo>
                  <a:pt x="112938" y="0"/>
                </a:moveTo>
                <a:lnTo>
                  <a:pt x="67670" y="7646"/>
                </a:lnTo>
                <a:lnTo>
                  <a:pt x="31521" y="29950"/>
                </a:lnTo>
                <a:lnTo>
                  <a:pt x="8070" y="64653"/>
                </a:lnTo>
                <a:lnTo>
                  <a:pt x="0" y="109043"/>
                </a:lnTo>
                <a:lnTo>
                  <a:pt x="897" y="124834"/>
                </a:lnTo>
                <a:lnTo>
                  <a:pt x="14345" y="166256"/>
                </a:lnTo>
                <a:lnTo>
                  <a:pt x="42238" y="197016"/>
                </a:lnTo>
                <a:lnTo>
                  <a:pt x="81862" y="214702"/>
                </a:lnTo>
                <a:lnTo>
                  <a:pt x="112938" y="218098"/>
                </a:lnTo>
                <a:lnTo>
                  <a:pt x="133292" y="216660"/>
                </a:lnTo>
                <a:lnTo>
                  <a:pt x="152525" y="212348"/>
                </a:lnTo>
                <a:lnTo>
                  <a:pt x="170637" y="205159"/>
                </a:lnTo>
                <a:lnTo>
                  <a:pt x="187627" y="195093"/>
                </a:lnTo>
                <a:lnTo>
                  <a:pt x="176969" y="178957"/>
                </a:lnTo>
                <a:lnTo>
                  <a:pt x="112635" y="178957"/>
                </a:lnTo>
                <a:lnTo>
                  <a:pt x="102742" y="178417"/>
                </a:lnTo>
                <a:lnTo>
                  <a:pt x="61808" y="159838"/>
                </a:lnTo>
                <a:lnTo>
                  <a:pt x="42400" y="119186"/>
                </a:lnTo>
                <a:lnTo>
                  <a:pt x="41831" y="109043"/>
                </a:lnTo>
                <a:lnTo>
                  <a:pt x="42400" y="98907"/>
                </a:lnTo>
                <a:lnTo>
                  <a:pt x="61808" y="58260"/>
                </a:lnTo>
                <a:lnTo>
                  <a:pt x="102742" y="39681"/>
                </a:lnTo>
                <a:lnTo>
                  <a:pt x="112635" y="39140"/>
                </a:lnTo>
                <a:lnTo>
                  <a:pt x="176969" y="39140"/>
                </a:lnTo>
                <a:lnTo>
                  <a:pt x="187627" y="23004"/>
                </a:lnTo>
                <a:lnTo>
                  <a:pt x="170637" y="12938"/>
                </a:lnTo>
                <a:lnTo>
                  <a:pt x="152525" y="5749"/>
                </a:lnTo>
                <a:lnTo>
                  <a:pt x="133292" y="1437"/>
                </a:lnTo>
                <a:lnTo>
                  <a:pt x="112938" y="0"/>
                </a:lnTo>
                <a:close/>
              </a:path>
              <a:path w="963930" h="218440">
                <a:moveTo>
                  <a:pt x="165523" y="161628"/>
                </a:moveTo>
                <a:lnTo>
                  <a:pt x="152917" y="169213"/>
                </a:lnTo>
                <a:lnTo>
                  <a:pt x="139900" y="174628"/>
                </a:lnTo>
                <a:lnTo>
                  <a:pt x="126472" y="177875"/>
                </a:lnTo>
                <a:lnTo>
                  <a:pt x="112635" y="178957"/>
                </a:lnTo>
                <a:lnTo>
                  <a:pt x="176969" y="178957"/>
                </a:lnTo>
                <a:lnTo>
                  <a:pt x="165523" y="161628"/>
                </a:lnTo>
                <a:close/>
              </a:path>
              <a:path w="963930" h="218440">
                <a:moveTo>
                  <a:pt x="176969" y="39140"/>
                </a:moveTo>
                <a:lnTo>
                  <a:pt x="112635" y="39140"/>
                </a:lnTo>
                <a:lnTo>
                  <a:pt x="126472" y="40223"/>
                </a:lnTo>
                <a:lnTo>
                  <a:pt x="139900" y="43473"/>
                </a:lnTo>
                <a:lnTo>
                  <a:pt x="152917" y="48889"/>
                </a:lnTo>
                <a:lnTo>
                  <a:pt x="165523" y="56469"/>
                </a:lnTo>
                <a:lnTo>
                  <a:pt x="176969" y="39140"/>
                </a:lnTo>
                <a:close/>
              </a:path>
              <a:path w="963930" h="218440">
                <a:moveTo>
                  <a:pt x="398856" y="4481"/>
                </a:moveTo>
                <a:lnTo>
                  <a:pt x="224673" y="4481"/>
                </a:lnTo>
                <a:lnTo>
                  <a:pt x="224673" y="213616"/>
                </a:lnTo>
                <a:lnTo>
                  <a:pt x="262913" y="213616"/>
                </a:lnTo>
                <a:lnTo>
                  <a:pt x="262913" y="40333"/>
                </a:lnTo>
                <a:lnTo>
                  <a:pt x="398856" y="40333"/>
                </a:lnTo>
                <a:lnTo>
                  <a:pt x="398856" y="4481"/>
                </a:lnTo>
                <a:close/>
              </a:path>
              <a:path w="963930" h="218440">
                <a:moveTo>
                  <a:pt x="398856" y="40333"/>
                </a:moveTo>
                <a:lnTo>
                  <a:pt x="360617" y="40333"/>
                </a:lnTo>
                <a:lnTo>
                  <a:pt x="360617" y="213616"/>
                </a:lnTo>
                <a:lnTo>
                  <a:pt x="398856" y="213616"/>
                </a:lnTo>
                <a:lnTo>
                  <a:pt x="398856" y="40333"/>
                </a:lnTo>
                <a:close/>
              </a:path>
              <a:path w="963930" h="218440">
                <a:moveTo>
                  <a:pt x="583196" y="3287"/>
                </a:moveTo>
                <a:lnTo>
                  <a:pt x="546444" y="3287"/>
                </a:lnTo>
                <a:lnTo>
                  <a:pt x="546245" y="8858"/>
                </a:lnTo>
                <a:lnTo>
                  <a:pt x="541564" y="13046"/>
                </a:lnTo>
                <a:lnTo>
                  <a:pt x="532402" y="15831"/>
                </a:lnTo>
                <a:lnTo>
                  <a:pt x="505904" y="23076"/>
                </a:lnTo>
                <a:lnTo>
                  <a:pt x="493038" y="27186"/>
                </a:lnTo>
                <a:lnTo>
                  <a:pt x="458457" y="49740"/>
                </a:lnTo>
                <a:lnTo>
                  <a:pt x="440236" y="96572"/>
                </a:lnTo>
                <a:lnTo>
                  <a:pt x="437997" y="125483"/>
                </a:lnTo>
                <a:lnTo>
                  <a:pt x="439359" y="147919"/>
                </a:lnTo>
                <a:lnTo>
                  <a:pt x="459797" y="195836"/>
                </a:lnTo>
                <a:lnTo>
                  <a:pt x="499911" y="216707"/>
                </a:lnTo>
                <a:lnTo>
                  <a:pt x="516570" y="218098"/>
                </a:lnTo>
                <a:lnTo>
                  <a:pt x="527975" y="217509"/>
                </a:lnTo>
                <a:lnTo>
                  <a:pt x="565658" y="203523"/>
                </a:lnTo>
                <a:lnTo>
                  <a:pt x="583508" y="183439"/>
                </a:lnTo>
                <a:lnTo>
                  <a:pt x="516267" y="183439"/>
                </a:lnTo>
                <a:lnTo>
                  <a:pt x="508388" y="182777"/>
                </a:lnTo>
                <a:lnTo>
                  <a:pt x="478423" y="152976"/>
                </a:lnTo>
                <a:lnTo>
                  <a:pt x="477734" y="144602"/>
                </a:lnTo>
                <a:lnTo>
                  <a:pt x="478423" y="136229"/>
                </a:lnTo>
                <a:lnTo>
                  <a:pt x="501106" y="108446"/>
                </a:lnTo>
                <a:lnTo>
                  <a:pt x="469964" y="108446"/>
                </a:lnTo>
                <a:lnTo>
                  <a:pt x="481262" y="70353"/>
                </a:lnTo>
                <a:lnTo>
                  <a:pt x="516214" y="52532"/>
                </a:lnTo>
                <a:lnTo>
                  <a:pt x="542454" y="46208"/>
                </a:lnTo>
                <a:lnTo>
                  <a:pt x="549826" y="44312"/>
                </a:lnTo>
                <a:lnTo>
                  <a:pt x="581627" y="17477"/>
                </a:lnTo>
                <a:lnTo>
                  <a:pt x="582804" y="10793"/>
                </a:lnTo>
                <a:lnTo>
                  <a:pt x="583196" y="3287"/>
                </a:lnTo>
                <a:close/>
              </a:path>
              <a:path w="963930" h="218440">
                <a:moveTo>
                  <a:pt x="584347" y="105755"/>
                </a:moveTo>
                <a:lnTo>
                  <a:pt x="516267" y="105755"/>
                </a:lnTo>
                <a:lnTo>
                  <a:pt x="524277" y="106419"/>
                </a:lnTo>
                <a:lnTo>
                  <a:pt x="531579" y="108409"/>
                </a:lnTo>
                <a:lnTo>
                  <a:pt x="555113" y="144602"/>
                </a:lnTo>
                <a:lnTo>
                  <a:pt x="554421" y="152976"/>
                </a:lnTo>
                <a:lnTo>
                  <a:pt x="524277" y="182777"/>
                </a:lnTo>
                <a:lnTo>
                  <a:pt x="516267" y="183439"/>
                </a:lnTo>
                <a:lnTo>
                  <a:pt x="583508" y="183439"/>
                </a:lnTo>
                <a:lnTo>
                  <a:pt x="593353" y="144006"/>
                </a:lnTo>
                <a:lnTo>
                  <a:pt x="592829" y="133724"/>
                </a:lnTo>
                <a:lnTo>
                  <a:pt x="591259" y="124097"/>
                </a:lnTo>
                <a:lnTo>
                  <a:pt x="588644" y="115123"/>
                </a:lnTo>
                <a:lnTo>
                  <a:pt x="584987" y="106803"/>
                </a:lnTo>
                <a:lnTo>
                  <a:pt x="584347" y="105755"/>
                </a:lnTo>
                <a:close/>
              </a:path>
              <a:path w="963930" h="218440">
                <a:moveTo>
                  <a:pt x="526727" y="73495"/>
                </a:moveTo>
                <a:lnTo>
                  <a:pt x="485813" y="87445"/>
                </a:lnTo>
                <a:lnTo>
                  <a:pt x="470854" y="108446"/>
                </a:lnTo>
                <a:lnTo>
                  <a:pt x="501106" y="108446"/>
                </a:lnTo>
                <a:lnTo>
                  <a:pt x="508388" y="106419"/>
                </a:lnTo>
                <a:lnTo>
                  <a:pt x="516267" y="105755"/>
                </a:lnTo>
                <a:lnTo>
                  <a:pt x="584347" y="105755"/>
                </a:lnTo>
                <a:lnTo>
                  <a:pt x="580381" y="99272"/>
                </a:lnTo>
                <a:lnTo>
                  <a:pt x="545284" y="75661"/>
                </a:lnTo>
                <a:lnTo>
                  <a:pt x="536294" y="74036"/>
                </a:lnTo>
                <a:lnTo>
                  <a:pt x="526727" y="73495"/>
                </a:lnTo>
                <a:close/>
              </a:path>
              <a:path w="963930" h="218440">
                <a:moveTo>
                  <a:pt x="754092" y="4481"/>
                </a:moveTo>
                <a:lnTo>
                  <a:pt x="631593" y="4481"/>
                </a:lnTo>
                <a:lnTo>
                  <a:pt x="631593" y="213616"/>
                </a:lnTo>
                <a:lnTo>
                  <a:pt x="669833" y="213616"/>
                </a:lnTo>
                <a:lnTo>
                  <a:pt x="669833" y="40333"/>
                </a:lnTo>
                <a:lnTo>
                  <a:pt x="754092" y="40333"/>
                </a:lnTo>
                <a:lnTo>
                  <a:pt x="754092" y="4481"/>
                </a:lnTo>
                <a:close/>
              </a:path>
              <a:path w="963930" h="218440">
                <a:moveTo>
                  <a:pt x="816226" y="4481"/>
                </a:moveTo>
                <a:lnTo>
                  <a:pt x="768426" y="4481"/>
                </a:lnTo>
                <a:lnTo>
                  <a:pt x="847304" y="160141"/>
                </a:lnTo>
                <a:lnTo>
                  <a:pt x="822205" y="213616"/>
                </a:lnTo>
                <a:lnTo>
                  <a:pt x="864926" y="213616"/>
                </a:lnTo>
                <a:lnTo>
                  <a:pt x="910982" y="115923"/>
                </a:lnTo>
                <a:lnTo>
                  <a:pt x="868214" y="115923"/>
                </a:lnTo>
                <a:lnTo>
                  <a:pt x="816226" y="4481"/>
                </a:lnTo>
                <a:close/>
              </a:path>
              <a:path w="963930" h="218440">
                <a:moveTo>
                  <a:pt x="963520" y="4481"/>
                </a:moveTo>
                <a:lnTo>
                  <a:pt x="921102" y="4481"/>
                </a:lnTo>
                <a:lnTo>
                  <a:pt x="868214" y="115923"/>
                </a:lnTo>
                <a:lnTo>
                  <a:pt x="910982" y="115923"/>
                </a:lnTo>
                <a:lnTo>
                  <a:pt x="963520" y="4481"/>
                </a:lnTo>
                <a:close/>
              </a:path>
            </a:pathLst>
          </a:custGeom>
          <a:solidFill>
            <a:srgbClr val="BDD9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2566" y="4607"/>
            <a:ext cx="20099020" cy="11299825"/>
          </a:xfrm>
          <a:custGeom>
            <a:avLst/>
            <a:gdLst/>
            <a:ahLst/>
            <a:cxnLst/>
            <a:rect l="l" t="t" r="r" b="b"/>
            <a:pathLst>
              <a:path w="20099020" h="11299825">
                <a:moveTo>
                  <a:pt x="0" y="0"/>
                </a:moveTo>
                <a:lnTo>
                  <a:pt x="20098969" y="11299446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2513" y="4607"/>
            <a:ext cx="20099020" cy="11299825"/>
          </a:xfrm>
          <a:custGeom>
            <a:avLst/>
            <a:gdLst/>
            <a:ahLst/>
            <a:cxnLst/>
            <a:rect l="l" t="t" r="r" b="b"/>
            <a:pathLst>
              <a:path w="20099020" h="11299825">
                <a:moveTo>
                  <a:pt x="20098969" y="0"/>
                </a:moveTo>
                <a:lnTo>
                  <a:pt x="0" y="11299446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BFBFBF"/>
                </a:solidFill>
                <a:latin typeface="Verdana"/>
                <a:cs typeface="Verdana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‹#›</a:t>
            </a:fld>
            <a:endParaRPr spc="-37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09417" y="209417"/>
            <a:ext cx="19685635" cy="10890250"/>
          </a:xfrm>
          <a:custGeom>
            <a:avLst/>
            <a:gdLst/>
            <a:ahLst/>
            <a:cxnLst/>
            <a:rect l="l" t="t" r="r" b="b"/>
            <a:pathLst>
              <a:path w="19685635" h="10890250">
                <a:moveTo>
                  <a:pt x="0" y="10889720"/>
                </a:moveTo>
                <a:lnTo>
                  <a:pt x="19685264" y="10889720"/>
                </a:lnTo>
                <a:lnTo>
                  <a:pt x="19685264" y="0"/>
                </a:lnTo>
                <a:lnTo>
                  <a:pt x="0" y="0"/>
                </a:lnTo>
                <a:lnTo>
                  <a:pt x="0" y="10889720"/>
                </a:lnTo>
                <a:close/>
              </a:path>
            </a:pathLst>
          </a:custGeom>
          <a:ln w="418835">
            <a:solidFill>
              <a:srgbClr val="BDD9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6104" y="1233335"/>
            <a:ext cx="17291890" cy="779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1" i="0">
                <a:solidFill>
                  <a:srgbClr val="1E1E1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06272" y="3955765"/>
            <a:ext cx="11896725" cy="530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1">
                <a:solidFill>
                  <a:srgbClr val="1E1E1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49972" y="10185942"/>
            <a:ext cx="553719" cy="511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BFBFBF"/>
                </a:solidFill>
                <a:latin typeface="Verdana"/>
                <a:cs typeface="Verdana"/>
              </a:defRPr>
            </a:lvl1pPr>
          </a:lstStyle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‹#›</a:t>
            </a:fld>
            <a:endParaRPr spc="-37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250952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70" dirty="0"/>
              <a:t>Событие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302260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5165090" cy="454914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Элементарное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событие.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Событие </a:t>
            </a:r>
            <a:r>
              <a:rPr sz="3300" spc="50" dirty="0">
                <a:solidFill>
                  <a:srgbClr val="1E1E1E"/>
                </a:solidFill>
                <a:latin typeface="Arial"/>
                <a:cs typeface="Arial"/>
              </a:rPr>
              <a:t>как</a:t>
            </a:r>
            <a:r>
              <a:rPr sz="3300" spc="16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множество.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Невозможное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событие.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Достоверное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событие.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Несовместные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события.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Полная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группа</a:t>
            </a:r>
            <a:r>
              <a:rPr sz="3300" spc="8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событий.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60762" y="7382867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515859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5" dirty="0"/>
              <a:t>Операции </a:t>
            </a:r>
            <a:r>
              <a:rPr spc="-150" dirty="0"/>
              <a:t>над</a:t>
            </a:r>
            <a:r>
              <a:rPr spc="-55" dirty="0"/>
              <a:t> </a:t>
            </a:r>
            <a:r>
              <a:rPr spc="-380" dirty="0"/>
              <a:t>событиями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5966175"/>
            <a:ext cx="13545819" cy="304101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любых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событий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254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43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spc="-430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Отрицание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события: </a:t>
            </a:r>
            <a:r>
              <a:rPr sz="3300" spc="-229" dirty="0">
                <a:solidFill>
                  <a:srgbClr val="1E1E1E"/>
                </a:solidFill>
                <a:latin typeface="Arial"/>
                <a:cs typeface="Arial"/>
              </a:rPr>
              <a:t>¬</a:t>
            </a:r>
            <a:r>
              <a:rPr sz="3300" b="1" i="1" spc="-229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событие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</a:t>
            </a:r>
            <a:r>
              <a:rPr sz="3300" spc="-59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произошло.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Объединение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событий: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570" dirty="0">
                <a:solidFill>
                  <a:srgbClr val="1E1E1E"/>
                </a:solidFill>
                <a:latin typeface="DejaVu Sans"/>
                <a:cs typeface="DejaVu Sans"/>
              </a:rPr>
              <a:t>∪ </a:t>
            </a:r>
            <a:r>
              <a:rPr sz="3300" b="1" i="1" spc="-595" dirty="0">
                <a:solidFill>
                  <a:srgbClr val="1E1E1E"/>
                </a:solidFill>
                <a:latin typeface="Verdana"/>
                <a:cs typeface="Verdana"/>
              </a:rPr>
              <a:t>B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произошло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хотя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бы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одно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из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событий.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Пересечение событий: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570" dirty="0">
                <a:solidFill>
                  <a:srgbClr val="1E1E1E"/>
                </a:solidFill>
                <a:latin typeface="DejaVu Sans"/>
                <a:cs typeface="DejaVu Sans"/>
              </a:rPr>
              <a:t>∩ </a:t>
            </a:r>
            <a:r>
              <a:rPr sz="3300" b="1" i="1" spc="-595" dirty="0">
                <a:solidFill>
                  <a:srgbClr val="1E1E1E"/>
                </a:solidFill>
                <a:latin typeface="Verdana"/>
                <a:cs typeface="Verdana"/>
              </a:rPr>
              <a:t>B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произошли 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оба</a:t>
            </a:r>
            <a:r>
              <a:rPr sz="3300" spc="-4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события.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18804" y="3591513"/>
            <a:ext cx="3049905" cy="1877060"/>
          </a:xfrm>
          <a:custGeom>
            <a:avLst/>
            <a:gdLst/>
            <a:ahLst/>
            <a:cxnLst/>
            <a:rect l="l" t="t" r="r" b="b"/>
            <a:pathLst>
              <a:path w="3049904" h="1877060">
                <a:moveTo>
                  <a:pt x="0" y="1876906"/>
                </a:moveTo>
                <a:lnTo>
                  <a:pt x="3049645" y="1876906"/>
                </a:lnTo>
                <a:lnTo>
                  <a:pt x="3049645" y="0"/>
                </a:lnTo>
                <a:lnTo>
                  <a:pt x="0" y="0"/>
                </a:lnTo>
                <a:lnTo>
                  <a:pt x="0" y="1876906"/>
                </a:lnTo>
                <a:close/>
              </a:path>
            </a:pathLst>
          </a:custGeom>
          <a:solidFill>
            <a:srgbClr val="BDD9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13283" y="3799622"/>
            <a:ext cx="1461135" cy="1461135"/>
          </a:xfrm>
          <a:custGeom>
            <a:avLst/>
            <a:gdLst/>
            <a:ahLst/>
            <a:cxnLst/>
            <a:rect l="l" t="t" r="r" b="b"/>
            <a:pathLst>
              <a:path w="1461135" h="1461135">
                <a:moveTo>
                  <a:pt x="730344" y="0"/>
                </a:moveTo>
                <a:lnTo>
                  <a:pt x="682323" y="1553"/>
                </a:lnTo>
                <a:lnTo>
                  <a:pt x="635132" y="6149"/>
                </a:lnTo>
                <a:lnTo>
                  <a:pt x="588867" y="13692"/>
                </a:lnTo>
                <a:lnTo>
                  <a:pt x="543623" y="24085"/>
                </a:lnTo>
                <a:lnTo>
                  <a:pt x="499498" y="37233"/>
                </a:lnTo>
                <a:lnTo>
                  <a:pt x="456587" y="53038"/>
                </a:lnTo>
                <a:lnTo>
                  <a:pt x="414987" y="71405"/>
                </a:lnTo>
                <a:lnTo>
                  <a:pt x="374793" y="92237"/>
                </a:lnTo>
                <a:lnTo>
                  <a:pt x="336102" y="115439"/>
                </a:lnTo>
                <a:lnTo>
                  <a:pt x="299011" y="140913"/>
                </a:lnTo>
                <a:lnTo>
                  <a:pt x="263616" y="168564"/>
                </a:lnTo>
                <a:lnTo>
                  <a:pt x="230012" y="198296"/>
                </a:lnTo>
                <a:lnTo>
                  <a:pt x="198296" y="230012"/>
                </a:lnTo>
                <a:lnTo>
                  <a:pt x="168564" y="263616"/>
                </a:lnTo>
                <a:lnTo>
                  <a:pt x="140913" y="299011"/>
                </a:lnTo>
                <a:lnTo>
                  <a:pt x="115439" y="336102"/>
                </a:lnTo>
                <a:lnTo>
                  <a:pt x="92237" y="374793"/>
                </a:lnTo>
                <a:lnTo>
                  <a:pt x="71405" y="414987"/>
                </a:lnTo>
                <a:lnTo>
                  <a:pt x="53038" y="456587"/>
                </a:lnTo>
                <a:lnTo>
                  <a:pt x="37233" y="499498"/>
                </a:lnTo>
                <a:lnTo>
                  <a:pt x="24085" y="543623"/>
                </a:lnTo>
                <a:lnTo>
                  <a:pt x="13692" y="588867"/>
                </a:lnTo>
                <a:lnTo>
                  <a:pt x="6149" y="635132"/>
                </a:lnTo>
                <a:lnTo>
                  <a:pt x="1553" y="682323"/>
                </a:lnTo>
                <a:lnTo>
                  <a:pt x="0" y="730344"/>
                </a:lnTo>
                <a:lnTo>
                  <a:pt x="1553" y="778364"/>
                </a:lnTo>
                <a:lnTo>
                  <a:pt x="6149" y="825555"/>
                </a:lnTo>
                <a:lnTo>
                  <a:pt x="13692" y="871821"/>
                </a:lnTo>
                <a:lnTo>
                  <a:pt x="24085" y="917064"/>
                </a:lnTo>
                <a:lnTo>
                  <a:pt x="37233" y="961190"/>
                </a:lnTo>
                <a:lnTo>
                  <a:pt x="53038" y="1004101"/>
                </a:lnTo>
                <a:lnTo>
                  <a:pt x="71405" y="1045701"/>
                </a:lnTo>
                <a:lnTo>
                  <a:pt x="92237" y="1085895"/>
                </a:lnTo>
                <a:lnTo>
                  <a:pt x="115439" y="1124585"/>
                </a:lnTo>
                <a:lnTo>
                  <a:pt x="140913" y="1161676"/>
                </a:lnTo>
                <a:lnTo>
                  <a:pt x="168564" y="1197072"/>
                </a:lnTo>
                <a:lnTo>
                  <a:pt x="198296" y="1230676"/>
                </a:lnTo>
                <a:lnTo>
                  <a:pt x="230012" y="1262392"/>
                </a:lnTo>
                <a:lnTo>
                  <a:pt x="263616" y="1292123"/>
                </a:lnTo>
                <a:lnTo>
                  <a:pt x="299011" y="1319774"/>
                </a:lnTo>
                <a:lnTo>
                  <a:pt x="336102" y="1345249"/>
                </a:lnTo>
                <a:lnTo>
                  <a:pt x="374793" y="1368450"/>
                </a:lnTo>
                <a:lnTo>
                  <a:pt x="414987" y="1389283"/>
                </a:lnTo>
                <a:lnTo>
                  <a:pt x="456587" y="1407649"/>
                </a:lnTo>
                <a:lnTo>
                  <a:pt x="499498" y="1423455"/>
                </a:lnTo>
                <a:lnTo>
                  <a:pt x="543623" y="1436602"/>
                </a:lnTo>
                <a:lnTo>
                  <a:pt x="588867" y="1446995"/>
                </a:lnTo>
                <a:lnTo>
                  <a:pt x="635132" y="1454538"/>
                </a:lnTo>
                <a:lnTo>
                  <a:pt x="682323" y="1459135"/>
                </a:lnTo>
                <a:lnTo>
                  <a:pt x="730344" y="1460688"/>
                </a:lnTo>
                <a:lnTo>
                  <a:pt x="778364" y="1459135"/>
                </a:lnTo>
                <a:lnTo>
                  <a:pt x="825555" y="1454538"/>
                </a:lnTo>
                <a:lnTo>
                  <a:pt x="871821" y="1446995"/>
                </a:lnTo>
                <a:lnTo>
                  <a:pt x="917064" y="1436602"/>
                </a:lnTo>
                <a:lnTo>
                  <a:pt x="961190" y="1423455"/>
                </a:lnTo>
                <a:lnTo>
                  <a:pt x="1004101" y="1407649"/>
                </a:lnTo>
                <a:lnTo>
                  <a:pt x="1045701" y="1389283"/>
                </a:lnTo>
                <a:lnTo>
                  <a:pt x="1085895" y="1368450"/>
                </a:lnTo>
                <a:lnTo>
                  <a:pt x="1124585" y="1345249"/>
                </a:lnTo>
                <a:lnTo>
                  <a:pt x="1161676" y="1319774"/>
                </a:lnTo>
                <a:lnTo>
                  <a:pt x="1197072" y="1292123"/>
                </a:lnTo>
                <a:lnTo>
                  <a:pt x="1230676" y="1262392"/>
                </a:lnTo>
                <a:lnTo>
                  <a:pt x="1262392" y="1230676"/>
                </a:lnTo>
                <a:lnTo>
                  <a:pt x="1292123" y="1197072"/>
                </a:lnTo>
                <a:lnTo>
                  <a:pt x="1319774" y="1161676"/>
                </a:lnTo>
                <a:lnTo>
                  <a:pt x="1345249" y="1124585"/>
                </a:lnTo>
                <a:lnTo>
                  <a:pt x="1368450" y="1085895"/>
                </a:lnTo>
                <a:lnTo>
                  <a:pt x="1389283" y="1045701"/>
                </a:lnTo>
                <a:lnTo>
                  <a:pt x="1407649" y="1004101"/>
                </a:lnTo>
                <a:lnTo>
                  <a:pt x="1423455" y="961190"/>
                </a:lnTo>
                <a:lnTo>
                  <a:pt x="1436602" y="917064"/>
                </a:lnTo>
                <a:lnTo>
                  <a:pt x="1446995" y="871821"/>
                </a:lnTo>
                <a:lnTo>
                  <a:pt x="1454538" y="825555"/>
                </a:lnTo>
                <a:lnTo>
                  <a:pt x="1459135" y="778364"/>
                </a:lnTo>
                <a:lnTo>
                  <a:pt x="1460688" y="730344"/>
                </a:lnTo>
                <a:lnTo>
                  <a:pt x="1459135" y="682323"/>
                </a:lnTo>
                <a:lnTo>
                  <a:pt x="1454538" y="635132"/>
                </a:lnTo>
                <a:lnTo>
                  <a:pt x="1446995" y="588867"/>
                </a:lnTo>
                <a:lnTo>
                  <a:pt x="1436602" y="543623"/>
                </a:lnTo>
                <a:lnTo>
                  <a:pt x="1423455" y="499498"/>
                </a:lnTo>
                <a:lnTo>
                  <a:pt x="1407649" y="456587"/>
                </a:lnTo>
                <a:lnTo>
                  <a:pt x="1389283" y="414987"/>
                </a:lnTo>
                <a:lnTo>
                  <a:pt x="1368450" y="374793"/>
                </a:lnTo>
                <a:lnTo>
                  <a:pt x="1345249" y="336102"/>
                </a:lnTo>
                <a:lnTo>
                  <a:pt x="1319774" y="299011"/>
                </a:lnTo>
                <a:lnTo>
                  <a:pt x="1292123" y="263616"/>
                </a:lnTo>
                <a:lnTo>
                  <a:pt x="1262392" y="230012"/>
                </a:lnTo>
                <a:lnTo>
                  <a:pt x="1230676" y="198296"/>
                </a:lnTo>
                <a:lnTo>
                  <a:pt x="1197072" y="168564"/>
                </a:lnTo>
                <a:lnTo>
                  <a:pt x="1161676" y="140913"/>
                </a:lnTo>
                <a:lnTo>
                  <a:pt x="1124585" y="115439"/>
                </a:lnTo>
                <a:lnTo>
                  <a:pt x="1085895" y="92237"/>
                </a:lnTo>
                <a:lnTo>
                  <a:pt x="1045701" y="71405"/>
                </a:lnTo>
                <a:lnTo>
                  <a:pt x="1004101" y="53038"/>
                </a:lnTo>
                <a:lnTo>
                  <a:pt x="961190" y="37233"/>
                </a:lnTo>
                <a:lnTo>
                  <a:pt x="917064" y="24085"/>
                </a:lnTo>
                <a:lnTo>
                  <a:pt x="871821" y="13692"/>
                </a:lnTo>
                <a:lnTo>
                  <a:pt x="825555" y="6149"/>
                </a:lnTo>
                <a:lnTo>
                  <a:pt x="778364" y="1553"/>
                </a:lnTo>
                <a:lnTo>
                  <a:pt x="730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13283" y="3799622"/>
            <a:ext cx="1461135" cy="1461135"/>
          </a:xfrm>
          <a:custGeom>
            <a:avLst/>
            <a:gdLst/>
            <a:ahLst/>
            <a:cxnLst/>
            <a:rect l="l" t="t" r="r" b="b"/>
            <a:pathLst>
              <a:path w="1461135" h="1461135">
                <a:moveTo>
                  <a:pt x="730344" y="1460688"/>
                </a:moveTo>
                <a:lnTo>
                  <a:pt x="778364" y="1459135"/>
                </a:lnTo>
                <a:lnTo>
                  <a:pt x="825555" y="1454538"/>
                </a:lnTo>
                <a:lnTo>
                  <a:pt x="871821" y="1446995"/>
                </a:lnTo>
                <a:lnTo>
                  <a:pt x="917064" y="1436602"/>
                </a:lnTo>
                <a:lnTo>
                  <a:pt x="961190" y="1423455"/>
                </a:lnTo>
                <a:lnTo>
                  <a:pt x="1004101" y="1407649"/>
                </a:lnTo>
                <a:lnTo>
                  <a:pt x="1045701" y="1389283"/>
                </a:lnTo>
                <a:lnTo>
                  <a:pt x="1085895" y="1368450"/>
                </a:lnTo>
                <a:lnTo>
                  <a:pt x="1124585" y="1345249"/>
                </a:lnTo>
                <a:lnTo>
                  <a:pt x="1161676" y="1319774"/>
                </a:lnTo>
                <a:lnTo>
                  <a:pt x="1197072" y="1292123"/>
                </a:lnTo>
                <a:lnTo>
                  <a:pt x="1230676" y="1262392"/>
                </a:lnTo>
                <a:lnTo>
                  <a:pt x="1262392" y="1230676"/>
                </a:lnTo>
                <a:lnTo>
                  <a:pt x="1292123" y="1197072"/>
                </a:lnTo>
                <a:lnTo>
                  <a:pt x="1319774" y="1161676"/>
                </a:lnTo>
                <a:lnTo>
                  <a:pt x="1345249" y="1124585"/>
                </a:lnTo>
                <a:lnTo>
                  <a:pt x="1368450" y="1085895"/>
                </a:lnTo>
                <a:lnTo>
                  <a:pt x="1389283" y="1045701"/>
                </a:lnTo>
                <a:lnTo>
                  <a:pt x="1407649" y="1004101"/>
                </a:lnTo>
                <a:lnTo>
                  <a:pt x="1423455" y="961190"/>
                </a:lnTo>
                <a:lnTo>
                  <a:pt x="1436602" y="917064"/>
                </a:lnTo>
                <a:lnTo>
                  <a:pt x="1446995" y="871821"/>
                </a:lnTo>
                <a:lnTo>
                  <a:pt x="1454538" y="825555"/>
                </a:lnTo>
                <a:lnTo>
                  <a:pt x="1459135" y="778364"/>
                </a:lnTo>
                <a:lnTo>
                  <a:pt x="1460688" y="730344"/>
                </a:lnTo>
                <a:lnTo>
                  <a:pt x="1459135" y="682323"/>
                </a:lnTo>
                <a:lnTo>
                  <a:pt x="1454538" y="635132"/>
                </a:lnTo>
                <a:lnTo>
                  <a:pt x="1446995" y="588867"/>
                </a:lnTo>
                <a:lnTo>
                  <a:pt x="1436602" y="543623"/>
                </a:lnTo>
                <a:lnTo>
                  <a:pt x="1423455" y="499498"/>
                </a:lnTo>
                <a:lnTo>
                  <a:pt x="1407649" y="456587"/>
                </a:lnTo>
                <a:lnTo>
                  <a:pt x="1389283" y="414987"/>
                </a:lnTo>
                <a:lnTo>
                  <a:pt x="1368450" y="374793"/>
                </a:lnTo>
                <a:lnTo>
                  <a:pt x="1345249" y="336102"/>
                </a:lnTo>
                <a:lnTo>
                  <a:pt x="1319774" y="299011"/>
                </a:lnTo>
                <a:lnTo>
                  <a:pt x="1292123" y="263616"/>
                </a:lnTo>
                <a:lnTo>
                  <a:pt x="1262392" y="230012"/>
                </a:lnTo>
                <a:lnTo>
                  <a:pt x="1230676" y="198296"/>
                </a:lnTo>
                <a:lnTo>
                  <a:pt x="1197072" y="168564"/>
                </a:lnTo>
                <a:lnTo>
                  <a:pt x="1161676" y="140913"/>
                </a:lnTo>
                <a:lnTo>
                  <a:pt x="1124585" y="115439"/>
                </a:lnTo>
                <a:lnTo>
                  <a:pt x="1085895" y="92237"/>
                </a:lnTo>
                <a:lnTo>
                  <a:pt x="1045701" y="71405"/>
                </a:lnTo>
                <a:lnTo>
                  <a:pt x="1004101" y="53038"/>
                </a:lnTo>
                <a:lnTo>
                  <a:pt x="961190" y="37233"/>
                </a:lnTo>
                <a:lnTo>
                  <a:pt x="917064" y="24085"/>
                </a:lnTo>
                <a:lnTo>
                  <a:pt x="871821" y="13692"/>
                </a:lnTo>
                <a:lnTo>
                  <a:pt x="825555" y="6149"/>
                </a:lnTo>
                <a:lnTo>
                  <a:pt x="778364" y="1553"/>
                </a:lnTo>
                <a:lnTo>
                  <a:pt x="730344" y="0"/>
                </a:lnTo>
                <a:lnTo>
                  <a:pt x="682323" y="1553"/>
                </a:lnTo>
                <a:lnTo>
                  <a:pt x="635132" y="6149"/>
                </a:lnTo>
                <a:lnTo>
                  <a:pt x="588867" y="13692"/>
                </a:lnTo>
                <a:lnTo>
                  <a:pt x="543623" y="24085"/>
                </a:lnTo>
                <a:lnTo>
                  <a:pt x="499498" y="37233"/>
                </a:lnTo>
                <a:lnTo>
                  <a:pt x="456587" y="53038"/>
                </a:lnTo>
                <a:lnTo>
                  <a:pt x="414987" y="71405"/>
                </a:lnTo>
                <a:lnTo>
                  <a:pt x="374793" y="92237"/>
                </a:lnTo>
                <a:lnTo>
                  <a:pt x="336102" y="115439"/>
                </a:lnTo>
                <a:lnTo>
                  <a:pt x="299011" y="140913"/>
                </a:lnTo>
                <a:lnTo>
                  <a:pt x="263616" y="168564"/>
                </a:lnTo>
                <a:lnTo>
                  <a:pt x="230012" y="198296"/>
                </a:lnTo>
                <a:lnTo>
                  <a:pt x="198296" y="230012"/>
                </a:lnTo>
                <a:lnTo>
                  <a:pt x="168564" y="263616"/>
                </a:lnTo>
                <a:lnTo>
                  <a:pt x="140913" y="299011"/>
                </a:lnTo>
                <a:lnTo>
                  <a:pt x="115439" y="336102"/>
                </a:lnTo>
                <a:lnTo>
                  <a:pt x="92237" y="374793"/>
                </a:lnTo>
                <a:lnTo>
                  <a:pt x="71405" y="414987"/>
                </a:lnTo>
                <a:lnTo>
                  <a:pt x="53038" y="456587"/>
                </a:lnTo>
                <a:lnTo>
                  <a:pt x="37233" y="499498"/>
                </a:lnTo>
                <a:lnTo>
                  <a:pt x="24085" y="543623"/>
                </a:lnTo>
                <a:lnTo>
                  <a:pt x="13692" y="588867"/>
                </a:lnTo>
                <a:lnTo>
                  <a:pt x="6149" y="635132"/>
                </a:lnTo>
                <a:lnTo>
                  <a:pt x="1553" y="682323"/>
                </a:lnTo>
                <a:lnTo>
                  <a:pt x="0" y="730344"/>
                </a:lnTo>
                <a:lnTo>
                  <a:pt x="1553" y="778364"/>
                </a:lnTo>
                <a:lnTo>
                  <a:pt x="6149" y="825555"/>
                </a:lnTo>
                <a:lnTo>
                  <a:pt x="13692" y="871821"/>
                </a:lnTo>
                <a:lnTo>
                  <a:pt x="24085" y="917064"/>
                </a:lnTo>
                <a:lnTo>
                  <a:pt x="37233" y="961190"/>
                </a:lnTo>
                <a:lnTo>
                  <a:pt x="53038" y="1004101"/>
                </a:lnTo>
                <a:lnTo>
                  <a:pt x="71405" y="1045701"/>
                </a:lnTo>
                <a:lnTo>
                  <a:pt x="92237" y="1085895"/>
                </a:lnTo>
                <a:lnTo>
                  <a:pt x="115439" y="1124585"/>
                </a:lnTo>
                <a:lnTo>
                  <a:pt x="140913" y="1161676"/>
                </a:lnTo>
                <a:lnTo>
                  <a:pt x="168564" y="1197072"/>
                </a:lnTo>
                <a:lnTo>
                  <a:pt x="198296" y="1230676"/>
                </a:lnTo>
                <a:lnTo>
                  <a:pt x="230012" y="1262392"/>
                </a:lnTo>
                <a:lnTo>
                  <a:pt x="263616" y="1292123"/>
                </a:lnTo>
                <a:lnTo>
                  <a:pt x="299011" y="1319774"/>
                </a:lnTo>
                <a:lnTo>
                  <a:pt x="336102" y="1345249"/>
                </a:lnTo>
                <a:lnTo>
                  <a:pt x="374793" y="1368450"/>
                </a:lnTo>
                <a:lnTo>
                  <a:pt x="414987" y="1389283"/>
                </a:lnTo>
                <a:lnTo>
                  <a:pt x="456587" y="1407649"/>
                </a:lnTo>
                <a:lnTo>
                  <a:pt x="499498" y="1423455"/>
                </a:lnTo>
                <a:lnTo>
                  <a:pt x="543623" y="1436602"/>
                </a:lnTo>
                <a:lnTo>
                  <a:pt x="588867" y="1446995"/>
                </a:lnTo>
                <a:lnTo>
                  <a:pt x="635132" y="1454538"/>
                </a:lnTo>
                <a:lnTo>
                  <a:pt x="682323" y="1459135"/>
                </a:lnTo>
                <a:lnTo>
                  <a:pt x="730344" y="1460688"/>
                </a:lnTo>
                <a:close/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18804" y="4017282"/>
            <a:ext cx="3049905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5750" spc="7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endParaRPr sz="57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560009" y="3799622"/>
            <a:ext cx="2541905" cy="1461135"/>
          </a:xfrm>
          <a:custGeom>
            <a:avLst/>
            <a:gdLst/>
            <a:ahLst/>
            <a:cxnLst/>
            <a:rect l="l" t="t" r="r" b="b"/>
            <a:pathLst>
              <a:path w="2541904" h="1461135">
                <a:moveTo>
                  <a:pt x="730344" y="0"/>
                </a:moveTo>
                <a:lnTo>
                  <a:pt x="682323" y="1553"/>
                </a:lnTo>
                <a:lnTo>
                  <a:pt x="635132" y="6149"/>
                </a:lnTo>
                <a:lnTo>
                  <a:pt x="588867" y="13692"/>
                </a:lnTo>
                <a:lnTo>
                  <a:pt x="543623" y="24085"/>
                </a:lnTo>
                <a:lnTo>
                  <a:pt x="499498" y="37233"/>
                </a:lnTo>
                <a:lnTo>
                  <a:pt x="456587" y="53038"/>
                </a:lnTo>
                <a:lnTo>
                  <a:pt x="414987" y="71405"/>
                </a:lnTo>
                <a:lnTo>
                  <a:pt x="374793" y="92237"/>
                </a:lnTo>
                <a:lnTo>
                  <a:pt x="336102" y="115439"/>
                </a:lnTo>
                <a:lnTo>
                  <a:pt x="299011" y="140913"/>
                </a:lnTo>
                <a:lnTo>
                  <a:pt x="263616" y="168564"/>
                </a:lnTo>
                <a:lnTo>
                  <a:pt x="230012" y="198296"/>
                </a:lnTo>
                <a:lnTo>
                  <a:pt x="198296" y="230012"/>
                </a:lnTo>
                <a:lnTo>
                  <a:pt x="168564" y="263616"/>
                </a:lnTo>
                <a:lnTo>
                  <a:pt x="140913" y="299011"/>
                </a:lnTo>
                <a:lnTo>
                  <a:pt x="115439" y="336102"/>
                </a:lnTo>
                <a:lnTo>
                  <a:pt x="92237" y="374793"/>
                </a:lnTo>
                <a:lnTo>
                  <a:pt x="71405" y="414987"/>
                </a:lnTo>
                <a:lnTo>
                  <a:pt x="53038" y="456587"/>
                </a:lnTo>
                <a:lnTo>
                  <a:pt x="37233" y="499498"/>
                </a:lnTo>
                <a:lnTo>
                  <a:pt x="24085" y="543623"/>
                </a:lnTo>
                <a:lnTo>
                  <a:pt x="13692" y="588867"/>
                </a:lnTo>
                <a:lnTo>
                  <a:pt x="6149" y="635132"/>
                </a:lnTo>
                <a:lnTo>
                  <a:pt x="1553" y="682323"/>
                </a:lnTo>
                <a:lnTo>
                  <a:pt x="0" y="730344"/>
                </a:lnTo>
                <a:lnTo>
                  <a:pt x="1553" y="778364"/>
                </a:lnTo>
                <a:lnTo>
                  <a:pt x="6149" y="825555"/>
                </a:lnTo>
                <a:lnTo>
                  <a:pt x="13692" y="871821"/>
                </a:lnTo>
                <a:lnTo>
                  <a:pt x="24085" y="917064"/>
                </a:lnTo>
                <a:lnTo>
                  <a:pt x="37233" y="961190"/>
                </a:lnTo>
                <a:lnTo>
                  <a:pt x="53038" y="1004101"/>
                </a:lnTo>
                <a:lnTo>
                  <a:pt x="71405" y="1045701"/>
                </a:lnTo>
                <a:lnTo>
                  <a:pt x="92237" y="1085895"/>
                </a:lnTo>
                <a:lnTo>
                  <a:pt x="115439" y="1124585"/>
                </a:lnTo>
                <a:lnTo>
                  <a:pt x="140913" y="1161676"/>
                </a:lnTo>
                <a:lnTo>
                  <a:pt x="168564" y="1197072"/>
                </a:lnTo>
                <a:lnTo>
                  <a:pt x="198296" y="1230676"/>
                </a:lnTo>
                <a:lnTo>
                  <a:pt x="230012" y="1262392"/>
                </a:lnTo>
                <a:lnTo>
                  <a:pt x="263616" y="1292123"/>
                </a:lnTo>
                <a:lnTo>
                  <a:pt x="299011" y="1319774"/>
                </a:lnTo>
                <a:lnTo>
                  <a:pt x="336102" y="1345249"/>
                </a:lnTo>
                <a:lnTo>
                  <a:pt x="374793" y="1368450"/>
                </a:lnTo>
                <a:lnTo>
                  <a:pt x="414987" y="1389283"/>
                </a:lnTo>
                <a:lnTo>
                  <a:pt x="456587" y="1407649"/>
                </a:lnTo>
                <a:lnTo>
                  <a:pt x="499498" y="1423455"/>
                </a:lnTo>
                <a:lnTo>
                  <a:pt x="543623" y="1436602"/>
                </a:lnTo>
                <a:lnTo>
                  <a:pt x="588867" y="1446995"/>
                </a:lnTo>
                <a:lnTo>
                  <a:pt x="635132" y="1454538"/>
                </a:lnTo>
                <a:lnTo>
                  <a:pt x="682323" y="1459135"/>
                </a:lnTo>
                <a:lnTo>
                  <a:pt x="730344" y="1460688"/>
                </a:lnTo>
                <a:lnTo>
                  <a:pt x="783437" y="1458788"/>
                </a:lnTo>
                <a:lnTo>
                  <a:pt x="835502" y="1453174"/>
                </a:lnTo>
                <a:lnTo>
                  <a:pt x="886408" y="1443976"/>
                </a:lnTo>
                <a:lnTo>
                  <a:pt x="936025" y="1431326"/>
                </a:lnTo>
                <a:lnTo>
                  <a:pt x="984222" y="1415353"/>
                </a:lnTo>
                <a:lnTo>
                  <a:pt x="1030870" y="1396189"/>
                </a:lnTo>
                <a:lnTo>
                  <a:pt x="1075837" y="1373962"/>
                </a:lnTo>
                <a:lnTo>
                  <a:pt x="1118994" y="1348805"/>
                </a:lnTo>
                <a:lnTo>
                  <a:pt x="1160209" y="1320846"/>
                </a:lnTo>
                <a:lnTo>
                  <a:pt x="1199352" y="1290217"/>
                </a:lnTo>
                <a:lnTo>
                  <a:pt x="1236294" y="1257049"/>
                </a:lnTo>
                <a:lnTo>
                  <a:pt x="1270903" y="1221470"/>
                </a:lnTo>
                <a:lnTo>
                  <a:pt x="2351655" y="1221470"/>
                </a:lnTo>
                <a:lnTo>
                  <a:pt x="2400893" y="1161676"/>
                </a:lnTo>
                <a:lnTo>
                  <a:pt x="2426368" y="1124585"/>
                </a:lnTo>
                <a:lnTo>
                  <a:pt x="2449569" y="1085895"/>
                </a:lnTo>
                <a:lnTo>
                  <a:pt x="2470401" y="1045701"/>
                </a:lnTo>
                <a:lnTo>
                  <a:pt x="2488768" y="1004101"/>
                </a:lnTo>
                <a:lnTo>
                  <a:pt x="2504574" y="961190"/>
                </a:lnTo>
                <a:lnTo>
                  <a:pt x="2517721" y="917064"/>
                </a:lnTo>
                <a:lnTo>
                  <a:pt x="2528114" y="871821"/>
                </a:lnTo>
                <a:lnTo>
                  <a:pt x="2535657" y="825555"/>
                </a:lnTo>
                <a:lnTo>
                  <a:pt x="2540253" y="778364"/>
                </a:lnTo>
                <a:lnTo>
                  <a:pt x="2541807" y="730344"/>
                </a:lnTo>
                <a:lnTo>
                  <a:pt x="2540253" y="682323"/>
                </a:lnTo>
                <a:lnTo>
                  <a:pt x="2535657" y="635132"/>
                </a:lnTo>
                <a:lnTo>
                  <a:pt x="2528114" y="588867"/>
                </a:lnTo>
                <a:lnTo>
                  <a:pt x="2517721" y="543623"/>
                </a:lnTo>
                <a:lnTo>
                  <a:pt x="2504574" y="499498"/>
                </a:lnTo>
                <a:lnTo>
                  <a:pt x="2488768" y="456587"/>
                </a:lnTo>
                <a:lnTo>
                  <a:pt x="2470401" y="414987"/>
                </a:lnTo>
                <a:lnTo>
                  <a:pt x="2449569" y="374793"/>
                </a:lnTo>
                <a:lnTo>
                  <a:pt x="2426368" y="336102"/>
                </a:lnTo>
                <a:lnTo>
                  <a:pt x="2400893" y="299011"/>
                </a:lnTo>
                <a:lnTo>
                  <a:pt x="2373242" y="263616"/>
                </a:lnTo>
                <a:lnTo>
                  <a:pt x="2351655" y="239217"/>
                </a:lnTo>
                <a:lnTo>
                  <a:pt x="1270903" y="239217"/>
                </a:lnTo>
                <a:lnTo>
                  <a:pt x="1236294" y="203639"/>
                </a:lnTo>
                <a:lnTo>
                  <a:pt x="1199352" y="170470"/>
                </a:lnTo>
                <a:lnTo>
                  <a:pt x="1160209" y="139841"/>
                </a:lnTo>
                <a:lnTo>
                  <a:pt x="1118994" y="111883"/>
                </a:lnTo>
                <a:lnTo>
                  <a:pt x="1075837" y="86725"/>
                </a:lnTo>
                <a:lnTo>
                  <a:pt x="1030870" y="64499"/>
                </a:lnTo>
                <a:lnTo>
                  <a:pt x="984222" y="45334"/>
                </a:lnTo>
                <a:lnTo>
                  <a:pt x="936025" y="29361"/>
                </a:lnTo>
                <a:lnTo>
                  <a:pt x="886408" y="16711"/>
                </a:lnTo>
                <a:lnTo>
                  <a:pt x="835502" y="7514"/>
                </a:lnTo>
                <a:lnTo>
                  <a:pt x="783437" y="1900"/>
                </a:lnTo>
                <a:lnTo>
                  <a:pt x="730344" y="0"/>
                </a:lnTo>
                <a:close/>
              </a:path>
              <a:path w="2541904" h="1461135">
                <a:moveTo>
                  <a:pt x="2351655" y="1221470"/>
                </a:moveTo>
                <a:lnTo>
                  <a:pt x="1270903" y="1221470"/>
                </a:lnTo>
                <a:lnTo>
                  <a:pt x="1305512" y="1257049"/>
                </a:lnTo>
                <a:lnTo>
                  <a:pt x="1342454" y="1290217"/>
                </a:lnTo>
                <a:lnTo>
                  <a:pt x="1381598" y="1320846"/>
                </a:lnTo>
                <a:lnTo>
                  <a:pt x="1422813" y="1348805"/>
                </a:lnTo>
                <a:lnTo>
                  <a:pt x="1465969" y="1373962"/>
                </a:lnTo>
                <a:lnTo>
                  <a:pt x="1510936" y="1396189"/>
                </a:lnTo>
                <a:lnTo>
                  <a:pt x="1557584" y="1415353"/>
                </a:lnTo>
                <a:lnTo>
                  <a:pt x="1605782" y="1431326"/>
                </a:lnTo>
                <a:lnTo>
                  <a:pt x="1655399" y="1443976"/>
                </a:lnTo>
                <a:lnTo>
                  <a:pt x="1706305" y="1453174"/>
                </a:lnTo>
                <a:lnTo>
                  <a:pt x="1758370" y="1458788"/>
                </a:lnTo>
                <a:lnTo>
                  <a:pt x="1811463" y="1460688"/>
                </a:lnTo>
                <a:lnTo>
                  <a:pt x="1859483" y="1459135"/>
                </a:lnTo>
                <a:lnTo>
                  <a:pt x="1906674" y="1454538"/>
                </a:lnTo>
                <a:lnTo>
                  <a:pt x="1952940" y="1446995"/>
                </a:lnTo>
                <a:lnTo>
                  <a:pt x="1998183" y="1436602"/>
                </a:lnTo>
                <a:lnTo>
                  <a:pt x="2042308" y="1423455"/>
                </a:lnTo>
                <a:lnTo>
                  <a:pt x="2085219" y="1407649"/>
                </a:lnTo>
                <a:lnTo>
                  <a:pt x="2126820" y="1389283"/>
                </a:lnTo>
                <a:lnTo>
                  <a:pt x="2167013" y="1368450"/>
                </a:lnTo>
                <a:lnTo>
                  <a:pt x="2205704" y="1345249"/>
                </a:lnTo>
                <a:lnTo>
                  <a:pt x="2242795" y="1319774"/>
                </a:lnTo>
                <a:lnTo>
                  <a:pt x="2278191" y="1292123"/>
                </a:lnTo>
                <a:lnTo>
                  <a:pt x="2311795" y="1262392"/>
                </a:lnTo>
                <a:lnTo>
                  <a:pt x="2343511" y="1230676"/>
                </a:lnTo>
                <a:lnTo>
                  <a:pt x="2351655" y="1221470"/>
                </a:lnTo>
                <a:close/>
              </a:path>
              <a:path w="2541904" h="1461135">
                <a:moveTo>
                  <a:pt x="1811463" y="0"/>
                </a:moveTo>
                <a:lnTo>
                  <a:pt x="1758370" y="1900"/>
                </a:lnTo>
                <a:lnTo>
                  <a:pt x="1706305" y="7514"/>
                </a:lnTo>
                <a:lnTo>
                  <a:pt x="1655399" y="16711"/>
                </a:lnTo>
                <a:lnTo>
                  <a:pt x="1605782" y="29361"/>
                </a:lnTo>
                <a:lnTo>
                  <a:pt x="1557584" y="45334"/>
                </a:lnTo>
                <a:lnTo>
                  <a:pt x="1510936" y="64499"/>
                </a:lnTo>
                <a:lnTo>
                  <a:pt x="1465969" y="86725"/>
                </a:lnTo>
                <a:lnTo>
                  <a:pt x="1422813" y="111883"/>
                </a:lnTo>
                <a:lnTo>
                  <a:pt x="1381598" y="139841"/>
                </a:lnTo>
                <a:lnTo>
                  <a:pt x="1342454" y="170470"/>
                </a:lnTo>
                <a:lnTo>
                  <a:pt x="1305512" y="203639"/>
                </a:lnTo>
                <a:lnTo>
                  <a:pt x="1270903" y="239217"/>
                </a:lnTo>
                <a:lnTo>
                  <a:pt x="2351655" y="239217"/>
                </a:lnTo>
                <a:lnTo>
                  <a:pt x="2311795" y="198296"/>
                </a:lnTo>
                <a:lnTo>
                  <a:pt x="2278191" y="168564"/>
                </a:lnTo>
                <a:lnTo>
                  <a:pt x="2242795" y="140913"/>
                </a:lnTo>
                <a:lnTo>
                  <a:pt x="2205704" y="115439"/>
                </a:lnTo>
                <a:lnTo>
                  <a:pt x="2167013" y="92237"/>
                </a:lnTo>
                <a:lnTo>
                  <a:pt x="2126820" y="71405"/>
                </a:lnTo>
                <a:lnTo>
                  <a:pt x="2085219" y="53038"/>
                </a:lnTo>
                <a:lnTo>
                  <a:pt x="2042308" y="37233"/>
                </a:lnTo>
                <a:lnTo>
                  <a:pt x="1998183" y="24085"/>
                </a:lnTo>
                <a:lnTo>
                  <a:pt x="1952940" y="13692"/>
                </a:lnTo>
                <a:lnTo>
                  <a:pt x="1906674" y="6149"/>
                </a:lnTo>
                <a:lnTo>
                  <a:pt x="1859483" y="1553"/>
                </a:lnTo>
                <a:lnTo>
                  <a:pt x="1811463" y="0"/>
                </a:lnTo>
                <a:close/>
              </a:path>
            </a:pathLst>
          </a:custGeom>
          <a:solidFill>
            <a:srgbClr val="BDD9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560009" y="3799622"/>
            <a:ext cx="2541905" cy="1461135"/>
          </a:xfrm>
          <a:custGeom>
            <a:avLst/>
            <a:gdLst/>
            <a:ahLst/>
            <a:cxnLst/>
            <a:rect l="l" t="t" r="r" b="b"/>
            <a:pathLst>
              <a:path w="2541904" h="1461135">
                <a:moveTo>
                  <a:pt x="2541807" y="730344"/>
                </a:moveTo>
                <a:lnTo>
                  <a:pt x="2540253" y="682323"/>
                </a:lnTo>
                <a:lnTo>
                  <a:pt x="2535657" y="635132"/>
                </a:lnTo>
                <a:lnTo>
                  <a:pt x="2528114" y="588867"/>
                </a:lnTo>
                <a:lnTo>
                  <a:pt x="2517721" y="543623"/>
                </a:lnTo>
                <a:lnTo>
                  <a:pt x="2504574" y="499498"/>
                </a:lnTo>
                <a:lnTo>
                  <a:pt x="2488768" y="456587"/>
                </a:lnTo>
                <a:lnTo>
                  <a:pt x="2470401" y="414987"/>
                </a:lnTo>
                <a:lnTo>
                  <a:pt x="2449569" y="374793"/>
                </a:lnTo>
                <a:lnTo>
                  <a:pt x="2426368" y="336102"/>
                </a:lnTo>
                <a:lnTo>
                  <a:pt x="2400893" y="299011"/>
                </a:lnTo>
                <a:lnTo>
                  <a:pt x="2373242" y="263616"/>
                </a:lnTo>
                <a:lnTo>
                  <a:pt x="2343511" y="230012"/>
                </a:lnTo>
                <a:lnTo>
                  <a:pt x="2311795" y="198296"/>
                </a:lnTo>
                <a:lnTo>
                  <a:pt x="2278191" y="168564"/>
                </a:lnTo>
                <a:lnTo>
                  <a:pt x="2242795" y="140913"/>
                </a:lnTo>
                <a:lnTo>
                  <a:pt x="2205704" y="115439"/>
                </a:lnTo>
                <a:lnTo>
                  <a:pt x="2167013" y="92237"/>
                </a:lnTo>
                <a:lnTo>
                  <a:pt x="2126820" y="71405"/>
                </a:lnTo>
                <a:lnTo>
                  <a:pt x="2085219" y="53038"/>
                </a:lnTo>
                <a:lnTo>
                  <a:pt x="2042308" y="37233"/>
                </a:lnTo>
                <a:lnTo>
                  <a:pt x="1998183" y="24085"/>
                </a:lnTo>
                <a:lnTo>
                  <a:pt x="1952940" y="13692"/>
                </a:lnTo>
                <a:lnTo>
                  <a:pt x="1906674" y="6149"/>
                </a:lnTo>
                <a:lnTo>
                  <a:pt x="1859483" y="1553"/>
                </a:lnTo>
                <a:lnTo>
                  <a:pt x="1811463" y="0"/>
                </a:lnTo>
                <a:lnTo>
                  <a:pt x="1758370" y="1900"/>
                </a:lnTo>
                <a:lnTo>
                  <a:pt x="1706305" y="7514"/>
                </a:lnTo>
                <a:lnTo>
                  <a:pt x="1655399" y="16711"/>
                </a:lnTo>
                <a:lnTo>
                  <a:pt x="1605782" y="29361"/>
                </a:lnTo>
                <a:lnTo>
                  <a:pt x="1557584" y="45334"/>
                </a:lnTo>
                <a:lnTo>
                  <a:pt x="1510936" y="64499"/>
                </a:lnTo>
                <a:lnTo>
                  <a:pt x="1465969" y="86725"/>
                </a:lnTo>
                <a:lnTo>
                  <a:pt x="1422813" y="111883"/>
                </a:lnTo>
                <a:lnTo>
                  <a:pt x="1381598" y="139841"/>
                </a:lnTo>
                <a:lnTo>
                  <a:pt x="1342454" y="170470"/>
                </a:lnTo>
                <a:lnTo>
                  <a:pt x="1305512" y="203639"/>
                </a:lnTo>
                <a:lnTo>
                  <a:pt x="1270903" y="239217"/>
                </a:lnTo>
                <a:lnTo>
                  <a:pt x="1236294" y="203639"/>
                </a:lnTo>
                <a:lnTo>
                  <a:pt x="1199352" y="170470"/>
                </a:lnTo>
                <a:lnTo>
                  <a:pt x="1160209" y="139841"/>
                </a:lnTo>
                <a:lnTo>
                  <a:pt x="1118994" y="111883"/>
                </a:lnTo>
                <a:lnTo>
                  <a:pt x="1075837" y="86725"/>
                </a:lnTo>
                <a:lnTo>
                  <a:pt x="1030870" y="64499"/>
                </a:lnTo>
                <a:lnTo>
                  <a:pt x="984222" y="45334"/>
                </a:lnTo>
                <a:lnTo>
                  <a:pt x="936025" y="29361"/>
                </a:lnTo>
                <a:lnTo>
                  <a:pt x="886408" y="16711"/>
                </a:lnTo>
                <a:lnTo>
                  <a:pt x="835502" y="7514"/>
                </a:lnTo>
                <a:lnTo>
                  <a:pt x="783437" y="1900"/>
                </a:lnTo>
                <a:lnTo>
                  <a:pt x="730344" y="0"/>
                </a:lnTo>
                <a:lnTo>
                  <a:pt x="682323" y="1553"/>
                </a:lnTo>
                <a:lnTo>
                  <a:pt x="635132" y="6149"/>
                </a:lnTo>
                <a:lnTo>
                  <a:pt x="588867" y="13692"/>
                </a:lnTo>
                <a:lnTo>
                  <a:pt x="543623" y="24085"/>
                </a:lnTo>
                <a:lnTo>
                  <a:pt x="499498" y="37233"/>
                </a:lnTo>
                <a:lnTo>
                  <a:pt x="456587" y="53038"/>
                </a:lnTo>
                <a:lnTo>
                  <a:pt x="414987" y="71405"/>
                </a:lnTo>
                <a:lnTo>
                  <a:pt x="374793" y="92237"/>
                </a:lnTo>
                <a:lnTo>
                  <a:pt x="336102" y="115439"/>
                </a:lnTo>
                <a:lnTo>
                  <a:pt x="299011" y="140913"/>
                </a:lnTo>
                <a:lnTo>
                  <a:pt x="263616" y="168564"/>
                </a:lnTo>
                <a:lnTo>
                  <a:pt x="230012" y="198296"/>
                </a:lnTo>
                <a:lnTo>
                  <a:pt x="198296" y="230012"/>
                </a:lnTo>
                <a:lnTo>
                  <a:pt x="168564" y="263616"/>
                </a:lnTo>
                <a:lnTo>
                  <a:pt x="140913" y="299011"/>
                </a:lnTo>
                <a:lnTo>
                  <a:pt x="115439" y="336102"/>
                </a:lnTo>
                <a:lnTo>
                  <a:pt x="92237" y="374793"/>
                </a:lnTo>
                <a:lnTo>
                  <a:pt x="71405" y="414987"/>
                </a:lnTo>
                <a:lnTo>
                  <a:pt x="53038" y="456587"/>
                </a:lnTo>
                <a:lnTo>
                  <a:pt x="37233" y="499498"/>
                </a:lnTo>
                <a:lnTo>
                  <a:pt x="24085" y="543623"/>
                </a:lnTo>
                <a:lnTo>
                  <a:pt x="13692" y="588867"/>
                </a:lnTo>
                <a:lnTo>
                  <a:pt x="6149" y="635132"/>
                </a:lnTo>
                <a:lnTo>
                  <a:pt x="1553" y="682323"/>
                </a:lnTo>
                <a:lnTo>
                  <a:pt x="0" y="730344"/>
                </a:lnTo>
                <a:lnTo>
                  <a:pt x="1553" y="778364"/>
                </a:lnTo>
                <a:lnTo>
                  <a:pt x="6149" y="825555"/>
                </a:lnTo>
                <a:lnTo>
                  <a:pt x="13692" y="871821"/>
                </a:lnTo>
                <a:lnTo>
                  <a:pt x="24085" y="917064"/>
                </a:lnTo>
                <a:lnTo>
                  <a:pt x="37233" y="961190"/>
                </a:lnTo>
                <a:lnTo>
                  <a:pt x="53038" y="1004101"/>
                </a:lnTo>
                <a:lnTo>
                  <a:pt x="71405" y="1045701"/>
                </a:lnTo>
                <a:lnTo>
                  <a:pt x="92237" y="1085895"/>
                </a:lnTo>
                <a:lnTo>
                  <a:pt x="115439" y="1124585"/>
                </a:lnTo>
                <a:lnTo>
                  <a:pt x="140913" y="1161676"/>
                </a:lnTo>
                <a:lnTo>
                  <a:pt x="168564" y="1197072"/>
                </a:lnTo>
                <a:lnTo>
                  <a:pt x="198296" y="1230676"/>
                </a:lnTo>
                <a:lnTo>
                  <a:pt x="230012" y="1262392"/>
                </a:lnTo>
                <a:lnTo>
                  <a:pt x="263616" y="1292123"/>
                </a:lnTo>
                <a:lnTo>
                  <a:pt x="299011" y="1319774"/>
                </a:lnTo>
                <a:lnTo>
                  <a:pt x="336102" y="1345249"/>
                </a:lnTo>
                <a:lnTo>
                  <a:pt x="374793" y="1368450"/>
                </a:lnTo>
                <a:lnTo>
                  <a:pt x="414987" y="1389283"/>
                </a:lnTo>
                <a:lnTo>
                  <a:pt x="456587" y="1407649"/>
                </a:lnTo>
                <a:lnTo>
                  <a:pt x="499498" y="1423455"/>
                </a:lnTo>
                <a:lnTo>
                  <a:pt x="543623" y="1436602"/>
                </a:lnTo>
                <a:lnTo>
                  <a:pt x="588867" y="1446995"/>
                </a:lnTo>
                <a:lnTo>
                  <a:pt x="635132" y="1454538"/>
                </a:lnTo>
                <a:lnTo>
                  <a:pt x="682323" y="1459135"/>
                </a:lnTo>
                <a:lnTo>
                  <a:pt x="730344" y="1460688"/>
                </a:lnTo>
                <a:lnTo>
                  <a:pt x="783437" y="1458788"/>
                </a:lnTo>
                <a:lnTo>
                  <a:pt x="835502" y="1453174"/>
                </a:lnTo>
                <a:lnTo>
                  <a:pt x="886408" y="1443976"/>
                </a:lnTo>
                <a:lnTo>
                  <a:pt x="936025" y="1431326"/>
                </a:lnTo>
                <a:lnTo>
                  <a:pt x="984222" y="1415353"/>
                </a:lnTo>
                <a:lnTo>
                  <a:pt x="1030870" y="1396189"/>
                </a:lnTo>
                <a:lnTo>
                  <a:pt x="1075837" y="1373962"/>
                </a:lnTo>
                <a:lnTo>
                  <a:pt x="1118994" y="1348805"/>
                </a:lnTo>
                <a:lnTo>
                  <a:pt x="1160209" y="1320846"/>
                </a:lnTo>
                <a:lnTo>
                  <a:pt x="1199352" y="1290217"/>
                </a:lnTo>
                <a:lnTo>
                  <a:pt x="1236294" y="1257049"/>
                </a:lnTo>
                <a:lnTo>
                  <a:pt x="1270903" y="1221470"/>
                </a:lnTo>
                <a:lnTo>
                  <a:pt x="1305512" y="1257049"/>
                </a:lnTo>
                <a:lnTo>
                  <a:pt x="1342454" y="1290217"/>
                </a:lnTo>
                <a:lnTo>
                  <a:pt x="1381598" y="1320846"/>
                </a:lnTo>
                <a:lnTo>
                  <a:pt x="1422813" y="1348805"/>
                </a:lnTo>
                <a:lnTo>
                  <a:pt x="1465969" y="1373962"/>
                </a:lnTo>
                <a:lnTo>
                  <a:pt x="1510936" y="1396189"/>
                </a:lnTo>
                <a:lnTo>
                  <a:pt x="1557584" y="1415353"/>
                </a:lnTo>
                <a:lnTo>
                  <a:pt x="1605782" y="1431326"/>
                </a:lnTo>
                <a:lnTo>
                  <a:pt x="1655399" y="1443976"/>
                </a:lnTo>
                <a:lnTo>
                  <a:pt x="1706305" y="1453174"/>
                </a:lnTo>
                <a:lnTo>
                  <a:pt x="1758370" y="1458788"/>
                </a:lnTo>
                <a:lnTo>
                  <a:pt x="1811463" y="1460688"/>
                </a:lnTo>
                <a:lnTo>
                  <a:pt x="1859483" y="1459135"/>
                </a:lnTo>
                <a:lnTo>
                  <a:pt x="1906674" y="1454538"/>
                </a:lnTo>
                <a:lnTo>
                  <a:pt x="1952940" y="1446995"/>
                </a:lnTo>
                <a:lnTo>
                  <a:pt x="1998183" y="1436602"/>
                </a:lnTo>
                <a:lnTo>
                  <a:pt x="2042308" y="1423455"/>
                </a:lnTo>
                <a:lnTo>
                  <a:pt x="2085219" y="1407649"/>
                </a:lnTo>
                <a:lnTo>
                  <a:pt x="2126820" y="1389283"/>
                </a:lnTo>
                <a:lnTo>
                  <a:pt x="2167013" y="1368450"/>
                </a:lnTo>
                <a:lnTo>
                  <a:pt x="2205704" y="1345249"/>
                </a:lnTo>
                <a:lnTo>
                  <a:pt x="2242795" y="1319774"/>
                </a:lnTo>
                <a:lnTo>
                  <a:pt x="2278191" y="1292123"/>
                </a:lnTo>
                <a:lnTo>
                  <a:pt x="2311795" y="1262392"/>
                </a:lnTo>
                <a:lnTo>
                  <a:pt x="2343511" y="1230676"/>
                </a:lnTo>
                <a:lnTo>
                  <a:pt x="2373242" y="1197072"/>
                </a:lnTo>
                <a:lnTo>
                  <a:pt x="2400893" y="1161676"/>
                </a:lnTo>
                <a:lnTo>
                  <a:pt x="2426368" y="1124585"/>
                </a:lnTo>
                <a:lnTo>
                  <a:pt x="2449569" y="1085895"/>
                </a:lnTo>
                <a:lnTo>
                  <a:pt x="2470401" y="1045701"/>
                </a:lnTo>
                <a:lnTo>
                  <a:pt x="2488768" y="1004101"/>
                </a:lnTo>
                <a:lnTo>
                  <a:pt x="2504574" y="961190"/>
                </a:lnTo>
                <a:lnTo>
                  <a:pt x="2517721" y="917064"/>
                </a:lnTo>
                <a:lnTo>
                  <a:pt x="2528114" y="871821"/>
                </a:lnTo>
                <a:lnTo>
                  <a:pt x="2535657" y="825555"/>
                </a:lnTo>
                <a:lnTo>
                  <a:pt x="2540253" y="778364"/>
                </a:lnTo>
                <a:lnTo>
                  <a:pt x="2541807" y="730344"/>
                </a:lnTo>
                <a:close/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29179" y="4017282"/>
            <a:ext cx="1559560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093470" algn="l"/>
              </a:tabLst>
            </a:pPr>
            <a:r>
              <a:rPr sz="5750" spc="75" dirty="0">
                <a:solidFill>
                  <a:srgbClr val="1E1E1E"/>
                </a:solidFill>
                <a:latin typeface="Arial"/>
                <a:cs typeface="Arial"/>
              </a:rPr>
              <a:t>А	</a:t>
            </a:r>
            <a:r>
              <a:rPr sz="5750" spc="-270" dirty="0">
                <a:solidFill>
                  <a:srgbClr val="1E1E1E"/>
                </a:solidFill>
                <a:latin typeface="Arial"/>
                <a:cs typeface="Arial"/>
              </a:rPr>
              <a:t>B</a:t>
            </a:r>
            <a:endParaRPr sz="57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491797" y="3799622"/>
            <a:ext cx="1461135" cy="1461135"/>
          </a:xfrm>
          <a:custGeom>
            <a:avLst/>
            <a:gdLst/>
            <a:ahLst/>
            <a:cxnLst/>
            <a:rect l="l" t="t" r="r" b="b"/>
            <a:pathLst>
              <a:path w="1461134" h="1461135">
                <a:moveTo>
                  <a:pt x="730344" y="1460688"/>
                </a:moveTo>
                <a:lnTo>
                  <a:pt x="778364" y="1459135"/>
                </a:lnTo>
                <a:lnTo>
                  <a:pt x="825555" y="1454538"/>
                </a:lnTo>
                <a:lnTo>
                  <a:pt x="871821" y="1446995"/>
                </a:lnTo>
                <a:lnTo>
                  <a:pt x="917064" y="1436602"/>
                </a:lnTo>
                <a:lnTo>
                  <a:pt x="961190" y="1423455"/>
                </a:lnTo>
                <a:lnTo>
                  <a:pt x="1004101" y="1407649"/>
                </a:lnTo>
                <a:lnTo>
                  <a:pt x="1045701" y="1389283"/>
                </a:lnTo>
                <a:lnTo>
                  <a:pt x="1085895" y="1368450"/>
                </a:lnTo>
                <a:lnTo>
                  <a:pt x="1124585" y="1345249"/>
                </a:lnTo>
                <a:lnTo>
                  <a:pt x="1161676" y="1319774"/>
                </a:lnTo>
                <a:lnTo>
                  <a:pt x="1197072" y="1292123"/>
                </a:lnTo>
                <a:lnTo>
                  <a:pt x="1230676" y="1262392"/>
                </a:lnTo>
                <a:lnTo>
                  <a:pt x="1262392" y="1230676"/>
                </a:lnTo>
                <a:lnTo>
                  <a:pt x="1292123" y="1197072"/>
                </a:lnTo>
                <a:lnTo>
                  <a:pt x="1319774" y="1161676"/>
                </a:lnTo>
                <a:lnTo>
                  <a:pt x="1345249" y="1124585"/>
                </a:lnTo>
                <a:lnTo>
                  <a:pt x="1368450" y="1085895"/>
                </a:lnTo>
                <a:lnTo>
                  <a:pt x="1389283" y="1045701"/>
                </a:lnTo>
                <a:lnTo>
                  <a:pt x="1407649" y="1004101"/>
                </a:lnTo>
                <a:lnTo>
                  <a:pt x="1423455" y="961190"/>
                </a:lnTo>
                <a:lnTo>
                  <a:pt x="1436602" y="917064"/>
                </a:lnTo>
                <a:lnTo>
                  <a:pt x="1446995" y="871821"/>
                </a:lnTo>
                <a:lnTo>
                  <a:pt x="1454538" y="825555"/>
                </a:lnTo>
                <a:lnTo>
                  <a:pt x="1459135" y="778364"/>
                </a:lnTo>
                <a:lnTo>
                  <a:pt x="1460688" y="730344"/>
                </a:lnTo>
                <a:lnTo>
                  <a:pt x="1459135" y="682323"/>
                </a:lnTo>
                <a:lnTo>
                  <a:pt x="1454538" y="635132"/>
                </a:lnTo>
                <a:lnTo>
                  <a:pt x="1446995" y="588867"/>
                </a:lnTo>
                <a:lnTo>
                  <a:pt x="1436602" y="543623"/>
                </a:lnTo>
                <a:lnTo>
                  <a:pt x="1423455" y="499498"/>
                </a:lnTo>
                <a:lnTo>
                  <a:pt x="1407649" y="456587"/>
                </a:lnTo>
                <a:lnTo>
                  <a:pt x="1389283" y="414987"/>
                </a:lnTo>
                <a:lnTo>
                  <a:pt x="1368450" y="374793"/>
                </a:lnTo>
                <a:lnTo>
                  <a:pt x="1345249" y="336102"/>
                </a:lnTo>
                <a:lnTo>
                  <a:pt x="1319774" y="299011"/>
                </a:lnTo>
                <a:lnTo>
                  <a:pt x="1292123" y="263616"/>
                </a:lnTo>
                <a:lnTo>
                  <a:pt x="1262392" y="230012"/>
                </a:lnTo>
                <a:lnTo>
                  <a:pt x="1230676" y="198296"/>
                </a:lnTo>
                <a:lnTo>
                  <a:pt x="1197072" y="168564"/>
                </a:lnTo>
                <a:lnTo>
                  <a:pt x="1161676" y="140913"/>
                </a:lnTo>
                <a:lnTo>
                  <a:pt x="1124585" y="115439"/>
                </a:lnTo>
                <a:lnTo>
                  <a:pt x="1085895" y="92237"/>
                </a:lnTo>
                <a:lnTo>
                  <a:pt x="1045701" y="71405"/>
                </a:lnTo>
                <a:lnTo>
                  <a:pt x="1004101" y="53038"/>
                </a:lnTo>
                <a:lnTo>
                  <a:pt x="961190" y="37233"/>
                </a:lnTo>
                <a:lnTo>
                  <a:pt x="917064" y="24085"/>
                </a:lnTo>
                <a:lnTo>
                  <a:pt x="871821" y="13692"/>
                </a:lnTo>
                <a:lnTo>
                  <a:pt x="825555" y="6149"/>
                </a:lnTo>
                <a:lnTo>
                  <a:pt x="778364" y="1553"/>
                </a:lnTo>
                <a:lnTo>
                  <a:pt x="730344" y="0"/>
                </a:lnTo>
                <a:lnTo>
                  <a:pt x="682323" y="1553"/>
                </a:lnTo>
                <a:lnTo>
                  <a:pt x="635132" y="6149"/>
                </a:lnTo>
                <a:lnTo>
                  <a:pt x="588867" y="13692"/>
                </a:lnTo>
                <a:lnTo>
                  <a:pt x="543623" y="24085"/>
                </a:lnTo>
                <a:lnTo>
                  <a:pt x="499498" y="37233"/>
                </a:lnTo>
                <a:lnTo>
                  <a:pt x="456587" y="53038"/>
                </a:lnTo>
                <a:lnTo>
                  <a:pt x="414987" y="71405"/>
                </a:lnTo>
                <a:lnTo>
                  <a:pt x="374793" y="92237"/>
                </a:lnTo>
                <a:lnTo>
                  <a:pt x="336102" y="115439"/>
                </a:lnTo>
                <a:lnTo>
                  <a:pt x="299011" y="140913"/>
                </a:lnTo>
                <a:lnTo>
                  <a:pt x="263616" y="168564"/>
                </a:lnTo>
                <a:lnTo>
                  <a:pt x="230012" y="198296"/>
                </a:lnTo>
                <a:lnTo>
                  <a:pt x="198296" y="230012"/>
                </a:lnTo>
                <a:lnTo>
                  <a:pt x="168564" y="263616"/>
                </a:lnTo>
                <a:lnTo>
                  <a:pt x="140913" y="299011"/>
                </a:lnTo>
                <a:lnTo>
                  <a:pt x="115439" y="336102"/>
                </a:lnTo>
                <a:lnTo>
                  <a:pt x="92237" y="374793"/>
                </a:lnTo>
                <a:lnTo>
                  <a:pt x="71405" y="414987"/>
                </a:lnTo>
                <a:lnTo>
                  <a:pt x="53038" y="456587"/>
                </a:lnTo>
                <a:lnTo>
                  <a:pt x="37233" y="499498"/>
                </a:lnTo>
                <a:lnTo>
                  <a:pt x="24085" y="543623"/>
                </a:lnTo>
                <a:lnTo>
                  <a:pt x="13692" y="588867"/>
                </a:lnTo>
                <a:lnTo>
                  <a:pt x="6149" y="635132"/>
                </a:lnTo>
                <a:lnTo>
                  <a:pt x="1553" y="682323"/>
                </a:lnTo>
                <a:lnTo>
                  <a:pt x="0" y="730344"/>
                </a:lnTo>
                <a:lnTo>
                  <a:pt x="1553" y="778364"/>
                </a:lnTo>
                <a:lnTo>
                  <a:pt x="6149" y="825555"/>
                </a:lnTo>
                <a:lnTo>
                  <a:pt x="13692" y="871821"/>
                </a:lnTo>
                <a:lnTo>
                  <a:pt x="24085" y="917064"/>
                </a:lnTo>
                <a:lnTo>
                  <a:pt x="37233" y="961190"/>
                </a:lnTo>
                <a:lnTo>
                  <a:pt x="53038" y="1004101"/>
                </a:lnTo>
                <a:lnTo>
                  <a:pt x="71405" y="1045701"/>
                </a:lnTo>
                <a:lnTo>
                  <a:pt x="92237" y="1085895"/>
                </a:lnTo>
                <a:lnTo>
                  <a:pt x="115439" y="1124585"/>
                </a:lnTo>
                <a:lnTo>
                  <a:pt x="140913" y="1161676"/>
                </a:lnTo>
                <a:lnTo>
                  <a:pt x="168564" y="1197072"/>
                </a:lnTo>
                <a:lnTo>
                  <a:pt x="198296" y="1230676"/>
                </a:lnTo>
                <a:lnTo>
                  <a:pt x="230012" y="1262392"/>
                </a:lnTo>
                <a:lnTo>
                  <a:pt x="263616" y="1292123"/>
                </a:lnTo>
                <a:lnTo>
                  <a:pt x="299011" y="1319774"/>
                </a:lnTo>
                <a:lnTo>
                  <a:pt x="336102" y="1345249"/>
                </a:lnTo>
                <a:lnTo>
                  <a:pt x="374793" y="1368450"/>
                </a:lnTo>
                <a:lnTo>
                  <a:pt x="414987" y="1389283"/>
                </a:lnTo>
                <a:lnTo>
                  <a:pt x="456587" y="1407649"/>
                </a:lnTo>
                <a:lnTo>
                  <a:pt x="499498" y="1423455"/>
                </a:lnTo>
                <a:lnTo>
                  <a:pt x="543623" y="1436602"/>
                </a:lnTo>
                <a:lnTo>
                  <a:pt x="588867" y="1446995"/>
                </a:lnTo>
                <a:lnTo>
                  <a:pt x="635132" y="1454538"/>
                </a:lnTo>
                <a:lnTo>
                  <a:pt x="682323" y="1459135"/>
                </a:lnTo>
                <a:lnTo>
                  <a:pt x="730344" y="1460688"/>
                </a:lnTo>
                <a:close/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572915" y="3799622"/>
            <a:ext cx="1461135" cy="1461135"/>
          </a:xfrm>
          <a:custGeom>
            <a:avLst/>
            <a:gdLst/>
            <a:ahLst/>
            <a:cxnLst/>
            <a:rect l="l" t="t" r="r" b="b"/>
            <a:pathLst>
              <a:path w="1461134" h="1461135">
                <a:moveTo>
                  <a:pt x="730344" y="0"/>
                </a:moveTo>
                <a:lnTo>
                  <a:pt x="682323" y="1553"/>
                </a:lnTo>
                <a:lnTo>
                  <a:pt x="635132" y="6149"/>
                </a:lnTo>
                <a:lnTo>
                  <a:pt x="588867" y="13692"/>
                </a:lnTo>
                <a:lnTo>
                  <a:pt x="543623" y="24085"/>
                </a:lnTo>
                <a:lnTo>
                  <a:pt x="499498" y="37233"/>
                </a:lnTo>
                <a:lnTo>
                  <a:pt x="456587" y="53038"/>
                </a:lnTo>
                <a:lnTo>
                  <a:pt x="414987" y="71405"/>
                </a:lnTo>
                <a:lnTo>
                  <a:pt x="374793" y="92237"/>
                </a:lnTo>
                <a:lnTo>
                  <a:pt x="336102" y="115439"/>
                </a:lnTo>
                <a:lnTo>
                  <a:pt x="299011" y="140913"/>
                </a:lnTo>
                <a:lnTo>
                  <a:pt x="263616" y="168564"/>
                </a:lnTo>
                <a:lnTo>
                  <a:pt x="230012" y="198296"/>
                </a:lnTo>
                <a:lnTo>
                  <a:pt x="198296" y="230012"/>
                </a:lnTo>
                <a:lnTo>
                  <a:pt x="168564" y="263616"/>
                </a:lnTo>
                <a:lnTo>
                  <a:pt x="140913" y="299011"/>
                </a:lnTo>
                <a:lnTo>
                  <a:pt x="115439" y="336102"/>
                </a:lnTo>
                <a:lnTo>
                  <a:pt x="92237" y="374793"/>
                </a:lnTo>
                <a:lnTo>
                  <a:pt x="71405" y="414987"/>
                </a:lnTo>
                <a:lnTo>
                  <a:pt x="53038" y="456587"/>
                </a:lnTo>
                <a:lnTo>
                  <a:pt x="37233" y="499498"/>
                </a:lnTo>
                <a:lnTo>
                  <a:pt x="24085" y="543623"/>
                </a:lnTo>
                <a:lnTo>
                  <a:pt x="13692" y="588867"/>
                </a:lnTo>
                <a:lnTo>
                  <a:pt x="6149" y="635132"/>
                </a:lnTo>
                <a:lnTo>
                  <a:pt x="1553" y="682323"/>
                </a:lnTo>
                <a:lnTo>
                  <a:pt x="0" y="730344"/>
                </a:lnTo>
                <a:lnTo>
                  <a:pt x="1553" y="778364"/>
                </a:lnTo>
                <a:lnTo>
                  <a:pt x="6149" y="825555"/>
                </a:lnTo>
                <a:lnTo>
                  <a:pt x="13692" y="871821"/>
                </a:lnTo>
                <a:lnTo>
                  <a:pt x="24085" y="917064"/>
                </a:lnTo>
                <a:lnTo>
                  <a:pt x="37233" y="961190"/>
                </a:lnTo>
                <a:lnTo>
                  <a:pt x="53038" y="1004101"/>
                </a:lnTo>
                <a:lnTo>
                  <a:pt x="71405" y="1045701"/>
                </a:lnTo>
                <a:lnTo>
                  <a:pt x="92237" y="1085895"/>
                </a:lnTo>
                <a:lnTo>
                  <a:pt x="115439" y="1124585"/>
                </a:lnTo>
                <a:lnTo>
                  <a:pt x="140913" y="1161676"/>
                </a:lnTo>
                <a:lnTo>
                  <a:pt x="168564" y="1197072"/>
                </a:lnTo>
                <a:lnTo>
                  <a:pt x="198296" y="1230676"/>
                </a:lnTo>
                <a:lnTo>
                  <a:pt x="230012" y="1262392"/>
                </a:lnTo>
                <a:lnTo>
                  <a:pt x="263616" y="1292123"/>
                </a:lnTo>
                <a:lnTo>
                  <a:pt x="299011" y="1319774"/>
                </a:lnTo>
                <a:lnTo>
                  <a:pt x="336102" y="1345249"/>
                </a:lnTo>
                <a:lnTo>
                  <a:pt x="374793" y="1368450"/>
                </a:lnTo>
                <a:lnTo>
                  <a:pt x="414987" y="1389283"/>
                </a:lnTo>
                <a:lnTo>
                  <a:pt x="456587" y="1407649"/>
                </a:lnTo>
                <a:lnTo>
                  <a:pt x="499498" y="1423455"/>
                </a:lnTo>
                <a:lnTo>
                  <a:pt x="543623" y="1436602"/>
                </a:lnTo>
                <a:lnTo>
                  <a:pt x="588867" y="1446995"/>
                </a:lnTo>
                <a:lnTo>
                  <a:pt x="635132" y="1454538"/>
                </a:lnTo>
                <a:lnTo>
                  <a:pt x="682323" y="1459135"/>
                </a:lnTo>
                <a:lnTo>
                  <a:pt x="730344" y="1460688"/>
                </a:lnTo>
                <a:lnTo>
                  <a:pt x="778364" y="1459135"/>
                </a:lnTo>
                <a:lnTo>
                  <a:pt x="825555" y="1454538"/>
                </a:lnTo>
                <a:lnTo>
                  <a:pt x="871821" y="1446995"/>
                </a:lnTo>
                <a:lnTo>
                  <a:pt x="917064" y="1436602"/>
                </a:lnTo>
                <a:lnTo>
                  <a:pt x="961190" y="1423455"/>
                </a:lnTo>
                <a:lnTo>
                  <a:pt x="1004101" y="1407649"/>
                </a:lnTo>
                <a:lnTo>
                  <a:pt x="1045701" y="1389283"/>
                </a:lnTo>
                <a:lnTo>
                  <a:pt x="1085895" y="1368450"/>
                </a:lnTo>
                <a:lnTo>
                  <a:pt x="1124585" y="1345249"/>
                </a:lnTo>
                <a:lnTo>
                  <a:pt x="1161676" y="1319774"/>
                </a:lnTo>
                <a:lnTo>
                  <a:pt x="1197072" y="1292123"/>
                </a:lnTo>
                <a:lnTo>
                  <a:pt x="1230676" y="1262392"/>
                </a:lnTo>
                <a:lnTo>
                  <a:pt x="1262392" y="1230676"/>
                </a:lnTo>
                <a:lnTo>
                  <a:pt x="1292123" y="1197072"/>
                </a:lnTo>
                <a:lnTo>
                  <a:pt x="1319774" y="1161676"/>
                </a:lnTo>
                <a:lnTo>
                  <a:pt x="1345249" y="1124585"/>
                </a:lnTo>
                <a:lnTo>
                  <a:pt x="1368450" y="1085895"/>
                </a:lnTo>
                <a:lnTo>
                  <a:pt x="1389283" y="1045701"/>
                </a:lnTo>
                <a:lnTo>
                  <a:pt x="1407649" y="1004101"/>
                </a:lnTo>
                <a:lnTo>
                  <a:pt x="1423455" y="961190"/>
                </a:lnTo>
                <a:lnTo>
                  <a:pt x="1436602" y="917064"/>
                </a:lnTo>
                <a:lnTo>
                  <a:pt x="1446995" y="871821"/>
                </a:lnTo>
                <a:lnTo>
                  <a:pt x="1454538" y="825555"/>
                </a:lnTo>
                <a:lnTo>
                  <a:pt x="1459135" y="778364"/>
                </a:lnTo>
                <a:lnTo>
                  <a:pt x="1460688" y="730344"/>
                </a:lnTo>
                <a:lnTo>
                  <a:pt x="1459135" y="682323"/>
                </a:lnTo>
                <a:lnTo>
                  <a:pt x="1454538" y="635132"/>
                </a:lnTo>
                <a:lnTo>
                  <a:pt x="1446995" y="588867"/>
                </a:lnTo>
                <a:lnTo>
                  <a:pt x="1436602" y="543623"/>
                </a:lnTo>
                <a:lnTo>
                  <a:pt x="1423455" y="499498"/>
                </a:lnTo>
                <a:lnTo>
                  <a:pt x="1407649" y="456587"/>
                </a:lnTo>
                <a:lnTo>
                  <a:pt x="1389283" y="414987"/>
                </a:lnTo>
                <a:lnTo>
                  <a:pt x="1368450" y="374793"/>
                </a:lnTo>
                <a:lnTo>
                  <a:pt x="1345249" y="336102"/>
                </a:lnTo>
                <a:lnTo>
                  <a:pt x="1319774" y="299011"/>
                </a:lnTo>
                <a:lnTo>
                  <a:pt x="1292123" y="263616"/>
                </a:lnTo>
                <a:lnTo>
                  <a:pt x="1262392" y="230012"/>
                </a:lnTo>
                <a:lnTo>
                  <a:pt x="1230676" y="198296"/>
                </a:lnTo>
                <a:lnTo>
                  <a:pt x="1197072" y="168564"/>
                </a:lnTo>
                <a:lnTo>
                  <a:pt x="1161676" y="140913"/>
                </a:lnTo>
                <a:lnTo>
                  <a:pt x="1124585" y="115439"/>
                </a:lnTo>
                <a:lnTo>
                  <a:pt x="1085895" y="92237"/>
                </a:lnTo>
                <a:lnTo>
                  <a:pt x="1045701" y="71405"/>
                </a:lnTo>
                <a:lnTo>
                  <a:pt x="1004101" y="53038"/>
                </a:lnTo>
                <a:lnTo>
                  <a:pt x="961190" y="37233"/>
                </a:lnTo>
                <a:lnTo>
                  <a:pt x="917064" y="24085"/>
                </a:lnTo>
                <a:lnTo>
                  <a:pt x="871821" y="13692"/>
                </a:lnTo>
                <a:lnTo>
                  <a:pt x="825555" y="6149"/>
                </a:lnTo>
                <a:lnTo>
                  <a:pt x="778364" y="1553"/>
                </a:lnTo>
                <a:lnTo>
                  <a:pt x="730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572915" y="3799622"/>
            <a:ext cx="1461135" cy="1461135"/>
          </a:xfrm>
          <a:custGeom>
            <a:avLst/>
            <a:gdLst/>
            <a:ahLst/>
            <a:cxnLst/>
            <a:rect l="l" t="t" r="r" b="b"/>
            <a:pathLst>
              <a:path w="1461134" h="1461135">
                <a:moveTo>
                  <a:pt x="730344" y="1460688"/>
                </a:moveTo>
                <a:lnTo>
                  <a:pt x="778364" y="1459135"/>
                </a:lnTo>
                <a:lnTo>
                  <a:pt x="825555" y="1454538"/>
                </a:lnTo>
                <a:lnTo>
                  <a:pt x="871821" y="1446995"/>
                </a:lnTo>
                <a:lnTo>
                  <a:pt x="917064" y="1436602"/>
                </a:lnTo>
                <a:lnTo>
                  <a:pt x="961190" y="1423455"/>
                </a:lnTo>
                <a:lnTo>
                  <a:pt x="1004101" y="1407649"/>
                </a:lnTo>
                <a:lnTo>
                  <a:pt x="1045701" y="1389283"/>
                </a:lnTo>
                <a:lnTo>
                  <a:pt x="1085895" y="1368450"/>
                </a:lnTo>
                <a:lnTo>
                  <a:pt x="1124585" y="1345249"/>
                </a:lnTo>
                <a:lnTo>
                  <a:pt x="1161676" y="1319774"/>
                </a:lnTo>
                <a:lnTo>
                  <a:pt x="1197072" y="1292123"/>
                </a:lnTo>
                <a:lnTo>
                  <a:pt x="1230676" y="1262392"/>
                </a:lnTo>
                <a:lnTo>
                  <a:pt x="1262392" y="1230676"/>
                </a:lnTo>
                <a:lnTo>
                  <a:pt x="1292123" y="1197072"/>
                </a:lnTo>
                <a:lnTo>
                  <a:pt x="1319774" y="1161676"/>
                </a:lnTo>
                <a:lnTo>
                  <a:pt x="1345249" y="1124585"/>
                </a:lnTo>
                <a:lnTo>
                  <a:pt x="1368450" y="1085895"/>
                </a:lnTo>
                <a:lnTo>
                  <a:pt x="1389283" y="1045701"/>
                </a:lnTo>
                <a:lnTo>
                  <a:pt x="1407649" y="1004101"/>
                </a:lnTo>
                <a:lnTo>
                  <a:pt x="1423455" y="961190"/>
                </a:lnTo>
                <a:lnTo>
                  <a:pt x="1436602" y="917064"/>
                </a:lnTo>
                <a:lnTo>
                  <a:pt x="1446995" y="871821"/>
                </a:lnTo>
                <a:lnTo>
                  <a:pt x="1454538" y="825555"/>
                </a:lnTo>
                <a:lnTo>
                  <a:pt x="1459135" y="778364"/>
                </a:lnTo>
                <a:lnTo>
                  <a:pt x="1460688" y="730344"/>
                </a:lnTo>
                <a:lnTo>
                  <a:pt x="1459135" y="682323"/>
                </a:lnTo>
                <a:lnTo>
                  <a:pt x="1454538" y="635132"/>
                </a:lnTo>
                <a:lnTo>
                  <a:pt x="1446995" y="588867"/>
                </a:lnTo>
                <a:lnTo>
                  <a:pt x="1436602" y="543623"/>
                </a:lnTo>
                <a:lnTo>
                  <a:pt x="1423455" y="499498"/>
                </a:lnTo>
                <a:lnTo>
                  <a:pt x="1407649" y="456587"/>
                </a:lnTo>
                <a:lnTo>
                  <a:pt x="1389283" y="414987"/>
                </a:lnTo>
                <a:lnTo>
                  <a:pt x="1368450" y="374793"/>
                </a:lnTo>
                <a:lnTo>
                  <a:pt x="1345249" y="336102"/>
                </a:lnTo>
                <a:lnTo>
                  <a:pt x="1319774" y="299011"/>
                </a:lnTo>
                <a:lnTo>
                  <a:pt x="1292123" y="263616"/>
                </a:lnTo>
                <a:lnTo>
                  <a:pt x="1262392" y="230012"/>
                </a:lnTo>
                <a:lnTo>
                  <a:pt x="1230676" y="198296"/>
                </a:lnTo>
                <a:lnTo>
                  <a:pt x="1197072" y="168564"/>
                </a:lnTo>
                <a:lnTo>
                  <a:pt x="1161676" y="140913"/>
                </a:lnTo>
                <a:lnTo>
                  <a:pt x="1124585" y="115439"/>
                </a:lnTo>
                <a:lnTo>
                  <a:pt x="1085895" y="92237"/>
                </a:lnTo>
                <a:lnTo>
                  <a:pt x="1045701" y="71405"/>
                </a:lnTo>
                <a:lnTo>
                  <a:pt x="1004101" y="53038"/>
                </a:lnTo>
                <a:lnTo>
                  <a:pt x="961190" y="37233"/>
                </a:lnTo>
                <a:lnTo>
                  <a:pt x="917064" y="24085"/>
                </a:lnTo>
                <a:lnTo>
                  <a:pt x="871821" y="13692"/>
                </a:lnTo>
                <a:lnTo>
                  <a:pt x="825555" y="6149"/>
                </a:lnTo>
                <a:lnTo>
                  <a:pt x="778364" y="1553"/>
                </a:lnTo>
                <a:lnTo>
                  <a:pt x="730344" y="0"/>
                </a:lnTo>
                <a:lnTo>
                  <a:pt x="682323" y="1553"/>
                </a:lnTo>
                <a:lnTo>
                  <a:pt x="635132" y="6149"/>
                </a:lnTo>
                <a:lnTo>
                  <a:pt x="588867" y="13692"/>
                </a:lnTo>
                <a:lnTo>
                  <a:pt x="543623" y="24085"/>
                </a:lnTo>
                <a:lnTo>
                  <a:pt x="499498" y="37233"/>
                </a:lnTo>
                <a:lnTo>
                  <a:pt x="456587" y="53038"/>
                </a:lnTo>
                <a:lnTo>
                  <a:pt x="414987" y="71405"/>
                </a:lnTo>
                <a:lnTo>
                  <a:pt x="374793" y="92237"/>
                </a:lnTo>
                <a:lnTo>
                  <a:pt x="336102" y="115439"/>
                </a:lnTo>
                <a:lnTo>
                  <a:pt x="299011" y="140913"/>
                </a:lnTo>
                <a:lnTo>
                  <a:pt x="263616" y="168564"/>
                </a:lnTo>
                <a:lnTo>
                  <a:pt x="230012" y="198296"/>
                </a:lnTo>
                <a:lnTo>
                  <a:pt x="198296" y="230012"/>
                </a:lnTo>
                <a:lnTo>
                  <a:pt x="168564" y="263616"/>
                </a:lnTo>
                <a:lnTo>
                  <a:pt x="140913" y="299011"/>
                </a:lnTo>
                <a:lnTo>
                  <a:pt x="115439" y="336102"/>
                </a:lnTo>
                <a:lnTo>
                  <a:pt x="92237" y="374793"/>
                </a:lnTo>
                <a:lnTo>
                  <a:pt x="71405" y="414987"/>
                </a:lnTo>
                <a:lnTo>
                  <a:pt x="53038" y="456587"/>
                </a:lnTo>
                <a:lnTo>
                  <a:pt x="37233" y="499498"/>
                </a:lnTo>
                <a:lnTo>
                  <a:pt x="24085" y="543623"/>
                </a:lnTo>
                <a:lnTo>
                  <a:pt x="13692" y="588867"/>
                </a:lnTo>
                <a:lnTo>
                  <a:pt x="6149" y="635132"/>
                </a:lnTo>
                <a:lnTo>
                  <a:pt x="1553" y="682323"/>
                </a:lnTo>
                <a:lnTo>
                  <a:pt x="0" y="730344"/>
                </a:lnTo>
                <a:lnTo>
                  <a:pt x="1553" y="778364"/>
                </a:lnTo>
                <a:lnTo>
                  <a:pt x="6149" y="825555"/>
                </a:lnTo>
                <a:lnTo>
                  <a:pt x="13692" y="871821"/>
                </a:lnTo>
                <a:lnTo>
                  <a:pt x="24085" y="917064"/>
                </a:lnTo>
                <a:lnTo>
                  <a:pt x="37233" y="961190"/>
                </a:lnTo>
                <a:lnTo>
                  <a:pt x="53038" y="1004101"/>
                </a:lnTo>
                <a:lnTo>
                  <a:pt x="71405" y="1045701"/>
                </a:lnTo>
                <a:lnTo>
                  <a:pt x="92237" y="1085895"/>
                </a:lnTo>
                <a:lnTo>
                  <a:pt x="115439" y="1124585"/>
                </a:lnTo>
                <a:lnTo>
                  <a:pt x="140913" y="1161676"/>
                </a:lnTo>
                <a:lnTo>
                  <a:pt x="168564" y="1197072"/>
                </a:lnTo>
                <a:lnTo>
                  <a:pt x="198296" y="1230676"/>
                </a:lnTo>
                <a:lnTo>
                  <a:pt x="230012" y="1262392"/>
                </a:lnTo>
                <a:lnTo>
                  <a:pt x="263616" y="1292123"/>
                </a:lnTo>
                <a:lnTo>
                  <a:pt x="299011" y="1319774"/>
                </a:lnTo>
                <a:lnTo>
                  <a:pt x="336102" y="1345249"/>
                </a:lnTo>
                <a:lnTo>
                  <a:pt x="374793" y="1368450"/>
                </a:lnTo>
                <a:lnTo>
                  <a:pt x="414987" y="1389283"/>
                </a:lnTo>
                <a:lnTo>
                  <a:pt x="456587" y="1407649"/>
                </a:lnTo>
                <a:lnTo>
                  <a:pt x="499498" y="1423455"/>
                </a:lnTo>
                <a:lnTo>
                  <a:pt x="543623" y="1436602"/>
                </a:lnTo>
                <a:lnTo>
                  <a:pt x="588867" y="1446995"/>
                </a:lnTo>
                <a:lnTo>
                  <a:pt x="635132" y="1454538"/>
                </a:lnTo>
                <a:lnTo>
                  <a:pt x="682323" y="1459135"/>
                </a:lnTo>
                <a:lnTo>
                  <a:pt x="730344" y="1460688"/>
                </a:lnTo>
                <a:close/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960966" y="4017282"/>
            <a:ext cx="1559560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093470" algn="l"/>
              </a:tabLst>
            </a:pPr>
            <a:r>
              <a:rPr sz="5750" spc="75" dirty="0">
                <a:solidFill>
                  <a:srgbClr val="1E1E1E"/>
                </a:solidFill>
                <a:latin typeface="Arial"/>
                <a:cs typeface="Arial"/>
              </a:rPr>
              <a:t>А	</a:t>
            </a:r>
            <a:r>
              <a:rPr sz="5750" spc="-270" dirty="0">
                <a:solidFill>
                  <a:srgbClr val="1E1E1E"/>
                </a:solidFill>
                <a:latin typeface="Arial"/>
                <a:cs typeface="Arial"/>
              </a:rPr>
              <a:t>B</a:t>
            </a:r>
            <a:endParaRPr sz="57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572863" y="4038840"/>
            <a:ext cx="379730" cy="982344"/>
          </a:xfrm>
          <a:custGeom>
            <a:avLst/>
            <a:gdLst/>
            <a:ahLst/>
            <a:cxnLst/>
            <a:rect l="l" t="t" r="r" b="b"/>
            <a:pathLst>
              <a:path w="379729" h="982345">
                <a:moveTo>
                  <a:pt x="189784" y="0"/>
                </a:moveTo>
                <a:lnTo>
                  <a:pt x="158787" y="36413"/>
                </a:lnTo>
                <a:lnTo>
                  <a:pt x="130190" y="74822"/>
                </a:lnTo>
                <a:lnTo>
                  <a:pt x="104108" y="115110"/>
                </a:lnTo>
                <a:lnTo>
                  <a:pt x="80658" y="157162"/>
                </a:lnTo>
                <a:lnTo>
                  <a:pt x="59958" y="200861"/>
                </a:lnTo>
                <a:lnTo>
                  <a:pt x="42122" y="246090"/>
                </a:lnTo>
                <a:lnTo>
                  <a:pt x="27269" y="292734"/>
                </a:lnTo>
                <a:lnTo>
                  <a:pt x="15513" y="340675"/>
                </a:lnTo>
                <a:lnTo>
                  <a:pt x="6972" y="389799"/>
                </a:lnTo>
                <a:lnTo>
                  <a:pt x="1762" y="439988"/>
                </a:lnTo>
                <a:lnTo>
                  <a:pt x="0" y="491126"/>
                </a:lnTo>
                <a:lnTo>
                  <a:pt x="1762" y="542264"/>
                </a:lnTo>
                <a:lnTo>
                  <a:pt x="6972" y="592454"/>
                </a:lnTo>
                <a:lnTo>
                  <a:pt x="15513" y="641578"/>
                </a:lnTo>
                <a:lnTo>
                  <a:pt x="27269" y="689521"/>
                </a:lnTo>
                <a:lnTo>
                  <a:pt x="42122" y="736165"/>
                </a:lnTo>
                <a:lnTo>
                  <a:pt x="59958" y="781396"/>
                </a:lnTo>
                <a:lnTo>
                  <a:pt x="80658" y="825095"/>
                </a:lnTo>
                <a:lnTo>
                  <a:pt x="104108" y="867146"/>
                </a:lnTo>
                <a:lnTo>
                  <a:pt x="130190" y="907434"/>
                </a:lnTo>
                <a:lnTo>
                  <a:pt x="158787" y="945842"/>
                </a:lnTo>
                <a:lnTo>
                  <a:pt x="189784" y="982252"/>
                </a:lnTo>
                <a:lnTo>
                  <a:pt x="220781" y="945842"/>
                </a:lnTo>
                <a:lnTo>
                  <a:pt x="249379" y="907434"/>
                </a:lnTo>
                <a:lnTo>
                  <a:pt x="275461" y="867146"/>
                </a:lnTo>
                <a:lnTo>
                  <a:pt x="298910" y="825095"/>
                </a:lnTo>
                <a:lnTo>
                  <a:pt x="319611" y="781396"/>
                </a:lnTo>
                <a:lnTo>
                  <a:pt x="337446" y="736165"/>
                </a:lnTo>
                <a:lnTo>
                  <a:pt x="352300" y="689521"/>
                </a:lnTo>
                <a:lnTo>
                  <a:pt x="364056" y="641578"/>
                </a:lnTo>
                <a:lnTo>
                  <a:pt x="372597" y="592454"/>
                </a:lnTo>
                <a:lnTo>
                  <a:pt x="377807" y="542264"/>
                </a:lnTo>
                <a:lnTo>
                  <a:pt x="379569" y="491126"/>
                </a:lnTo>
                <a:lnTo>
                  <a:pt x="377807" y="439988"/>
                </a:lnTo>
                <a:lnTo>
                  <a:pt x="372597" y="389799"/>
                </a:lnTo>
                <a:lnTo>
                  <a:pt x="364056" y="340675"/>
                </a:lnTo>
                <a:lnTo>
                  <a:pt x="352300" y="292734"/>
                </a:lnTo>
                <a:lnTo>
                  <a:pt x="337446" y="246090"/>
                </a:lnTo>
                <a:lnTo>
                  <a:pt x="319611" y="200861"/>
                </a:lnTo>
                <a:lnTo>
                  <a:pt x="298910" y="157162"/>
                </a:lnTo>
                <a:lnTo>
                  <a:pt x="275461" y="115110"/>
                </a:lnTo>
                <a:lnTo>
                  <a:pt x="249379" y="74822"/>
                </a:lnTo>
                <a:lnTo>
                  <a:pt x="220781" y="36413"/>
                </a:lnTo>
                <a:lnTo>
                  <a:pt x="189784" y="0"/>
                </a:lnTo>
                <a:close/>
              </a:path>
            </a:pathLst>
          </a:custGeom>
          <a:solidFill>
            <a:srgbClr val="BDD9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572863" y="4038840"/>
            <a:ext cx="379730" cy="982344"/>
          </a:xfrm>
          <a:custGeom>
            <a:avLst/>
            <a:gdLst/>
            <a:ahLst/>
            <a:cxnLst/>
            <a:rect l="l" t="t" r="r" b="b"/>
            <a:pathLst>
              <a:path w="379729" h="982345">
                <a:moveTo>
                  <a:pt x="189784" y="982252"/>
                </a:moveTo>
                <a:lnTo>
                  <a:pt x="220781" y="945842"/>
                </a:lnTo>
                <a:lnTo>
                  <a:pt x="249379" y="907434"/>
                </a:lnTo>
                <a:lnTo>
                  <a:pt x="275461" y="867146"/>
                </a:lnTo>
                <a:lnTo>
                  <a:pt x="298910" y="825095"/>
                </a:lnTo>
                <a:lnTo>
                  <a:pt x="319611" y="781396"/>
                </a:lnTo>
                <a:lnTo>
                  <a:pt x="337446" y="736165"/>
                </a:lnTo>
                <a:lnTo>
                  <a:pt x="352300" y="689521"/>
                </a:lnTo>
                <a:lnTo>
                  <a:pt x="364056" y="641578"/>
                </a:lnTo>
                <a:lnTo>
                  <a:pt x="372597" y="592454"/>
                </a:lnTo>
                <a:lnTo>
                  <a:pt x="377807" y="542264"/>
                </a:lnTo>
                <a:lnTo>
                  <a:pt x="379569" y="491126"/>
                </a:lnTo>
                <a:lnTo>
                  <a:pt x="377807" y="439988"/>
                </a:lnTo>
                <a:lnTo>
                  <a:pt x="372597" y="389799"/>
                </a:lnTo>
                <a:lnTo>
                  <a:pt x="364056" y="340675"/>
                </a:lnTo>
                <a:lnTo>
                  <a:pt x="352300" y="292734"/>
                </a:lnTo>
                <a:lnTo>
                  <a:pt x="337446" y="246090"/>
                </a:lnTo>
                <a:lnTo>
                  <a:pt x="319611" y="200861"/>
                </a:lnTo>
                <a:lnTo>
                  <a:pt x="298910" y="157162"/>
                </a:lnTo>
                <a:lnTo>
                  <a:pt x="275461" y="115110"/>
                </a:lnTo>
                <a:lnTo>
                  <a:pt x="249379" y="74822"/>
                </a:lnTo>
                <a:lnTo>
                  <a:pt x="220781" y="36413"/>
                </a:lnTo>
                <a:lnTo>
                  <a:pt x="189784" y="0"/>
                </a:lnTo>
                <a:lnTo>
                  <a:pt x="158787" y="36413"/>
                </a:lnTo>
                <a:lnTo>
                  <a:pt x="130190" y="74822"/>
                </a:lnTo>
                <a:lnTo>
                  <a:pt x="104108" y="115110"/>
                </a:lnTo>
                <a:lnTo>
                  <a:pt x="80658" y="157162"/>
                </a:lnTo>
                <a:lnTo>
                  <a:pt x="59958" y="200861"/>
                </a:lnTo>
                <a:lnTo>
                  <a:pt x="42122" y="246090"/>
                </a:lnTo>
                <a:lnTo>
                  <a:pt x="27269" y="292734"/>
                </a:lnTo>
                <a:lnTo>
                  <a:pt x="15513" y="340675"/>
                </a:lnTo>
                <a:lnTo>
                  <a:pt x="6972" y="389799"/>
                </a:lnTo>
                <a:lnTo>
                  <a:pt x="1762" y="439988"/>
                </a:lnTo>
                <a:lnTo>
                  <a:pt x="0" y="491126"/>
                </a:lnTo>
                <a:lnTo>
                  <a:pt x="1762" y="542264"/>
                </a:lnTo>
                <a:lnTo>
                  <a:pt x="6972" y="592454"/>
                </a:lnTo>
                <a:lnTo>
                  <a:pt x="15513" y="641578"/>
                </a:lnTo>
                <a:lnTo>
                  <a:pt x="27269" y="689521"/>
                </a:lnTo>
                <a:lnTo>
                  <a:pt x="42122" y="736165"/>
                </a:lnTo>
                <a:lnTo>
                  <a:pt x="59958" y="781396"/>
                </a:lnTo>
                <a:lnTo>
                  <a:pt x="80658" y="825095"/>
                </a:lnTo>
                <a:lnTo>
                  <a:pt x="104108" y="867146"/>
                </a:lnTo>
                <a:lnTo>
                  <a:pt x="130190" y="907434"/>
                </a:lnTo>
                <a:lnTo>
                  <a:pt x="158787" y="945842"/>
                </a:lnTo>
                <a:lnTo>
                  <a:pt x="189784" y="982252"/>
                </a:lnTo>
                <a:close/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49972" y="10185942"/>
            <a:ext cx="302260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2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358203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60" dirty="0"/>
              <a:t>Вероятность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302260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3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8595360" cy="304101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Мера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возможности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наступления</a:t>
            </a:r>
            <a:r>
              <a:rPr sz="3300" spc="17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события.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достоверного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события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вероятность</a:t>
            </a:r>
            <a:r>
              <a:rPr sz="3300" spc="4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1.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невозможного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события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вероятность</a:t>
            </a:r>
            <a:r>
              <a:rPr sz="3300" spc="4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0.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Вероятность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события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обозначим</a:t>
            </a:r>
            <a:r>
              <a:rPr sz="3300" spc="9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spc="-345" dirty="0">
                <a:solidFill>
                  <a:srgbClr val="1E1E1E"/>
                </a:solidFill>
                <a:latin typeface="Arial"/>
                <a:cs typeface="Arial"/>
              </a:rPr>
              <a:t>(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345" dirty="0">
                <a:solidFill>
                  <a:srgbClr val="1E1E1E"/>
                </a:solidFill>
                <a:latin typeface="Arial"/>
                <a:cs typeface="Arial"/>
              </a:rPr>
              <a:t>).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938466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5" dirty="0"/>
              <a:t>Вероятность </a:t>
            </a:r>
            <a:r>
              <a:rPr spc="-210" dirty="0"/>
              <a:t>отрицания</a:t>
            </a:r>
            <a:r>
              <a:rPr spc="190" dirty="0"/>
              <a:t> </a:t>
            </a:r>
            <a:r>
              <a:rPr spc="-405" dirty="0"/>
              <a:t>события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302260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4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8140065" cy="4046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380" dirty="0">
                <a:solidFill>
                  <a:srgbClr val="1E1E1E"/>
                </a:solidFill>
                <a:latin typeface="Arial"/>
                <a:cs typeface="Arial"/>
              </a:rPr>
              <a:t>«</a:t>
            </a:r>
            <a:r>
              <a:rPr sz="3300" b="1" i="1" spc="-38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или </a:t>
            </a:r>
            <a:r>
              <a:rPr sz="3300" spc="-245" dirty="0">
                <a:solidFill>
                  <a:srgbClr val="1E1E1E"/>
                </a:solidFill>
                <a:latin typeface="Arial"/>
                <a:cs typeface="Arial"/>
              </a:rPr>
              <a:t>¬</a:t>
            </a:r>
            <a:r>
              <a:rPr sz="3300" b="1" i="1" spc="-24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245" dirty="0">
                <a:solidFill>
                  <a:srgbClr val="1E1E1E"/>
                </a:solidFill>
                <a:latin typeface="Arial"/>
                <a:cs typeface="Arial"/>
              </a:rPr>
              <a:t>»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всегда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достоверное</a:t>
            </a:r>
            <a:r>
              <a:rPr sz="3300" spc="-3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событие.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515620" indent="-502920">
              <a:lnSpc>
                <a:spcPct val="100000"/>
              </a:lnSpc>
              <a:spcBef>
                <a:spcPts val="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Следовательно, 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 </a:t>
            </a:r>
            <a:r>
              <a:rPr sz="3300" b="1" spc="-56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spc="-560" dirty="0">
                <a:solidFill>
                  <a:srgbClr val="1E1E1E"/>
                </a:solidFill>
                <a:latin typeface="Arial"/>
                <a:cs typeface="Arial"/>
              </a:rPr>
              <a:t>¬</a:t>
            </a:r>
            <a:r>
              <a:rPr sz="3300" b="1" i="1" spc="-56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56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22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BDD9DE"/>
              </a:buClr>
              <a:buFont typeface="Arial"/>
              <a:buChar char="•"/>
            </a:pPr>
            <a:endParaRPr sz="5150">
              <a:latin typeface="Times New Roman"/>
              <a:cs typeface="Times New Roman"/>
            </a:endParaRPr>
          </a:p>
          <a:p>
            <a:pPr marL="516255" indent="-502920">
              <a:lnSpc>
                <a:spcPct val="100000"/>
              </a:lnSpc>
              <a:buClr>
                <a:srgbClr val="BDD9DE"/>
              </a:buClr>
              <a:buFont typeface="Arial"/>
              <a:buChar char="•"/>
              <a:tabLst>
                <a:tab pos="516255" algn="l"/>
                <a:tab pos="51689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Следовательно,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marL="3578225">
              <a:lnSpc>
                <a:spcPct val="100000"/>
              </a:lnSpc>
            </a:pP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spc="-565" dirty="0">
                <a:solidFill>
                  <a:srgbClr val="1E1E1E"/>
                </a:solidFill>
                <a:latin typeface="Arial"/>
                <a:cs typeface="Arial"/>
              </a:rPr>
              <a:t>¬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spc="-2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98983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5" dirty="0"/>
              <a:t>Вероятность </a:t>
            </a:r>
            <a:r>
              <a:rPr spc="-310" dirty="0"/>
              <a:t>пересечения</a:t>
            </a:r>
            <a:r>
              <a:rPr spc="190" dirty="0"/>
              <a:t> </a:t>
            </a:r>
            <a:r>
              <a:rPr spc="-395" dirty="0"/>
              <a:t>событий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302260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5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7075805" cy="429768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независимых</a:t>
            </a:r>
            <a:r>
              <a:rPr sz="3300" spc="19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событий:</a:t>
            </a:r>
            <a:endParaRPr sz="3300">
              <a:latin typeface="Arial"/>
              <a:cs typeface="Arial"/>
            </a:endParaRPr>
          </a:p>
          <a:p>
            <a:pPr marL="3172460" algn="ctr">
              <a:lnSpc>
                <a:spcPct val="100000"/>
              </a:lnSpc>
              <a:spcBef>
                <a:spcPts val="1975"/>
              </a:spcBef>
            </a:pP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1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570" dirty="0">
                <a:solidFill>
                  <a:srgbClr val="1E1E1E"/>
                </a:solidFill>
                <a:latin typeface="DejaVu Sans"/>
                <a:cs typeface="DejaVu Sans"/>
              </a:rPr>
              <a:t>∩ 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29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516255" indent="-502920">
              <a:lnSpc>
                <a:spcPct val="100000"/>
              </a:lnSpc>
              <a:spcBef>
                <a:spcPts val="5"/>
              </a:spcBef>
              <a:buClr>
                <a:srgbClr val="BDD9DE"/>
              </a:buClr>
              <a:buFont typeface="Arial"/>
              <a:buChar char="•"/>
              <a:tabLst>
                <a:tab pos="516255" algn="l"/>
                <a:tab pos="516890" algn="l"/>
              </a:tabLst>
            </a:pP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общем</a:t>
            </a:r>
            <a:r>
              <a:rPr sz="3300" spc="229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случае:</a:t>
            </a:r>
            <a:endParaRPr sz="3300">
              <a:latin typeface="Arial"/>
              <a:cs typeface="Arial"/>
            </a:endParaRPr>
          </a:p>
          <a:p>
            <a:pPr marL="3058160" algn="ctr">
              <a:lnSpc>
                <a:spcPct val="100000"/>
              </a:lnSpc>
              <a:spcBef>
                <a:spcPts val="1975"/>
              </a:spcBef>
            </a:pP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1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570" dirty="0">
                <a:solidFill>
                  <a:srgbClr val="1E1E1E"/>
                </a:solidFill>
                <a:latin typeface="DejaVu Sans"/>
                <a:cs typeface="DejaVu Sans"/>
              </a:rPr>
              <a:t>∩  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)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  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72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2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20" dirty="0">
                <a:solidFill>
                  <a:srgbClr val="1E1E1E"/>
                </a:solidFill>
                <a:latin typeface="Verdana"/>
                <a:cs typeface="Verdana"/>
              </a:rPr>
              <a:t>B|A</a:t>
            </a:r>
            <a:r>
              <a:rPr sz="3300" b="1" spc="-72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 marL="3072130">
              <a:lnSpc>
                <a:spcPct val="100000"/>
              </a:lnSpc>
              <a:spcBef>
                <a:spcPts val="1975"/>
              </a:spcBef>
            </a:pP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1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570" dirty="0">
                <a:solidFill>
                  <a:srgbClr val="1E1E1E"/>
                </a:solidFill>
                <a:latin typeface="DejaVu Sans"/>
                <a:cs typeface="DejaVu Sans"/>
              </a:rPr>
              <a:t>∩  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)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  </a:t>
            </a: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7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A|B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641159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80" dirty="0"/>
              <a:t>Условная</a:t>
            </a:r>
            <a:r>
              <a:rPr spc="-140" dirty="0"/>
              <a:t> </a:t>
            </a:r>
            <a:r>
              <a:rPr spc="-355" dirty="0"/>
              <a:t>вероятность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9972" y="10185942"/>
            <a:ext cx="302260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6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686" y="3453163"/>
            <a:ext cx="8969375" cy="3795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5620" indent="-502920">
              <a:lnSpc>
                <a:spcPts val="396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b="1" i="1" spc="-70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0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0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05" dirty="0">
                <a:solidFill>
                  <a:srgbClr val="1E1E1E"/>
                </a:solidFill>
                <a:latin typeface="Verdana"/>
                <a:cs typeface="Verdana"/>
              </a:rPr>
              <a:t>|</a:t>
            </a:r>
            <a:r>
              <a:rPr sz="3300" b="1" i="1" spc="-70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70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вероятность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наступления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события</a:t>
            </a:r>
            <a:r>
              <a:rPr sz="3300" spc="-4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59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endParaRPr sz="3300">
              <a:latin typeface="Verdana"/>
              <a:cs typeface="Verdana"/>
            </a:endParaRPr>
          </a:p>
          <a:p>
            <a:pPr marL="515620">
              <a:lnSpc>
                <a:spcPts val="3960"/>
              </a:lnSpc>
            </a:pP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условии</a:t>
            </a:r>
            <a:r>
              <a:rPr sz="3300" spc="1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345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50">
              <a:latin typeface="Times New Roman"/>
              <a:cs typeface="Times New Roman"/>
            </a:endParaRPr>
          </a:p>
          <a:p>
            <a:pPr marL="3800475">
              <a:lnSpc>
                <a:spcPct val="100000"/>
              </a:lnSpc>
            </a:pPr>
            <a:r>
              <a:rPr sz="4950" b="1" i="1" spc="-1057" baseline="-32828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4950" b="1" spc="-1057" baseline="-32828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4950" b="1" i="1" spc="-1057" baseline="-32828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4950" b="1" spc="-1057" baseline="-32828" dirty="0">
                <a:solidFill>
                  <a:srgbClr val="1E1E1E"/>
                </a:solidFill>
                <a:latin typeface="Verdana"/>
                <a:cs typeface="Verdana"/>
              </a:rPr>
              <a:t>|</a:t>
            </a:r>
            <a:r>
              <a:rPr sz="4950" b="1" i="1" spc="-1057" baseline="-3282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4950" b="1" spc="-1057" baseline="-32828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4950" b="1" spc="-1350" baseline="-32828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i="1" u="heavy" spc="-60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P</a:t>
            </a:r>
            <a:r>
              <a:rPr sz="3300" b="1" u="heavy" spc="-60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(</a:t>
            </a:r>
            <a:r>
              <a:rPr sz="3300" b="1" i="1" u="heavy" spc="-60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A </a:t>
            </a:r>
            <a:r>
              <a:rPr sz="3300" u="heavy" spc="-5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DejaVu Sans"/>
                <a:cs typeface="DejaVu Sans"/>
              </a:rPr>
              <a:t>∩</a:t>
            </a:r>
            <a:r>
              <a:rPr sz="3300" u="heavy" spc="-71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DejaVu Sans"/>
                <a:cs typeface="DejaVu Sans"/>
              </a:rPr>
              <a:t> </a:t>
            </a:r>
            <a:r>
              <a:rPr sz="3300" b="1" i="1" u="heavy" spc="-70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B</a:t>
            </a:r>
            <a:r>
              <a:rPr sz="3300" b="1" u="heavy" spc="-70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 marL="5847715">
              <a:lnSpc>
                <a:spcPct val="100000"/>
              </a:lnSpc>
              <a:spcBef>
                <a:spcPts val="325"/>
              </a:spcBef>
            </a:pP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8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независимых</a:t>
            </a:r>
            <a:r>
              <a:rPr sz="3300" spc="19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событий: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7897" y="7976585"/>
            <a:ext cx="48710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70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0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0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05" dirty="0">
                <a:solidFill>
                  <a:srgbClr val="1E1E1E"/>
                </a:solidFill>
                <a:latin typeface="Verdana"/>
                <a:cs typeface="Verdana"/>
              </a:rPr>
              <a:t>|</a:t>
            </a:r>
            <a:r>
              <a:rPr sz="3300" b="1" i="1" spc="-70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70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4950" b="1" u="heavy" spc="-1350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4950" b="1" i="1" u="heavy" spc="-997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P</a:t>
            </a:r>
            <a:r>
              <a:rPr sz="4950" b="1" u="heavy" spc="-997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(</a:t>
            </a:r>
            <a:r>
              <a:rPr sz="4950" b="1" i="1" u="heavy" spc="-997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A</a:t>
            </a:r>
            <a:r>
              <a:rPr sz="4950" b="1" u="heavy" spc="-997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) </a:t>
            </a:r>
            <a:r>
              <a:rPr sz="4950" b="1" i="1" u="heavy" spc="-1860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•</a:t>
            </a:r>
            <a:r>
              <a:rPr sz="4950" b="1" i="1" u="heavy" spc="-705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4950" b="1" i="1" u="heavy" spc="-1042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P</a:t>
            </a:r>
            <a:r>
              <a:rPr sz="4950" b="1" u="heavy" spc="-1042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(</a:t>
            </a:r>
            <a:r>
              <a:rPr sz="4950" b="1" i="1" u="heavy" spc="-1042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B</a:t>
            </a:r>
            <a:r>
              <a:rPr sz="4950" b="1" u="heavy" spc="-1042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)</a:t>
            </a:r>
            <a:r>
              <a:rPr sz="4950" b="1" spc="-1042" baseline="336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8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21335" y="8269351"/>
            <a:ext cx="7734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3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А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09713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5" dirty="0"/>
              <a:t>Вероятность </a:t>
            </a:r>
            <a:r>
              <a:rPr spc="-320" dirty="0"/>
              <a:t>объединения</a:t>
            </a:r>
            <a:r>
              <a:rPr spc="160" dirty="0"/>
              <a:t> </a:t>
            </a:r>
            <a:r>
              <a:rPr spc="-395" dirty="0"/>
              <a:t>событий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302260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7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989" y="3201862"/>
            <a:ext cx="8629015" cy="555434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несовместных</a:t>
            </a:r>
            <a:r>
              <a:rPr sz="3300" spc="19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событий:</a:t>
            </a:r>
            <a:endParaRPr sz="3300">
              <a:latin typeface="Arial"/>
              <a:cs typeface="Arial"/>
            </a:endParaRPr>
          </a:p>
          <a:p>
            <a:pPr marL="3882390">
              <a:lnSpc>
                <a:spcPct val="100000"/>
              </a:lnSpc>
              <a:spcBef>
                <a:spcPts val="1975"/>
              </a:spcBef>
            </a:pP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1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570" dirty="0">
                <a:solidFill>
                  <a:srgbClr val="1E1E1E"/>
                </a:solidFill>
                <a:latin typeface="DejaVu Sans"/>
                <a:cs typeface="DejaVu Sans"/>
              </a:rPr>
              <a:t>∪ 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8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516255" indent="-502284">
              <a:lnSpc>
                <a:spcPct val="100000"/>
              </a:lnSpc>
              <a:spcBef>
                <a:spcPts val="5"/>
              </a:spcBef>
              <a:buClr>
                <a:srgbClr val="BDD9DE"/>
              </a:buClr>
              <a:buFont typeface="Arial"/>
              <a:buChar char="•"/>
              <a:tabLst>
                <a:tab pos="516255" algn="l"/>
                <a:tab pos="51689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полной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группы</a:t>
            </a:r>
            <a:r>
              <a:rPr sz="3300" spc="28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событий:</a:t>
            </a:r>
            <a:endParaRPr sz="3300">
              <a:latin typeface="Arial"/>
              <a:cs typeface="Arial"/>
            </a:endParaRPr>
          </a:p>
          <a:p>
            <a:pPr marL="3008630" algn="ctr">
              <a:lnSpc>
                <a:spcPct val="100000"/>
              </a:lnSpc>
              <a:spcBef>
                <a:spcPts val="1975"/>
              </a:spcBef>
            </a:pPr>
            <a:r>
              <a:rPr sz="3300" b="1" i="1" spc="-61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1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1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spc="-922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spc="-61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57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spc="-862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spc="-57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847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общем</a:t>
            </a:r>
            <a:r>
              <a:rPr sz="3300" spc="229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случае:</a:t>
            </a:r>
            <a:endParaRPr sz="3300">
              <a:latin typeface="Arial"/>
              <a:cs typeface="Arial"/>
            </a:endParaRPr>
          </a:p>
          <a:p>
            <a:pPr marL="3056890" algn="ctr">
              <a:lnSpc>
                <a:spcPct val="100000"/>
              </a:lnSpc>
              <a:spcBef>
                <a:spcPts val="1975"/>
              </a:spcBef>
            </a:pP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1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570" dirty="0">
                <a:solidFill>
                  <a:srgbClr val="1E1E1E"/>
                </a:solidFill>
                <a:latin typeface="DejaVu Sans"/>
                <a:cs typeface="DejaVu Sans"/>
              </a:rPr>
              <a:t>∪ 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1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570" dirty="0">
                <a:solidFill>
                  <a:srgbClr val="1E1E1E"/>
                </a:solidFill>
                <a:latin typeface="DejaVu Sans"/>
                <a:cs typeface="DejaVu Sans"/>
              </a:rPr>
              <a:t>∩</a:t>
            </a:r>
            <a:r>
              <a:rPr sz="3300" spc="-590" dirty="0">
                <a:solidFill>
                  <a:srgbClr val="1E1E1E"/>
                </a:solidFill>
                <a:latin typeface="DejaVu Sans"/>
                <a:cs typeface="DejaVu Sans"/>
              </a:rPr>
              <a:t> 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864806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0" dirty="0"/>
              <a:t>Формула </a:t>
            </a:r>
            <a:r>
              <a:rPr spc="-300" dirty="0"/>
              <a:t>полной</a:t>
            </a:r>
            <a:r>
              <a:rPr spc="75" dirty="0"/>
              <a:t> </a:t>
            </a:r>
            <a:r>
              <a:rPr spc="-315" dirty="0"/>
              <a:t>вероятности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8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99847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полной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группы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событий </a:t>
            </a:r>
            <a:r>
              <a:rPr sz="3300" b="1" i="1" spc="-35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spc="-532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spc="-355" dirty="0">
                <a:solidFill>
                  <a:srgbClr val="1E1E1E"/>
                </a:solidFill>
                <a:latin typeface="Arial"/>
                <a:cs typeface="Arial"/>
              </a:rPr>
              <a:t>, </a:t>
            </a:r>
            <a:r>
              <a:rPr sz="3300" b="1" i="1" spc="-30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spc="-450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spc="-300" dirty="0">
                <a:solidFill>
                  <a:srgbClr val="1E1E1E"/>
                </a:solidFill>
                <a:latin typeface="Arial"/>
                <a:cs typeface="Arial"/>
              </a:rPr>
              <a:t>, </a:t>
            </a:r>
            <a:r>
              <a:rPr sz="3300" spc="-185" dirty="0">
                <a:solidFill>
                  <a:srgbClr val="1E1E1E"/>
                </a:solidFill>
                <a:latin typeface="Arial"/>
                <a:cs typeface="Arial"/>
              </a:rPr>
              <a:t>..., </a:t>
            </a:r>
            <a:r>
              <a:rPr sz="3300" b="1" i="1" spc="-39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585" baseline="-32163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события</a:t>
            </a:r>
            <a:r>
              <a:rPr sz="3300" spc="45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43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spc="-430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293" y="6468778"/>
            <a:ext cx="578294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Формула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полной</a:t>
            </a:r>
            <a:r>
              <a:rPr sz="3300" spc="8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вероятности: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65171" y="7327390"/>
            <a:ext cx="20256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35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5246" y="7313429"/>
            <a:ext cx="4239260" cy="142176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8625" b="1" spc="-1462" baseline="-7246" dirty="0">
                <a:solidFill>
                  <a:srgbClr val="1E1E1E"/>
                </a:solidFill>
                <a:latin typeface="Verdana"/>
                <a:cs typeface="Verdana"/>
              </a:rPr>
              <a:t>∑ </a:t>
            </a:r>
            <a:r>
              <a:rPr sz="3300" b="1" i="1" spc="-49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49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49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35" baseline="-32163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6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9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59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95" dirty="0">
                <a:solidFill>
                  <a:srgbClr val="1E1E1E"/>
                </a:solidFill>
                <a:latin typeface="Verdana"/>
                <a:cs typeface="Verdana"/>
              </a:rPr>
              <a:t>B|A</a:t>
            </a:r>
            <a:r>
              <a:rPr sz="2850" b="1" i="1" spc="-892" baseline="-32163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 marL="1254125">
              <a:lnSpc>
                <a:spcPct val="100000"/>
              </a:lnSpc>
              <a:spcBef>
                <a:spcPts val="355"/>
              </a:spcBef>
            </a:pPr>
            <a:r>
              <a:rPr sz="2450" b="1" i="1" spc="-185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2450" b="1" i="1" spc="-65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2450" b="1" i="1" spc="-4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13859" y="4709669"/>
            <a:ext cx="6007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9308" y="4311775"/>
            <a:ext cx="259016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399665" algn="l"/>
              </a:tabLst>
            </a:pPr>
            <a:r>
              <a:rPr sz="2450" b="1" i="1" spc="-355" dirty="0">
                <a:solidFill>
                  <a:srgbClr val="1E1E1E"/>
                </a:solidFill>
                <a:latin typeface="Verdana"/>
                <a:cs typeface="Verdana"/>
              </a:rPr>
              <a:t>n	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51818" y="4311775"/>
            <a:ext cx="20256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35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01408" y="4493519"/>
            <a:ext cx="598805" cy="12261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0960">
              <a:lnSpc>
                <a:spcPts val="6695"/>
              </a:lnSpc>
              <a:spcBef>
                <a:spcPts val="120"/>
              </a:spcBef>
            </a:pPr>
            <a:r>
              <a:rPr sz="5750" b="1" spc="-97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5750">
              <a:latin typeface="Verdana"/>
              <a:cs typeface="Verdana"/>
            </a:endParaRPr>
          </a:p>
          <a:p>
            <a:pPr marL="12700">
              <a:lnSpc>
                <a:spcPts val="2735"/>
              </a:lnSpc>
            </a:pPr>
            <a:r>
              <a:rPr sz="2450" b="1" i="1" spc="-185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2450" b="1" i="1" spc="-65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2450" b="1" i="1" spc="-5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88770" y="4493519"/>
            <a:ext cx="598805" cy="12261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1120">
              <a:lnSpc>
                <a:spcPts val="6695"/>
              </a:lnSpc>
              <a:spcBef>
                <a:spcPts val="120"/>
              </a:spcBef>
            </a:pPr>
            <a:r>
              <a:rPr sz="5750" b="1" spc="-97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5750">
              <a:latin typeface="Verdana"/>
              <a:cs typeface="Verdana"/>
            </a:endParaRPr>
          </a:p>
          <a:p>
            <a:pPr marL="12700">
              <a:lnSpc>
                <a:spcPts val="2735"/>
              </a:lnSpc>
            </a:pPr>
            <a:r>
              <a:rPr sz="2450" b="1" i="1" spc="-185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2450" b="1" i="1" spc="-65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2450" b="1" i="1" spc="-5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53919" y="4493519"/>
            <a:ext cx="598805" cy="12261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1120">
              <a:lnSpc>
                <a:spcPts val="6695"/>
              </a:lnSpc>
              <a:spcBef>
                <a:spcPts val="120"/>
              </a:spcBef>
            </a:pPr>
            <a:r>
              <a:rPr sz="5750" b="1" spc="-97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5750">
              <a:latin typeface="Verdana"/>
              <a:cs typeface="Verdana"/>
            </a:endParaRPr>
          </a:p>
          <a:p>
            <a:pPr marL="12700">
              <a:lnSpc>
                <a:spcPts val="2735"/>
              </a:lnSpc>
            </a:pPr>
            <a:r>
              <a:rPr sz="2450" b="1" i="1" spc="-185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2450" b="1" i="1" spc="-65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2450" b="1" i="1" spc="-5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23570" y="5023795"/>
            <a:ext cx="9017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140" dirty="0">
                <a:solidFill>
                  <a:srgbClr val="1E1E1E"/>
                </a:solidFill>
                <a:latin typeface="Verdana"/>
                <a:cs typeface="Verdana"/>
              </a:rPr>
              <a:t>i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91390" y="4709669"/>
            <a:ext cx="164718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1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795" dirty="0">
                <a:solidFill>
                  <a:srgbClr val="1E1E1E"/>
                </a:solidFill>
                <a:latin typeface="Verdana"/>
                <a:cs typeface="Verdana"/>
              </a:rPr>
              <a:t>|B</a:t>
            </a:r>
            <a:r>
              <a:rPr sz="3300" b="1" spc="-79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00537" y="4709669"/>
            <a:ext cx="2755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63207" y="4440777"/>
            <a:ext cx="142430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0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0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0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570" dirty="0">
                <a:solidFill>
                  <a:srgbClr val="1E1E1E"/>
                </a:solidFill>
                <a:latin typeface="DejaVu Sans"/>
                <a:cs typeface="DejaVu Sans"/>
              </a:rPr>
              <a:t>∩</a:t>
            </a:r>
            <a:r>
              <a:rPr sz="3300" spc="-894" dirty="0">
                <a:solidFill>
                  <a:srgbClr val="1E1E1E"/>
                </a:solidFill>
                <a:latin typeface="DejaVu Sans"/>
                <a:cs typeface="DejaVu Sans"/>
              </a:rPr>
              <a:t> </a:t>
            </a:r>
            <a:r>
              <a:rPr sz="3300" b="1" i="1" spc="-70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0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10165" y="4705833"/>
            <a:ext cx="1729739" cy="95440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  <a:tabLst>
                <a:tab pos="786130" algn="l"/>
                <a:tab pos="1703705" algn="l"/>
              </a:tabLst>
            </a:pPr>
            <a:r>
              <a:rPr sz="1900" b="1" i="1" u="heavy" spc="-3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	</a:t>
            </a:r>
            <a:r>
              <a:rPr sz="1900" b="1" i="1" u="heavy" spc="-14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i	</a:t>
            </a:r>
            <a:endParaRPr sz="1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9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69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94420" y="4440640"/>
            <a:ext cx="242506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9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B|A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 </a:t>
            </a:r>
            <a:r>
              <a:rPr sz="3300" b="1" i="1" spc="-60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0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0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2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75261" y="4705833"/>
            <a:ext cx="2663190" cy="95440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  <a:tabLst>
                <a:tab pos="1094740" algn="l"/>
                <a:tab pos="2263140" algn="l"/>
                <a:tab pos="2637155" algn="l"/>
              </a:tabLst>
            </a:pPr>
            <a:r>
              <a:rPr sz="1900" b="1" i="1" u="heavy" spc="-3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	</a:t>
            </a:r>
            <a:r>
              <a:rPr sz="1900" b="1" i="1" u="heavy" spc="-14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i	i	</a:t>
            </a:r>
            <a:endParaRPr sz="1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9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69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488696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0" dirty="0"/>
              <a:t>Формула</a:t>
            </a:r>
            <a:r>
              <a:rPr spc="-140" dirty="0"/>
              <a:t> </a:t>
            </a:r>
            <a:r>
              <a:rPr spc="-254" dirty="0"/>
              <a:t>Байеса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3014960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3351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Используем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равенства  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1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860" dirty="0">
                <a:solidFill>
                  <a:srgbClr val="1E1E1E"/>
                </a:solidFill>
                <a:latin typeface="DejaVu Sans"/>
                <a:cs typeface="DejaVu Sans"/>
              </a:rPr>
              <a:t>⋂     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)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  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) 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8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72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2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20" dirty="0">
                <a:solidFill>
                  <a:srgbClr val="1E1E1E"/>
                </a:solidFill>
                <a:latin typeface="Verdana"/>
                <a:cs typeface="Verdana"/>
              </a:rPr>
              <a:t>B|A</a:t>
            </a:r>
            <a:r>
              <a:rPr sz="3300" b="1" spc="-720" dirty="0">
                <a:solidFill>
                  <a:srgbClr val="1E1E1E"/>
                </a:solidFill>
                <a:latin typeface="Verdana"/>
                <a:cs typeface="Verdana"/>
              </a:rPr>
              <a:t>)  </a:t>
            </a:r>
            <a:r>
              <a:rPr sz="3300" b="1" spc="-6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	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1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860" dirty="0">
                <a:solidFill>
                  <a:srgbClr val="1E1E1E"/>
                </a:solidFill>
                <a:latin typeface="DejaVu Sans"/>
                <a:cs typeface="DejaVu Sans"/>
              </a:rPr>
              <a:t>⋂ 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71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A|B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 marL="516890" indent="-502284">
              <a:lnSpc>
                <a:spcPct val="100000"/>
              </a:lnSpc>
              <a:spcBef>
                <a:spcPts val="3954"/>
              </a:spcBef>
              <a:buClr>
                <a:srgbClr val="BDD9DE"/>
              </a:buClr>
              <a:buFont typeface="Arial"/>
              <a:buChar char="•"/>
              <a:tabLst>
                <a:tab pos="516890" algn="l"/>
                <a:tab pos="517525" algn="l"/>
              </a:tabLst>
            </a:pP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Формула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Байеса: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98880" y="8290711"/>
            <a:ext cx="9271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0794" y="7976585"/>
            <a:ext cx="15290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1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795" dirty="0">
                <a:solidFill>
                  <a:srgbClr val="1E1E1E"/>
                </a:solidFill>
                <a:latin typeface="Verdana"/>
                <a:cs typeface="Verdana"/>
              </a:rPr>
              <a:t>|B</a:t>
            </a:r>
            <a:r>
              <a:rPr sz="3300" b="1" spc="-79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33013" y="7647537"/>
            <a:ext cx="23983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80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5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1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1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15" dirty="0">
                <a:solidFill>
                  <a:srgbClr val="1E1E1E"/>
                </a:solidFill>
                <a:latin typeface="Verdana"/>
                <a:cs typeface="Verdana"/>
              </a:rPr>
              <a:t>B|A</a:t>
            </a:r>
            <a:r>
              <a:rPr sz="2850" b="1" i="1" spc="-922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56574" y="8338616"/>
            <a:ext cx="24015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27" baseline="-32163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595" dirty="0">
                <a:solidFill>
                  <a:srgbClr val="1E1E1E"/>
                </a:solidFill>
                <a:latin typeface="Verdana"/>
                <a:cs typeface="Verdana"/>
              </a:rPr>
              <a:t> P</a:t>
            </a:r>
            <a:r>
              <a:rPr sz="3300" b="1" spc="-59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95" dirty="0">
                <a:solidFill>
                  <a:srgbClr val="1E1E1E"/>
                </a:solidFill>
                <a:latin typeface="Verdana"/>
                <a:cs typeface="Verdana"/>
              </a:rPr>
              <a:t>B|A</a:t>
            </a:r>
            <a:r>
              <a:rPr sz="2850" b="1" i="1" spc="-892" baseline="-32163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71093" y="5463730"/>
            <a:ext cx="14579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A|B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53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39836" y="5161331"/>
            <a:ext cx="21494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8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71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1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15" dirty="0">
                <a:solidFill>
                  <a:srgbClr val="1E1E1E"/>
                </a:solidFill>
                <a:latin typeface="Verdana"/>
                <a:cs typeface="Verdana"/>
              </a:rPr>
              <a:t>B|A</a:t>
            </a:r>
            <a:r>
              <a:rPr sz="3300" b="1" spc="-71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08199" y="5852409"/>
            <a:ext cx="14325600" cy="1395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7070" algn="ctr">
              <a:lnSpc>
                <a:spcPct val="100000"/>
              </a:lnSpc>
              <a:spcBef>
                <a:spcPts val="95"/>
              </a:spcBef>
            </a:pP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9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69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28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С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учетом формулы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полной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вероятности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полной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группы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событий</a:t>
            </a:r>
            <a:r>
              <a:rPr sz="3300" spc="9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85" dirty="0">
                <a:solidFill>
                  <a:srgbClr val="1E1E1E"/>
                </a:solidFill>
                <a:latin typeface="Arial"/>
                <a:cs typeface="Arial"/>
              </a:rPr>
              <a:t>{</a:t>
            </a:r>
            <a:r>
              <a:rPr sz="3300" b="1" i="1" spc="-18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277" baseline="-32163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3300" spc="95" dirty="0">
                <a:solidFill>
                  <a:srgbClr val="1E1E1E"/>
                </a:solidFill>
                <a:latin typeface="Arial"/>
                <a:cs typeface="Arial"/>
              </a:rPr>
              <a:t>}:</a:t>
            </a:r>
            <a:endParaRPr sz="33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93221" y="5782023"/>
            <a:ext cx="2285365" cy="0"/>
          </a:xfrm>
          <a:custGeom>
            <a:avLst/>
            <a:gdLst/>
            <a:ahLst/>
            <a:cxnLst/>
            <a:rect l="l" t="t" r="r" b="b"/>
            <a:pathLst>
              <a:path w="2285365">
                <a:moveTo>
                  <a:pt x="0" y="0"/>
                </a:moveTo>
                <a:lnTo>
                  <a:pt x="2285270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44931" y="8301056"/>
            <a:ext cx="3489960" cy="0"/>
          </a:xfrm>
          <a:custGeom>
            <a:avLst/>
            <a:gdLst/>
            <a:ahLst/>
            <a:cxnLst/>
            <a:rect l="l" t="t" r="r" b="b"/>
            <a:pathLst>
              <a:path w="3489959">
                <a:moveTo>
                  <a:pt x="0" y="0"/>
                </a:moveTo>
                <a:lnTo>
                  <a:pt x="3489946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267371" y="8156423"/>
            <a:ext cx="412115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750" b="1" spc="-97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575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9</a:t>
            </a:fld>
            <a:endParaRPr spc="-370" dirty="0"/>
          </a:p>
        </p:txBody>
      </p:sp>
      <p:sp>
        <p:nvSpPr>
          <p:cNvPr id="18" name="object 18"/>
          <p:cNvSpPr txBox="1"/>
          <p:nvPr/>
        </p:nvSpPr>
        <p:spPr>
          <a:xfrm>
            <a:off x="7678353" y="8233122"/>
            <a:ext cx="20256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35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05368" y="8656250"/>
            <a:ext cx="59880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185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2450" b="1" i="1" spc="-65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2450" b="1" i="1" spc="-5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4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24445" cy="1512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5770"/>
              </a:lnSpc>
              <a:spcBef>
                <a:spcPts val="430"/>
              </a:spcBef>
              <a:tabLst>
                <a:tab pos="4056379" algn="l"/>
              </a:tabLst>
            </a:pPr>
            <a:r>
              <a:rPr spc="-250" dirty="0"/>
              <a:t>Классическое  </a:t>
            </a:r>
            <a:r>
              <a:rPr spc="-320" dirty="0"/>
              <a:t>о</a:t>
            </a:r>
            <a:r>
              <a:rPr spc="-225" dirty="0"/>
              <a:t>п</a:t>
            </a:r>
            <a:r>
              <a:rPr spc="-215" dirty="0"/>
              <a:t>р</a:t>
            </a:r>
            <a:r>
              <a:rPr spc="-305" dirty="0"/>
              <a:t>е</a:t>
            </a:r>
            <a:r>
              <a:rPr spc="-345" dirty="0"/>
              <a:t>д</a:t>
            </a:r>
            <a:r>
              <a:rPr spc="-340" dirty="0"/>
              <a:t>е</a:t>
            </a:r>
            <a:r>
              <a:rPr spc="-375" dirty="0"/>
              <a:t>л</a:t>
            </a:r>
            <a:r>
              <a:rPr spc="-275" dirty="0"/>
              <a:t>е</a:t>
            </a:r>
            <a:r>
              <a:rPr spc="-280" dirty="0"/>
              <a:t>н</a:t>
            </a:r>
            <a:r>
              <a:rPr spc="-295" dirty="0"/>
              <a:t>и</a:t>
            </a:r>
            <a:r>
              <a:rPr spc="-204" dirty="0"/>
              <a:t>е</a:t>
            </a:r>
            <a:r>
              <a:rPr dirty="0"/>
              <a:t>	</a:t>
            </a:r>
            <a:r>
              <a:rPr spc="-420" dirty="0"/>
              <a:t>в</a:t>
            </a:r>
            <a:r>
              <a:rPr spc="-375" dirty="0"/>
              <a:t>е</a:t>
            </a:r>
            <a:r>
              <a:rPr spc="-165" dirty="0"/>
              <a:t>р</a:t>
            </a:r>
            <a:r>
              <a:rPr spc="-370" dirty="0"/>
              <a:t>о</a:t>
            </a:r>
            <a:r>
              <a:rPr spc="-300" dirty="0"/>
              <a:t>я</a:t>
            </a:r>
            <a:r>
              <a:rPr spc="-260" dirty="0"/>
              <a:t>т</a:t>
            </a:r>
            <a:r>
              <a:rPr spc="-280" dirty="0"/>
              <a:t>н</a:t>
            </a:r>
            <a:r>
              <a:rPr spc="-310" dirty="0"/>
              <a:t>о</a:t>
            </a:r>
            <a:r>
              <a:rPr spc="-500" dirty="0"/>
              <a:t>с</a:t>
            </a:r>
            <a:r>
              <a:rPr spc="-260" dirty="0"/>
              <a:t>т</a:t>
            </a:r>
            <a:r>
              <a:rPr spc="-200" dirty="0"/>
              <a:t>и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5463573"/>
            <a:ext cx="7846695" cy="153352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Опирается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на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комбинаторные</a:t>
            </a:r>
            <a:r>
              <a:rPr sz="3300" spc="1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методы.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Подходит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идеальных</a:t>
            </a:r>
            <a:r>
              <a:rPr sz="3300" spc="3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условий.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55974" y="3955765"/>
            <a:ext cx="110934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7029" y="3620697"/>
            <a:ext cx="43268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благоприятные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исходы</a:t>
            </a:r>
            <a:endParaRPr sz="3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15413" y="4280363"/>
            <a:ext cx="479234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равновероятные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события</a:t>
            </a:r>
            <a:endParaRPr sz="33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95915" y="4266885"/>
            <a:ext cx="4856480" cy="0"/>
          </a:xfrm>
          <a:custGeom>
            <a:avLst/>
            <a:gdLst/>
            <a:ahLst/>
            <a:cxnLst/>
            <a:rect l="l" t="t" r="r" b="b"/>
            <a:pathLst>
              <a:path w="4856480">
                <a:moveTo>
                  <a:pt x="0" y="0"/>
                </a:moveTo>
                <a:lnTo>
                  <a:pt x="4856134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10</a:t>
            </a:fld>
            <a:endParaRPr spc="-3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822515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5" dirty="0"/>
              <a:t>Геометрическая</a:t>
            </a:r>
            <a:r>
              <a:rPr spc="-165" dirty="0"/>
              <a:t> </a:t>
            </a:r>
            <a:r>
              <a:rPr spc="-355" dirty="0"/>
              <a:t>вероятность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5714874"/>
            <a:ext cx="828357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marR="5080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Когда 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невозможно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вычислить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количество 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элементарных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событий.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29767" y="3955765"/>
            <a:ext cx="110934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64697" y="3620697"/>
            <a:ext cx="16141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55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е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45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(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)</a:t>
            </a:r>
            <a:endParaRPr sz="3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43755" y="4280363"/>
            <a:ext cx="165544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Мера</a:t>
            </a:r>
            <a:r>
              <a:rPr sz="3300" spc="-57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270" dirty="0">
                <a:solidFill>
                  <a:srgbClr val="1E1E1E"/>
                </a:solidFill>
                <a:latin typeface="Arial"/>
                <a:cs typeface="Arial"/>
              </a:rPr>
              <a:t>(</a:t>
            </a:r>
            <a:r>
              <a:rPr sz="3300" b="1" spc="-270" dirty="0">
                <a:solidFill>
                  <a:srgbClr val="1E1E1E"/>
                </a:solidFill>
                <a:latin typeface="Verdana"/>
                <a:cs typeface="Verdana"/>
              </a:rPr>
              <a:t>Ω</a:t>
            </a:r>
            <a:r>
              <a:rPr sz="3300" spc="-270" dirty="0">
                <a:solidFill>
                  <a:srgbClr val="1E1E1E"/>
                </a:solidFill>
                <a:latin typeface="Arial"/>
                <a:cs typeface="Arial"/>
              </a:rPr>
              <a:t>)</a:t>
            </a:r>
            <a:endParaRPr sz="33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69707" y="4266885"/>
            <a:ext cx="1971675" cy="0"/>
          </a:xfrm>
          <a:custGeom>
            <a:avLst/>
            <a:gdLst/>
            <a:ahLst/>
            <a:cxnLst/>
            <a:rect l="l" t="t" r="r" b="b"/>
            <a:pathLst>
              <a:path w="1971675">
                <a:moveTo>
                  <a:pt x="0" y="0"/>
                </a:moveTo>
                <a:lnTo>
                  <a:pt x="1971405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11</a:t>
            </a:fld>
            <a:endParaRPr spc="-3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818134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60" dirty="0"/>
              <a:t>Статистическая</a:t>
            </a:r>
            <a:r>
              <a:rPr spc="-140" dirty="0"/>
              <a:t> </a:t>
            </a:r>
            <a:r>
              <a:rPr spc="-350" dirty="0"/>
              <a:t>вероятность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5714874"/>
            <a:ext cx="774065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marR="5080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Приближается </a:t>
            </a:r>
            <a:r>
              <a:rPr sz="3300" spc="130" dirty="0">
                <a:solidFill>
                  <a:srgbClr val="1E1E1E"/>
                </a:solidFill>
                <a:latin typeface="Arial"/>
                <a:cs typeface="Arial"/>
              </a:rPr>
              <a:t>к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реальной вероятости 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росте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числа</a:t>
            </a:r>
            <a:r>
              <a:rPr sz="3300" spc="19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экспериментов.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16515" y="3955765"/>
            <a:ext cx="110934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64315" y="3620697"/>
            <a:ext cx="43268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благоприятные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исходы</a:t>
            </a:r>
            <a:endParaRPr sz="3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6109" y="4280363"/>
            <a:ext cx="524573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проведенные</a:t>
            </a:r>
            <a:r>
              <a:rPr sz="3300" spc="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эксперименты</a:t>
            </a:r>
            <a:endParaRPr sz="33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56664" y="4266885"/>
            <a:ext cx="5395595" cy="0"/>
          </a:xfrm>
          <a:custGeom>
            <a:avLst/>
            <a:gdLst/>
            <a:ahLst/>
            <a:cxnLst/>
            <a:rect l="l" t="t" r="r" b="b"/>
            <a:pathLst>
              <a:path w="5395595">
                <a:moveTo>
                  <a:pt x="0" y="0"/>
                </a:moveTo>
                <a:lnTo>
                  <a:pt x="5395385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12</a:t>
            </a:fld>
            <a:endParaRPr spc="-3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32472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5" dirty="0"/>
              <a:t>Байесовская</a:t>
            </a:r>
            <a:r>
              <a:rPr spc="-135" dirty="0"/>
              <a:t> </a:t>
            </a:r>
            <a:r>
              <a:rPr spc="-350" dirty="0"/>
              <a:t>вероятность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5463573"/>
            <a:ext cx="11203305" cy="153352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Степень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уверенности.</a:t>
            </a:r>
            <a:endParaRPr sz="3300"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Пересчет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поступлении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дополнительной</a:t>
            </a:r>
            <a:r>
              <a:rPr sz="3300" spc="2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информации.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3663" y="4269892"/>
            <a:ext cx="9271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45504" y="3955765"/>
            <a:ext cx="15290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1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795" dirty="0">
                <a:solidFill>
                  <a:srgbClr val="1E1E1E"/>
                </a:solidFill>
                <a:latin typeface="Verdana"/>
                <a:cs typeface="Verdana"/>
              </a:rPr>
              <a:t>|B</a:t>
            </a:r>
            <a:r>
              <a:rPr sz="3300" b="1" spc="-79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86864" y="3609964"/>
            <a:ext cx="23983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80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5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1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1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15" dirty="0">
                <a:solidFill>
                  <a:srgbClr val="1E1E1E"/>
                </a:solidFill>
                <a:latin typeface="Verdana"/>
                <a:cs typeface="Verdana"/>
              </a:rPr>
              <a:t>B|A</a:t>
            </a:r>
            <a:r>
              <a:rPr sz="2850" b="1" i="1" spc="-922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10414" y="4301043"/>
            <a:ext cx="24015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27" baseline="-32163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595" dirty="0">
                <a:solidFill>
                  <a:srgbClr val="1E1E1E"/>
                </a:solidFill>
                <a:latin typeface="Verdana"/>
                <a:cs typeface="Verdana"/>
              </a:rPr>
              <a:t> P</a:t>
            </a:r>
            <a:r>
              <a:rPr sz="3300" b="1" spc="-59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95" dirty="0">
                <a:solidFill>
                  <a:srgbClr val="1E1E1E"/>
                </a:solidFill>
                <a:latin typeface="Verdana"/>
                <a:cs typeface="Verdana"/>
              </a:rPr>
              <a:t>B|A</a:t>
            </a:r>
            <a:r>
              <a:rPr sz="2850" b="1" i="1" spc="-892" baseline="-32163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98782" y="4263482"/>
            <a:ext cx="3489960" cy="0"/>
          </a:xfrm>
          <a:custGeom>
            <a:avLst/>
            <a:gdLst/>
            <a:ahLst/>
            <a:cxnLst/>
            <a:rect l="l" t="t" r="r" b="b"/>
            <a:pathLst>
              <a:path w="3489959">
                <a:moveTo>
                  <a:pt x="0" y="0"/>
                </a:moveTo>
                <a:lnTo>
                  <a:pt x="3489946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621212" y="4118849"/>
            <a:ext cx="412115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750" b="1" spc="-97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575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13</a:t>
            </a:fld>
            <a:endParaRPr spc="-370" dirty="0"/>
          </a:p>
        </p:txBody>
      </p:sp>
      <p:sp>
        <p:nvSpPr>
          <p:cNvPr id="14" name="object 14"/>
          <p:cNvSpPr txBox="1"/>
          <p:nvPr/>
        </p:nvSpPr>
        <p:spPr>
          <a:xfrm>
            <a:off x="6032194" y="4195548"/>
            <a:ext cx="20256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35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61408" y="4618677"/>
            <a:ext cx="59436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185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2450" b="1" i="1" spc="-65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2450" b="1" i="1" spc="-5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450" b="1" i="1" spc="-40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4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490283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65" dirty="0"/>
              <a:t>Пример:</a:t>
            </a:r>
            <a:r>
              <a:rPr spc="-150" dirty="0"/>
              <a:t> </a:t>
            </a:r>
            <a:r>
              <a:rPr spc="-350" dirty="0"/>
              <a:t>условия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14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10134600" cy="379539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Коллекция</a:t>
            </a: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документов:</a:t>
            </a:r>
            <a:endParaRPr sz="3300">
              <a:latin typeface="Arial"/>
              <a:cs typeface="Arial"/>
            </a:endParaRPr>
          </a:p>
          <a:p>
            <a:pPr marL="1017905" lvl="1" indent="-502920">
              <a:lnSpc>
                <a:spcPct val="100000"/>
              </a:lnSpc>
              <a:spcBef>
                <a:spcPts val="1975"/>
              </a:spcBef>
              <a:buChar char="–"/>
              <a:tabLst>
                <a:tab pos="1017269" algn="l"/>
                <a:tab pos="1017905" algn="l"/>
              </a:tabLst>
            </a:pP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95%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документов 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типа</a:t>
            </a:r>
            <a:r>
              <a:rPr sz="3300" spc="1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315" dirty="0">
                <a:solidFill>
                  <a:srgbClr val="1E1E1E"/>
                </a:solidFill>
                <a:latin typeface="Arial"/>
                <a:cs typeface="Arial"/>
              </a:rPr>
              <a:t>R;</a:t>
            </a:r>
            <a:endParaRPr sz="3300">
              <a:latin typeface="Arial"/>
              <a:cs typeface="Arial"/>
            </a:endParaRPr>
          </a:p>
          <a:p>
            <a:pPr marL="1017905" lvl="1" indent="-502920">
              <a:lnSpc>
                <a:spcPct val="100000"/>
              </a:lnSpc>
              <a:spcBef>
                <a:spcPts val="1980"/>
              </a:spcBef>
              <a:buChar char="–"/>
              <a:tabLst>
                <a:tab pos="1017269" algn="l"/>
                <a:tab pos="1017905" algn="l"/>
              </a:tabLst>
            </a:pP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5%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документов 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типа</a:t>
            </a:r>
            <a:r>
              <a:rPr sz="3300" spc="2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Q.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90">
                <a:solidFill>
                  <a:srgbClr val="1E1E1E"/>
                </a:solidFill>
                <a:latin typeface="Arial"/>
                <a:cs typeface="Arial"/>
              </a:rPr>
              <a:t>Алгоритм </a:t>
            </a:r>
            <a:r>
              <a:rPr sz="3300" spc="-55">
                <a:solidFill>
                  <a:srgbClr val="1E1E1E"/>
                </a:solidFill>
                <a:latin typeface="Arial"/>
                <a:cs typeface="Arial"/>
              </a:rPr>
              <a:t>клас</a:t>
            </a:r>
            <a:r>
              <a:rPr lang="ru-RU" sz="3300" spc="-55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-80">
                <a:solidFill>
                  <a:srgbClr val="1E1E1E"/>
                </a:solidFill>
                <a:latin typeface="Arial"/>
                <a:cs typeface="Arial"/>
              </a:rPr>
              <a:t>ификации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ошибается в </a:t>
            </a:r>
            <a:r>
              <a:rPr sz="3300" spc="-325" dirty="0">
                <a:solidFill>
                  <a:srgbClr val="1E1E1E"/>
                </a:solidFill>
                <a:latin typeface="Arial"/>
                <a:cs typeface="Arial"/>
              </a:rPr>
              <a:t>1%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случаев.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Какова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вероятность,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что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ответ </a:t>
            </a:r>
            <a:r>
              <a:rPr sz="3300" spc="65" dirty="0">
                <a:solidFill>
                  <a:srgbClr val="1E1E1E"/>
                </a:solidFill>
                <a:latin typeface="Arial"/>
                <a:cs typeface="Arial"/>
              </a:rPr>
              <a:t>Q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окажется</a:t>
            </a:r>
            <a:r>
              <a:rPr sz="3300" spc="2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85" dirty="0">
                <a:solidFill>
                  <a:srgbClr val="1E1E1E"/>
                </a:solidFill>
                <a:latin typeface="Arial"/>
                <a:cs typeface="Arial"/>
              </a:rPr>
              <a:t>верным?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513207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65" dirty="0"/>
              <a:t>Пример:</a:t>
            </a:r>
            <a:r>
              <a:rPr spc="-145" dirty="0"/>
              <a:t> </a:t>
            </a:r>
            <a:r>
              <a:rPr spc="-204" dirty="0"/>
              <a:t>решение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5843" y="3201862"/>
            <a:ext cx="8869680" cy="228727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Пусть событие </a:t>
            </a:r>
            <a:r>
              <a:rPr sz="3300" b="1" i="1" spc="-40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600" baseline="-32163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выбран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документ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типа</a:t>
            </a:r>
            <a:r>
              <a:rPr sz="3300" spc="-51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9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spc="-39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Событие </a:t>
            </a:r>
            <a:r>
              <a:rPr sz="3300" b="1" i="1" spc="-50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2850" b="1" i="1" spc="-750" baseline="-32163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алгоритм </a:t>
            </a:r>
            <a:r>
              <a:rPr sz="3300" spc="-180" dirty="0">
                <a:solidFill>
                  <a:srgbClr val="1E1E1E"/>
                </a:solidFill>
                <a:latin typeface="Arial"/>
                <a:cs typeface="Arial"/>
              </a:rPr>
              <a:t>выдал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ответ</a:t>
            </a:r>
            <a:r>
              <a:rPr sz="3300" spc="-38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9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spc="-39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Применим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формулу</a:t>
            </a:r>
            <a:r>
              <a:rPr sz="3300" spc="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Байеса: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3890" y="6468778"/>
            <a:ext cx="18446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855" baseline="-32163" dirty="0">
                <a:solidFill>
                  <a:srgbClr val="1E1E1E"/>
                </a:solidFill>
                <a:latin typeface="Verdana"/>
                <a:cs typeface="Verdana"/>
              </a:rPr>
              <a:t>Q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|B</a:t>
            </a:r>
            <a:r>
              <a:rPr sz="2850" b="1" i="1" spc="-855" baseline="-32163" dirty="0">
                <a:solidFill>
                  <a:srgbClr val="1E1E1E"/>
                </a:solidFill>
                <a:latin typeface="Verdana"/>
                <a:cs typeface="Verdana"/>
              </a:rPr>
              <a:t>Q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51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27460" y="8227886"/>
            <a:ext cx="18446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855" baseline="-32163" dirty="0">
                <a:solidFill>
                  <a:srgbClr val="1E1E1E"/>
                </a:solidFill>
                <a:latin typeface="Verdana"/>
                <a:cs typeface="Verdana"/>
              </a:rPr>
              <a:t>Q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|B</a:t>
            </a:r>
            <a:r>
              <a:rPr sz="2850" b="1" i="1" spc="-855" baseline="-32163" dirty="0">
                <a:solidFill>
                  <a:srgbClr val="1E1E1E"/>
                </a:solidFill>
                <a:latin typeface="Verdana"/>
                <a:cs typeface="Verdana"/>
              </a:rPr>
              <a:t>Q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51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15951" y="8227886"/>
            <a:ext cx="18643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≈</a:t>
            </a:r>
            <a:r>
              <a:rPr sz="3300" b="1" spc="-6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05" dirty="0">
                <a:solidFill>
                  <a:srgbClr val="1E1E1E"/>
                </a:solidFill>
                <a:latin typeface="Verdana"/>
                <a:cs typeface="Verdana"/>
              </a:rPr>
              <a:t>0.83898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34884" y="6133709"/>
            <a:ext cx="276923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3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53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3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802" baseline="-32163" dirty="0">
                <a:solidFill>
                  <a:srgbClr val="1E1E1E"/>
                </a:solidFill>
                <a:latin typeface="Verdana"/>
                <a:cs typeface="Verdana"/>
              </a:rPr>
              <a:t>Q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6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57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2850" b="1" i="1" spc="-862" baseline="-32163" dirty="0">
                <a:solidFill>
                  <a:srgbClr val="1E1E1E"/>
                </a:solidFill>
                <a:latin typeface="Verdana"/>
                <a:cs typeface="Verdana"/>
              </a:rPr>
              <a:t>Q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|A</a:t>
            </a:r>
            <a:r>
              <a:rPr sz="2850" b="1" i="1" spc="-862" baseline="-32163" dirty="0">
                <a:solidFill>
                  <a:srgbClr val="1E1E1E"/>
                </a:solidFill>
                <a:latin typeface="Verdana"/>
                <a:cs typeface="Verdana"/>
              </a:rPr>
              <a:t>Q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76198" y="6824788"/>
            <a:ext cx="588645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3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53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3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802" baseline="-32163" dirty="0">
                <a:solidFill>
                  <a:srgbClr val="1E1E1E"/>
                </a:solidFill>
                <a:latin typeface="Verdana"/>
                <a:cs typeface="Verdana"/>
              </a:rPr>
              <a:t>Q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 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57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2850" b="1" i="1" spc="-862" baseline="-32163" dirty="0">
                <a:solidFill>
                  <a:srgbClr val="1E1E1E"/>
                </a:solidFill>
                <a:latin typeface="Verdana"/>
                <a:cs typeface="Verdana"/>
              </a:rPr>
              <a:t>Q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|A</a:t>
            </a:r>
            <a:r>
              <a:rPr sz="2850" b="1" i="1" spc="-862" baseline="-32163" dirty="0">
                <a:solidFill>
                  <a:srgbClr val="1E1E1E"/>
                </a:solidFill>
                <a:latin typeface="Verdana"/>
                <a:cs typeface="Verdana"/>
              </a:rPr>
              <a:t>Q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55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55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5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825" baseline="-32163" dirty="0">
                <a:solidFill>
                  <a:srgbClr val="1E1E1E"/>
                </a:solidFill>
                <a:latin typeface="Verdana"/>
                <a:cs typeface="Verdana"/>
              </a:rPr>
              <a:t>R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83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58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2850" b="1" i="1" spc="-877" baseline="-32163" dirty="0">
                <a:solidFill>
                  <a:srgbClr val="1E1E1E"/>
                </a:solidFill>
                <a:latin typeface="Verdana"/>
                <a:cs typeface="Verdana"/>
              </a:rPr>
              <a:t>Q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|A</a:t>
            </a:r>
            <a:r>
              <a:rPr sz="2850" b="1" i="1" spc="-877" baseline="-32163" dirty="0">
                <a:solidFill>
                  <a:srgbClr val="1E1E1E"/>
                </a:solidFill>
                <a:latin typeface="Verdana"/>
                <a:cs typeface="Verdana"/>
              </a:rPr>
              <a:t>R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28418" y="7904126"/>
            <a:ext cx="19253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0.05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spc="-39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480" dirty="0">
                <a:solidFill>
                  <a:srgbClr val="1E1E1E"/>
                </a:solidFill>
                <a:latin typeface="Verdana"/>
                <a:cs typeface="Verdana"/>
              </a:rPr>
              <a:t>0.99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72013" y="8595205"/>
            <a:ext cx="42379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0.05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∙ </a:t>
            </a:r>
            <a:r>
              <a:rPr sz="3300" b="1" spc="-480" dirty="0">
                <a:solidFill>
                  <a:srgbClr val="1E1E1E"/>
                </a:solidFill>
                <a:latin typeface="Verdana"/>
                <a:cs typeface="Verdana"/>
              </a:rPr>
              <a:t>0.99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spc="-495" dirty="0">
                <a:solidFill>
                  <a:srgbClr val="1E1E1E"/>
                </a:solidFill>
                <a:latin typeface="Verdana"/>
                <a:cs typeface="Verdana"/>
              </a:rPr>
              <a:t>0.95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spc="-2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15" dirty="0">
                <a:solidFill>
                  <a:srgbClr val="1E1E1E"/>
                </a:solidFill>
                <a:latin typeface="Verdana"/>
                <a:cs typeface="Verdana"/>
              </a:rPr>
              <a:t>0.01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083121" y="6787227"/>
            <a:ext cx="6083300" cy="0"/>
          </a:xfrm>
          <a:custGeom>
            <a:avLst/>
            <a:gdLst/>
            <a:ahLst/>
            <a:cxnLst/>
            <a:rect l="l" t="t" r="r" b="b"/>
            <a:pathLst>
              <a:path w="6083300">
                <a:moveTo>
                  <a:pt x="0" y="0"/>
                </a:moveTo>
                <a:lnTo>
                  <a:pt x="6083060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83121" y="8557593"/>
            <a:ext cx="4288790" cy="0"/>
          </a:xfrm>
          <a:custGeom>
            <a:avLst/>
            <a:gdLst/>
            <a:ahLst/>
            <a:cxnLst/>
            <a:rect l="l" t="t" r="r" b="b"/>
            <a:pathLst>
              <a:path w="4288790">
                <a:moveTo>
                  <a:pt x="0" y="0"/>
                </a:moveTo>
                <a:lnTo>
                  <a:pt x="4288351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15</a:t>
            </a:fld>
            <a:endParaRPr spc="-3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837692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15" dirty="0"/>
              <a:t>Вероятностное</a:t>
            </a:r>
            <a:r>
              <a:rPr spc="-120" dirty="0"/>
              <a:t> </a:t>
            </a:r>
            <a:r>
              <a:rPr spc="-285" dirty="0"/>
              <a:t>пространство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16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7115809" cy="77393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350" indent="-50165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Множество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элементарных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5">
                <a:solidFill>
                  <a:srgbClr val="1E1E1E"/>
                </a:solidFill>
                <a:latin typeface="Arial"/>
                <a:cs typeface="Arial"/>
              </a:rPr>
              <a:t>событий.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608457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90" dirty="0"/>
              <a:t>Случайная</a:t>
            </a:r>
            <a:r>
              <a:rPr spc="-145" dirty="0"/>
              <a:t> </a:t>
            </a:r>
            <a:r>
              <a:rPr spc="-295" dirty="0"/>
              <a:t>величина</a:t>
            </a:r>
          </a:p>
        </p:txBody>
      </p:sp>
      <p:sp>
        <p:nvSpPr>
          <p:cNvPr id="7" name="object 7"/>
          <p:cNvSpPr/>
          <p:nvPr/>
        </p:nvSpPr>
        <p:spPr>
          <a:xfrm>
            <a:off x="7161845" y="6108704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5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5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5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5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45" y="16365"/>
                </a:lnTo>
                <a:lnTo>
                  <a:pt x="128446" y="14743"/>
                </a:lnTo>
                <a:close/>
              </a:path>
              <a:path w="304165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5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5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5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06104" y="3453163"/>
            <a:ext cx="8545830" cy="4297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5620" marR="1292860" indent="-502920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Неизвестное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числовое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значение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 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результат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случайного</a:t>
            </a:r>
            <a:r>
              <a:rPr sz="3300" spc="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эксперимента.</a:t>
            </a:r>
            <a:endParaRPr sz="3300">
              <a:latin typeface="Arial"/>
              <a:cs typeface="Arial"/>
            </a:endParaRPr>
          </a:p>
          <a:p>
            <a:pPr marL="515620" marR="5080" indent="-502920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Отображение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из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множества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элементарных  событий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вещественные</a:t>
            </a:r>
            <a:r>
              <a:rPr sz="3300" spc="17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числа:</a:t>
            </a:r>
            <a:endParaRPr sz="3300">
              <a:latin typeface="Arial"/>
              <a:cs typeface="Arial"/>
            </a:endParaRPr>
          </a:p>
          <a:p>
            <a:pPr marL="4075429">
              <a:lnSpc>
                <a:spcPct val="100000"/>
              </a:lnSpc>
              <a:spcBef>
                <a:spcPts val="1975"/>
              </a:spcBef>
            </a:pP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spc="-475" dirty="0">
                <a:solidFill>
                  <a:srgbClr val="1E1E1E"/>
                </a:solidFill>
                <a:latin typeface="Verdana"/>
                <a:cs typeface="Verdana"/>
              </a:rPr>
              <a:t>: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Ω</a:t>
            </a:r>
            <a:r>
              <a:rPr sz="3300" b="1" spc="3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spc="-605" dirty="0">
                <a:solidFill>
                  <a:srgbClr val="1E1E1E"/>
                </a:solidFill>
                <a:latin typeface="Arial"/>
                <a:cs typeface="Arial"/>
              </a:rPr>
              <a:t>→</a:t>
            </a:r>
            <a:endParaRPr sz="3300">
              <a:latin typeface="Arial"/>
              <a:cs typeface="Arial"/>
            </a:endParaRPr>
          </a:p>
          <a:p>
            <a:pPr marL="514984" marR="1294130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количественных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качественных 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характеристик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события.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17</a:t>
            </a:fld>
            <a:endParaRPr spc="-3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8103234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65" dirty="0"/>
              <a:t>Дискретные </a:t>
            </a:r>
            <a:r>
              <a:rPr spc="-200" dirty="0"/>
              <a:t>и</a:t>
            </a:r>
            <a:r>
              <a:rPr spc="55" dirty="0"/>
              <a:t> </a:t>
            </a:r>
            <a:r>
              <a:rPr spc="-365" dirty="0"/>
              <a:t>непрерывные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18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5686" y="3201862"/>
            <a:ext cx="8822055" cy="4046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984" marR="5080" indent="-502284">
              <a:lnSpc>
                <a:spcPct val="149900"/>
              </a:lnSpc>
              <a:spcBef>
                <a:spcPts val="100"/>
              </a:spcBef>
              <a:buClr>
                <a:srgbClr val="BDD9DE"/>
              </a:buClr>
              <a:buChar char="•"/>
              <a:tabLst>
                <a:tab pos="515620" algn="l"/>
                <a:tab pos="516255" algn="l"/>
              </a:tabLst>
            </a:pPr>
            <a:r>
              <a:rPr sz="3300" b="1" spc="-195" dirty="0">
                <a:solidFill>
                  <a:srgbClr val="1E1E1E"/>
                </a:solidFill>
                <a:latin typeface="Arial"/>
                <a:cs typeface="Arial"/>
              </a:rPr>
              <a:t>Дискретные</a:t>
            </a:r>
            <a:r>
              <a:rPr sz="3300" spc="-195" dirty="0">
                <a:solidFill>
                  <a:srgbClr val="1E1E1E"/>
                </a:solidFill>
                <a:latin typeface="Arial"/>
                <a:cs typeface="Arial"/>
              </a:rPr>
              <a:t>: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изолированные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значения. 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Конечное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или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счетное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множество</a:t>
            </a:r>
            <a:r>
              <a:rPr sz="3300" spc="4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значений.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BDD9DE"/>
              </a:buClr>
              <a:buFont typeface="Arial"/>
              <a:buChar char="•"/>
            </a:pPr>
            <a:endParaRPr sz="5150">
              <a:latin typeface="Times New Roman"/>
              <a:cs typeface="Times New Roman"/>
            </a:endParaRPr>
          </a:p>
          <a:p>
            <a:pPr marL="514350" marR="1021715" indent="-501650">
              <a:lnSpc>
                <a:spcPct val="100000"/>
              </a:lnSpc>
              <a:buClr>
                <a:srgbClr val="BDD9DE"/>
              </a:buClr>
              <a:buChar char="•"/>
              <a:tabLst>
                <a:tab pos="514984" algn="l"/>
                <a:tab pos="515620" algn="l"/>
              </a:tabLst>
            </a:pPr>
            <a:r>
              <a:rPr sz="3300" b="1" spc="-245" dirty="0">
                <a:solidFill>
                  <a:srgbClr val="1E1E1E"/>
                </a:solidFill>
                <a:latin typeface="Arial"/>
                <a:cs typeface="Arial"/>
              </a:rPr>
              <a:t>Непрерывные</a:t>
            </a:r>
            <a:r>
              <a:rPr sz="3300" spc="-245" dirty="0">
                <a:solidFill>
                  <a:srgbClr val="1E1E1E"/>
                </a:solidFill>
                <a:latin typeface="Arial"/>
                <a:cs typeface="Arial"/>
              </a:rPr>
              <a:t>: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произвольные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значения 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из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некоторого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интервала.</a:t>
            </a:r>
            <a:endParaRPr sz="3300">
              <a:latin typeface="Arial"/>
              <a:cs typeface="Arial"/>
            </a:endParaRPr>
          </a:p>
          <a:p>
            <a:pPr marL="514350">
              <a:lnSpc>
                <a:spcPct val="100000"/>
              </a:lnSpc>
              <a:spcBef>
                <a:spcPts val="1975"/>
              </a:spcBef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Несчетное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множество</a:t>
            </a:r>
            <a:r>
              <a:rPr sz="3300" spc="1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значений.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1492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25" dirty="0"/>
              <a:t>Независимые </a:t>
            </a:r>
            <a:r>
              <a:rPr spc="-310" dirty="0"/>
              <a:t>случайные</a:t>
            </a:r>
            <a:r>
              <a:rPr spc="170" dirty="0"/>
              <a:t> </a:t>
            </a:r>
            <a:r>
              <a:rPr spc="-395" dirty="0"/>
              <a:t>величины</a:t>
            </a:r>
          </a:p>
        </p:txBody>
      </p:sp>
      <p:sp>
        <p:nvSpPr>
          <p:cNvPr id="7" name="object 7"/>
          <p:cNvSpPr/>
          <p:nvPr/>
        </p:nvSpPr>
        <p:spPr>
          <a:xfrm>
            <a:off x="4820565" y="6108704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4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4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4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4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35" y="16365"/>
                </a:lnTo>
                <a:lnTo>
                  <a:pt x="128446" y="14743"/>
                </a:lnTo>
                <a:close/>
              </a:path>
              <a:path w="304164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4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4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5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05937" y="3453163"/>
            <a:ext cx="8822055" cy="4046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События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независимы,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если 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1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570" dirty="0">
                <a:solidFill>
                  <a:srgbClr val="1E1E1E"/>
                </a:solidFill>
                <a:latin typeface="DejaVu Sans"/>
                <a:cs typeface="DejaVu Sans"/>
              </a:rPr>
              <a:t>∩ 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29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 marL="13970">
              <a:lnSpc>
                <a:spcPct val="100000"/>
              </a:lnSpc>
              <a:spcBef>
                <a:spcPts val="3954"/>
              </a:spcBef>
            </a:pP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Случайные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величины 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817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712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независимы,</a:t>
            </a:r>
            <a:r>
              <a:rPr sz="3300" spc="5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если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независимы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события </a:t>
            </a:r>
            <a:r>
              <a:rPr sz="3300" b="1" i="1" spc="-780" dirty="0">
                <a:solidFill>
                  <a:srgbClr val="1E1E1E"/>
                </a:solidFill>
                <a:latin typeface="Verdana"/>
                <a:cs typeface="Verdana"/>
              </a:rPr>
              <a:t>«X</a:t>
            </a:r>
            <a:r>
              <a:rPr sz="2850" b="1" spc="-1170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2850" b="1" spc="-615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844" dirty="0">
                <a:solidFill>
                  <a:srgbClr val="1E1E1E"/>
                </a:solidFill>
                <a:latin typeface="Verdana"/>
                <a:cs typeface="Verdana"/>
              </a:rPr>
              <a:t>a»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395" dirty="0">
                <a:solidFill>
                  <a:srgbClr val="1E1E1E"/>
                </a:solidFill>
                <a:latin typeface="Arial"/>
                <a:cs typeface="Arial"/>
              </a:rPr>
              <a:t>«</a:t>
            </a:r>
            <a:r>
              <a:rPr sz="3300" b="1" i="1" spc="-39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592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7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5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spc="-355" dirty="0">
                <a:solidFill>
                  <a:srgbClr val="1E1E1E"/>
                </a:solidFill>
                <a:latin typeface="Arial"/>
                <a:cs typeface="Arial"/>
              </a:rPr>
              <a:t>»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  <a:tab pos="3743325" algn="l"/>
              </a:tabLst>
            </a:pP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то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есть, </a:t>
            </a:r>
            <a:r>
              <a:rPr sz="3300" spc="-310" dirty="0">
                <a:solidFill>
                  <a:srgbClr val="1E1E1E"/>
                </a:solidFill>
                <a:latin typeface="DejaVu Sans"/>
                <a:cs typeface="DejaVu Sans"/>
              </a:rPr>
              <a:t>∀</a:t>
            </a:r>
            <a:r>
              <a:rPr sz="3300" b="1" i="1" spc="-31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310" dirty="0">
                <a:solidFill>
                  <a:srgbClr val="1E1E1E"/>
                </a:solidFill>
                <a:latin typeface="Arial"/>
                <a:cs typeface="Arial"/>
              </a:rPr>
              <a:t>, </a:t>
            </a:r>
            <a:r>
              <a:rPr sz="3300" spc="-29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spc="-1065" dirty="0">
                <a:solidFill>
                  <a:srgbClr val="1E1E1E"/>
                </a:solidFill>
                <a:latin typeface="DejaVu Sans"/>
                <a:cs typeface="DejaVu Sans"/>
              </a:rPr>
              <a:t>∈	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3300">
              <a:latin typeface="Arial"/>
              <a:cs typeface="Arial"/>
            </a:endParaRPr>
          </a:p>
          <a:p>
            <a:pPr marL="1470025">
              <a:lnSpc>
                <a:spcPct val="100000"/>
              </a:lnSpc>
              <a:spcBef>
                <a:spcPts val="3954"/>
              </a:spcBef>
            </a:pPr>
            <a:r>
              <a:rPr sz="3300" b="1" i="1" spc="-65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50" dirty="0">
                <a:solidFill>
                  <a:srgbClr val="1E1E1E"/>
                </a:solidFill>
                <a:latin typeface="Verdana"/>
                <a:cs typeface="Verdana"/>
              </a:rPr>
              <a:t>((</a:t>
            </a:r>
            <a:r>
              <a:rPr sz="3300" b="1" i="1" spc="-65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975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2850" b="1" spc="-405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2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2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spc="-570" dirty="0">
                <a:solidFill>
                  <a:srgbClr val="1E1E1E"/>
                </a:solidFill>
                <a:latin typeface="DejaVu Sans"/>
                <a:cs typeface="DejaVu Sans"/>
              </a:rPr>
              <a:t>∩ </a:t>
            </a:r>
            <a:r>
              <a:rPr sz="3300" b="1" spc="-55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5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832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740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740" dirty="0">
                <a:solidFill>
                  <a:srgbClr val="1E1E1E"/>
                </a:solidFill>
                <a:latin typeface="Verdana"/>
                <a:cs typeface="Verdana"/>
              </a:rPr>
              <a:t>))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59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59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9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885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2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2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6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56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839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8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66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19</a:t>
            </a:fld>
            <a:endParaRPr spc="-37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98105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Характеристики </a:t>
            </a:r>
            <a:r>
              <a:rPr spc="-260" dirty="0"/>
              <a:t>случайной</a:t>
            </a:r>
            <a:r>
              <a:rPr spc="-30" dirty="0"/>
              <a:t> </a:t>
            </a:r>
            <a:r>
              <a:rPr spc="-400" dirty="0"/>
              <a:t>величины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20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6922770" cy="304101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Распределение</a:t>
            </a:r>
            <a:r>
              <a:rPr sz="3300" spc="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вероятностей.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Математическое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ожидание.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Дисперсия.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Среднеквадратичное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отклонение.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436689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10" dirty="0"/>
              <a:t>Распределение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21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0023475" cy="5554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marR="5080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Вероятность 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4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2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2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общая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вероятность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всех</a:t>
            </a:r>
            <a:r>
              <a:rPr sz="3300" spc="-3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ω</a:t>
            </a:r>
            <a:r>
              <a:rPr sz="3300" spc="-385" dirty="0">
                <a:solidFill>
                  <a:srgbClr val="1E1E1E"/>
                </a:solidFill>
                <a:latin typeface="Arial"/>
                <a:cs typeface="Arial"/>
              </a:rPr>
              <a:t>:  </a:t>
            </a:r>
            <a:r>
              <a:rPr sz="3300" b="1" i="1" spc="-74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74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45" dirty="0">
                <a:solidFill>
                  <a:srgbClr val="1E1E1E"/>
                </a:solidFill>
                <a:latin typeface="Verdana"/>
                <a:cs typeface="Verdana"/>
              </a:rPr>
              <a:t>ω</a:t>
            </a:r>
            <a:r>
              <a:rPr sz="3300" b="1" spc="-74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7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Функция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распределения:</a:t>
            </a:r>
            <a:endParaRPr sz="3300">
              <a:latin typeface="Arial"/>
              <a:cs typeface="Arial"/>
            </a:endParaRPr>
          </a:p>
          <a:p>
            <a:pPr marL="4074795">
              <a:lnSpc>
                <a:spcPct val="100000"/>
              </a:lnSpc>
              <a:spcBef>
                <a:spcPts val="1975"/>
              </a:spcBef>
            </a:pP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2850" b="1" i="1" spc="-615" baseline="-32163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70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4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≤</a:t>
            </a:r>
            <a:r>
              <a:rPr sz="3300" b="1" i="1" spc="-6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2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2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 marL="514984">
              <a:lnSpc>
                <a:spcPct val="100000"/>
              </a:lnSpc>
              <a:spcBef>
                <a:spcPts val="1980"/>
              </a:spcBef>
            </a:pP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Свойства:</a:t>
            </a:r>
            <a:endParaRPr sz="3300">
              <a:latin typeface="Arial"/>
              <a:cs typeface="Arial"/>
            </a:endParaRPr>
          </a:p>
          <a:p>
            <a:pPr marL="1017905" lvl="1" indent="-502920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1017905" algn="l"/>
                <a:tab pos="1018540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≤ 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2850" b="1" i="1" spc="-817" baseline="-32163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4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4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≤</a:t>
            </a:r>
            <a:r>
              <a:rPr sz="3300" b="1" i="1" spc="-7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85" dirty="0">
                <a:solidFill>
                  <a:srgbClr val="1E1E1E"/>
                </a:solidFill>
                <a:latin typeface="Verdana"/>
                <a:cs typeface="Verdana"/>
              </a:rPr>
              <a:t>1,</a:t>
            </a:r>
            <a:endParaRPr sz="3300">
              <a:latin typeface="Verdana"/>
              <a:cs typeface="Verdana"/>
            </a:endParaRPr>
          </a:p>
          <a:p>
            <a:pPr marL="1017905" lvl="1" indent="-502920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1017269" algn="l"/>
                <a:tab pos="1018540" algn="l"/>
              </a:tabLst>
            </a:pP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2850" b="1" i="1" spc="-615" baseline="-32163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</a:t>
            </a:r>
            <a:r>
              <a:rPr sz="3300" spc="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неубывающая,</a:t>
            </a:r>
            <a:endParaRPr sz="3300">
              <a:latin typeface="Arial"/>
              <a:cs typeface="Arial"/>
            </a:endParaRPr>
          </a:p>
          <a:p>
            <a:pPr marL="1017905" lvl="1" indent="-502920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1017905" algn="l"/>
                <a:tab pos="1018540" algn="l"/>
              </a:tabLst>
            </a:pPr>
            <a:r>
              <a:rPr sz="3300" b="1" i="1" spc="-60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0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0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&lt; 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≤ </a:t>
            </a: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6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2850" b="1" i="1" spc="-862" baseline="-32163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7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57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i="1" spc="-8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60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2850" b="1" i="1" spc="-839" baseline="-32163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56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54824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35" dirty="0"/>
              <a:t>Плотность</a:t>
            </a:r>
            <a:r>
              <a:rPr spc="-90" dirty="0"/>
              <a:t> </a:t>
            </a:r>
            <a:r>
              <a:rPr spc="-275" dirty="0"/>
              <a:t>распределения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22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5686" y="3201862"/>
            <a:ext cx="15323185" cy="304101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Скорость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изменения</a:t>
            </a:r>
            <a:r>
              <a:rPr sz="3300" spc="1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вероятности.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непрерывной случайной 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величины,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производная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функции</a:t>
            </a:r>
            <a:r>
              <a:rPr sz="3300" spc="7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распределения:</a:t>
            </a:r>
            <a:endParaRPr sz="3300">
              <a:latin typeface="Arial"/>
              <a:cs typeface="Arial"/>
            </a:endParaRPr>
          </a:p>
          <a:p>
            <a:pPr marR="1183640" algn="ctr">
              <a:lnSpc>
                <a:spcPct val="100000"/>
              </a:lnSpc>
              <a:spcBef>
                <a:spcPts val="1980"/>
              </a:spcBef>
            </a:pPr>
            <a:r>
              <a:rPr sz="3300" b="1" i="1" spc="-310" dirty="0">
                <a:solidFill>
                  <a:srgbClr val="1E1E1E"/>
                </a:solidFill>
                <a:latin typeface="Verdana"/>
                <a:cs typeface="Verdana"/>
              </a:rPr>
              <a:t>f </a:t>
            </a:r>
            <a:r>
              <a:rPr sz="3300" b="1" spc="-68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8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80" dirty="0">
                <a:solidFill>
                  <a:srgbClr val="1E1E1E"/>
                </a:solidFill>
                <a:latin typeface="Verdana"/>
                <a:cs typeface="Verdana"/>
              </a:rPr>
              <a:t>)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84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F’</a:t>
            </a:r>
            <a:r>
              <a:rPr sz="3300" b="1" spc="-42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spc="-420" dirty="0">
                <a:solidFill>
                  <a:srgbClr val="1E1E1E"/>
                </a:solidFill>
                <a:latin typeface="Arial"/>
                <a:cs typeface="Arial"/>
              </a:rPr>
              <a:t>)</a:t>
            </a:r>
            <a:endParaRPr sz="3300">
              <a:latin typeface="Arial"/>
              <a:cs typeface="Arial"/>
            </a:endParaRPr>
          </a:p>
          <a:p>
            <a:pPr marL="514984">
              <a:lnSpc>
                <a:spcPct val="100000"/>
              </a:lnSpc>
              <a:spcBef>
                <a:spcPts val="1975"/>
              </a:spcBef>
            </a:pP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Свойства: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08288" y="6217476"/>
            <a:ext cx="4404360" cy="304101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b="1" i="1" spc="-60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0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0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&lt; 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&lt; </a:t>
            </a: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6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∫</a:t>
            </a: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727" baseline="5555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dx</a:t>
            </a:r>
            <a:endParaRPr sz="330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6255" algn="l"/>
                <a:tab pos="516890" algn="l"/>
              </a:tabLst>
            </a:pP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spc="-57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7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</a:t>
            </a:r>
            <a:r>
              <a:rPr sz="3300" b="1" i="1" spc="-8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516890" indent="-503555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6890" algn="l"/>
                <a:tab pos="517525" algn="l"/>
              </a:tabLst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∫ </a:t>
            </a:r>
            <a:r>
              <a:rPr sz="2850" b="1" spc="-794" baseline="55555" dirty="0">
                <a:solidFill>
                  <a:srgbClr val="1E1E1E"/>
                </a:solidFill>
                <a:latin typeface="Verdana"/>
                <a:cs typeface="Verdana"/>
              </a:rPr>
              <a:t>+∞ 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spc="-57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7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7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  <a:p>
            <a:pPr marL="515620" indent="-502920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  <a:tab pos="2241550" algn="l"/>
              </a:tabLst>
            </a:pP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spc="-64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45" dirty="0">
                <a:solidFill>
                  <a:srgbClr val="1E1E1E"/>
                </a:solidFill>
                <a:latin typeface="Verdana"/>
                <a:cs typeface="Verdana"/>
              </a:rPr>
              <a:t>)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8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∫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307" baseline="55555" dirty="0">
                <a:solidFill>
                  <a:srgbClr val="1E1E1E"/>
                </a:solidFill>
                <a:latin typeface="Verdana"/>
                <a:cs typeface="Verdana"/>
              </a:rPr>
              <a:t>a	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spc="-54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4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dx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73051" y="9007967"/>
            <a:ext cx="3663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90" dirty="0">
                <a:solidFill>
                  <a:srgbClr val="1E1E1E"/>
                </a:solidFill>
                <a:latin typeface="Verdana"/>
                <a:cs typeface="Verdana"/>
              </a:rPr>
              <a:t>−∞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47377" y="8258087"/>
            <a:ext cx="3663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90" dirty="0">
                <a:solidFill>
                  <a:srgbClr val="1E1E1E"/>
                </a:solidFill>
                <a:latin typeface="Verdana"/>
                <a:cs typeface="Verdana"/>
              </a:rPr>
              <a:t>−∞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84548" y="6774932"/>
            <a:ext cx="1625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54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9140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0" dirty="0"/>
              <a:t>Математическое</a:t>
            </a:r>
            <a:r>
              <a:rPr spc="-130" dirty="0"/>
              <a:t> </a:t>
            </a:r>
            <a:r>
              <a:rPr spc="-145" dirty="0"/>
              <a:t>ожидание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23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7576820" cy="1784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Обозначают </a:t>
            </a:r>
            <a:r>
              <a:rPr sz="3300" b="1" i="1" spc="-55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55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5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55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3300" b="1" i="1" spc="-55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530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r>
              <a:rPr sz="3300" b="1" spc="-5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3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3300" b="1" i="1" spc="-530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6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µ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516255" indent="-502920">
              <a:lnSpc>
                <a:spcPct val="100000"/>
              </a:lnSpc>
              <a:spcBef>
                <a:spcPts val="5"/>
              </a:spcBef>
              <a:buClr>
                <a:srgbClr val="BDD9DE"/>
              </a:buClr>
              <a:buFont typeface="Arial"/>
              <a:buChar char="•"/>
              <a:tabLst>
                <a:tab pos="516255" algn="l"/>
                <a:tab pos="51689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дискретной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случайной</a:t>
            </a:r>
            <a:r>
              <a:rPr sz="3300" spc="2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величины: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7361" y="7222681"/>
            <a:ext cx="794130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непрерывной случайной</a:t>
            </a:r>
            <a:r>
              <a:rPr sz="3300" spc="3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величины: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99774" y="5316980"/>
            <a:ext cx="20256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35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52734" y="5364099"/>
            <a:ext cx="26162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735" dirty="0">
                <a:solidFill>
                  <a:srgbClr val="1E1E1E"/>
                </a:solidFill>
                <a:latin typeface="Verdana"/>
                <a:cs typeface="Verdana"/>
              </a:rPr>
              <a:t>∞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38713" y="5303018"/>
            <a:ext cx="2607310" cy="142176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8625" b="1" spc="-1462" baseline="-7246" dirty="0">
                <a:solidFill>
                  <a:srgbClr val="1E1E1E"/>
                </a:solidFill>
                <a:latin typeface="Verdana"/>
                <a:cs typeface="Verdana"/>
              </a:rPr>
              <a:t>∑ </a:t>
            </a:r>
            <a:r>
              <a:rPr sz="3300" b="1" i="1" spc="-35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532" baseline="-32163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9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42" baseline="-32163" dirty="0">
                <a:solidFill>
                  <a:srgbClr val="1E1E1E"/>
                </a:solidFill>
                <a:latin typeface="Verdana"/>
                <a:cs typeface="Verdana"/>
              </a:rPr>
              <a:t>i</a:t>
            </a:r>
            <a:endParaRPr sz="2850" baseline="-32163">
              <a:latin typeface="Verdana"/>
              <a:cs typeface="Verdana"/>
            </a:endParaRPr>
          </a:p>
          <a:p>
            <a:pPr marL="116839" algn="ctr">
              <a:lnSpc>
                <a:spcPct val="100000"/>
              </a:lnSpc>
              <a:spcBef>
                <a:spcPts val="355"/>
              </a:spcBef>
            </a:pPr>
            <a:r>
              <a:rPr sz="2450" b="1" i="1" spc="-185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2450" b="1" i="1" spc="-65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2450" b="1" i="1" spc="-5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37456" y="8227886"/>
            <a:ext cx="11010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3300" b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66828" y="8227886"/>
            <a:ext cx="186308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 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spc="-57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7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4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0" dirty="0">
                <a:solidFill>
                  <a:srgbClr val="1E1E1E"/>
                </a:solidFill>
                <a:latin typeface="Verdana"/>
                <a:cs typeface="Verdana"/>
              </a:rPr>
              <a:t>dx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91872" y="8002762"/>
            <a:ext cx="257810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750" b="1" i="1" spc="-1785" dirty="0">
                <a:solidFill>
                  <a:srgbClr val="1E1E1E"/>
                </a:solidFill>
                <a:latin typeface="Georgia"/>
                <a:cs typeface="Georgia"/>
              </a:rPr>
              <a:t>∫</a:t>
            </a:r>
            <a:endParaRPr sz="575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0899" y="8023704"/>
            <a:ext cx="454659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675" dirty="0">
                <a:solidFill>
                  <a:srgbClr val="1E1E1E"/>
                </a:solidFill>
                <a:latin typeface="Verdana"/>
                <a:cs typeface="Verdana"/>
              </a:rPr>
              <a:t>+∞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34883" y="8583792"/>
            <a:ext cx="46482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635" dirty="0">
                <a:solidFill>
                  <a:srgbClr val="1E1E1E"/>
                </a:solidFill>
                <a:latin typeface="Verdana"/>
                <a:cs typeface="Verdana"/>
              </a:rPr>
              <a:t>−∞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76631" y="5303263"/>
            <a:ext cx="3851910" cy="142176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  <a:tabLst>
                <a:tab pos="125603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или	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8625" b="1" spc="-1462" baseline="-7246" dirty="0">
                <a:solidFill>
                  <a:srgbClr val="1E1E1E"/>
                </a:solidFill>
                <a:latin typeface="Verdana"/>
                <a:cs typeface="Verdana"/>
              </a:rPr>
              <a:t>∑ </a:t>
            </a:r>
            <a:r>
              <a:rPr sz="3300" b="1" i="1" spc="-35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525" baseline="-32163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8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9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42" baseline="-32163" dirty="0">
                <a:solidFill>
                  <a:srgbClr val="1E1E1E"/>
                </a:solidFill>
                <a:latin typeface="Verdana"/>
                <a:cs typeface="Verdana"/>
              </a:rPr>
              <a:t>i</a:t>
            </a:r>
            <a:endParaRPr sz="2850" baseline="-32163">
              <a:latin typeface="Verdana"/>
              <a:cs typeface="Verdana"/>
            </a:endParaRPr>
          </a:p>
          <a:p>
            <a:pPr marL="2320290">
              <a:lnSpc>
                <a:spcPct val="100000"/>
              </a:lnSpc>
              <a:spcBef>
                <a:spcPts val="360"/>
              </a:spcBef>
            </a:pPr>
            <a:r>
              <a:rPr sz="2450" b="1" i="1" spc="-185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2450" b="1" i="1" spc="-65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2450" b="1" i="1" spc="-5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4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90803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30" dirty="0"/>
              <a:t>Свойства </a:t>
            </a:r>
            <a:r>
              <a:rPr spc="-250" dirty="0"/>
              <a:t>математического</a:t>
            </a:r>
            <a:r>
              <a:rPr spc="200" dirty="0"/>
              <a:t> </a:t>
            </a:r>
            <a:r>
              <a:rPr spc="-150" dirty="0"/>
              <a:t>ожидания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24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5686" y="3453163"/>
            <a:ext cx="7006590" cy="4549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C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7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C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BDD9DE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15620" algn="l"/>
              </a:tabLst>
            </a:pPr>
            <a:r>
              <a:rPr sz="3300" b="1" spc="210" dirty="0">
                <a:solidFill>
                  <a:srgbClr val="BDD9DE"/>
                </a:solidFill>
                <a:latin typeface="Arial"/>
                <a:cs typeface="Arial"/>
              </a:rPr>
              <a:t>•	</a:t>
            </a:r>
            <a:r>
              <a:rPr sz="3300" b="1" i="1" spc="-62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2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25" dirty="0">
                <a:solidFill>
                  <a:srgbClr val="1E1E1E"/>
                </a:solidFill>
                <a:latin typeface="Verdana"/>
                <a:cs typeface="Verdana"/>
              </a:rPr>
              <a:t>C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2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2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C</a:t>
            </a:r>
            <a:r>
              <a:rPr sz="3300" b="1" i="1" spc="-1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marL="515620" indent="-502920">
              <a:lnSpc>
                <a:spcPct val="100000"/>
              </a:lnSpc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b="1" i="1" spc="-65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5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57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7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2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2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6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BDD9DE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независимых 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3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41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spc="-415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marL="3557270">
              <a:lnSpc>
                <a:spcPct val="100000"/>
              </a:lnSpc>
              <a:spcBef>
                <a:spcPts val="5"/>
              </a:spcBef>
            </a:pPr>
            <a:r>
              <a:rPr sz="3300" b="1" i="1" spc="-65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5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 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57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6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2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2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6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308483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5" dirty="0"/>
              <a:t>Дисперсия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25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14478000" cy="153352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Математческое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ожидание </a:t>
            </a: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квадрата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отклонения, 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обозначают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2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2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550" dirty="0">
                <a:solidFill>
                  <a:srgbClr val="1E1E1E"/>
                </a:solidFill>
                <a:latin typeface="Verdana"/>
                <a:cs typeface="Verdana"/>
              </a:rPr>
              <a:t>D</a:t>
            </a:r>
            <a:r>
              <a:rPr sz="3300" b="1" spc="-5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5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5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3300" b="1" i="1" spc="-550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8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850" baseline="32163">
              <a:latin typeface="Verdana"/>
              <a:cs typeface="Verdana"/>
            </a:endParaRPr>
          </a:p>
          <a:p>
            <a:pPr marR="321945" algn="ctr">
              <a:lnSpc>
                <a:spcPct val="100000"/>
              </a:lnSpc>
              <a:spcBef>
                <a:spcPts val="1975"/>
              </a:spcBef>
            </a:pP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  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90" dirty="0">
                <a:solidFill>
                  <a:srgbClr val="1E1E1E"/>
                </a:solidFill>
                <a:latin typeface="Verdana"/>
                <a:cs typeface="Verdana"/>
              </a:rPr>
              <a:t>[(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X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  </a:t>
            </a:r>
            <a:r>
              <a:rPr sz="3300" b="1" i="1" spc="-55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6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75" dirty="0">
                <a:solidFill>
                  <a:srgbClr val="1E1E1E"/>
                </a:solidFill>
                <a:latin typeface="Verdana"/>
                <a:cs typeface="Verdana"/>
              </a:rPr>
              <a:t>])</a:t>
            </a:r>
            <a:r>
              <a:rPr sz="2850" b="1" spc="-1012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spc="-675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10860" y="5903350"/>
            <a:ext cx="4568825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8625" b="1" spc="-1462" baseline="-6280" dirty="0">
                <a:solidFill>
                  <a:srgbClr val="1E1E1E"/>
                </a:solidFill>
                <a:latin typeface="Verdana"/>
                <a:cs typeface="Verdana"/>
              </a:rPr>
              <a:t>∑ </a:t>
            </a:r>
            <a:r>
              <a:rPr sz="3300" b="1" i="1" spc="-29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34" baseline="-32163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780" baseline="-32163" dirty="0">
                <a:solidFill>
                  <a:srgbClr val="1E1E1E"/>
                </a:solidFill>
                <a:latin typeface="Verdana"/>
                <a:cs typeface="Verdana"/>
              </a:rPr>
              <a:t>i</a:t>
            </a: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58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85" dirty="0">
                <a:solidFill>
                  <a:srgbClr val="1E1E1E"/>
                </a:solidFill>
                <a:latin typeface="Verdana"/>
                <a:cs typeface="Verdana"/>
              </a:rPr>
              <a:t>])</a:t>
            </a:r>
            <a:r>
              <a:rPr sz="2850" b="1" spc="-877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850" baseline="32163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35140" y="5903350"/>
            <a:ext cx="5549900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93775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или	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8625" b="1" spc="-1462" baseline="-6280" dirty="0">
                <a:solidFill>
                  <a:srgbClr val="1E1E1E"/>
                </a:solidFill>
                <a:latin typeface="Verdana"/>
                <a:cs typeface="Verdana"/>
              </a:rPr>
              <a:t>∑ </a:t>
            </a:r>
            <a:r>
              <a:rPr sz="3300" b="1" i="1" spc="-29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42" baseline="-32163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780" baseline="-32163" dirty="0">
                <a:solidFill>
                  <a:srgbClr val="1E1E1E"/>
                </a:solidFill>
                <a:latin typeface="Verdana"/>
                <a:cs typeface="Verdana"/>
              </a:rPr>
              <a:t>i</a:t>
            </a: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58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85" dirty="0">
                <a:solidFill>
                  <a:srgbClr val="1E1E1E"/>
                </a:solidFill>
                <a:latin typeface="Verdana"/>
                <a:cs typeface="Verdana"/>
              </a:rPr>
              <a:t>])</a:t>
            </a:r>
            <a:r>
              <a:rPr sz="2850" b="1" spc="-877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850" baseline="32163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6314" y="5072659"/>
            <a:ext cx="7575550" cy="114935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11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дискретной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случайной</a:t>
            </a:r>
            <a:r>
              <a:rPr sz="3300" spc="2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величины:</a:t>
            </a:r>
            <a:endParaRPr sz="3300">
              <a:latin typeface="Arial"/>
              <a:cs typeface="Arial"/>
            </a:endParaRPr>
          </a:p>
          <a:p>
            <a:pPr marL="82550" algn="ctr">
              <a:lnSpc>
                <a:spcPct val="100000"/>
              </a:lnSpc>
              <a:spcBef>
                <a:spcPts val="850"/>
              </a:spcBef>
            </a:pPr>
            <a:r>
              <a:rPr sz="2450" b="1" i="1" spc="-35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83559" y="5819583"/>
            <a:ext cx="26162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735" dirty="0">
                <a:solidFill>
                  <a:srgbClr val="1E1E1E"/>
                </a:solidFill>
                <a:latin typeface="Verdana"/>
                <a:cs typeface="Verdana"/>
              </a:rPr>
              <a:t>∞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36416" y="6824788"/>
            <a:ext cx="59880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185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2450" b="1" i="1" spc="-65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2450" b="1" i="1" spc="-5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15187" y="6824788"/>
            <a:ext cx="59880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185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2450" b="1" i="1" spc="-65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2450" b="1" i="1" spc="-5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71661" y="8479187"/>
            <a:ext cx="316420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63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3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9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59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9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90" dirty="0">
                <a:solidFill>
                  <a:srgbClr val="1E1E1E"/>
                </a:solidFill>
                <a:latin typeface="Verdana"/>
                <a:cs typeface="Verdana"/>
              </a:rPr>
              <a:t>])</a:t>
            </a:r>
            <a:r>
              <a:rPr sz="2850" b="1" spc="-885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8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spc="-54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4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dx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24291" y="8165061"/>
            <a:ext cx="1807845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5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21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8625" b="1" i="1" spc="-1822" baseline="-5314" dirty="0">
                <a:solidFill>
                  <a:srgbClr val="1E1E1E"/>
                </a:solidFill>
                <a:latin typeface="Georgia"/>
                <a:cs typeface="Georgia"/>
              </a:rPr>
              <a:t>∫</a:t>
            </a:r>
            <a:endParaRPr sz="8625" baseline="-5314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5895" y="7193014"/>
            <a:ext cx="7941309" cy="1397000"/>
          </a:xfrm>
          <a:prstGeom prst="rect">
            <a:avLst/>
          </a:prstGeom>
        </p:spPr>
        <p:txBody>
          <a:bodyPr vert="horz" wrap="square" lIns="0" tIns="293370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31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непрерывной случайной</a:t>
            </a:r>
            <a:r>
              <a:rPr sz="3300" spc="3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величины:</a:t>
            </a:r>
            <a:endParaRPr sz="3300">
              <a:latin typeface="Arial"/>
              <a:cs typeface="Arial"/>
            </a:endParaRPr>
          </a:p>
          <a:p>
            <a:pPr marR="1044575" algn="r">
              <a:lnSpc>
                <a:spcPct val="100000"/>
              </a:lnSpc>
              <a:spcBef>
                <a:spcPts val="1680"/>
              </a:spcBef>
            </a:pPr>
            <a:r>
              <a:rPr sz="2450" b="1" i="1" spc="-675" dirty="0">
                <a:solidFill>
                  <a:srgbClr val="1E1E1E"/>
                </a:solidFill>
                <a:latin typeface="Verdana"/>
                <a:cs typeface="Verdana"/>
              </a:rPr>
              <a:t>+∞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95420" y="8835355"/>
            <a:ext cx="46482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635" dirty="0">
                <a:solidFill>
                  <a:srgbClr val="1E1E1E"/>
                </a:solidFill>
                <a:latin typeface="Verdana"/>
                <a:cs typeface="Verdana"/>
              </a:rPr>
              <a:t>−∞</a:t>
            </a:r>
            <a:endParaRPr sz="24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586994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30" dirty="0"/>
              <a:t>Свойства</a:t>
            </a:r>
            <a:r>
              <a:rPr spc="-125" dirty="0"/>
              <a:t> </a:t>
            </a:r>
            <a:r>
              <a:rPr spc="-325" dirty="0"/>
              <a:t>дисперсии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26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094" y="3201862"/>
            <a:ext cx="5487670" cy="379539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58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869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spc="-580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i="1" spc="-7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3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5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3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2850" b="1" spc="-794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850" baseline="32163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 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C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 </a:t>
            </a:r>
            <a:r>
              <a:rPr sz="3300" b="1" i="1" spc="-89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515620" indent="-502920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b="1" i="1" spc="-55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5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55" dirty="0">
                <a:solidFill>
                  <a:srgbClr val="1E1E1E"/>
                </a:solidFill>
                <a:latin typeface="Verdana"/>
                <a:cs typeface="Verdana"/>
              </a:rPr>
              <a:t>C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2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2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285" dirty="0">
                <a:solidFill>
                  <a:srgbClr val="1E1E1E"/>
                </a:solidFill>
                <a:latin typeface="Verdana"/>
                <a:cs typeface="Verdana"/>
              </a:rPr>
              <a:t>C</a:t>
            </a:r>
            <a:r>
              <a:rPr sz="2850" b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2850" b="1" spc="-802" baseline="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55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5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5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±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58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969581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Среднеквадратичное</a:t>
            </a:r>
            <a:r>
              <a:rPr spc="-140" dirty="0"/>
              <a:t> </a:t>
            </a:r>
            <a:r>
              <a:rPr spc="-235" dirty="0"/>
              <a:t>отклонение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5926" y="3262783"/>
            <a:ext cx="7821295" cy="2477770"/>
          </a:xfrm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15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81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9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442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spc="-29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endParaRPr sz="330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16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600" b="1" i="1" spc="-630" dirty="0">
                <a:solidFill>
                  <a:srgbClr val="1E1E1E"/>
                </a:solidFill>
                <a:latin typeface="Verdana"/>
                <a:cs typeface="Verdana"/>
              </a:rPr>
              <a:t>√</a:t>
            </a:r>
            <a:r>
              <a:rPr sz="3300" b="1" i="1" spc="-630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63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3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3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600" b="1" i="1" spc="-770" dirty="0">
                <a:solidFill>
                  <a:srgbClr val="1E1E1E"/>
                </a:solidFill>
                <a:latin typeface="Verdana"/>
                <a:cs typeface="Verdana"/>
              </a:rPr>
              <a:t>√</a:t>
            </a:r>
            <a:r>
              <a:rPr sz="3300" b="1" i="1" spc="-77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770" dirty="0">
                <a:solidFill>
                  <a:srgbClr val="1E1E1E"/>
                </a:solidFill>
                <a:latin typeface="Verdana"/>
                <a:cs typeface="Verdana"/>
              </a:rPr>
              <a:t>[(</a:t>
            </a:r>
            <a:r>
              <a:rPr sz="3300" b="1" i="1" spc="-7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i="1" spc="-7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1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1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1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15" dirty="0">
                <a:solidFill>
                  <a:srgbClr val="1E1E1E"/>
                </a:solidFill>
                <a:latin typeface="Verdana"/>
                <a:cs typeface="Verdana"/>
              </a:rPr>
              <a:t>])</a:t>
            </a:r>
            <a:r>
              <a:rPr sz="2850" b="1" spc="-922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spc="-615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895"/>
              </a:spcBef>
            </a:pPr>
            <a:r>
              <a:rPr sz="3300" spc="-190" dirty="0">
                <a:solidFill>
                  <a:srgbClr val="1E1E1E"/>
                </a:solidFill>
                <a:latin typeface="Arial"/>
                <a:cs typeface="Arial"/>
              </a:rPr>
              <a:t>Единицы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измерения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случайной</a:t>
            </a:r>
            <a:r>
              <a:rPr sz="3300" spc="-31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величины.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61692" y="4267419"/>
            <a:ext cx="1139825" cy="0"/>
          </a:xfrm>
          <a:custGeom>
            <a:avLst/>
            <a:gdLst/>
            <a:ahLst/>
            <a:cxnLst/>
            <a:rect l="l" t="t" r="r" b="b"/>
            <a:pathLst>
              <a:path w="1139825">
                <a:moveTo>
                  <a:pt x="0" y="0"/>
                </a:moveTo>
                <a:lnTo>
                  <a:pt x="1139232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09018" y="4267168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>
                <a:moveTo>
                  <a:pt x="0" y="0"/>
                </a:moveTo>
                <a:lnTo>
                  <a:pt x="2252810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27</a:t>
            </a:fld>
            <a:endParaRPr spc="-37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627634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Закон </a:t>
            </a:r>
            <a:r>
              <a:rPr spc="-275" dirty="0"/>
              <a:t>больших</a:t>
            </a:r>
            <a:r>
              <a:rPr spc="-95" dirty="0"/>
              <a:t> </a:t>
            </a:r>
            <a:r>
              <a:rPr spc="-395" dirty="0"/>
              <a:t>чисел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28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0671175" cy="2538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достаточно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большом 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числе</a:t>
            </a:r>
            <a:r>
              <a:rPr sz="3300" spc="36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испытаний</a:t>
            </a:r>
            <a:endParaRPr sz="3300">
              <a:latin typeface="Arial"/>
              <a:cs typeface="Arial"/>
            </a:endParaRPr>
          </a:p>
          <a:p>
            <a:pPr marL="12700" marR="5080">
              <a:lnSpc>
                <a:spcPts val="3960"/>
              </a:lnSpc>
              <a:spcBef>
                <a:spcPts val="130"/>
              </a:spcBef>
            </a:pP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среднее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арифметическое реализовавшихся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значений 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случайной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величины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с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фиксированным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распределением 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будет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приближаться </a:t>
            </a:r>
            <a:r>
              <a:rPr sz="3300" spc="130" dirty="0">
                <a:solidFill>
                  <a:srgbClr val="1E1E1E"/>
                </a:solidFill>
                <a:latin typeface="Arial"/>
                <a:cs typeface="Arial"/>
              </a:rPr>
              <a:t>к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математическому</a:t>
            </a:r>
            <a:r>
              <a:rPr sz="3300" spc="21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ожиданию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ts val="3820"/>
              </a:lnSpc>
            </a:pP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этого</a:t>
            </a:r>
            <a:r>
              <a:rPr sz="3300" spc="2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распределения.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299325" cy="1512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5770"/>
              </a:lnSpc>
              <a:spcBef>
                <a:spcPts val="430"/>
              </a:spcBef>
            </a:pPr>
            <a:r>
              <a:rPr spc="-295" dirty="0"/>
              <a:t>Примеры </a:t>
            </a:r>
            <a:r>
              <a:rPr spc="-270" dirty="0"/>
              <a:t>распределений  </a:t>
            </a:r>
            <a:r>
              <a:rPr spc="-280" dirty="0"/>
              <a:t>случайных</a:t>
            </a:r>
            <a:r>
              <a:rPr spc="-90" dirty="0"/>
              <a:t> </a:t>
            </a:r>
            <a:r>
              <a:rPr spc="-340" dirty="0"/>
              <a:t>величин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29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5686" y="3201862"/>
            <a:ext cx="9832975" cy="153352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Распределения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дискретных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случайных</a:t>
            </a:r>
            <a:r>
              <a:rPr sz="3300" spc="38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величин.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Распределения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непрерывных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случайных</a:t>
            </a:r>
            <a:r>
              <a:rPr sz="3300" spc="38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величин.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876363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30" dirty="0"/>
              <a:t>Биномиальное</a:t>
            </a:r>
            <a:r>
              <a:rPr spc="-145" dirty="0"/>
              <a:t> </a:t>
            </a:r>
            <a:r>
              <a:rPr spc="-270" dirty="0"/>
              <a:t>распределение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30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5686" y="3453163"/>
            <a:ext cx="7821295" cy="2790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Испытания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с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двумя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исходами. 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Вероятность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успеха </a:t>
            </a: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p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неудачи 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q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5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spc="-35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ровно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удач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из </a:t>
            </a:r>
            <a:r>
              <a:rPr sz="3300" b="1" i="1" spc="-49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испытаний.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Формула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Бернулли: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4256" y="7034205"/>
            <a:ext cx="1631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3603" y="6720078"/>
            <a:ext cx="28600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63395" algn="l"/>
              </a:tabLst>
            </a:pP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  </a:t>
            </a:r>
            <a:r>
              <a:rPr sz="3300" b="1" spc="-69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b="1" spc="-69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C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i="1" spc="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q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3905" y="6755261"/>
            <a:ext cx="1746885" cy="59753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17145">
              <a:lnSpc>
                <a:spcPts val="2200"/>
              </a:lnSpc>
              <a:spcBef>
                <a:spcPts val="260"/>
              </a:spcBef>
              <a:tabLst>
                <a:tab pos="696595" algn="l"/>
                <a:tab pos="1318260" algn="l"/>
              </a:tabLst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	k	</a:t>
            </a:r>
            <a:r>
              <a:rPr sz="1900" b="1" i="1" spc="-34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i="1" spc="-415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1900" b="1" i="1" spc="-195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1900" b="1" i="1" spc="-13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6104" y="7473983"/>
            <a:ext cx="7797165" cy="153352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Математическое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ожидание: 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49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Дисперсия: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495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i="1" spc="-1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q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906780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35" dirty="0"/>
              <a:t>Геометрическое</a:t>
            </a:r>
            <a:r>
              <a:rPr spc="-130" dirty="0"/>
              <a:t> </a:t>
            </a:r>
            <a:r>
              <a:rPr spc="-270" dirty="0"/>
              <a:t>распределение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5686" y="3453163"/>
            <a:ext cx="8152130" cy="3041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35915">
              <a:lnSpc>
                <a:spcPct val="100000"/>
              </a:lnSpc>
              <a:spcBef>
                <a:spcPts val="95"/>
              </a:spcBef>
            </a:pP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Испытания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с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двумя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исходами. 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Вероятность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успеха </a:t>
            </a: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p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неудачи 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q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5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spc="-35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первая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удача в </a:t>
            </a:r>
            <a:r>
              <a:rPr sz="3300" b="1" i="1" spc="-19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spc="-195" dirty="0">
                <a:solidFill>
                  <a:srgbClr val="1E1E1E"/>
                </a:solidFill>
                <a:latin typeface="Arial"/>
                <a:cs typeface="Arial"/>
              </a:rPr>
              <a:t>-том</a:t>
            </a:r>
            <a:r>
              <a:rPr sz="3300" spc="-3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испытании.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BDD9DE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3034030" indent="-3021330">
              <a:lnSpc>
                <a:spcPct val="100000"/>
              </a:lnSpc>
              <a:buClr>
                <a:srgbClr val="BDD9DE"/>
              </a:buClr>
              <a:buFont typeface="Arial"/>
              <a:buChar char="•"/>
              <a:tabLst>
                <a:tab pos="3034030" algn="l"/>
                <a:tab pos="3034665" algn="l"/>
              </a:tabLst>
            </a:pP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4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3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b="1" spc="-63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375" dirty="0">
                <a:solidFill>
                  <a:srgbClr val="1E1E1E"/>
                </a:solidFill>
                <a:latin typeface="Verdana"/>
                <a:cs typeface="Verdana"/>
              </a:rPr>
              <a:t>q</a:t>
            </a:r>
            <a:r>
              <a:rPr sz="2850" b="1" i="1" spc="-562" baseline="32163" dirty="0">
                <a:solidFill>
                  <a:srgbClr val="1E1E1E"/>
                </a:solidFill>
                <a:latin typeface="Verdana"/>
                <a:cs typeface="Verdana"/>
              </a:rPr>
              <a:t>k−</a:t>
            </a:r>
            <a:r>
              <a:rPr sz="2850" b="1" spc="-562" baseline="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6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47562" y="8165061"/>
            <a:ext cx="2609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8014" y="8440163"/>
            <a:ext cx="26035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q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6000" y="6971380"/>
            <a:ext cx="9341485" cy="228727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(1)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62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25" dirty="0">
                <a:solidFill>
                  <a:srgbClr val="1E1E1E"/>
                </a:solidFill>
                <a:latin typeface="Verdana"/>
                <a:cs typeface="Verdana"/>
              </a:rPr>
              <a:t>(2)</a:t>
            </a:r>
            <a:r>
              <a:rPr sz="3300" b="1" i="1" spc="-62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63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30" dirty="0">
                <a:solidFill>
                  <a:srgbClr val="1E1E1E"/>
                </a:solidFill>
                <a:latin typeface="Verdana"/>
                <a:cs typeface="Verdana"/>
              </a:rPr>
              <a:t>(3)</a:t>
            </a:r>
            <a:r>
              <a:rPr sz="3300" b="1" i="1" spc="-63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spc="-185" dirty="0">
                <a:solidFill>
                  <a:srgbClr val="1E1E1E"/>
                </a:solidFill>
                <a:latin typeface="Arial"/>
                <a:cs typeface="Arial"/>
              </a:rPr>
              <a:t>...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геометрическая</a:t>
            </a:r>
            <a:r>
              <a:rPr sz="3300" spc="-3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прогрессия.</a:t>
            </a:r>
            <a:endParaRPr sz="3300"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Математическое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ожидание: 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35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90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lang="ru-RU"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            </a:t>
            </a:r>
            <a:r>
              <a:rPr sz="4950" b="1" i="1" u="heavy" spc="-1297" baseline="27777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4950" b="1" u="heavy" spc="-780" baseline="27777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4950" b="1" u="heavy" spc="-697" baseline="27777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endParaRPr sz="4950" baseline="27777">
              <a:latin typeface="Verdana"/>
              <a:cs typeface="Verdana"/>
            </a:endParaRPr>
          </a:p>
          <a:p>
            <a:pPr marL="515620" indent="-502920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Дисперсия: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3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4950" b="1" spc="-517" baseline="-34511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spc="-517" baseline="-27777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850" baseline="-27777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21815" y="9040426"/>
            <a:ext cx="377190" cy="0"/>
          </a:xfrm>
          <a:custGeom>
            <a:avLst/>
            <a:gdLst/>
            <a:ahLst/>
            <a:cxnLst/>
            <a:rect l="l" t="t" r="r" b="b"/>
            <a:pathLst>
              <a:path w="377189">
                <a:moveTo>
                  <a:pt x="0" y="0"/>
                </a:moveTo>
                <a:lnTo>
                  <a:pt x="376951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31</a:t>
            </a:fld>
            <a:endParaRPr spc="-37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70610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0" dirty="0"/>
              <a:t>Гипергеометрическое</a:t>
            </a:r>
            <a:r>
              <a:rPr spc="-100" dirty="0"/>
              <a:t> </a:t>
            </a:r>
            <a:r>
              <a:rPr spc="-270" dirty="0"/>
              <a:t>распределение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523" y="5966175"/>
            <a:ext cx="47637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34030" indent="-3021330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3034030" algn="l"/>
                <a:tab pos="3034665" algn="l"/>
              </a:tabLst>
            </a:pP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spc="-64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3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b="1" spc="-63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84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104" y="7222681"/>
            <a:ext cx="799274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  <a:tab pos="7979409" algn="l"/>
              </a:tabLst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Математическое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ожидание: 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4950" b="1" i="1" u="heavy" spc="-1350" baseline="26094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4950" b="1" i="1" u="heavy" spc="-742" baseline="26094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n </a:t>
            </a:r>
            <a:r>
              <a:rPr sz="4950" b="1" i="1" u="heavy" spc="-502" baseline="26094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∙</a:t>
            </a:r>
            <a:r>
              <a:rPr sz="4950" b="1" i="1" u="heavy" spc="-839" baseline="26094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4950" b="1" i="1" u="heavy" spc="-900" baseline="26094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K	</a:t>
            </a:r>
            <a:endParaRPr sz="4950" baseline="26094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56666" y="7482359"/>
            <a:ext cx="3048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6104" y="8479187"/>
            <a:ext cx="8554085" cy="788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indent="-502284">
              <a:lnSpc>
                <a:spcPts val="3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Дисперсия: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495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3300" b="1" i="1" spc="-335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lang="ru-RU"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   </a:t>
            </a:r>
            <a:r>
              <a:rPr sz="4950" b="1" i="1" u="heavy" spc="-502" baseline="26094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4950" b="1" i="1" u="heavy" spc="-900" baseline="26094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K</a:t>
            </a:r>
            <a:r>
              <a:rPr sz="4950" b="1" i="1" spc="-900" baseline="2609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 </a:t>
            </a:r>
            <a:r>
              <a:rPr sz="3300" b="1" spc="-725" dirty="0">
                <a:solidFill>
                  <a:srgbClr val="1E1E1E"/>
                </a:solidFill>
                <a:latin typeface="Verdana"/>
                <a:cs typeface="Verdana"/>
              </a:rPr>
              <a:t>(1 </a:t>
            </a:r>
            <a:r>
              <a:rPr sz="3300" b="1" i="1" spc="-90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4950" b="1" i="1" u="heavy" spc="-1350" baseline="26094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lang="ru-RU" sz="4950" b="1" i="1" u="heavy" spc="-1350" baseline="26094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          </a:t>
            </a:r>
            <a:r>
              <a:rPr sz="4950" b="1" i="1" u="heavy" spc="-900" baseline="26094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K</a:t>
            </a:r>
            <a:r>
              <a:rPr sz="4950" b="1" i="1" spc="-900" baseline="26094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4950" b="1" i="1" spc="-502" baseline="2609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u="heavy" spc="-900" baseline="26094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N </a:t>
            </a:r>
            <a:r>
              <a:rPr sz="4950" b="1" i="1" u="heavy" spc="-1350" baseline="26094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−</a:t>
            </a:r>
            <a:r>
              <a:rPr sz="4950" b="1" i="1" u="heavy" spc="-1282" baseline="26094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4950" b="1" i="1" u="heavy" spc="-742" baseline="26094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n</a:t>
            </a:r>
            <a:r>
              <a:rPr sz="4950" b="1" i="1" u="heavy" spc="-240" baseline="26094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endParaRPr sz="4950" baseline="26094">
              <a:latin typeface="Verdana"/>
              <a:cs typeface="Verdana"/>
            </a:endParaRPr>
          </a:p>
          <a:p>
            <a:pPr marL="4865370">
              <a:lnSpc>
                <a:spcPts val="3000"/>
              </a:lnSpc>
              <a:tabLst>
                <a:tab pos="6440805" algn="l"/>
                <a:tab pos="7480300" algn="l"/>
              </a:tabLst>
            </a:pP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N	N	N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i="1" spc="-8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06337" y="5976556"/>
            <a:ext cx="16954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33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06104" y="3453163"/>
            <a:ext cx="10905490" cy="2598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из </a:t>
            </a: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предметов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особенные,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выбираем </a:t>
            </a:r>
            <a:r>
              <a:rPr sz="3300" b="1" i="1" spc="-495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преметов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из</a:t>
            </a:r>
            <a:r>
              <a:rPr sz="3300" spc="204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spc="-38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515620" indent="-502920">
              <a:lnSpc>
                <a:spcPct val="100000"/>
              </a:lnSpc>
              <a:spcBef>
                <a:spcPts val="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выбрано </a:t>
            </a: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ровно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особенных</a:t>
            </a:r>
            <a:r>
              <a:rPr sz="3300" spc="41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предметов.</a:t>
            </a:r>
            <a:endParaRPr sz="3300">
              <a:latin typeface="Arial"/>
              <a:cs typeface="Arial"/>
            </a:endParaRPr>
          </a:p>
          <a:p>
            <a:pPr marL="486409" algn="ctr">
              <a:lnSpc>
                <a:spcPct val="100000"/>
              </a:lnSpc>
              <a:spcBef>
                <a:spcPts val="2445"/>
              </a:spcBef>
            </a:pPr>
            <a:r>
              <a:rPr sz="4950" b="1" i="1" spc="-330" baseline="-18518" dirty="0">
                <a:solidFill>
                  <a:srgbClr val="1E1E1E"/>
                </a:solidFill>
                <a:latin typeface="Verdana"/>
                <a:cs typeface="Verdana"/>
              </a:rPr>
              <a:t>C</a:t>
            </a:r>
            <a:r>
              <a:rPr sz="1900" b="1" i="1" spc="-220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4950" b="1" i="1" spc="-502" baseline="-18518" dirty="0">
                <a:solidFill>
                  <a:srgbClr val="1E1E1E"/>
                </a:solidFill>
                <a:latin typeface="Verdana"/>
                <a:cs typeface="Verdana"/>
              </a:rPr>
              <a:t>∙ </a:t>
            </a:r>
            <a:r>
              <a:rPr sz="4950" b="1" i="1" spc="-345" baseline="-18518" dirty="0">
                <a:solidFill>
                  <a:srgbClr val="1E1E1E"/>
                </a:solidFill>
                <a:latin typeface="Verdana"/>
                <a:cs typeface="Verdana"/>
              </a:rPr>
              <a:t>C</a:t>
            </a:r>
            <a:r>
              <a:rPr sz="1900" b="1" i="1" spc="-229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1900" b="1" i="1" spc="-505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1900" b="1" i="1" spc="-4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1215" y="6067533"/>
            <a:ext cx="4064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b="1" i="1" spc="-719" baseline="-18518" dirty="0">
                <a:solidFill>
                  <a:srgbClr val="1E1E1E"/>
                </a:solidFill>
                <a:latin typeface="Verdana"/>
                <a:cs typeface="Verdana"/>
              </a:rPr>
              <a:t>C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24540" y="6521043"/>
            <a:ext cx="1885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33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87164" y="5933299"/>
            <a:ext cx="5778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330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1900" b="1" i="1" spc="-505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1900" b="1" i="1" spc="-41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33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64468" y="6281222"/>
            <a:ext cx="1764664" cy="0"/>
          </a:xfrm>
          <a:custGeom>
            <a:avLst/>
            <a:gdLst/>
            <a:ahLst/>
            <a:cxnLst/>
            <a:rect l="l" t="t" r="r" b="b"/>
            <a:pathLst>
              <a:path w="1764665">
                <a:moveTo>
                  <a:pt x="0" y="0"/>
                </a:moveTo>
                <a:lnTo>
                  <a:pt x="1764344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32</a:t>
            </a:fld>
            <a:endParaRPr spc="-37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837184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5" dirty="0"/>
              <a:t>Равномерное</a:t>
            </a:r>
            <a:r>
              <a:rPr spc="-120" dirty="0"/>
              <a:t> </a:t>
            </a:r>
            <a:r>
              <a:rPr spc="-270" dirty="0"/>
              <a:t>распределение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6493510" cy="153352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постоянна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на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отрезке </a:t>
            </a:r>
            <a:r>
              <a:rPr sz="3300" spc="-204" dirty="0">
                <a:solidFill>
                  <a:srgbClr val="1E1E1E"/>
                </a:solidFill>
                <a:latin typeface="Arial"/>
                <a:cs typeface="Arial"/>
              </a:rPr>
              <a:t>[</a:t>
            </a:r>
            <a:r>
              <a:rPr sz="3300" b="1" i="1" spc="-204" dirty="0">
                <a:solidFill>
                  <a:srgbClr val="1E1E1E"/>
                </a:solidFill>
                <a:latin typeface="Verdana"/>
                <a:cs typeface="Verdana"/>
              </a:rPr>
              <a:t>a,</a:t>
            </a:r>
            <a:r>
              <a:rPr sz="3300" b="1" i="1" spc="-9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8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spc="-185" dirty="0">
                <a:solidFill>
                  <a:srgbClr val="1E1E1E"/>
                </a:solidFill>
                <a:latin typeface="Arial"/>
                <a:cs typeface="Arial"/>
              </a:rPr>
              <a:t>]</a:t>
            </a:r>
            <a:endParaRPr sz="3300"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Распределение: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523" y="8981790"/>
            <a:ext cx="56819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Дисперсия: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4950" b="1" spc="-982" baseline="31986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4950" b="1" i="1" spc="-982" baseline="31986" dirty="0">
                <a:solidFill>
                  <a:srgbClr val="1E1E1E"/>
                </a:solidFill>
                <a:latin typeface="Verdana"/>
                <a:cs typeface="Verdana"/>
              </a:rPr>
              <a:t>b </a:t>
            </a:r>
            <a:r>
              <a:rPr sz="4950" b="1" i="1" spc="-1350" baseline="31986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4950" b="1" i="1" spc="-1147" baseline="31986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72" baseline="31986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4950" b="1" spc="-772" baseline="31986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2850" b="1" i="1" spc="-772" baseline="87719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850" baseline="87719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14147" y="9241468"/>
            <a:ext cx="45085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735" dirty="0">
                <a:solidFill>
                  <a:srgbClr val="1E1E1E"/>
                </a:solidFill>
                <a:latin typeface="Verdana"/>
                <a:cs typeface="Verdana"/>
              </a:rPr>
              <a:t>12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81802" y="9303381"/>
            <a:ext cx="1328420" cy="0"/>
          </a:xfrm>
          <a:custGeom>
            <a:avLst/>
            <a:gdLst/>
            <a:ahLst/>
            <a:cxnLst/>
            <a:rect l="l" t="t" r="r" b="b"/>
            <a:pathLst>
              <a:path w="1328420">
                <a:moveTo>
                  <a:pt x="0" y="0"/>
                </a:moveTo>
                <a:lnTo>
                  <a:pt x="1327928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06523" y="7725284"/>
            <a:ext cx="814895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Математическое 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ожидание: 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4950" b="1" i="1" u="heavy" spc="-1350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4950" b="1" i="1" u="heavy" spc="-697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b </a:t>
            </a:r>
            <a:r>
              <a:rPr sz="4950" b="1" i="1" u="heavy" spc="-1350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−</a:t>
            </a:r>
            <a:r>
              <a:rPr sz="4950" b="1" i="1" u="heavy" spc="-1057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4950" b="1" i="1" u="heavy" spc="-569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a</a:t>
            </a:r>
            <a:endParaRPr sz="4950" baseline="3367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38661" y="7969256"/>
            <a:ext cx="25844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25415" y="5982802"/>
            <a:ext cx="923290" cy="0"/>
          </a:xfrm>
          <a:custGeom>
            <a:avLst/>
            <a:gdLst/>
            <a:ahLst/>
            <a:cxnLst/>
            <a:rect l="l" t="t" r="r" b="b"/>
            <a:pathLst>
              <a:path w="923289">
                <a:moveTo>
                  <a:pt x="0" y="0"/>
                </a:moveTo>
                <a:lnTo>
                  <a:pt x="923029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750844" y="5982802"/>
            <a:ext cx="923290" cy="0"/>
          </a:xfrm>
          <a:custGeom>
            <a:avLst/>
            <a:gdLst/>
            <a:ahLst/>
            <a:cxnLst/>
            <a:rect l="l" t="t" r="r" b="b"/>
            <a:pathLst>
              <a:path w="923290">
                <a:moveTo>
                  <a:pt x="0" y="0"/>
                </a:moveTo>
                <a:lnTo>
                  <a:pt x="923029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914571" y="5662519"/>
            <a:ext cx="98551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33</a:t>
            </a:fld>
            <a:endParaRPr spc="-370" dirty="0"/>
          </a:p>
        </p:txBody>
      </p:sp>
      <p:sp>
        <p:nvSpPr>
          <p:cNvPr id="16" name="object 16"/>
          <p:cNvSpPr txBox="1"/>
          <p:nvPr/>
        </p:nvSpPr>
        <p:spPr>
          <a:xfrm>
            <a:off x="7906011" y="5662519"/>
            <a:ext cx="10541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2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spc="-62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2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2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53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18980" y="4591871"/>
            <a:ext cx="6769100" cy="25387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6037580" algn="l"/>
              </a:tabLst>
            </a:pPr>
            <a:r>
              <a:rPr sz="16450" spc="160" dirty="0">
                <a:solidFill>
                  <a:srgbClr val="1E1E1E"/>
                </a:solidFill>
                <a:latin typeface="Arial"/>
                <a:cs typeface="Arial"/>
              </a:rPr>
              <a:t>{	{</a:t>
            </a:r>
            <a:endParaRPr sz="164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31060" y="4903380"/>
            <a:ext cx="912494" cy="1545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95"/>
              </a:spcBef>
            </a:pPr>
            <a:r>
              <a:rPr sz="3300" b="1" spc="-405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endParaRPr sz="3300">
              <a:latin typeface="Verdana"/>
              <a:cs typeface="Verdana"/>
            </a:endParaRPr>
          </a:p>
          <a:p>
            <a:pPr algn="ctr">
              <a:lnSpc>
                <a:spcPts val="3950"/>
              </a:lnSpc>
              <a:spcBef>
                <a:spcPts val="115"/>
              </a:spcBef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  <a:p>
            <a:pPr algn="ctr">
              <a:lnSpc>
                <a:spcPts val="3950"/>
              </a:lnSpc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b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i="1" spc="-7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784802" y="4903380"/>
            <a:ext cx="22129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38580" algn="l"/>
              </a:tabLst>
            </a:pPr>
            <a:r>
              <a:rPr sz="3300" b="1" spc="-405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,	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&lt;</a:t>
            </a:r>
            <a:r>
              <a:rPr sz="3300" b="1" i="1" spc="-8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59436" y="4688518"/>
            <a:ext cx="2791460" cy="2350770"/>
          </a:xfrm>
          <a:prstGeom prst="rect">
            <a:avLst/>
          </a:prstGeom>
        </p:spPr>
        <p:txBody>
          <a:bodyPr vert="horz" wrap="square" lIns="0" tIns="227330" rIns="0" bIns="0" rtlCol="0">
            <a:spAutoFit/>
          </a:bodyPr>
          <a:lstStyle/>
          <a:p>
            <a:pPr marL="1338580">
              <a:lnSpc>
                <a:spcPct val="100000"/>
              </a:lnSpc>
              <a:spcBef>
                <a:spcPts val="1790"/>
              </a:spcBef>
            </a:pP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&lt;</a:t>
            </a:r>
            <a:r>
              <a:rPr sz="3300" b="1" i="1" spc="-8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  <a:p>
            <a:pPr marL="986155">
              <a:lnSpc>
                <a:spcPct val="100000"/>
              </a:lnSpc>
              <a:spcBef>
                <a:spcPts val="1690"/>
              </a:spcBef>
            </a:pP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38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≤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≤</a:t>
            </a:r>
            <a:r>
              <a:rPr sz="3300" b="1" i="1" spc="-8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45"/>
              </a:spcBef>
              <a:tabLst>
                <a:tab pos="1257300" algn="l"/>
              </a:tabLst>
            </a:pPr>
            <a:r>
              <a:rPr sz="3300" b="1" spc="-405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,	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b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&lt;</a:t>
            </a:r>
            <a:r>
              <a:rPr sz="3300" b="1" i="1" spc="-7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756426" y="5620846"/>
            <a:ext cx="2819400" cy="1418590"/>
          </a:xfrm>
          <a:prstGeom prst="rect">
            <a:avLst/>
          </a:prstGeom>
        </p:spPr>
        <p:txBody>
          <a:bodyPr vert="horz" wrap="square" lIns="0" tIns="214629" rIns="0" bIns="0" rtlCol="0">
            <a:spAutoFit/>
          </a:bodyPr>
          <a:lstStyle/>
          <a:p>
            <a:pPr marL="12700" marR="5080" indent="12700">
              <a:lnSpc>
                <a:spcPct val="59700"/>
              </a:lnSpc>
              <a:spcBef>
                <a:spcPts val="1689"/>
              </a:spcBef>
            </a:pPr>
            <a:r>
              <a:rPr sz="4950" b="1" i="1" spc="-855" baseline="26936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4950" b="1" i="1" spc="-1350" baseline="26936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4950" b="1" i="1" spc="-569" baseline="26936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38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≤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≤ 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b  b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  <a:p>
            <a:pPr marL="40640">
              <a:lnSpc>
                <a:spcPct val="100000"/>
              </a:lnSpc>
              <a:spcBef>
                <a:spcPts val="685"/>
              </a:spcBef>
              <a:tabLst>
                <a:tab pos="1268095" algn="l"/>
              </a:tabLst>
            </a:pPr>
            <a:r>
              <a:rPr sz="3300" b="1" spc="-47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,	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b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&lt;</a:t>
            </a:r>
            <a:r>
              <a:rPr sz="3300" b="1" i="1" spc="-7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890587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9" dirty="0"/>
              <a:t>Показательное</a:t>
            </a:r>
            <a:r>
              <a:rPr spc="-130" dirty="0"/>
              <a:t> </a:t>
            </a:r>
            <a:r>
              <a:rPr spc="-270" dirty="0"/>
              <a:t>распределение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34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5686" y="3201862"/>
            <a:ext cx="14254480" cy="228727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характеризует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время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между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повторяющимися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случайными</a:t>
            </a:r>
            <a:r>
              <a:rPr sz="3300" spc="58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событиями.</a:t>
            </a:r>
            <a:endParaRPr sz="3300"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spc="-185" dirty="0">
                <a:solidFill>
                  <a:srgbClr val="1E1E1E"/>
                </a:solidFill>
                <a:latin typeface="Arial"/>
                <a:cs typeface="Arial"/>
              </a:rPr>
              <a:t>Является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непрерывным 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аналогом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геометрического</a:t>
            </a:r>
            <a:r>
              <a:rPr sz="3300" spc="-2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распределения.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Распределение: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37456" y="6163028"/>
            <a:ext cx="98551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23464" y="6163028"/>
            <a:ext cx="10541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2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spc="-62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2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2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53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52486" y="5833404"/>
            <a:ext cx="24282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3210" algn="l"/>
              </a:tabLst>
            </a:pPr>
            <a:r>
              <a:rPr sz="3300" b="1" spc="-405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,	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&lt;</a:t>
            </a:r>
            <a:r>
              <a:rPr sz="3300" b="1" i="1" spc="-8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52486" y="6493070"/>
            <a:ext cx="242633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1305" algn="l"/>
              </a:tabLst>
            </a:pPr>
            <a:r>
              <a:rPr sz="3300" b="1" spc="-44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3300" b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0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2850" b="1" i="1" spc="-600" baseline="32163" dirty="0">
                <a:solidFill>
                  <a:srgbClr val="1E1E1E"/>
                </a:solidFill>
                <a:latin typeface="Verdana"/>
                <a:cs typeface="Verdana"/>
              </a:rPr>
              <a:t>−λx</a:t>
            </a:r>
            <a:r>
              <a:rPr sz="2850" b="1" i="1" spc="-637" baseline="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	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</a:t>
            </a:r>
            <a:r>
              <a:rPr sz="3300" b="1" i="1" spc="-8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72650" y="5676550"/>
            <a:ext cx="2606040" cy="1344930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  <a:tabLst>
                <a:tab pos="1731010" algn="l"/>
              </a:tabLst>
            </a:pPr>
            <a:r>
              <a:rPr sz="3300" b="1" spc="-405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,	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&lt;</a:t>
            </a:r>
            <a:r>
              <a:rPr sz="3300" b="1" i="1" spc="-8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  <a:tabLst>
                <a:tab pos="1691005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 </a:t>
            </a:r>
            <a:r>
              <a:rPr sz="3300" b="1" spc="-73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0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2850" b="1" i="1" spc="-600" baseline="32163" dirty="0">
                <a:solidFill>
                  <a:srgbClr val="1E1E1E"/>
                </a:solidFill>
                <a:latin typeface="Verdana"/>
                <a:cs typeface="Verdana"/>
              </a:rPr>
              <a:t>−λx</a:t>
            </a:r>
            <a:r>
              <a:rPr sz="2850" b="1" i="1" spc="-637" baseline="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	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</a:t>
            </a:r>
            <a:r>
              <a:rPr sz="3300" b="1" i="1" spc="-86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15486" y="5641588"/>
            <a:ext cx="6094730" cy="1533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32450" algn="l"/>
              </a:tabLst>
            </a:pPr>
            <a:r>
              <a:rPr sz="9900" spc="-105" dirty="0">
                <a:solidFill>
                  <a:srgbClr val="1E1E1E"/>
                </a:solidFill>
                <a:latin typeface="Trebuchet MS"/>
                <a:cs typeface="Trebuchet MS"/>
              </a:rPr>
              <a:t>{	{</a:t>
            </a:r>
            <a:endParaRPr sz="9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05686" y="7725284"/>
            <a:ext cx="76974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  <a:tab pos="7684134" algn="l"/>
              </a:tabLst>
            </a:pP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Математическое 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ожидание: 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4950" b="1" i="1" u="heavy" spc="-1230" baseline="31986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4950" b="1" u="heavy" spc="-780" baseline="31986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	</a:t>
            </a:r>
            <a:endParaRPr sz="4950" baseline="31986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02029" y="7982344"/>
            <a:ext cx="2247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5686" y="8981790"/>
            <a:ext cx="494220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  <a:tab pos="4928235" algn="l"/>
              </a:tabLst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Дисперсия: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2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4950" b="1" i="1" u="heavy" spc="-1350" baseline="32828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4950" b="1" u="heavy" spc="-780" baseline="32828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	</a:t>
            </a:r>
            <a:endParaRPr sz="4950" baseline="32828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80712" y="9096761"/>
            <a:ext cx="36385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b="1" i="1" spc="-794" baseline="-18518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1900" b="1" i="1" spc="-31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3" y="1233335"/>
            <a:ext cx="8028237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5" dirty="0" err="1"/>
              <a:t>Распределение</a:t>
            </a:r>
            <a:r>
              <a:rPr spc="-305" dirty="0"/>
              <a:t> </a:t>
            </a:r>
            <a:r>
              <a:rPr spc="-375" dirty="0" err="1"/>
              <a:t>Гаус</a:t>
            </a:r>
            <a:r>
              <a:rPr lang="ru-RU" spc="-175" dirty="0"/>
              <a:t>с</a:t>
            </a:r>
            <a:r>
              <a:rPr spc="145" dirty="0"/>
              <a:t>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6946265" cy="1784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marR="5080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Относится </a:t>
            </a:r>
            <a:r>
              <a:rPr sz="3300" spc="20" dirty="0">
                <a:solidFill>
                  <a:srgbClr val="1E1E1E"/>
                </a:solidFill>
                <a:latin typeface="Arial"/>
                <a:cs typeface="Arial"/>
              </a:rPr>
              <a:t>ко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многим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физическим 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социальным</a:t>
            </a:r>
            <a:r>
              <a:rPr sz="3300" spc="12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величинам.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Нормальное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распределение: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104" y="7222682"/>
            <a:ext cx="7353300" cy="153352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Математическое 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ожидание: 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µ</a:t>
            </a:r>
            <a:endParaRPr sz="330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Дисперсия: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8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4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367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850" baseline="32163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8288" y="5966081"/>
            <a:ext cx="98551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70580" y="5662844"/>
            <a:ext cx="1262380" cy="11525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512445" algn="l"/>
                <a:tab pos="1249045" algn="l"/>
              </a:tabLst>
            </a:pPr>
            <a:r>
              <a:rPr sz="3300" b="1" u="heavy" spc="-46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	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	</a:t>
            </a:r>
            <a:endParaRPr sz="3300">
              <a:latin typeface="Verdana"/>
              <a:cs typeface="Verdana"/>
            </a:endParaRPr>
          </a:p>
          <a:p>
            <a:pPr marL="75565">
              <a:lnSpc>
                <a:spcPct val="100000"/>
              </a:lnSpc>
              <a:spcBef>
                <a:spcPts val="475"/>
              </a:spcBef>
            </a:pP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5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735" dirty="0">
                <a:solidFill>
                  <a:srgbClr val="1E1E1E"/>
                </a:solidFill>
                <a:latin typeface="Verdana"/>
                <a:cs typeface="Verdana"/>
              </a:rPr>
              <a:t>√</a:t>
            </a:r>
            <a:r>
              <a:rPr sz="3300" b="1" spc="-73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i="1" spc="-735" dirty="0">
                <a:solidFill>
                  <a:srgbClr val="1E1E1E"/>
                </a:solidFill>
                <a:latin typeface="Verdana"/>
                <a:cs typeface="Verdana"/>
              </a:rPr>
              <a:t>∏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32716" y="6380287"/>
            <a:ext cx="588010" cy="0"/>
          </a:xfrm>
          <a:custGeom>
            <a:avLst/>
            <a:gdLst/>
            <a:ahLst/>
            <a:cxnLst/>
            <a:rect l="l" t="t" r="r" b="b"/>
            <a:pathLst>
              <a:path w="588010">
                <a:moveTo>
                  <a:pt x="0" y="0"/>
                </a:moveTo>
                <a:lnTo>
                  <a:pt x="587416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76445" y="5678676"/>
            <a:ext cx="840105" cy="71120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2050" b="1" spc="-39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2050" b="1" i="1" spc="-39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2050" b="1" i="1" spc="-55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2050" b="1" i="1" spc="-430" dirty="0">
                <a:solidFill>
                  <a:srgbClr val="1E1E1E"/>
                </a:solidFill>
                <a:latin typeface="Verdana"/>
                <a:cs typeface="Verdana"/>
              </a:rPr>
              <a:t>µ</a:t>
            </a:r>
            <a:r>
              <a:rPr sz="2050" b="1" spc="-43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2050" b="1" spc="-4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175" b="1" spc="-352" baseline="30651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175" baseline="30651">
              <a:latin typeface="Verdana"/>
              <a:cs typeface="Verdana"/>
            </a:endParaRPr>
          </a:p>
          <a:p>
            <a:pPr marR="81915" algn="ctr">
              <a:lnSpc>
                <a:spcPct val="100000"/>
              </a:lnSpc>
              <a:spcBef>
                <a:spcPts val="240"/>
              </a:spcBef>
            </a:pPr>
            <a:r>
              <a:rPr sz="2050" b="1" spc="-31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2050" b="1" i="1" spc="-31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050" b="1" i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175" b="1" spc="-352" baseline="30651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175" baseline="30651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22369" y="6057449"/>
            <a:ext cx="711200" cy="0"/>
          </a:xfrm>
          <a:custGeom>
            <a:avLst/>
            <a:gdLst/>
            <a:ahLst/>
            <a:cxnLst/>
            <a:rect l="l" t="t" r="r" b="b"/>
            <a:pathLst>
              <a:path w="711200">
                <a:moveTo>
                  <a:pt x="0" y="0"/>
                </a:moveTo>
                <a:lnTo>
                  <a:pt x="710711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34417" y="6057449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739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5282" y="5967128"/>
            <a:ext cx="4076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d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t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22455" y="5967128"/>
            <a:ext cx="36144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72385" algn="l"/>
              </a:tabLst>
            </a:pP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e	</a:t>
            </a:r>
            <a:r>
              <a:rPr sz="3300" b="1" i="1" spc="-62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spc="-62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2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2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53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70949" y="5663891"/>
            <a:ext cx="1262380" cy="11525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513080" algn="l"/>
                <a:tab pos="1249045" algn="l"/>
              </a:tabLst>
            </a:pPr>
            <a:r>
              <a:rPr sz="3300" b="1" u="heavy" spc="-46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	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	</a:t>
            </a:r>
            <a:endParaRPr sz="3300">
              <a:latin typeface="Verdana"/>
              <a:cs typeface="Verdana"/>
            </a:endParaRPr>
          </a:p>
          <a:p>
            <a:pPr marL="75565">
              <a:lnSpc>
                <a:spcPct val="100000"/>
              </a:lnSpc>
              <a:spcBef>
                <a:spcPts val="475"/>
              </a:spcBef>
            </a:pP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5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735" dirty="0">
                <a:solidFill>
                  <a:srgbClr val="1E1E1E"/>
                </a:solidFill>
                <a:latin typeface="Verdana"/>
                <a:cs typeface="Verdana"/>
              </a:rPr>
              <a:t>√</a:t>
            </a:r>
            <a:r>
              <a:rPr sz="3300" b="1" spc="-73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i="1" spc="-735" dirty="0">
                <a:solidFill>
                  <a:srgbClr val="1E1E1E"/>
                </a:solidFill>
                <a:latin typeface="Verdana"/>
                <a:cs typeface="Verdana"/>
              </a:rPr>
              <a:t>∏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733084" y="6381344"/>
            <a:ext cx="588010" cy="0"/>
          </a:xfrm>
          <a:custGeom>
            <a:avLst/>
            <a:gdLst/>
            <a:ahLst/>
            <a:cxnLst/>
            <a:rect l="l" t="t" r="r" b="b"/>
            <a:pathLst>
              <a:path w="588009">
                <a:moveTo>
                  <a:pt x="0" y="0"/>
                </a:moveTo>
                <a:lnTo>
                  <a:pt x="587416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489566" y="5708330"/>
            <a:ext cx="78867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b="1" spc="-38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2050" b="1" i="1" spc="-380" dirty="0">
                <a:solidFill>
                  <a:srgbClr val="1E1E1E"/>
                </a:solidFill>
                <a:latin typeface="Verdana"/>
                <a:cs typeface="Verdana"/>
              </a:rPr>
              <a:t>t </a:t>
            </a:r>
            <a:r>
              <a:rPr sz="2050" b="1" i="1" spc="-55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2050" b="1" i="1" spc="-430" dirty="0">
                <a:solidFill>
                  <a:srgbClr val="1E1E1E"/>
                </a:solidFill>
                <a:latin typeface="Verdana"/>
                <a:cs typeface="Verdana"/>
              </a:rPr>
              <a:t>µ</a:t>
            </a:r>
            <a:r>
              <a:rPr sz="2050" b="1" spc="-43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2050" b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175" b="1" spc="-352" baseline="30651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175" baseline="30651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00589" y="6051063"/>
            <a:ext cx="45529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b="1" spc="-31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2050" b="1" i="1" spc="-31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050" b="1" i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175" b="1" spc="-352" baseline="30651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175" baseline="30651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499156" y="6058517"/>
            <a:ext cx="711200" cy="0"/>
          </a:xfrm>
          <a:custGeom>
            <a:avLst/>
            <a:gdLst/>
            <a:ahLst/>
            <a:cxnLst/>
            <a:rect l="l" t="t" r="r" b="b"/>
            <a:pathLst>
              <a:path w="711200">
                <a:moveTo>
                  <a:pt x="0" y="0"/>
                </a:moveTo>
                <a:lnTo>
                  <a:pt x="710711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311204" y="6058517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5">
                <a:moveTo>
                  <a:pt x="0" y="0"/>
                </a:moveTo>
                <a:lnTo>
                  <a:pt x="138739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677507" y="5850817"/>
            <a:ext cx="14732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31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35</a:t>
            </a:fld>
            <a:endParaRPr spc="-370" dirty="0"/>
          </a:p>
        </p:txBody>
      </p:sp>
      <p:sp>
        <p:nvSpPr>
          <p:cNvPr id="24" name="object 24"/>
          <p:cNvSpPr txBox="1"/>
          <p:nvPr/>
        </p:nvSpPr>
        <p:spPr>
          <a:xfrm>
            <a:off x="9434341" y="5967128"/>
            <a:ext cx="8686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∫ </a:t>
            </a:r>
            <a:r>
              <a:rPr sz="2850" b="1" spc="-765" baseline="-20467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2850" b="1" i="1" spc="-765" baseline="-20467" dirty="0">
                <a:solidFill>
                  <a:srgbClr val="1E1E1E"/>
                </a:solidFill>
                <a:latin typeface="Verdana"/>
                <a:cs typeface="Verdana"/>
              </a:rPr>
              <a:t>∞</a:t>
            </a:r>
            <a:r>
              <a:rPr sz="2850" b="1" i="1" spc="-660" baseline="-20467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406640" cy="1512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5770"/>
              </a:lnSpc>
              <a:spcBef>
                <a:spcPts val="430"/>
              </a:spcBef>
            </a:pPr>
            <a:r>
              <a:rPr spc="-225" dirty="0"/>
              <a:t>Стандартное </a:t>
            </a:r>
            <a:r>
              <a:rPr spc="-305" dirty="0"/>
              <a:t>нормальное  </a:t>
            </a:r>
            <a:r>
              <a:rPr spc="-275" dirty="0"/>
              <a:t>распределение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87909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Нормальное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распределение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µ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405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13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104" y="5966175"/>
            <a:ext cx="1993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210" dirty="0">
                <a:solidFill>
                  <a:srgbClr val="BDD9DE"/>
                </a:solidFill>
                <a:latin typeface="Arial"/>
                <a:cs typeface="Arial"/>
              </a:rPr>
              <a:t>•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6942" y="7976585"/>
            <a:ext cx="710247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µ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коэффициент</a:t>
            </a:r>
            <a:r>
              <a:rPr sz="3300" spc="-1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смещения,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ts val="3960"/>
              </a:lnSpc>
            </a:pP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коэффициент</a:t>
            </a:r>
            <a:r>
              <a:rPr sz="3300" spc="-2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масштабирования.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06220" y="4223820"/>
            <a:ext cx="100393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4960" algn="l"/>
                <a:tab pos="990600" algn="l"/>
              </a:tabLst>
            </a:pPr>
            <a:r>
              <a:rPr sz="3300" b="1" u="heavy" spc="-46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	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	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22947" y="4466326"/>
            <a:ext cx="248221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58695" algn="l"/>
              </a:tabLst>
            </a:pPr>
            <a:r>
              <a:rPr sz="3300" b="1" i="1" spc="-790" dirty="0">
                <a:solidFill>
                  <a:srgbClr val="1E1E1E"/>
                </a:solidFill>
                <a:latin typeface="Verdana"/>
                <a:cs typeface="Verdana"/>
              </a:rPr>
              <a:t>φ</a:t>
            </a:r>
            <a:r>
              <a:rPr sz="3300" b="1" spc="-69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2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1357" baseline="-42929" dirty="0">
                <a:solidFill>
                  <a:srgbClr val="1E1E1E"/>
                </a:solidFill>
                <a:latin typeface="Verdana"/>
                <a:cs typeface="Verdana"/>
              </a:rPr>
              <a:t>√</a:t>
            </a:r>
            <a:r>
              <a:rPr sz="4950" b="1" spc="-862" baseline="-42929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4950" b="1" i="1" spc="-1080" baseline="-42929" dirty="0">
                <a:solidFill>
                  <a:srgbClr val="1E1E1E"/>
                </a:solidFill>
                <a:latin typeface="Verdana"/>
                <a:cs typeface="Verdana"/>
              </a:rPr>
              <a:t>∏</a:t>
            </a:r>
            <a:r>
              <a:rPr sz="4950" b="1" i="1" baseline="-42929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95886" y="4882584"/>
            <a:ext cx="588010" cy="0"/>
          </a:xfrm>
          <a:custGeom>
            <a:avLst/>
            <a:gdLst/>
            <a:ahLst/>
            <a:cxnLst/>
            <a:rect l="l" t="t" r="r" b="b"/>
            <a:pathLst>
              <a:path w="588010">
                <a:moveTo>
                  <a:pt x="0" y="0"/>
                </a:moveTo>
                <a:lnTo>
                  <a:pt x="587416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828548" y="4223757"/>
            <a:ext cx="100393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3690" algn="l"/>
                <a:tab pos="990600" algn="l"/>
              </a:tabLst>
            </a:pPr>
            <a:r>
              <a:rPr sz="3300" b="1" u="heavy" spc="-46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	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	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06575" y="4466263"/>
            <a:ext cx="2025014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Φ</a:t>
            </a:r>
            <a:r>
              <a:rPr sz="3300" b="1" spc="-6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7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1102" baseline="-42929" dirty="0">
                <a:solidFill>
                  <a:srgbClr val="1E1E1E"/>
                </a:solidFill>
                <a:latin typeface="Verdana"/>
                <a:cs typeface="Verdana"/>
              </a:rPr>
              <a:t>√</a:t>
            </a:r>
            <a:r>
              <a:rPr sz="4950" b="1" spc="-1102" baseline="-42929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4950" b="1" i="1" spc="-1102" baseline="-42929" dirty="0">
                <a:solidFill>
                  <a:srgbClr val="1E1E1E"/>
                </a:solidFill>
                <a:latin typeface="Verdana"/>
                <a:cs typeface="Verdana"/>
              </a:rPr>
              <a:t>∏</a:t>
            </a:r>
            <a:endParaRPr sz="4950" baseline="-42929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131689" y="4882332"/>
            <a:ext cx="588010" cy="0"/>
          </a:xfrm>
          <a:custGeom>
            <a:avLst/>
            <a:gdLst/>
            <a:ahLst/>
            <a:cxnLst/>
            <a:rect l="l" t="t" r="r" b="b"/>
            <a:pathLst>
              <a:path w="588009">
                <a:moveTo>
                  <a:pt x="0" y="0"/>
                </a:moveTo>
                <a:lnTo>
                  <a:pt x="587416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404485" y="4155120"/>
            <a:ext cx="5916295" cy="6959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20"/>
              </a:spcBef>
              <a:tabLst>
                <a:tab pos="255904" algn="l"/>
                <a:tab pos="5402580" algn="l"/>
                <a:tab pos="5665470" algn="l"/>
              </a:tabLst>
            </a:pPr>
            <a:r>
              <a:rPr sz="2050" b="1" i="1" u="heavy" spc="-32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	</a:t>
            </a:r>
            <a:r>
              <a:rPr sz="2050" b="1" i="1" u="heavy" spc="-34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x</a:t>
            </a:r>
            <a:r>
              <a:rPr sz="2050" b="1" i="1" u="heavy" spc="-43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2450" b="1" u="heavy" spc="-87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2450" b="1" spc="-875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2450" b="1" u="heavy" spc="-87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	</a:t>
            </a:r>
            <a:r>
              <a:rPr sz="2050" b="1" i="1" u="heavy" spc="-2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t</a:t>
            </a:r>
            <a:r>
              <a:rPr sz="2050" b="1" i="1" u="heavy" spc="-49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2450" b="1" u="heavy" spc="-87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endParaRPr sz="2450">
              <a:latin typeface="Verdana"/>
              <a:cs typeface="Verdana"/>
            </a:endParaRPr>
          </a:p>
          <a:p>
            <a:pPr marL="297180">
              <a:lnSpc>
                <a:spcPts val="2385"/>
              </a:lnSpc>
            </a:pPr>
            <a:r>
              <a:rPr sz="2050" b="1" spc="-31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050">
              <a:latin typeface="Verdana"/>
              <a:cs typeface="Verdan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36</a:t>
            </a:fld>
            <a:endParaRPr spc="-370" dirty="0"/>
          </a:p>
        </p:txBody>
      </p:sp>
      <p:sp>
        <p:nvSpPr>
          <p:cNvPr id="17" name="object 17"/>
          <p:cNvSpPr txBox="1"/>
          <p:nvPr/>
        </p:nvSpPr>
        <p:spPr>
          <a:xfrm>
            <a:off x="9169669" y="4395123"/>
            <a:ext cx="14732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31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28242" y="4466263"/>
            <a:ext cx="18745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3955" algn="l"/>
              </a:tabLst>
            </a:pPr>
            <a:r>
              <a:rPr sz="3300" b="1" i="1" spc="-615" dirty="0">
                <a:solidFill>
                  <a:srgbClr val="1E1E1E"/>
                </a:solidFill>
                <a:latin typeface="Verdana"/>
                <a:cs typeface="Verdana"/>
              </a:rPr>
              <a:t>∫</a:t>
            </a:r>
            <a:r>
              <a:rPr sz="2850" b="1" spc="-922" baseline="-24853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2850" b="1" i="1" spc="-922" baseline="-24853" dirty="0">
                <a:solidFill>
                  <a:srgbClr val="1E1E1E"/>
                </a:solidFill>
                <a:latin typeface="Verdana"/>
                <a:cs typeface="Verdana"/>
              </a:rPr>
              <a:t>∞                      </a:t>
            </a:r>
            <a:r>
              <a:rPr sz="2850" b="1" i="1" spc="-900" baseline="-2485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e	</a:t>
            </a:r>
            <a:r>
              <a:rPr sz="3075" b="1" spc="-472" baseline="2439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075" b="1" spc="-465" baseline="243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dt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16528" y="7237341"/>
            <a:ext cx="2705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84878" y="6218523"/>
            <a:ext cx="17018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43355" algn="l"/>
              </a:tabLst>
            </a:pP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	σ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08707" y="5403889"/>
            <a:ext cx="3656965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950" b="1" i="1" spc="-862" baseline="-32828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4950" b="1" spc="-862" baseline="-32828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4950" b="1" i="1" spc="-862" baseline="-32828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4950" b="1" spc="-862" baseline="-32828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4950" b="1" i="1" spc="-1350" baseline="-32828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u="heavy" spc="-90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lang="ru-RU" sz="3300" b="1" i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              </a:t>
            </a:r>
            <a:r>
              <a:rPr sz="3300" b="1" u="heavy" spc="-52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 </a:t>
            </a:r>
            <a:r>
              <a:rPr sz="4950" b="1" i="1" spc="-1139" baseline="-32828" dirty="0">
                <a:solidFill>
                  <a:srgbClr val="1E1E1E"/>
                </a:solidFill>
                <a:latin typeface="Verdana"/>
                <a:cs typeface="Verdana"/>
              </a:rPr>
              <a:t>φ </a:t>
            </a:r>
            <a:r>
              <a:rPr sz="8625" spc="254" baseline="-25120" dirty="0">
                <a:solidFill>
                  <a:srgbClr val="1E1E1E"/>
                </a:solidFill>
                <a:latin typeface="Arial"/>
                <a:cs typeface="Arial"/>
              </a:rPr>
              <a:t>(</a:t>
            </a:r>
            <a:r>
              <a:rPr sz="5750" u="heavy" spc="-52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Arial"/>
                <a:cs typeface="Arial"/>
              </a:rPr>
              <a:t> </a:t>
            </a:r>
            <a:r>
              <a:rPr sz="3300" b="1" i="1" u="heavy" spc="-5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x </a:t>
            </a:r>
            <a:r>
              <a:rPr sz="3300" b="1" i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− </a:t>
            </a:r>
            <a:r>
              <a:rPr sz="3300" b="1" i="1" u="heavy" spc="-53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μ</a:t>
            </a:r>
            <a:r>
              <a:rPr sz="3300" b="1" i="1" spc="-5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8625" spc="-419" baseline="-25120" dirty="0">
                <a:solidFill>
                  <a:srgbClr val="1E1E1E"/>
                </a:solidFill>
                <a:latin typeface="Arial"/>
                <a:cs typeface="Arial"/>
              </a:rPr>
              <a:t>)</a:t>
            </a:r>
            <a:endParaRPr sz="8625" baseline="-2512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06523" y="6657254"/>
            <a:ext cx="3559810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12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630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spc="-63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3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3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204" dirty="0">
                <a:solidFill>
                  <a:srgbClr val="1E1E1E"/>
                </a:solidFill>
                <a:latin typeface="Verdana"/>
                <a:cs typeface="Verdana"/>
              </a:rPr>
              <a:t>Φ</a:t>
            </a:r>
            <a:r>
              <a:rPr sz="8625" spc="-307" baseline="-7246" dirty="0">
                <a:solidFill>
                  <a:srgbClr val="1E1E1E"/>
                </a:solidFill>
                <a:latin typeface="Arial"/>
                <a:cs typeface="Arial"/>
              </a:rPr>
              <a:t>(</a:t>
            </a:r>
            <a:r>
              <a:rPr sz="8625" u="heavy" spc="-307" baseline="17874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Arial"/>
                <a:cs typeface="Arial"/>
              </a:rPr>
              <a:t> </a:t>
            </a:r>
            <a:r>
              <a:rPr sz="4950" b="1" i="1" u="heavy" spc="-855" baseline="31144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x </a:t>
            </a:r>
            <a:r>
              <a:rPr sz="4950" b="1" i="1" u="heavy" spc="-1350" baseline="31144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− </a:t>
            </a:r>
            <a:r>
              <a:rPr sz="4950" b="1" i="1" u="heavy" spc="-794" baseline="31144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μ</a:t>
            </a:r>
            <a:r>
              <a:rPr sz="4950" b="1" i="1" spc="-1200" baseline="3114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8625" spc="-419" baseline="-7246" dirty="0">
                <a:solidFill>
                  <a:srgbClr val="1E1E1E"/>
                </a:solidFill>
                <a:latin typeface="Arial"/>
                <a:cs typeface="Arial"/>
              </a:rPr>
              <a:t>)</a:t>
            </a:r>
            <a:endParaRPr sz="8625" baseline="-7246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547687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Правило </a:t>
            </a:r>
            <a:r>
              <a:rPr spc="-185" dirty="0"/>
              <a:t>трех</a:t>
            </a:r>
            <a:r>
              <a:rPr spc="5" dirty="0"/>
              <a:t> </a:t>
            </a:r>
            <a:r>
              <a:rPr spc="-370" dirty="0"/>
              <a:t>сигм</a:t>
            </a:r>
          </a:p>
        </p:txBody>
      </p:sp>
      <p:sp>
        <p:nvSpPr>
          <p:cNvPr id="7" name="object 7"/>
          <p:cNvSpPr/>
          <p:nvPr/>
        </p:nvSpPr>
        <p:spPr>
          <a:xfrm>
            <a:off x="2900435" y="5490429"/>
            <a:ext cx="0" cy="209550"/>
          </a:xfrm>
          <a:custGeom>
            <a:avLst/>
            <a:gdLst/>
            <a:ahLst/>
            <a:cxnLst/>
            <a:rect l="l" t="t" r="r" b="b"/>
            <a:pathLst>
              <a:path h="209550">
                <a:moveTo>
                  <a:pt x="0" y="0"/>
                </a:moveTo>
                <a:lnTo>
                  <a:pt x="0" y="209417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59991" y="5490429"/>
            <a:ext cx="0" cy="209550"/>
          </a:xfrm>
          <a:custGeom>
            <a:avLst/>
            <a:gdLst/>
            <a:ahLst/>
            <a:cxnLst/>
            <a:rect l="l" t="t" r="r" b="b"/>
            <a:pathLst>
              <a:path h="209550">
                <a:moveTo>
                  <a:pt x="0" y="0"/>
                </a:moveTo>
                <a:lnTo>
                  <a:pt x="0" y="209417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28749" y="3105685"/>
            <a:ext cx="0" cy="2764790"/>
          </a:xfrm>
          <a:custGeom>
            <a:avLst/>
            <a:gdLst/>
            <a:ahLst/>
            <a:cxnLst/>
            <a:rect l="l" t="t" r="r" b="b"/>
            <a:pathLst>
              <a:path h="2764790">
                <a:moveTo>
                  <a:pt x="0" y="0"/>
                </a:moveTo>
                <a:lnTo>
                  <a:pt x="0" y="2764313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3513" y="5869978"/>
            <a:ext cx="7099934" cy="0"/>
          </a:xfrm>
          <a:custGeom>
            <a:avLst/>
            <a:gdLst/>
            <a:ahLst/>
            <a:cxnLst/>
            <a:rect l="l" t="t" r="r" b="b"/>
            <a:pathLst>
              <a:path w="7099934">
                <a:moveTo>
                  <a:pt x="7099794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03591" y="5869999"/>
            <a:ext cx="0" cy="104775"/>
          </a:xfrm>
          <a:custGeom>
            <a:avLst/>
            <a:gdLst/>
            <a:ahLst/>
            <a:cxnLst/>
            <a:rect l="l" t="t" r="r" b="b"/>
            <a:pathLst>
              <a:path h="104775">
                <a:moveTo>
                  <a:pt x="0" y="0"/>
                </a:moveTo>
                <a:lnTo>
                  <a:pt x="0" y="10470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55161" y="4215599"/>
            <a:ext cx="0" cy="1759585"/>
          </a:xfrm>
          <a:custGeom>
            <a:avLst/>
            <a:gdLst/>
            <a:ahLst/>
            <a:cxnLst/>
            <a:rect l="l" t="t" r="r" b="b"/>
            <a:pathLst>
              <a:path h="1759585">
                <a:moveTo>
                  <a:pt x="0" y="0"/>
                </a:moveTo>
                <a:lnTo>
                  <a:pt x="0" y="175910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30946" y="3110920"/>
            <a:ext cx="0" cy="2863850"/>
          </a:xfrm>
          <a:custGeom>
            <a:avLst/>
            <a:gdLst/>
            <a:ahLst/>
            <a:cxnLst/>
            <a:rect l="l" t="t" r="r" b="b"/>
            <a:pathLst>
              <a:path h="2863850">
                <a:moveTo>
                  <a:pt x="0" y="0"/>
                </a:moveTo>
                <a:lnTo>
                  <a:pt x="0" y="2863787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06731" y="4202510"/>
            <a:ext cx="0" cy="1772285"/>
          </a:xfrm>
          <a:custGeom>
            <a:avLst/>
            <a:gdLst/>
            <a:ahLst/>
            <a:cxnLst/>
            <a:rect l="l" t="t" r="r" b="b"/>
            <a:pathLst>
              <a:path h="1772285">
                <a:moveTo>
                  <a:pt x="0" y="0"/>
                </a:moveTo>
                <a:lnTo>
                  <a:pt x="0" y="1772197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782516" y="5490429"/>
            <a:ext cx="0" cy="484505"/>
          </a:xfrm>
          <a:custGeom>
            <a:avLst/>
            <a:gdLst/>
            <a:ahLst/>
            <a:cxnLst/>
            <a:rect l="l" t="t" r="r" b="b"/>
            <a:pathLst>
              <a:path h="484504">
                <a:moveTo>
                  <a:pt x="0" y="0"/>
                </a:moveTo>
                <a:lnTo>
                  <a:pt x="0" y="48427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58300" y="5820262"/>
            <a:ext cx="0" cy="154940"/>
          </a:xfrm>
          <a:custGeom>
            <a:avLst/>
            <a:gdLst/>
            <a:ahLst/>
            <a:cxnLst/>
            <a:rect l="l" t="t" r="r" b="b"/>
            <a:pathLst>
              <a:path h="154939">
                <a:moveTo>
                  <a:pt x="0" y="0"/>
                </a:moveTo>
                <a:lnTo>
                  <a:pt x="0" y="15444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79376" y="5490429"/>
            <a:ext cx="0" cy="484505"/>
          </a:xfrm>
          <a:custGeom>
            <a:avLst/>
            <a:gdLst/>
            <a:ahLst/>
            <a:cxnLst/>
            <a:rect l="l" t="t" r="r" b="b"/>
            <a:pathLst>
              <a:path h="484504">
                <a:moveTo>
                  <a:pt x="0" y="0"/>
                </a:moveTo>
                <a:lnTo>
                  <a:pt x="0" y="48427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18804" y="5869978"/>
            <a:ext cx="104775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708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18804" y="4492533"/>
            <a:ext cx="104775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708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18804" y="3803810"/>
            <a:ext cx="104775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708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18804" y="3111161"/>
            <a:ext cx="104775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708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18804" y="5181255"/>
            <a:ext cx="104775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708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154384" y="5647492"/>
            <a:ext cx="0" cy="222250"/>
          </a:xfrm>
          <a:custGeom>
            <a:avLst/>
            <a:gdLst/>
            <a:ahLst/>
            <a:cxnLst/>
            <a:rect l="l" t="t" r="r" b="b"/>
            <a:pathLst>
              <a:path h="222250">
                <a:moveTo>
                  <a:pt x="0" y="0"/>
                </a:moveTo>
                <a:lnTo>
                  <a:pt x="0" y="221972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155693" y="3115088"/>
            <a:ext cx="2875280" cy="2723515"/>
          </a:xfrm>
          <a:custGeom>
            <a:avLst/>
            <a:gdLst/>
            <a:ahLst/>
            <a:cxnLst/>
            <a:rect l="l" t="t" r="r" b="b"/>
            <a:pathLst>
              <a:path w="2875279" h="2723515">
                <a:moveTo>
                  <a:pt x="0" y="2723498"/>
                </a:moveTo>
                <a:lnTo>
                  <a:pt x="442462" y="2722499"/>
                </a:lnTo>
                <a:lnTo>
                  <a:pt x="707066" y="2685899"/>
                </a:lnTo>
                <a:lnTo>
                  <a:pt x="899214" y="2581060"/>
                </a:lnTo>
                <a:lnTo>
                  <a:pt x="1124311" y="2375341"/>
                </a:lnTo>
                <a:lnTo>
                  <a:pt x="1164133" y="2336075"/>
                </a:lnTo>
                <a:lnTo>
                  <a:pt x="1203176" y="2295935"/>
                </a:lnTo>
                <a:lnTo>
                  <a:pt x="1241456" y="2254966"/>
                </a:lnTo>
                <a:lnTo>
                  <a:pt x="1278992" y="2213216"/>
                </a:lnTo>
                <a:lnTo>
                  <a:pt x="1315801" y="2170729"/>
                </a:lnTo>
                <a:lnTo>
                  <a:pt x="1351899" y="2127550"/>
                </a:lnTo>
                <a:lnTo>
                  <a:pt x="1387305" y="2083727"/>
                </a:lnTo>
                <a:lnTo>
                  <a:pt x="1422035" y="2039304"/>
                </a:lnTo>
                <a:lnTo>
                  <a:pt x="1456108" y="1994326"/>
                </a:lnTo>
                <a:lnTo>
                  <a:pt x="1489540" y="1948841"/>
                </a:lnTo>
                <a:lnTo>
                  <a:pt x="1522348" y="1902893"/>
                </a:lnTo>
                <a:lnTo>
                  <a:pt x="1554551" y="1856528"/>
                </a:lnTo>
                <a:lnTo>
                  <a:pt x="1586166" y="1809791"/>
                </a:lnTo>
                <a:lnTo>
                  <a:pt x="1617209" y="1762729"/>
                </a:lnTo>
                <a:lnTo>
                  <a:pt x="1647699" y="1715387"/>
                </a:lnTo>
                <a:lnTo>
                  <a:pt x="1677652" y="1667811"/>
                </a:lnTo>
                <a:lnTo>
                  <a:pt x="1707087" y="1620047"/>
                </a:lnTo>
                <a:lnTo>
                  <a:pt x="1736019" y="1572140"/>
                </a:lnTo>
                <a:lnTo>
                  <a:pt x="1764468" y="1524135"/>
                </a:lnTo>
                <a:lnTo>
                  <a:pt x="1792449" y="1476079"/>
                </a:lnTo>
                <a:lnTo>
                  <a:pt x="1819981" y="1428017"/>
                </a:lnTo>
                <a:lnTo>
                  <a:pt x="1847081" y="1379995"/>
                </a:lnTo>
                <a:lnTo>
                  <a:pt x="1873766" y="1332059"/>
                </a:lnTo>
                <a:lnTo>
                  <a:pt x="1900054" y="1284254"/>
                </a:lnTo>
                <a:lnTo>
                  <a:pt x="1925961" y="1236626"/>
                </a:lnTo>
                <a:lnTo>
                  <a:pt x="1951506" y="1189221"/>
                </a:lnTo>
                <a:lnTo>
                  <a:pt x="1976706" y="1142083"/>
                </a:lnTo>
                <a:lnTo>
                  <a:pt x="2001577" y="1095260"/>
                </a:lnTo>
                <a:lnTo>
                  <a:pt x="2026138" y="1048797"/>
                </a:lnTo>
                <a:lnTo>
                  <a:pt x="2050406" y="1002739"/>
                </a:lnTo>
                <a:lnTo>
                  <a:pt x="2074398" y="957132"/>
                </a:lnTo>
                <a:lnTo>
                  <a:pt x="2098131" y="912021"/>
                </a:lnTo>
                <a:lnTo>
                  <a:pt x="2121623" y="867453"/>
                </a:lnTo>
                <a:lnTo>
                  <a:pt x="2144892" y="823474"/>
                </a:lnTo>
                <a:lnTo>
                  <a:pt x="2167954" y="780128"/>
                </a:lnTo>
                <a:lnTo>
                  <a:pt x="2190827" y="737461"/>
                </a:lnTo>
                <a:lnTo>
                  <a:pt x="2213528" y="695520"/>
                </a:lnTo>
                <a:lnTo>
                  <a:pt x="2236075" y="654349"/>
                </a:lnTo>
                <a:lnTo>
                  <a:pt x="2258485" y="613995"/>
                </a:lnTo>
                <a:lnTo>
                  <a:pt x="2280776" y="574503"/>
                </a:lnTo>
                <a:lnTo>
                  <a:pt x="2302964" y="535919"/>
                </a:lnTo>
                <a:lnTo>
                  <a:pt x="2325068" y="498288"/>
                </a:lnTo>
                <a:lnTo>
                  <a:pt x="2347104" y="461657"/>
                </a:lnTo>
                <a:lnTo>
                  <a:pt x="2369090" y="426071"/>
                </a:lnTo>
                <a:lnTo>
                  <a:pt x="2391043" y="391575"/>
                </a:lnTo>
                <a:lnTo>
                  <a:pt x="2412981" y="358216"/>
                </a:lnTo>
                <a:lnTo>
                  <a:pt x="2434920" y="326038"/>
                </a:lnTo>
                <a:lnTo>
                  <a:pt x="2478875" y="265412"/>
                </a:lnTo>
                <a:lnTo>
                  <a:pt x="2523047" y="210062"/>
                </a:lnTo>
                <a:lnTo>
                  <a:pt x="2567574" y="160353"/>
                </a:lnTo>
                <a:lnTo>
                  <a:pt x="2612594" y="116651"/>
                </a:lnTo>
                <a:lnTo>
                  <a:pt x="2658249" y="79322"/>
                </a:lnTo>
                <a:lnTo>
                  <a:pt x="2704675" y="48731"/>
                </a:lnTo>
                <a:lnTo>
                  <a:pt x="2752012" y="25243"/>
                </a:lnTo>
                <a:lnTo>
                  <a:pt x="2800399" y="9224"/>
                </a:lnTo>
                <a:lnTo>
                  <a:pt x="2849975" y="1040"/>
                </a:lnTo>
                <a:lnTo>
                  <a:pt x="2875252" y="0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29951" y="3115088"/>
            <a:ext cx="2875280" cy="2723515"/>
          </a:xfrm>
          <a:custGeom>
            <a:avLst/>
            <a:gdLst/>
            <a:ahLst/>
            <a:cxnLst/>
            <a:rect l="l" t="t" r="r" b="b"/>
            <a:pathLst>
              <a:path w="2875279" h="2723515">
                <a:moveTo>
                  <a:pt x="2875252" y="2723498"/>
                </a:moveTo>
                <a:lnTo>
                  <a:pt x="2432789" y="2722499"/>
                </a:lnTo>
                <a:lnTo>
                  <a:pt x="2168186" y="2685899"/>
                </a:lnTo>
                <a:lnTo>
                  <a:pt x="1976038" y="2581060"/>
                </a:lnTo>
                <a:lnTo>
                  <a:pt x="1750941" y="2375341"/>
                </a:lnTo>
                <a:lnTo>
                  <a:pt x="1711119" y="2336075"/>
                </a:lnTo>
                <a:lnTo>
                  <a:pt x="1672076" y="2295935"/>
                </a:lnTo>
                <a:lnTo>
                  <a:pt x="1633795" y="2254966"/>
                </a:lnTo>
                <a:lnTo>
                  <a:pt x="1596260" y="2213216"/>
                </a:lnTo>
                <a:lnTo>
                  <a:pt x="1559451" y="2170729"/>
                </a:lnTo>
                <a:lnTo>
                  <a:pt x="1523353" y="2127550"/>
                </a:lnTo>
                <a:lnTo>
                  <a:pt x="1487947" y="2083727"/>
                </a:lnTo>
                <a:lnTo>
                  <a:pt x="1453217" y="2039304"/>
                </a:lnTo>
                <a:lnTo>
                  <a:pt x="1419144" y="1994326"/>
                </a:lnTo>
                <a:lnTo>
                  <a:pt x="1385712" y="1948841"/>
                </a:lnTo>
                <a:lnTo>
                  <a:pt x="1352903" y="1902893"/>
                </a:lnTo>
                <a:lnTo>
                  <a:pt x="1320700" y="1856528"/>
                </a:lnTo>
                <a:lnTo>
                  <a:pt x="1289086" y="1809791"/>
                </a:lnTo>
                <a:lnTo>
                  <a:pt x="1258042" y="1762729"/>
                </a:lnTo>
                <a:lnTo>
                  <a:pt x="1227553" y="1715387"/>
                </a:lnTo>
                <a:lnTo>
                  <a:pt x="1197599" y="1667811"/>
                </a:lnTo>
                <a:lnTo>
                  <a:pt x="1168165" y="1620047"/>
                </a:lnTo>
                <a:lnTo>
                  <a:pt x="1139232" y="1572140"/>
                </a:lnTo>
                <a:lnTo>
                  <a:pt x="1110784" y="1524135"/>
                </a:lnTo>
                <a:lnTo>
                  <a:pt x="1082802" y="1476079"/>
                </a:lnTo>
                <a:lnTo>
                  <a:pt x="1055270" y="1428017"/>
                </a:lnTo>
                <a:lnTo>
                  <a:pt x="1028171" y="1379995"/>
                </a:lnTo>
                <a:lnTo>
                  <a:pt x="1001486" y="1332059"/>
                </a:lnTo>
                <a:lnTo>
                  <a:pt x="975198" y="1284254"/>
                </a:lnTo>
                <a:lnTo>
                  <a:pt x="949290" y="1236626"/>
                </a:lnTo>
                <a:lnTo>
                  <a:pt x="923746" y="1189221"/>
                </a:lnTo>
                <a:lnTo>
                  <a:pt x="898546" y="1142083"/>
                </a:lnTo>
                <a:lnTo>
                  <a:pt x="873674" y="1095260"/>
                </a:lnTo>
                <a:lnTo>
                  <a:pt x="849114" y="1048797"/>
                </a:lnTo>
                <a:lnTo>
                  <a:pt x="824846" y="1002739"/>
                </a:lnTo>
                <a:lnTo>
                  <a:pt x="800854" y="957132"/>
                </a:lnTo>
                <a:lnTo>
                  <a:pt x="777121" y="912021"/>
                </a:lnTo>
                <a:lnTo>
                  <a:pt x="753628" y="867453"/>
                </a:lnTo>
                <a:lnTo>
                  <a:pt x="730360" y="823474"/>
                </a:lnTo>
                <a:lnTo>
                  <a:pt x="707298" y="780128"/>
                </a:lnTo>
                <a:lnTo>
                  <a:pt x="684425" y="737461"/>
                </a:lnTo>
                <a:lnTo>
                  <a:pt x="661724" y="695520"/>
                </a:lnTo>
                <a:lnTo>
                  <a:pt x="639176" y="654349"/>
                </a:lnTo>
                <a:lnTo>
                  <a:pt x="616766" y="613995"/>
                </a:lnTo>
                <a:lnTo>
                  <a:pt x="594476" y="574503"/>
                </a:lnTo>
                <a:lnTo>
                  <a:pt x="572288" y="535919"/>
                </a:lnTo>
                <a:lnTo>
                  <a:pt x="550184" y="498288"/>
                </a:lnTo>
                <a:lnTo>
                  <a:pt x="528148" y="461657"/>
                </a:lnTo>
                <a:lnTo>
                  <a:pt x="506162" y="426071"/>
                </a:lnTo>
                <a:lnTo>
                  <a:pt x="484209" y="391575"/>
                </a:lnTo>
                <a:lnTo>
                  <a:pt x="462271" y="358216"/>
                </a:lnTo>
                <a:lnTo>
                  <a:pt x="440331" y="326038"/>
                </a:lnTo>
                <a:lnTo>
                  <a:pt x="396376" y="265412"/>
                </a:lnTo>
                <a:lnTo>
                  <a:pt x="352205" y="210062"/>
                </a:lnTo>
                <a:lnTo>
                  <a:pt x="307678" y="160353"/>
                </a:lnTo>
                <a:lnTo>
                  <a:pt x="262657" y="116651"/>
                </a:lnTo>
                <a:lnTo>
                  <a:pt x="217003" y="79322"/>
                </a:lnTo>
                <a:lnTo>
                  <a:pt x="170577" y="48731"/>
                </a:lnTo>
                <a:lnTo>
                  <a:pt x="123240" y="25243"/>
                </a:lnTo>
                <a:lnTo>
                  <a:pt x="74853" y="9224"/>
                </a:lnTo>
                <a:lnTo>
                  <a:pt x="25277" y="1040"/>
                </a:lnTo>
                <a:lnTo>
                  <a:pt x="0" y="0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406104" y="4315021"/>
            <a:ext cx="10474325" cy="46926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3239135" algn="ctr">
              <a:lnSpc>
                <a:spcPct val="100000"/>
              </a:lnSpc>
              <a:spcBef>
                <a:spcPts val="120"/>
              </a:spcBef>
            </a:pPr>
            <a:r>
              <a:rPr sz="2450" spc="-114" dirty="0">
                <a:solidFill>
                  <a:srgbClr val="1E1E1E"/>
                </a:solidFill>
                <a:latin typeface="Arial"/>
                <a:cs typeface="Arial"/>
              </a:rPr>
              <a:t>34,1%</a:t>
            </a:r>
            <a:r>
              <a:rPr sz="2450" spc="-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2450" spc="-140" dirty="0">
                <a:solidFill>
                  <a:srgbClr val="1E1E1E"/>
                </a:solidFill>
                <a:latin typeface="Arial"/>
                <a:cs typeface="Arial"/>
              </a:rPr>
              <a:t>34,1%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 marR="3124835" algn="ctr">
              <a:lnSpc>
                <a:spcPct val="100000"/>
              </a:lnSpc>
              <a:spcBef>
                <a:spcPts val="2155"/>
              </a:spcBef>
              <a:tabLst>
                <a:tab pos="4013200" algn="l"/>
                <a:tab pos="4987925" algn="l"/>
              </a:tabLst>
            </a:pPr>
            <a:r>
              <a:rPr sz="3675" spc="-209" baseline="26077" dirty="0">
                <a:solidFill>
                  <a:srgbClr val="1E1E1E"/>
                </a:solidFill>
                <a:latin typeface="Arial"/>
                <a:cs typeface="Arial"/>
              </a:rPr>
              <a:t>0,1%</a:t>
            </a:r>
            <a:r>
              <a:rPr sz="3675" spc="450" baseline="26077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675" spc="-172" baseline="51020" dirty="0">
                <a:solidFill>
                  <a:srgbClr val="1E1E1E"/>
                </a:solidFill>
                <a:latin typeface="Arial"/>
                <a:cs typeface="Arial"/>
              </a:rPr>
              <a:t>2,1%</a:t>
            </a:r>
            <a:r>
              <a:rPr sz="2450" spc="-114" dirty="0">
                <a:solidFill>
                  <a:srgbClr val="1E1E1E"/>
                </a:solidFill>
                <a:latin typeface="Arial"/>
                <a:cs typeface="Arial"/>
              </a:rPr>
              <a:t>13,6%	13,6%	</a:t>
            </a:r>
            <a:r>
              <a:rPr sz="3675" spc="-209" baseline="51020" dirty="0">
                <a:solidFill>
                  <a:srgbClr val="1E1E1E"/>
                </a:solidFill>
                <a:latin typeface="Arial"/>
                <a:cs typeface="Arial"/>
              </a:rPr>
              <a:t>2,1%</a:t>
            </a:r>
            <a:r>
              <a:rPr sz="3675" spc="89" baseline="510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675" spc="-254" baseline="26077" dirty="0">
                <a:solidFill>
                  <a:srgbClr val="1E1E1E"/>
                </a:solidFill>
                <a:latin typeface="Arial"/>
                <a:cs typeface="Arial"/>
              </a:rPr>
              <a:t>0,1%</a:t>
            </a:r>
            <a:endParaRPr sz="3675" baseline="26077">
              <a:latin typeface="Arial"/>
              <a:cs typeface="Arial"/>
            </a:endParaRPr>
          </a:p>
          <a:p>
            <a:pPr marR="3313429" algn="ctr">
              <a:lnSpc>
                <a:spcPct val="100000"/>
              </a:lnSpc>
              <a:spcBef>
                <a:spcPts val="1270"/>
              </a:spcBef>
              <a:tabLst>
                <a:tab pos="870585" algn="l"/>
                <a:tab pos="1741805" algn="l"/>
                <a:tab pos="2811780" algn="l"/>
                <a:tab pos="3597910" algn="l"/>
                <a:tab pos="4479925" algn="l"/>
                <a:tab pos="5349875" algn="l"/>
              </a:tabLst>
            </a:pPr>
            <a:r>
              <a:rPr sz="2450" spc="-90" dirty="0">
                <a:solidFill>
                  <a:srgbClr val="1E1E1E"/>
                </a:solidFill>
                <a:latin typeface="Arial"/>
                <a:cs typeface="Arial"/>
              </a:rPr>
              <a:t>−3</a:t>
            </a:r>
            <a:r>
              <a:rPr sz="2450" b="1" i="1" spc="-90" dirty="0">
                <a:solidFill>
                  <a:srgbClr val="1E1E1E"/>
                </a:solidFill>
                <a:latin typeface="Verdana"/>
                <a:cs typeface="Verdana"/>
              </a:rPr>
              <a:t>σ	</a:t>
            </a:r>
            <a:r>
              <a:rPr sz="2450" spc="-90" dirty="0">
                <a:solidFill>
                  <a:srgbClr val="1E1E1E"/>
                </a:solidFill>
                <a:latin typeface="Arial"/>
                <a:cs typeface="Arial"/>
              </a:rPr>
              <a:t>−2</a:t>
            </a:r>
            <a:r>
              <a:rPr sz="2450" b="1" i="1" spc="-90" dirty="0">
                <a:solidFill>
                  <a:srgbClr val="1E1E1E"/>
                </a:solidFill>
                <a:latin typeface="Verdana"/>
                <a:cs typeface="Verdana"/>
              </a:rPr>
              <a:t>σ	</a:t>
            </a:r>
            <a:r>
              <a:rPr sz="2450" spc="-90" dirty="0">
                <a:solidFill>
                  <a:srgbClr val="1E1E1E"/>
                </a:solidFill>
                <a:latin typeface="Arial"/>
                <a:cs typeface="Arial"/>
              </a:rPr>
              <a:t>−1</a:t>
            </a:r>
            <a:r>
              <a:rPr sz="2450" b="1" i="1" spc="-90" dirty="0">
                <a:solidFill>
                  <a:srgbClr val="1E1E1E"/>
                </a:solidFill>
                <a:latin typeface="Verdana"/>
                <a:cs typeface="Verdana"/>
              </a:rPr>
              <a:t>σ	</a:t>
            </a:r>
            <a:r>
              <a:rPr sz="2450" spc="120" dirty="0">
                <a:solidFill>
                  <a:srgbClr val="1E1E1E"/>
                </a:solidFill>
                <a:latin typeface="Arial"/>
                <a:cs typeface="Arial"/>
              </a:rPr>
              <a:t>0	</a:t>
            </a:r>
            <a:r>
              <a:rPr sz="2450" spc="-130" dirty="0">
                <a:solidFill>
                  <a:srgbClr val="1E1E1E"/>
                </a:solidFill>
                <a:latin typeface="Arial"/>
                <a:cs typeface="Arial"/>
              </a:rPr>
              <a:t>1</a:t>
            </a:r>
            <a:r>
              <a:rPr sz="2450" b="1" i="1" spc="-130" dirty="0">
                <a:solidFill>
                  <a:srgbClr val="1E1E1E"/>
                </a:solidFill>
                <a:latin typeface="Verdana"/>
                <a:cs typeface="Verdana"/>
              </a:rPr>
              <a:t>σ	</a:t>
            </a:r>
            <a:r>
              <a:rPr sz="2450" spc="-130" dirty="0">
                <a:solidFill>
                  <a:srgbClr val="1E1E1E"/>
                </a:solidFill>
                <a:latin typeface="Arial"/>
                <a:cs typeface="Arial"/>
              </a:rPr>
              <a:t>2</a:t>
            </a:r>
            <a:r>
              <a:rPr sz="2450" b="1" i="1" spc="-130" dirty="0">
                <a:solidFill>
                  <a:srgbClr val="1E1E1E"/>
                </a:solidFill>
                <a:latin typeface="Verdana"/>
                <a:cs typeface="Verdana"/>
              </a:rPr>
              <a:t>σ	</a:t>
            </a:r>
            <a:r>
              <a:rPr sz="2450" spc="-130" dirty="0">
                <a:solidFill>
                  <a:srgbClr val="1E1E1E"/>
                </a:solidFill>
                <a:latin typeface="Arial"/>
                <a:cs typeface="Arial"/>
              </a:rPr>
              <a:t>3</a:t>
            </a:r>
            <a:r>
              <a:rPr sz="2450" b="1" i="1" spc="-13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endParaRPr sz="24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86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  <a:tab pos="8117205" algn="l"/>
              </a:tabLst>
            </a:pP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Около 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68%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площади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лежит</a:t>
            </a:r>
            <a:r>
              <a:rPr sz="3300" spc="52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r>
              <a:rPr sz="3300" spc="6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пределах	</a:t>
            </a:r>
            <a:r>
              <a:rPr sz="3300" b="1" spc="-61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15" dirty="0">
                <a:solidFill>
                  <a:srgbClr val="1E1E1E"/>
                </a:solidFill>
                <a:latin typeface="Verdana"/>
                <a:cs typeface="Verdana"/>
              </a:rPr>
              <a:t>µ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425" dirty="0">
                <a:solidFill>
                  <a:srgbClr val="1E1E1E"/>
                </a:solidFill>
                <a:latin typeface="Verdana"/>
                <a:cs typeface="Verdana"/>
              </a:rPr>
              <a:t>σ, 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µ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8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9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spc="-495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3300" spc="-495" dirty="0">
                <a:solidFill>
                  <a:srgbClr val="1E1E1E"/>
                </a:solidFill>
                <a:latin typeface="Arial"/>
                <a:cs typeface="Arial"/>
              </a:rPr>
              <a:t>;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Около </a:t>
            </a:r>
            <a:r>
              <a:rPr sz="3300" spc="-195" dirty="0">
                <a:solidFill>
                  <a:srgbClr val="1E1E1E"/>
                </a:solidFill>
                <a:latin typeface="Arial"/>
                <a:cs typeface="Arial"/>
              </a:rPr>
              <a:t>95%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b="1" spc="-61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15" dirty="0">
                <a:solidFill>
                  <a:srgbClr val="1E1E1E"/>
                </a:solidFill>
                <a:latin typeface="Verdana"/>
                <a:cs typeface="Verdana"/>
              </a:rPr>
              <a:t>µ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48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i="1" spc="-48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spc="-48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µ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spc="-84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0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i="1" spc="-50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spc="-50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3300" spc="-500" dirty="0">
                <a:solidFill>
                  <a:srgbClr val="1E1E1E"/>
                </a:solidFill>
                <a:latin typeface="Arial"/>
                <a:cs typeface="Arial"/>
              </a:rPr>
              <a:t>;</a:t>
            </a:r>
            <a:endParaRPr sz="3300"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Более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99%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b="1" spc="-61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15" dirty="0">
                <a:solidFill>
                  <a:srgbClr val="1E1E1E"/>
                </a:solidFill>
                <a:latin typeface="Verdana"/>
                <a:cs typeface="Verdana"/>
              </a:rPr>
              <a:t>µ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µ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spc="-7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00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r>
              <a:rPr sz="3300" b="1" i="1" spc="-50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spc="-50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3300" spc="-50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06356" y="5638079"/>
            <a:ext cx="0" cy="337185"/>
          </a:xfrm>
          <a:custGeom>
            <a:avLst/>
            <a:gdLst/>
            <a:ahLst/>
            <a:cxnLst/>
            <a:rect l="l" t="t" r="r" b="b"/>
            <a:pathLst>
              <a:path h="337185">
                <a:moveTo>
                  <a:pt x="0" y="0"/>
                </a:moveTo>
                <a:lnTo>
                  <a:pt x="0" y="33661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154384" y="5647492"/>
            <a:ext cx="0" cy="222250"/>
          </a:xfrm>
          <a:custGeom>
            <a:avLst/>
            <a:gdLst/>
            <a:ahLst/>
            <a:cxnLst/>
            <a:rect l="l" t="t" r="r" b="b"/>
            <a:pathLst>
              <a:path h="222250">
                <a:moveTo>
                  <a:pt x="0" y="0"/>
                </a:moveTo>
                <a:lnTo>
                  <a:pt x="0" y="221972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37</a:t>
            </a:fld>
            <a:endParaRPr spc="-37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994156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Центральная </a:t>
            </a:r>
            <a:r>
              <a:rPr spc="-290" dirty="0"/>
              <a:t>предельная</a:t>
            </a:r>
            <a:r>
              <a:rPr dirty="0"/>
              <a:t> </a:t>
            </a:r>
            <a:r>
              <a:rPr spc="-220" dirty="0"/>
              <a:t>теорема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38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0847705" cy="2035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235" dirty="0">
                <a:solidFill>
                  <a:srgbClr val="1E1E1E"/>
                </a:solidFill>
                <a:latin typeface="Arial"/>
                <a:cs typeface="Arial"/>
              </a:rPr>
              <a:t>Если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случайная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величина 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представляет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собой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сумму 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достаточно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большого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независимых случайных 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величин,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влияние </a:t>
            </a: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каждой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из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которых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на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всю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сумму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мало,  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то 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имеет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распределение,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близкое </a:t>
            </a:r>
            <a:r>
              <a:rPr sz="3300" spc="130" dirty="0">
                <a:solidFill>
                  <a:srgbClr val="1E1E1E"/>
                </a:solidFill>
                <a:latin typeface="Arial"/>
                <a:cs typeface="Arial"/>
              </a:rPr>
              <a:t>к</a:t>
            </a:r>
            <a:r>
              <a:rPr sz="3300" spc="5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нормальному.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547306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5" dirty="0"/>
              <a:t>Задачи</a:t>
            </a:r>
            <a:r>
              <a:rPr spc="-120" dirty="0"/>
              <a:t> </a:t>
            </a:r>
            <a:r>
              <a:rPr spc="-229" dirty="0"/>
              <a:t>статистики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39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11163935" cy="454914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Имеется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случайная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величина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доступная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через</a:t>
            </a:r>
            <a:r>
              <a:rPr sz="3300" spc="45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наблюдения.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Собирать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данные.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Структурировать.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Представлять.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Анализировать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параметры.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Предсказывать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будущее</a:t>
            </a:r>
            <a:r>
              <a:rPr sz="3300" spc="1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поведение.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89914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0" dirty="0"/>
              <a:t>Генеральная </a:t>
            </a:r>
            <a:r>
              <a:rPr spc="-325" dirty="0"/>
              <a:t>совокупность </a:t>
            </a:r>
            <a:r>
              <a:rPr spc="-200" dirty="0"/>
              <a:t>и</a:t>
            </a:r>
            <a:r>
              <a:rPr spc="335" dirty="0"/>
              <a:t> </a:t>
            </a:r>
            <a:r>
              <a:rPr spc="-260" dirty="0"/>
              <a:t>выборка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40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9607550" cy="4800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marR="5080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Char char="•"/>
              <a:tabLst>
                <a:tab pos="514984" algn="l"/>
                <a:tab pos="515620" algn="l"/>
              </a:tabLst>
            </a:pPr>
            <a:r>
              <a:rPr sz="3300" b="1" spc="-190" dirty="0">
                <a:solidFill>
                  <a:srgbClr val="1E1E1E"/>
                </a:solidFill>
                <a:latin typeface="Arial"/>
                <a:cs typeface="Arial"/>
              </a:rPr>
              <a:t>Генеральная </a:t>
            </a:r>
            <a:r>
              <a:rPr sz="3300" b="1" spc="-185" dirty="0">
                <a:solidFill>
                  <a:srgbClr val="1E1E1E"/>
                </a:solidFill>
                <a:latin typeface="Arial"/>
                <a:cs typeface="Arial"/>
              </a:rPr>
              <a:t>совокупност</a:t>
            </a:r>
            <a:r>
              <a:rPr sz="3300" spc="-185" dirty="0">
                <a:solidFill>
                  <a:srgbClr val="1E1E1E"/>
                </a:solidFill>
                <a:latin typeface="Arial"/>
                <a:cs typeface="Arial"/>
              </a:rPr>
              <a:t>ь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точное</a:t>
            </a:r>
            <a:r>
              <a:rPr sz="3300" spc="-1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поведение 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прошлом и</a:t>
            </a:r>
            <a:r>
              <a:rPr sz="3300" spc="27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будущем.</a:t>
            </a:r>
            <a:endParaRPr sz="3300" dirty="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Char char="•"/>
              <a:tabLst>
                <a:tab pos="514984" algn="l"/>
                <a:tab pos="515620" algn="l"/>
              </a:tabLst>
            </a:pPr>
            <a:r>
              <a:rPr sz="3300" b="1" spc="-170" dirty="0">
                <a:solidFill>
                  <a:srgbClr val="1E1E1E"/>
                </a:solidFill>
                <a:latin typeface="Arial"/>
                <a:cs typeface="Arial"/>
              </a:rPr>
              <a:t>Выборка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отдельная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группа</a:t>
            </a:r>
            <a:r>
              <a:rPr sz="3300" spc="-21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наблюдений</a:t>
            </a:r>
            <a:endParaRPr sz="3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BDD9DE"/>
              </a:buClr>
              <a:buFont typeface="Arial"/>
              <a:buChar char="•"/>
            </a:pPr>
            <a:endParaRPr sz="3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300" b="1" spc="-165" dirty="0">
                <a:solidFill>
                  <a:srgbClr val="1E1E1E"/>
                </a:solidFill>
                <a:latin typeface="Arial"/>
                <a:cs typeface="Arial"/>
              </a:rPr>
              <a:t>Пример:</a:t>
            </a:r>
            <a:endParaRPr sz="3300" dirty="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Поведение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покупателей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r>
              <a:rPr sz="3300" spc="27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магазине.</a:t>
            </a:r>
            <a:endParaRPr sz="3300" dirty="0">
              <a:latin typeface="Arial"/>
              <a:cs typeface="Arial"/>
            </a:endParaRPr>
          </a:p>
          <a:p>
            <a:pPr marL="514984" marR="658495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Выборка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статистика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посещений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31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покупок 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группы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людей 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за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определенный</a:t>
            </a:r>
            <a:r>
              <a:rPr sz="3300" spc="3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период.</a:t>
            </a:r>
            <a:endParaRPr sz="33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988822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5" dirty="0"/>
              <a:t>Выборка </a:t>
            </a:r>
            <a:r>
              <a:rPr spc="125" dirty="0"/>
              <a:t>как </a:t>
            </a:r>
            <a:r>
              <a:rPr spc="-215" dirty="0"/>
              <a:t>случайная</a:t>
            </a:r>
            <a:r>
              <a:rPr spc="-110" dirty="0"/>
              <a:t> </a:t>
            </a:r>
            <a:r>
              <a:rPr spc="-290" dirty="0"/>
              <a:t>величина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10938510" cy="153352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Каждое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наблюдение </a:t>
            </a:r>
            <a:r>
              <a:rPr sz="3300" spc="50" dirty="0">
                <a:solidFill>
                  <a:srgbClr val="1E1E1E"/>
                </a:solidFill>
                <a:latin typeface="Arial"/>
                <a:cs typeface="Arial"/>
              </a:rPr>
              <a:t>как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случайная</a:t>
            </a:r>
            <a:r>
              <a:rPr sz="3300" spc="1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величина.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Выборка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набор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случайных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величин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заданной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длины.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104" y="5966175"/>
            <a:ext cx="45161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Среднее </a:t>
            </a: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по</a:t>
            </a:r>
            <a:r>
              <a:rPr sz="3300" spc="1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выборке.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18804" y="5408212"/>
            <a:ext cx="11174095" cy="0"/>
          </a:xfrm>
          <a:custGeom>
            <a:avLst/>
            <a:gdLst/>
            <a:ahLst/>
            <a:cxnLst/>
            <a:rect l="l" t="t" r="r" b="b"/>
            <a:pathLst>
              <a:path w="11174095">
                <a:moveTo>
                  <a:pt x="0" y="0"/>
                </a:moveTo>
                <a:lnTo>
                  <a:pt x="11173481" y="0"/>
                </a:lnTo>
              </a:path>
            </a:pathLst>
          </a:custGeom>
          <a:ln w="31412">
            <a:solidFill>
              <a:srgbClr val="BDD9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41</a:t>
            </a:fld>
            <a:endParaRPr spc="-37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847330" cy="1512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855"/>
              </a:lnSpc>
              <a:spcBef>
                <a:spcPts val="95"/>
              </a:spcBef>
            </a:pPr>
            <a:r>
              <a:rPr spc="-330" dirty="0"/>
              <a:t>Точечная</a:t>
            </a:r>
            <a:r>
              <a:rPr spc="-85" dirty="0"/>
              <a:t> </a:t>
            </a:r>
            <a:r>
              <a:rPr spc="-145" dirty="0"/>
              <a:t>оценка</a:t>
            </a:r>
          </a:p>
          <a:p>
            <a:pPr marL="12700">
              <a:lnSpc>
                <a:spcPts val="5855"/>
              </a:lnSpc>
            </a:pPr>
            <a:r>
              <a:rPr spc="-200" dirty="0"/>
              <a:t>и </a:t>
            </a:r>
            <a:r>
              <a:rPr spc="-370" dirty="0"/>
              <a:t>доверительный</a:t>
            </a:r>
            <a:r>
              <a:rPr spc="25" dirty="0"/>
              <a:t> </a:t>
            </a:r>
            <a:r>
              <a:rPr spc="-250" dirty="0"/>
              <a:t>интервал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42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10663555" cy="454914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Точечная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оценка.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ts val="396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Доверительный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интервал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оценивания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величины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3300">
              <a:latin typeface="Verdana"/>
              <a:cs typeface="Verdana"/>
            </a:endParaRPr>
          </a:p>
          <a:p>
            <a:pPr marL="514984">
              <a:lnSpc>
                <a:spcPts val="3960"/>
              </a:lnSpc>
            </a:pP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вероятности</a:t>
            </a:r>
            <a:r>
              <a:rPr sz="3300" spc="1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2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spc="-320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marR="60325" algn="ctr">
              <a:lnSpc>
                <a:spcPct val="100000"/>
              </a:lnSpc>
            </a:pPr>
            <a:r>
              <a:rPr sz="3300" b="1" spc="-54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54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67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67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: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 </a:t>
            </a:r>
            <a:r>
              <a:rPr sz="3300" b="1" spc="-62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2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≤ 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≤ </a:t>
            </a: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66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7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marL="514984" indent="-502284">
              <a:lnSpc>
                <a:spcPts val="3960"/>
              </a:lnSpc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Искомая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величина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лежит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интервале </a:t>
            </a:r>
            <a:r>
              <a:rPr sz="3300" b="1" spc="-54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540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spc="-4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75" dirty="0">
                <a:solidFill>
                  <a:srgbClr val="1E1E1E"/>
                </a:solidFill>
                <a:latin typeface="Verdana"/>
                <a:cs typeface="Verdana"/>
              </a:rPr>
              <a:t>b</a:t>
            </a:r>
            <a:r>
              <a:rPr sz="3300" b="1" spc="-675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3300">
              <a:latin typeface="Verdana"/>
              <a:cs typeface="Verdana"/>
            </a:endParaRPr>
          </a:p>
          <a:p>
            <a:pPr marL="514984">
              <a:lnSpc>
                <a:spcPts val="3960"/>
              </a:lnSpc>
            </a:pP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с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заданной</a:t>
            </a:r>
            <a:r>
              <a:rPr sz="3300" spc="2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вероятностью.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278828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Квантиль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43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000" y="3453163"/>
            <a:ext cx="10812780" cy="3292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105" dirty="0">
                <a:solidFill>
                  <a:srgbClr val="1E1E1E"/>
                </a:solidFill>
                <a:latin typeface="Verdana"/>
                <a:cs typeface="Verdana"/>
              </a:rPr>
              <a:t>α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-квантиль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это 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такое </a:t>
            </a:r>
            <a:r>
              <a:rPr sz="3300" b="1" i="1" spc="-31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472" baseline="-32163" dirty="0">
                <a:solidFill>
                  <a:srgbClr val="1E1E1E"/>
                </a:solidFill>
                <a:latin typeface="Verdana"/>
                <a:cs typeface="Verdana"/>
              </a:rPr>
              <a:t>α</a:t>
            </a:r>
            <a:r>
              <a:rPr sz="3300" spc="-315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r>
              <a:rPr sz="3300" spc="-229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что</a:t>
            </a:r>
            <a:endParaRPr sz="3300">
              <a:latin typeface="Arial"/>
              <a:cs typeface="Arial"/>
            </a:endParaRPr>
          </a:p>
          <a:p>
            <a:pPr marL="2734945">
              <a:lnSpc>
                <a:spcPct val="100000"/>
              </a:lnSpc>
              <a:spcBef>
                <a:spcPts val="3954"/>
              </a:spcBef>
              <a:tabLst>
                <a:tab pos="5233035" algn="l"/>
                <a:tab pos="5748020" algn="l"/>
              </a:tabLst>
            </a:pP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 </a:t>
            </a:r>
            <a:r>
              <a:rPr sz="3300" b="1" spc="-68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80" dirty="0">
                <a:solidFill>
                  <a:srgbClr val="1E1E1E"/>
                </a:solidFill>
                <a:latin typeface="Verdana"/>
                <a:cs typeface="Verdana"/>
              </a:rPr>
              <a:t>X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≤   </a:t>
            </a:r>
            <a:r>
              <a:rPr sz="3300" b="1" i="1" spc="-53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802" baseline="-32163" dirty="0">
                <a:solidFill>
                  <a:srgbClr val="1E1E1E"/>
                </a:solidFill>
                <a:latin typeface="Verdana"/>
                <a:cs typeface="Verdana"/>
              </a:rPr>
              <a:t>α</a:t>
            </a:r>
            <a:r>
              <a:rPr sz="3300" b="1" spc="-53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6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α	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	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 </a:t>
            </a:r>
            <a:r>
              <a:rPr sz="3300" b="1" spc="-68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8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53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802" baseline="-32163" dirty="0">
                <a:solidFill>
                  <a:srgbClr val="1E1E1E"/>
                </a:solidFill>
                <a:latin typeface="Verdana"/>
                <a:cs typeface="Verdana"/>
              </a:rPr>
              <a:t>α</a:t>
            </a:r>
            <a:r>
              <a:rPr sz="3300" b="1" spc="-535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i="1" spc="-8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α</a:t>
            </a:r>
            <a:endParaRPr sz="330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3954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Пропорциональная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α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доля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выборки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лежит не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выше</a:t>
            </a:r>
            <a:r>
              <a:rPr sz="3300" spc="17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1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472" baseline="-32163" dirty="0">
                <a:solidFill>
                  <a:srgbClr val="1E1E1E"/>
                </a:solidFill>
                <a:latin typeface="Verdana"/>
                <a:cs typeface="Verdana"/>
              </a:rPr>
              <a:t>α</a:t>
            </a:r>
            <a:r>
              <a:rPr sz="3300" spc="-315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20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spc="-200" dirty="0">
                <a:solidFill>
                  <a:srgbClr val="1E1E1E"/>
                </a:solidFill>
                <a:latin typeface="Arial"/>
                <a:cs typeface="Arial"/>
              </a:rPr>
              <a:t>-тая </a:t>
            </a:r>
            <a:r>
              <a:rPr sz="3300" b="1" i="1" spc="-135" dirty="0">
                <a:solidFill>
                  <a:srgbClr val="1E1E1E"/>
                </a:solidFill>
                <a:latin typeface="Verdana"/>
                <a:cs typeface="Verdana"/>
              </a:rPr>
              <a:t>q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-вантиль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это</a:t>
            </a:r>
            <a:r>
              <a:rPr sz="4950" u="heavy" spc="-150" baseline="29461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Arial"/>
                <a:cs typeface="Arial"/>
              </a:rPr>
              <a:t> </a:t>
            </a:r>
            <a:r>
              <a:rPr sz="4950" b="1" i="1" u="heavy" spc="-705" baseline="29461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k</a:t>
            </a:r>
            <a:r>
              <a:rPr sz="4950" b="1" i="1" spc="-427" baseline="29461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-квантиль.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6587" y="6385011"/>
            <a:ext cx="26035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q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9021" y="7725284"/>
            <a:ext cx="750315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99025" algn="l"/>
                <a:tab pos="5548630" algn="l"/>
              </a:tabLst>
            </a:pP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Например,</a:t>
            </a:r>
            <a:r>
              <a:rPr sz="3300" spc="5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перцентиль</a:t>
            </a:r>
            <a:r>
              <a:rPr sz="3300" spc="5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	</a:t>
            </a:r>
            <a:r>
              <a:rPr sz="4950" u="heavy" spc="960" baseline="26936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Arial"/>
                <a:cs typeface="Arial"/>
              </a:rPr>
              <a:t> </a:t>
            </a:r>
            <a:r>
              <a:rPr sz="4950" b="1" u="heavy" spc="-780" baseline="26936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	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-квантиль,</a:t>
            </a:r>
            <a:endParaRPr sz="3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09021" y="7751671"/>
            <a:ext cx="6770370" cy="1506855"/>
          </a:xfrm>
          <a:prstGeom prst="rect">
            <a:avLst/>
          </a:prstGeom>
        </p:spPr>
        <p:txBody>
          <a:bodyPr vert="horz" wrap="square" lIns="0" tIns="250190" rIns="0" bIns="0" rtlCol="0">
            <a:spAutoFit/>
          </a:bodyPr>
          <a:lstStyle/>
          <a:p>
            <a:pPr marR="1219835" algn="r">
              <a:lnSpc>
                <a:spcPct val="100000"/>
              </a:lnSpc>
              <a:spcBef>
                <a:spcPts val="1970"/>
              </a:spcBef>
            </a:pPr>
            <a:r>
              <a:rPr sz="3300" b="1" spc="-67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95-тая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перцентиль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</a:t>
            </a:r>
            <a:r>
              <a:rPr sz="3300" spc="2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195" dirty="0">
                <a:solidFill>
                  <a:srgbClr val="1E1E1E"/>
                </a:solidFill>
                <a:latin typeface="Verdana"/>
                <a:cs typeface="Verdana"/>
              </a:rPr>
              <a:t>0.95</a:t>
            </a:r>
            <a:r>
              <a:rPr sz="3300" spc="-195" dirty="0">
                <a:solidFill>
                  <a:srgbClr val="1E1E1E"/>
                </a:solidFill>
                <a:latin typeface="Arial"/>
                <a:cs typeface="Arial"/>
              </a:rPr>
              <a:t>-квантиль.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607314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0" dirty="0"/>
              <a:t>Квартили </a:t>
            </a:r>
            <a:r>
              <a:rPr spc="-200" dirty="0"/>
              <a:t>и</a:t>
            </a:r>
            <a:r>
              <a:rPr spc="-50" dirty="0"/>
              <a:t> </a:t>
            </a:r>
            <a:r>
              <a:rPr spc="-185" dirty="0"/>
              <a:t>медиана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7473983"/>
            <a:ext cx="5663565" cy="1820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Интерквартильный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размах.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BDD9DE"/>
              </a:buClr>
              <a:buFont typeface="Arial"/>
              <a:buChar char="•"/>
            </a:pPr>
            <a:endParaRPr sz="51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5"/>
              </a:spcBef>
              <a:buClr>
                <a:srgbClr val="BDD9DE"/>
              </a:buClr>
              <a:tabLst>
                <a:tab pos="514984" algn="l"/>
                <a:tab pos="515620" algn="l"/>
              </a:tabLst>
            </a:pP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104" y="3453163"/>
            <a:ext cx="51161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  <a:tab pos="2965450" algn="l"/>
              </a:tabLst>
            </a:pP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Медиана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	</a:t>
            </a:r>
            <a:r>
              <a:rPr sz="4950" b="1" u="heavy" spc="-780" baseline="27777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4950" b="1" spc="-839" baseline="27777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-квантиль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8707" y="3712422"/>
            <a:ext cx="3575685" cy="512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871219" algn="r">
              <a:lnSpc>
                <a:spcPts val="3925"/>
              </a:lnSpc>
              <a:spcBef>
                <a:spcPts val="95"/>
              </a:spcBef>
            </a:pPr>
            <a:r>
              <a:rPr sz="3300" b="1" spc="-52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lang="ru-RU" sz="3300" b="1" spc="-520" dirty="0">
              <a:solidFill>
                <a:srgbClr val="1E1E1E"/>
              </a:solidFill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6104" y="5463573"/>
            <a:ext cx="51092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  <a:tab pos="2965450" algn="l"/>
              </a:tabLst>
            </a:pP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Квартиль</a:t>
            </a:r>
            <a:r>
              <a:rPr sz="3300" spc="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	</a:t>
            </a:r>
            <a:r>
              <a:rPr sz="4950" b="1" u="heavy" spc="-780" baseline="26936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4950" b="1" spc="-914" baseline="26936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-квантиль</a:t>
            </a:r>
            <a:endParaRPr sz="3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8707" y="5725973"/>
            <a:ext cx="5462270" cy="1019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94640" algn="ctr">
              <a:lnSpc>
                <a:spcPts val="3915"/>
              </a:lnSpc>
              <a:spcBef>
                <a:spcPts val="95"/>
              </a:spcBef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4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15"/>
              </a:lnSpc>
            </a:pP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Вторая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квартиль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</a:t>
            </a:r>
            <a:r>
              <a:rPr sz="3300" spc="21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медиана.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32035" y="3484575"/>
            <a:ext cx="136207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265" dirty="0">
                <a:solidFill>
                  <a:srgbClr val="1E1E1E"/>
                </a:solidFill>
                <a:latin typeface="Arial"/>
                <a:cs typeface="Arial"/>
              </a:rPr>
              <a:t>Б</a:t>
            </a:r>
            <a:r>
              <a:rPr sz="2450" b="1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2450" b="1" spc="-90" dirty="0">
                <a:solidFill>
                  <a:srgbClr val="1E1E1E"/>
                </a:solidFill>
                <a:latin typeface="Arial"/>
                <a:cs typeface="Arial"/>
              </a:rPr>
              <a:t>к</a:t>
            </a:r>
            <a:r>
              <a:rPr sz="2450" b="1" spc="-260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2450" b="1" spc="-95" dirty="0">
                <a:solidFill>
                  <a:srgbClr val="1E1E1E"/>
                </a:solidFill>
                <a:latin typeface="Arial"/>
                <a:cs typeface="Arial"/>
              </a:rPr>
              <a:t>п</a:t>
            </a:r>
            <a:r>
              <a:rPr sz="2450" b="1" spc="-155" dirty="0">
                <a:solidFill>
                  <a:srgbClr val="1E1E1E"/>
                </a:solidFill>
                <a:latin typeface="Arial"/>
                <a:cs typeface="Arial"/>
              </a:rPr>
              <a:t>л</a:t>
            </a:r>
            <a:r>
              <a:rPr sz="2450" b="1" spc="-14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2450" b="1" spc="-75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endParaRPr sz="24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44735" y="4130764"/>
            <a:ext cx="9144000" cy="2385060"/>
          </a:xfrm>
          <a:custGeom>
            <a:avLst/>
            <a:gdLst/>
            <a:ahLst/>
            <a:cxnLst/>
            <a:rect l="l" t="t" r="r" b="b"/>
            <a:pathLst>
              <a:path w="9144000" h="2385059">
                <a:moveTo>
                  <a:pt x="0" y="2384744"/>
                </a:moveTo>
                <a:lnTo>
                  <a:pt x="9143700" y="2384744"/>
                </a:lnTo>
                <a:lnTo>
                  <a:pt x="9143700" y="0"/>
                </a:lnTo>
                <a:lnTo>
                  <a:pt x="0" y="0"/>
                </a:lnTo>
                <a:lnTo>
                  <a:pt x="0" y="2384744"/>
                </a:lnTo>
                <a:close/>
              </a:path>
            </a:pathLst>
          </a:custGeom>
          <a:solidFill>
            <a:srgbClr val="DEEC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44735" y="651027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70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039454" y="6447981"/>
            <a:ext cx="0" cy="130175"/>
          </a:xfrm>
          <a:custGeom>
            <a:avLst/>
            <a:gdLst/>
            <a:ahLst/>
            <a:cxnLst/>
            <a:rect l="l" t="t" r="r" b="b"/>
            <a:pathLst>
              <a:path h="130175">
                <a:moveTo>
                  <a:pt x="0" y="0"/>
                </a:moveTo>
                <a:lnTo>
                  <a:pt x="0" y="12981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778638" y="6447981"/>
            <a:ext cx="0" cy="130175"/>
          </a:xfrm>
          <a:custGeom>
            <a:avLst/>
            <a:gdLst/>
            <a:ahLst/>
            <a:cxnLst/>
            <a:rect l="l" t="t" r="r" b="b"/>
            <a:pathLst>
              <a:path h="130175">
                <a:moveTo>
                  <a:pt x="0" y="0"/>
                </a:moveTo>
                <a:lnTo>
                  <a:pt x="0" y="12981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148230" y="6447981"/>
            <a:ext cx="0" cy="130175"/>
          </a:xfrm>
          <a:custGeom>
            <a:avLst/>
            <a:gdLst/>
            <a:ahLst/>
            <a:cxnLst/>
            <a:rect l="l" t="t" r="r" b="b"/>
            <a:pathLst>
              <a:path h="130175">
                <a:moveTo>
                  <a:pt x="0" y="0"/>
                </a:moveTo>
                <a:lnTo>
                  <a:pt x="0" y="12981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517821" y="6447981"/>
            <a:ext cx="0" cy="130175"/>
          </a:xfrm>
          <a:custGeom>
            <a:avLst/>
            <a:gdLst/>
            <a:ahLst/>
            <a:cxnLst/>
            <a:rect l="l" t="t" r="r" b="b"/>
            <a:pathLst>
              <a:path h="130175">
                <a:moveTo>
                  <a:pt x="0" y="0"/>
                </a:moveTo>
                <a:lnTo>
                  <a:pt x="0" y="12981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887413" y="6447981"/>
            <a:ext cx="0" cy="130175"/>
          </a:xfrm>
          <a:custGeom>
            <a:avLst/>
            <a:gdLst/>
            <a:ahLst/>
            <a:cxnLst/>
            <a:rect l="l" t="t" r="r" b="b"/>
            <a:pathLst>
              <a:path h="130175">
                <a:moveTo>
                  <a:pt x="0" y="0"/>
                </a:moveTo>
                <a:lnTo>
                  <a:pt x="0" y="12981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09046" y="6447981"/>
            <a:ext cx="0" cy="130175"/>
          </a:xfrm>
          <a:custGeom>
            <a:avLst/>
            <a:gdLst/>
            <a:ahLst/>
            <a:cxnLst/>
            <a:rect l="l" t="t" r="r" b="b"/>
            <a:pathLst>
              <a:path h="130175">
                <a:moveTo>
                  <a:pt x="0" y="0"/>
                </a:moveTo>
                <a:lnTo>
                  <a:pt x="0" y="12981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836184" y="6517991"/>
            <a:ext cx="38989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spc="35" dirty="0">
                <a:solidFill>
                  <a:srgbClr val="1E1E1E"/>
                </a:solidFill>
                <a:latin typeface="Arial"/>
                <a:cs typeface="Arial"/>
              </a:rPr>
              <a:t>−5</a:t>
            </a:r>
            <a:endParaRPr sz="24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89648" y="6517991"/>
            <a:ext cx="21399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spc="120" dirty="0">
                <a:solidFill>
                  <a:srgbClr val="1E1E1E"/>
                </a:solidFill>
                <a:latin typeface="Arial"/>
                <a:cs typeface="Arial"/>
              </a:rPr>
              <a:t>0</a:t>
            </a:r>
            <a:endParaRPr sz="24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666465" y="6517991"/>
            <a:ext cx="21399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spc="120" dirty="0">
                <a:solidFill>
                  <a:srgbClr val="1E1E1E"/>
                </a:solidFill>
                <a:latin typeface="Arial"/>
                <a:cs typeface="Arial"/>
              </a:rPr>
              <a:t>5</a:t>
            </a:r>
            <a:endParaRPr sz="24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955325" y="6517991"/>
            <a:ext cx="38989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spc="70" dirty="0">
                <a:solidFill>
                  <a:srgbClr val="1E1E1E"/>
                </a:solidFill>
                <a:latin typeface="Arial"/>
                <a:cs typeface="Arial"/>
              </a:rPr>
              <a:t>10</a:t>
            </a:r>
            <a:endParaRPr sz="24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314551" y="6517991"/>
            <a:ext cx="38989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spc="70" dirty="0">
                <a:solidFill>
                  <a:srgbClr val="1E1E1E"/>
                </a:solidFill>
                <a:latin typeface="Arial"/>
                <a:cs typeface="Arial"/>
              </a:rPr>
              <a:t>15</a:t>
            </a:r>
            <a:endParaRPr sz="24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684143" y="6517991"/>
            <a:ext cx="38989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spc="70" dirty="0">
                <a:solidFill>
                  <a:srgbClr val="1E1E1E"/>
                </a:solidFill>
                <a:latin typeface="Arial"/>
                <a:cs typeface="Arial"/>
              </a:rPr>
              <a:t>20</a:t>
            </a:r>
            <a:endParaRPr sz="245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699150" y="5261619"/>
            <a:ext cx="1487805" cy="0"/>
          </a:xfrm>
          <a:custGeom>
            <a:avLst/>
            <a:gdLst/>
            <a:ahLst/>
            <a:cxnLst/>
            <a:rect l="l" t="t" r="r" b="b"/>
            <a:pathLst>
              <a:path w="1487804">
                <a:moveTo>
                  <a:pt x="0" y="0"/>
                </a:moveTo>
                <a:lnTo>
                  <a:pt x="1487274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094305" y="5259002"/>
            <a:ext cx="2379980" cy="0"/>
          </a:xfrm>
          <a:custGeom>
            <a:avLst/>
            <a:gdLst/>
            <a:ahLst/>
            <a:cxnLst/>
            <a:rect l="l" t="t" r="r" b="b"/>
            <a:pathLst>
              <a:path w="2379980">
                <a:moveTo>
                  <a:pt x="0" y="0"/>
                </a:moveTo>
                <a:lnTo>
                  <a:pt x="2379508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499990" y="4641219"/>
            <a:ext cx="0" cy="1235710"/>
          </a:xfrm>
          <a:custGeom>
            <a:avLst/>
            <a:gdLst/>
            <a:ahLst/>
            <a:cxnLst/>
            <a:rect l="l" t="t" r="r" b="b"/>
            <a:pathLst>
              <a:path h="1235710">
                <a:moveTo>
                  <a:pt x="0" y="0"/>
                </a:moveTo>
                <a:lnTo>
                  <a:pt x="0" y="1235564"/>
                </a:lnTo>
              </a:path>
            </a:pathLst>
          </a:custGeom>
          <a:ln w="52354">
            <a:solidFill>
              <a:srgbClr val="1E1E1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672973" y="4641219"/>
            <a:ext cx="0" cy="1235710"/>
          </a:xfrm>
          <a:custGeom>
            <a:avLst/>
            <a:gdLst/>
            <a:ahLst/>
            <a:cxnLst/>
            <a:rect l="l" t="t" r="r" b="b"/>
            <a:pathLst>
              <a:path h="1235710">
                <a:moveTo>
                  <a:pt x="0" y="0"/>
                </a:moveTo>
                <a:lnTo>
                  <a:pt x="0" y="1235564"/>
                </a:lnTo>
              </a:path>
            </a:pathLst>
          </a:custGeom>
          <a:ln w="52354">
            <a:solidFill>
              <a:srgbClr val="1E1E1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2186016" y="4641219"/>
            <a:ext cx="2913380" cy="1235710"/>
          </a:xfrm>
          <a:custGeom>
            <a:avLst/>
            <a:gdLst/>
            <a:ahLst/>
            <a:cxnLst/>
            <a:rect l="l" t="t" r="r" b="b"/>
            <a:pathLst>
              <a:path w="2913380" h="1235710">
                <a:moveTo>
                  <a:pt x="0" y="1235564"/>
                </a:moveTo>
                <a:lnTo>
                  <a:pt x="2913000" y="1235564"/>
                </a:lnTo>
                <a:lnTo>
                  <a:pt x="2913000" y="0"/>
                </a:lnTo>
                <a:lnTo>
                  <a:pt x="0" y="0"/>
                </a:lnTo>
                <a:lnTo>
                  <a:pt x="0" y="1235564"/>
                </a:lnTo>
                <a:close/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172866" y="4625513"/>
            <a:ext cx="0" cy="1251585"/>
          </a:xfrm>
          <a:custGeom>
            <a:avLst/>
            <a:gdLst/>
            <a:ahLst/>
            <a:cxnLst/>
            <a:rect l="l" t="t" r="r" b="b"/>
            <a:pathLst>
              <a:path h="1251585">
                <a:moveTo>
                  <a:pt x="0" y="0"/>
                </a:moveTo>
                <a:lnTo>
                  <a:pt x="0" y="125127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44</a:t>
            </a:fld>
            <a:endParaRPr spc="-37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355028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Корреляция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45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9673590" cy="3318216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Свойство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быть</a:t>
            </a:r>
            <a:r>
              <a:rPr sz="3300" spc="16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зависимыми.</a:t>
            </a:r>
            <a:endParaRPr sz="3300">
              <a:latin typeface="Arial"/>
              <a:cs typeface="Arial"/>
            </a:endParaRPr>
          </a:p>
          <a:p>
            <a:pPr marL="515620" marR="5080" indent="-502920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lang="ru-RU" sz="3300" spc="-50" dirty="0">
                <a:solidFill>
                  <a:srgbClr val="1E1E1E"/>
                </a:solidFill>
                <a:latin typeface="Arial"/>
                <a:cs typeface="Arial"/>
              </a:rPr>
              <a:t>Статистическая и закономерная </a:t>
            </a:r>
            <a:r>
              <a:rPr sz="3300" spc="-95">
                <a:solidFill>
                  <a:srgbClr val="1E1E1E"/>
                </a:solidFill>
                <a:latin typeface="Arial"/>
                <a:cs typeface="Arial"/>
              </a:rPr>
              <a:t>зависимость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между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изменениями 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нескольких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случайных</a:t>
            </a:r>
            <a:r>
              <a:rPr sz="3300" spc="1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величин.</a:t>
            </a:r>
            <a:endParaRPr sz="3300"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Причина и</a:t>
            </a:r>
            <a:r>
              <a:rPr sz="3300" spc="1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60">
                <a:solidFill>
                  <a:srgbClr val="1E1E1E"/>
                </a:solidFill>
                <a:latin typeface="Arial"/>
                <a:cs typeface="Arial"/>
              </a:rPr>
              <a:t>следствие?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3608704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95" dirty="0"/>
              <a:t>К</a:t>
            </a:r>
            <a:r>
              <a:rPr spc="-320" dirty="0"/>
              <a:t>о</a:t>
            </a:r>
            <a:r>
              <a:rPr spc="-215" dirty="0"/>
              <a:t>в</a:t>
            </a:r>
            <a:r>
              <a:rPr spc="-200" dirty="0"/>
              <a:t>а</a:t>
            </a:r>
            <a:r>
              <a:rPr spc="-114" dirty="0"/>
              <a:t>ри</a:t>
            </a:r>
            <a:r>
              <a:rPr spc="-105" dirty="0"/>
              <a:t>а</a:t>
            </a:r>
            <a:r>
              <a:rPr spc="-155" dirty="0"/>
              <a:t>ц</a:t>
            </a:r>
            <a:r>
              <a:rPr spc="-305" dirty="0"/>
              <a:t>и</a:t>
            </a:r>
            <a:r>
              <a:rPr spc="-215" dirty="0"/>
              <a:t>я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46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5686" y="3201862"/>
            <a:ext cx="10777220" cy="354393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Мера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линейной</a:t>
            </a:r>
            <a:r>
              <a:rPr sz="3300" spc="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зависимости.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Математическое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ожидание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произведения</a:t>
            </a:r>
            <a:r>
              <a:rPr sz="3300" spc="2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отклонений: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BDD9DE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2054860">
              <a:lnSpc>
                <a:spcPct val="100000"/>
              </a:lnSpc>
            </a:pPr>
            <a:r>
              <a:rPr sz="3300" b="1" i="1" spc="-505" dirty="0">
                <a:solidFill>
                  <a:srgbClr val="1E1E1E"/>
                </a:solidFill>
                <a:latin typeface="Verdana"/>
                <a:cs typeface="Verdana"/>
              </a:rPr>
              <a:t>cov</a:t>
            </a:r>
            <a:r>
              <a:rPr sz="3300" b="1" spc="-50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05" dirty="0">
                <a:solidFill>
                  <a:srgbClr val="1E1E1E"/>
                </a:solidFill>
                <a:latin typeface="Verdana"/>
                <a:cs typeface="Verdana"/>
              </a:rPr>
              <a:t>X,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58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90" dirty="0">
                <a:solidFill>
                  <a:srgbClr val="1E1E1E"/>
                </a:solidFill>
                <a:latin typeface="Verdana"/>
                <a:cs typeface="Verdana"/>
              </a:rPr>
              <a:t>[(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7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75" dirty="0">
                <a:solidFill>
                  <a:srgbClr val="1E1E1E"/>
                </a:solidFill>
                <a:latin typeface="Verdana"/>
                <a:cs typeface="Verdana"/>
              </a:rPr>
              <a:t>])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69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i="1" spc="-7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72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72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72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725" dirty="0">
                <a:solidFill>
                  <a:srgbClr val="1E1E1E"/>
                </a:solidFill>
                <a:latin typeface="Verdana"/>
                <a:cs typeface="Verdana"/>
              </a:rPr>
              <a:t>])]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Положительная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отрицательная</a:t>
            </a:r>
            <a:r>
              <a:rPr sz="3300" spc="26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корреляция.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636968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30" dirty="0"/>
              <a:t>Свойства</a:t>
            </a:r>
            <a:r>
              <a:rPr spc="-114" dirty="0"/>
              <a:t> </a:t>
            </a:r>
            <a:r>
              <a:rPr spc="-170" dirty="0"/>
              <a:t>ковариации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5686" y="3201862"/>
            <a:ext cx="10100310" cy="429768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  <a:tabLst>
                <a:tab pos="515620" algn="l"/>
              </a:tabLst>
            </a:pPr>
            <a:r>
              <a:rPr sz="3300" b="1" spc="210" dirty="0">
                <a:solidFill>
                  <a:srgbClr val="BDD9DE"/>
                </a:solidFill>
                <a:latin typeface="Arial"/>
                <a:cs typeface="Arial"/>
              </a:rPr>
              <a:t>•	</a:t>
            </a:r>
            <a:r>
              <a:rPr sz="3300" b="1" i="1" spc="-505" dirty="0">
                <a:solidFill>
                  <a:srgbClr val="1E1E1E"/>
                </a:solidFill>
                <a:latin typeface="Verdana"/>
                <a:cs typeface="Verdana"/>
              </a:rPr>
              <a:t>cov</a:t>
            </a:r>
            <a:r>
              <a:rPr sz="3300" b="1" spc="-50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05" dirty="0">
                <a:solidFill>
                  <a:srgbClr val="1E1E1E"/>
                </a:solidFill>
                <a:latin typeface="Verdana"/>
                <a:cs typeface="Verdana"/>
              </a:rPr>
              <a:t>X,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58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65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5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57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3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35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3300" b="1" spc="-5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2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2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6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330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505" dirty="0">
                <a:solidFill>
                  <a:srgbClr val="1E1E1E"/>
                </a:solidFill>
                <a:latin typeface="Verdana"/>
                <a:cs typeface="Verdana"/>
              </a:rPr>
              <a:t>cov</a:t>
            </a:r>
            <a:r>
              <a:rPr sz="3300" b="1" spc="-50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05" dirty="0">
                <a:solidFill>
                  <a:srgbClr val="1E1E1E"/>
                </a:solidFill>
                <a:latin typeface="Verdana"/>
                <a:cs typeface="Verdana"/>
              </a:rPr>
              <a:t>X, </a:t>
            </a:r>
            <a:r>
              <a:rPr sz="3300" b="1" i="1" spc="-63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3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7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|cov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X, </a:t>
            </a:r>
            <a:r>
              <a:rPr sz="3300" b="1" i="1" spc="-74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74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i="1" spc="-745" dirty="0">
                <a:solidFill>
                  <a:srgbClr val="1E1E1E"/>
                </a:solidFill>
                <a:latin typeface="Verdana"/>
                <a:cs typeface="Verdana"/>
              </a:rPr>
              <a:t>|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≤ </a:t>
            </a:r>
            <a:r>
              <a:rPr sz="3300" b="1" i="1" spc="-990" dirty="0">
                <a:solidFill>
                  <a:srgbClr val="1E1E1E"/>
                </a:solidFill>
                <a:latin typeface="Verdana"/>
                <a:cs typeface="Verdana"/>
              </a:rPr>
              <a:t>√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r>
              <a:rPr sz="3300" b="1" spc="-4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Var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 marL="514984" marR="5080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независимых случайных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величин: </a:t>
            </a:r>
            <a:r>
              <a:rPr sz="3300" b="1" i="1" spc="-505" dirty="0">
                <a:solidFill>
                  <a:srgbClr val="1E1E1E"/>
                </a:solidFill>
                <a:latin typeface="Verdana"/>
                <a:cs typeface="Verdana"/>
              </a:rPr>
              <a:t>cov</a:t>
            </a:r>
            <a:r>
              <a:rPr sz="3300" b="1" spc="-50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05" dirty="0">
                <a:solidFill>
                  <a:srgbClr val="1E1E1E"/>
                </a:solidFill>
                <a:latin typeface="Verdana"/>
                <a:cs typeface="Verdana"/>
              </a:rPr>
              <a:t>X,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58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355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spc="-355" dirty="0">
                <a:solidFill>
                  <a:srgbClr val="1E1E1E"/>
                </a:solidFill>
                <a:latin typeface="Arial"/>
                <a:cs typeface="Arial"/>
              </a:rPr>
              <a:t>,  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обратное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неверно.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90" dirty="0">
                <a:solidFill>
                  <a:srgbClr val="1E1E1E"/>
                </a:solidFill>
                <a:latin typeface="Arial"/>
                <a:cs typeface="Arial"/>
              </a:rPr>
              <a:t>Единицы</a:t>
            </a: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измерения.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05624" y="5056903"/>
            <a:ext cx="2689860" cy="0"/>
          </a:xfrm>
          <a:custGeom>
            <a:avLst/>
            <a:gdLst/>
            <a:ahLst/>
            <a:cxnLst/>
            <a:rect l="l" t="t" r="r" b="b"/>
            <a:pathLst>
              <a:path w="2689859">
                <a:moveTo>
                  <a:pt x="0" y="0"/>
                </a:moveTo>
                <a:lnTo>
                  <a:pt x="2689446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47</a:t>
            </a:fld>
            <a:endParaRPr spc="-37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77240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95" dirty="0"/>
              <a:t>Коэффициент</a:t>
            </a:r>
            <a:r>
              <a:rPr spc="-120" dirty="0"/>
              <a:t> </a:t>
            </a:r>
            <a:r>
              <a:rPr spc="-245" dirty="0"/>
              <a:t>корреляции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685165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Коэффициент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корреляции</a:t>
            </a:r>
            <a:r>
              <a:rPr sz="3300" spc="1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Пирсона: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5968" y="5966175"/>
            <a:ext cx="9149715" cy="304101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spc="-844" dirty="0">
                <a:solidFill>
                  <a:srgbClr val="1E1E1E"/>
                </a:solidFill>
                <a:latin typeface="Verdana"/>
                <a:cs typeface="Verdana"/>
              </a:rPr>
              <a:t>−1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≤ 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ρ</a:t>
            </a:r>
            <a:r>
              <a:rPr sz="2850" b="1" i="1" spc="-494" baseline="-32163" dirty="0">
                <a:solidFill>
                  <a:srgbClr val="1E1E1E"/>
                </a:solidFill>
                <a:latin typeface="Verdana"/>
                <a:cs typeface="Verdana"/>
              </a:rPr>
              <a:t>X, </a:t>
            </a:r>
            <a:r>
              <a:rPr sz="2850" b="1" i="1" spc="-457" baseline="-32163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≤</a:t>
            </a:r>
            <a:r>
              <a:rPr sz="3300" b="1" i="1" spc="-7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90" dirty="0">
                <a:solidFill>
                  <a:srgbClr val="1E1E1E"/>
                </a:solidFill>
                <a:latin typeface="Arial"/>
                <a:cs typeface="Arial"/>
              </a:rPr>
              <a:t>Единицы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измерения.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spc="-520">
                <a:solidFill>
                  <a:srgbClr val="1E1E1E"/>
                </a:solidFill>
                <a:latin typeface="Verdana"/>
                <a:cs typeface="Verdana"/>
              </a:rPr>
              <a:t>0 </a:t>
            </a:r>
            <a:r>
              <a:rPr lang="ru-RU"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spc="-175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независимых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величин.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Положительная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отрицательная</a:t>
            </a:r>
            <a:r>
              <a:rPr sz="3300" spc="2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корреляция.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1644" y="4709669"/>
            <a:ext cx="2628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45" dirty="0">
                <a:solidFill>
                  <a:srgbClr val="1E1E1E"/>
                </a:solidFill>
                <a:latin typeface="Verdana"/>
                <a:cs typeface="Verdana"/>
              </a:rPr>
              <a:t>ρ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53229" y="5023795"/>
            <a:ext cx="42290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50" dirty="0">
                <a:solidFill>
                  <a:srgbClr val="1E1E1E"/>
                </a:solidFill>
                <a:latin typeface="Verdana"/>
                <a:cs typeface="Verdana"/>
              </a:rPr>
              <a:t>X,</a:t>
            </a:r>
            <a:r>
              <a:rPr sz="1900" b="1" i="1" spc="-3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30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01694" y="5085364"/>
            <a:ext cx="105981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4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660" baseline="-32163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615" baseline="-32163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2850" baseline="-32163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34387" y="4394286"/>
            <a:ext cx="73767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5300" algn="l"/>
                <a:tab pos="2331085" algn="l"/>
                <a:tab pos="3335020" algn="l"/>
              </a:tabLst>
            </a:pPr>
            <a:r>
              <a:rPr sz="4950" b="1" i="1" spc="-1350" baseline="-42087" dirty="0">
                <a:solidFill>
                  <a:srgbClr val="1E1E1E"/>
                </a:solidFill>
                <a:latin typeface="Verdana"/>
                <a:cs typeface="Verdana"/>
              </a:rPr>
              <a:t>=	</a:t>
            </a:r>
            <a:r>
              <a:rPr sz="3300" b="1" i="1" spc="-500" dirty="0">
                <a:solidFill>
                  <a:srgbClr val="1E1E1E"/>
                </a:solidFill>
                <a:latin typeface="Verdana"/>
                <a:cs typeface="Verdana"/>
              </a:rPr>
              <a:t>cov</a:t>
            </a:r>
            <a:r>
              <a:rPr sz="3300" b="1" spc="-50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00" dirty="0">
                <a:solidFill>
                  <a:srgbClr val="1E1E1E"/>
                </a:solidFill>
                <a:latin typeface="Verdana"/>
                <a:cs typeface="Verdana"/>
              </a:rPr>
              <a:t>X,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575" dirty="0">
                <a:solidFill>
                  <a:srgbClr val="1E1E1E"/>
                </a:solidFill>
                <a:latin typeface="Verdana"/>
                <a:cs typeface="Verdana"/>
              </a:rPr>
              <a:t>)	</a:t>
            </a:r>
            <a:r>
              <a:rPr sz="4950" b="1" i="1" spc="-1350" baseline="-42087" dirty="0">
                <a:solidFill>
                  <a:srgbClr val="1E1E1E"/>
                </a:solidFill>
                <a:latin typeface="Verdana"/>
                <a:cs typeface="Verdana"/>
              </a:rPr>
              <a:t>=	</a:t>
            </a:r>
            <a:r>
              <a:rPr sz="3300" b="1" i="1" spc="-68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85" dirty="0">
                <a:solidFill>
                  <a:srgbClr val="1E1E1E"/>
                </a:solidFill>
                <a:latin typeface="Verdana"/>
                <a:cs typeface="Verdana"/>
              </a:rPr>
              <a:t>[(</a:t>
            </a:r>
            <a:r>
              <a:rPr sz="3300" b="1" i="1" spc="-68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70" dirty="0">
                <a:solidFill>
                  <a:srgbClr val="1E1E1E"/>
                </a:solidFill>
                <a:latin typeface="Verdana"/>
                <a:cs typeface="Verdana"/>
              </a:rPr>
              <a:t>])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 </a:t>
            </a:r>
            <a:r>
              <a:rPr sz="3300" b="1" spc="-69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86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72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7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72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720" dirty="0">
                <a:solidFill>
                  <a:srgbClr val="1E1E1E"/>
                </a:solidFill>
                <a:latin typeface="Verdana"/>
                <a:cs typeface="Verdana"/>
              </a:rPr>
              <a:t>])]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90732" y="5043544"/>
            <a:ext cx="5200015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b="1" i="1" spc="-1065" dirty="0">
                <a:solidFill>
                  <a:srgbClr val="1E1E1E"/>
                </a:solidFill>
                <a:latin typeface="Verdana"/>
                <a:cs typeface="Verdana"/>
              </a:rPr>
              <a:t>√ </a:t>
            </a:r>
            <a:r>
              <a:rPr sz="3300" b="1" i="1" spc="-68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85" dirty="0">
                <a:solidFill>
                  <a:srgbClr val="1E1E1E"/>
                </a:solidFill>
                <a:latin typeface="Verdana"/>
                <a:cs typeface="Verdana"/>
              </a:rPr>
              <a:t>[(</a:t>
            </a:r>
            <a:r>
              <a:rPr sz="3300" b="1" i="1" spc="-68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1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1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1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3300" b="1" spc="-615" dirty="0">
                <a:solidFill>
                  <a:srgbClr val="1E1E1E"/>
                </a:solidFill>
                <a:latin typeface="Verdana"/>
                <a:cs typeface="Verdana"/>
              </a:rPr>
              <a:t>])</a:t>
            </a:r>
            <a:r>
              <a:rPr sz="2850" b="1" spc="-922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spc="-61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∙ 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95" dirty="0">
                <a:solidFill>
                  <a:srgbClr val="1E1E1E"/>
                </a:solidFill>
                <a:latin typeface="Verdana"/>
                <a:cs typeface="Verdana"/>
              </a:rPr>
              <a:t>[(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8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05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0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0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spc="-605" dirty="0">
                <a:solidFill>
                  <a:srgbClr val="1E1E1E"/>
                </a:solidFill>
                <a:latin typeface="Verdana"/>
                <a:cs typeface="Verdana"/>
              </a:rPr>
              <a:t>])</a:t>
            </a:r>
            <a:r>
              <a:rPr sz="2850" b="1" spc="-907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spc="-605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01691" y="5026025"/>
            <a:ext cx="1710055" cy="0"/>
          </a:xfrm>
          <a:custGeom>
            <a:avLst/>
            <a:gdLst/>
            <a:ahLst/>
            <a:cxnLst/>
            <a:rect l="l" t="t" r="r" b="b"/>
            <a:pathLst>
              <a:path w="1710054">
                <a:moveTo>
                  <a:pt x="0" y="0"/>
                </a:moveTo>
                <a:lnTo>
                  <a:pt x="1709665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879108" y="5026025"/>
            <a:ext cx="5189220" cy="0"/>
          </a:xfrm>
          <a:custGeom>
            <a:avLst/>
            <a:gdLst/>
            <a:ahLst/>
            <a:cxnLst/>
            <a:rect l="l" t="t" r="r" b="b"/>
            <a:pathLst>
              <a:path w="5189220">
                <a:moveTo>
                  <a:pt x="0" y="0"/>
                </a:moveTo>
                <a:lnTo>
                  <a:pt x="5189140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92481" y="5145371"/>
            <a:ext cx="4918075" cy="0"/>
          </a:xfrm>
          <a:custGeom>
            <a:avLst/>
            <a:gdLst/>
            <a:ahLst/>
            <a:cxnLst/>
            <a:rect l="l" t="t" r="r" b="b"/>
            <a:pathLst>
              <a:path w="4918075">
                <a:moveTo>
                  <a:pt x="0" y="0"/>
                </a:moveTo>
                <a:lnTo>
                  <a:pt x="4917651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48</a:t>
            </a:fld>
            <a:endParaRPr spc="-37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263779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80" dirty="0"/>
              <a:t>Выбросы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49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5686" y="3201862"/>
            <a:ext cx="8437880" cy="1538242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5620" indent="-50292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Наблюдение, 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которое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сильно</a:t>
            </a:r>
            <a:r>
              <a:rPr sz="3300" spc="22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выбивается.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Влияние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на</a:t>
            </a:r>
            <a:r>
              <a:rPr sz="3300" spc="2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0">
                <a:solidFill>
                  <a:srgbClr val="1E1E1E"/>
                </a:solidFill>
                <a:latin typeface="Arial"/>
                <a:cs typeface="Arial"/>
              </a:rPr>
              <a:t>оценки.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332105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5" dirty="0"/>
              <a:t>Ресемплинг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50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0899775" cy="2287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marR="3692525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Генерация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псевдовыборок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создание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дополнительных </a:t>
            </a: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наборов  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из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имеющихся</a:t>
            </a:r>
            <a:r>
              <a:rPr sz="3300" spc="1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наблюдений.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Имитация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тестирования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на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генеральной</a:t>
            </a:r>
            <a:r>
              <a:rPr sz="3300" spc="3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совокупности.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671957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5" dirty="0"/>
              <a:t>Метод </a:t>
            </a:r>
            <a:r>
              <a:rPr spc="-220" dirty="0"/>
              <a:t>складного</a:t>
            </a:r>
            <a:r>
              <a:rPr spc="-35" dirty="0"/>
              <a:t> </a:t>
            </a:r>
            <a:r>
              <a:rPr spc="-40" dirty="0"/>
              <a:t>ножа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51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10193655" cy="228727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Оценка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статистических</a:t>
            </a:r>
            <a:r>
              <a:rPr sz="3300" spc="1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характеристик.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Генерация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выборок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исключением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одного</a:t>
            </a:r>
            <a:r>
              <a:rPr sz="3300" spc="4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элемента.</a:t>
            </a:r>
            <a:endParaRPr sz="3300">
              <a:latin typeface="Arial"/>
              <a:cs typeface="Arial"/>
            </a:endParaRPr>
          </a:p>
          <a:p>
            <a:pPr marL="515620" indent="-502920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3300" b="1" i="1" spc="-495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выборок размера </a:t>
            </a:r>
            <a:r>
              <a:rPr sz="3300" b="1" i="1" spc="-495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73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409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spc="-409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892111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5" dirty="0"/>
              <a:t>Метод </a:t>
            </a:r>
            <a:r>
              <a:rPr spc="-235" dirty="0"/>
              <a:t>перекрестной</a:t>
            </a:r>
            <a:r>
              <a:rPr spc="-15" dirty="0"/>
              <a:t> </a:t>
            </a:r>
            <a:r>
              <a:rPr spc="-220" dirty="0"/>
              <a:t>проверки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52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7757795" cy="228727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Выборка 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делится 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на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b="1" i="1" spc="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частей.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часть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используется </a:t>
            </a:r>
            <a:r>
              <a:rPr sz="3300" spc="-185" dirty="0">
                <a:solidFill>
                  <a:srgbClr val="1E1E1E"/>
                </a:solidFill>
                <a:latin typeface="Arial"/>
                <a:cs typeface="Arial"/>
              </a:rPr>
              <a:t>для</a:t>
            </a:r>
            <a:r>
              <a:rPr sz="3300" spc="15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обучения.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Одна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часть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85" dirty="0">
                <a:solidFill>
                  <a:srgbClr val="1E1E1E"/>
                </a:solidFill>
                <a:latin typeface="Arial"/>
                <a:cs typeface="Arial"/>
              </a:rPr>
              <a:t>для</a:t>
            </a:r>
            <a:r>
              <a:rPr sz="3300" spc="-434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проверки.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25673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55" dirty="0"/>
              <a:t>Б</a:t>
            </a:r>
            <a:r>
              <a:rPr spc="-65" dirty="0"/>
              <a:t>у</a:t>
            </a:r>
            <a:r>
              <a:rPr spc="-120" dirty="0"/>
              <a:t>т</a:t>
            </a:r>
            <a:r>
              <a:rPr spc="-505" dirty="0"/>
              <a:t>с</a:t>
            </a:r>
            <a:r>
              <a:rPr spc="-260" dirty="0"/>
              <a:t>т</a:t>
            </a:r>
            <a:r>
              <a:rPr spc="-210" dirty="0"/>
              <a:t>р</a:t>
            </a:r>
            <a:r>
              <a:rPr spc="-570" dirty="0"/>
              <a:t>э</a:t>
            </a:r>
            <a:r>
              <a:rPr spc="-200" dirty="0"/>
              <a:t>п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53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9196705" cy="1784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marR="5080" indent="-502284">
              <a:lnSpc>
                <a:spcPct val="100000"/>
              </a:lnSpc>
              <a:spcBef>
                <a:spcPts val="9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Случайная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генерация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из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имеющейся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выборки: 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выборки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1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повторениями.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Не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уменьшает число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наблюдений 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на</a:t>
            </a:r>
            <a:r>
              <a:rPr sz="3300" spc="49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выборку.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802576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70" dirty="0"/>
              <a:t>Используемые</a:t>
            </a:r>
            <a:r>
              <a:rPr spc="-140" dirty="0"/>
              <a:t> </a:t>
            </a:r>
            <a:r>
              <a:rPr spc="-265" dirty="0"/>
              <a:t>обозначения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000" y="3201862"/>
            <a:ext cx="8722250" cy="6124112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spc="-360" dirty="0">
                <a:solidFill>
                  <a:srgbClr val="1E1E1E"/>
                </a:solidFill>
                <a:latin typeface="Verdana"/>
                <a:cs typeface="Verdana"/>
              </a:rPr>
              <a:t>det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</a:t>
            </a:r>
            <a:r>
              <a:rPr sz="3300" spc="2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определитель,</a:t>
            </a:r>
            <a:endParaRPr sz="3300" dirty="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spc="-430" dirty="0">
                <a:solidFill>
                  <a:srgbClr val="1E1E1E"/>
                </a:solidFill>
                <a:latin typeface="Verdana"/>
                <a:cs typeface="Verdana"/>
              </a:rPr>
              <a:t>rank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</a:t>
            </a:r>
            <a:r>
              <a:rPr sz="3300" spc="-3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ранг,</a:t>
            </a:r>
            <a:endParaRPr sz="3300" dirty="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spc="-860" dirty="0">
                <a:solidFill>
                  <a:srgbClr val="1E1E1E"/>
                </a:solidFill>
                <a:latin typeface="Verdana"/>
                <a:cs typeface="Verdana"/>
              </a:rPr>
              <a:t>||</a:t>
            </a:r>
            <a:r>
              <a:rPr lang="en-US" sz="3300" b="1" spc="-860" dirty="0">
                <a:solidFill>
                  <a:srgbClr val="1E1E1E"/>
                </a:solidFill>
                <a:latin typeface="Verdana"/>
                <a:cs typeface="Verdana"/>
              </a:rPr>
              <a:t>A|</a:t>
            </a:r>
            <a:r>
              <a:rPr sz="3300" b="1" spc="-860" dirty="0">
                <a:solidFill>
                  <a:srgbClr val="1E1E1E"/>
                </a:solidFill>
                <a:latin typeface="Verdana"/>
                <a:cs typeface="Verdana"/>
              </a:rPr>
              <a:t>|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евклидова</a:t>
            </a:r>
            <a:r>
              <a:rPr sz="3300" spc="-62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норма:</a:t>
            </a:r>
            <a:endParaRPr sz="3300" dirty="0">
              <a:latin typeface="Arial"/>
              <a:cs typeface="Arial"/>
            </a:endParaRPr>
          </a:p>
          <a:p>
            <a:pPr marL="514984">
              <a:lnSpc>
                <a:spcPct val="100000"/>
              </a:lnSpc>
              <a:spcBef>
                <a:spcPts val="197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09" dirty="0">
                <a:solidFill>
                  <a:srgbClr val="1E1E1E"/>
                </a:solidFill>
                <a:latin typeface="Verdana"/>
                <a:cs typeface="Verdana"/>
              </a:rPr>
              <a:t>√∑[элементы </a:t>
            </a:r>
            <a:r>
              <a:rPr sz="3300" b="1" spc="-375" dirty="0">
                <a:solidFill>
                  <a:srgbClr val="1E1E1E"/>
                </a:solidFill>
                <a:latin typeface="Verdana"/>
                <a:cs typeface="Verdana"/>
              </a:rPr>
              <a:t>вектора</a:t>
            </a:r>
            <a:r>
              <a:rPr sz="3300" b="1" spc="-2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(матрицы)]</a:t>
            </a:r>
            <a:r>
              <a:rPr sz="2850" b="1" spc="-780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850" baseline="32163" dirty="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spc="-325" dirty="0">
                <a:solidFill>
                  <a:srgbClr val="1E1E1E"/>
                </a:solidFill>
                <a:latin typeface="Verdana"/>
                <a:cs typeface="Verdana"/>
              </a:rPr>
              <a:t>.</a:t>
            </a:r>
            <a:r>
              <a:rPr sz="2850" b="1" i="1" spc="-487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транспонирование,</a:t>
            </a:r>
            <a:endParaRPr sz="3300" dirty="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spc="-440" dirty="0">
                <a:solidFill>
                  <a:srgbClr val="1E1E1E"/>
                </a:solidFill>
                <a:latin typeface="Verdana"/>
                <a:cs typeface="Verdana"/>
              </a:rPr>
              <a:t>.</a:t>
            </a:r>
            <a:r>
              <a:rPr sz="2850" b="1" spc="-660" baseline="32163" dirty="0">
                <a:solidFill>
                  <a:srgbClr val="1E1E1E"/>
                </a:solidFill>
                <a:latin typeface="Verdana"/>
                <a:cs typeface="Verdana"/>
              </a:rPr>
              <a:t>−1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обращение,</a:t>
            </a:r>
            <a:endParaRPr sz="3300" dirty="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550" dirty="0">
                <a:solidFill>
                  <a:srgbClr val="1E1E1E"/>
                </a:solidFill>
                <a:latin typeface="Verdana"/>
                <a:cs typeface="Verdana"/>
              </a:rPr>
              <a:t>E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единичная</a:t>
            </a:r>
            <a:r>
              <a:rPr sz="3300" spc="-4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матрица,</a:t>
            </a:r>
            <a:endParaRPr sz="3300" dirty="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b="1" i="1" spc="-35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spc="-532" baseline="-32163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2850" b="1" i="1" spc="-532" baseline="-32163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2850" b="1" spc="-532" baseline="-32163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b="1" i="1" spc="-155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-й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столбец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-2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1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31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78458" y="5810273"/>
            <a:ext cx="6398895" cy="0"/>
          </a:xfrm>
          <a:custGeom>
            <a:avLst/>
            <a:gdLst/>
            <a:ahLst/>
            <a:cxnLst/>
            <a:rect l="l" t="t" r="r" b="b"/>
            <a:pathLst>
              <a:path w="6398895">
                <a:moveTo>
                  <a:pt x="0" y="0"/>
                </a:moveTo>
                <a:lnTo>
                  <a:pt x="6398758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54</a:t>
            </a:fld>
            <a:endParaRPr spc="-37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52419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75" dirty="0"/>
              <a:t>Собственные </a:t>
            </a:r>
            <a:r>
              <a:rPr spc="-295" dirty="0"/>
              <a:t>числа </a:t>
            </a:r>
            <a:r>
              <a:rPr spc="-200" dirty="0"/>
              <a:t>и </a:t>
            </a:r>
            <a:r>
              <a:rPr spc="-395" dirty="0"/>
              <a:t>собственные </a:t>
            </a:r>
            <a:r>
              <a:rPr spc="-285" dirty="0"/>
              <a:t>векторы</a:t>
            </a:r>
            <a:r>
              <a:rPr spc="-90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7531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345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50" dirty="0">
                <a:solidFill>
                  <a:srgbClr val="1E1E1E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72714" y="2699259"/>
            <a:ext cx="44450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5027" y="4207066"/>
            <a:ext cx="4445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6104" y="5212271"/>
            <a:ext cx="1259332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95"/>
              </a:spcBef>
              <a:tabLst>
                <a:tab pos="8488680" algn="l"/>
              </a:tabLst>
            </a:pP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Вектор-столбец 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780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1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622" baseline="-32163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2850" b="1" i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собственный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вектор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матрицы, 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принадлежащий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собственному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числу</a:t>
            </a:r>
            <a:r>
              <a:rPr sz="3300" spc="31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585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r>
              <a:rPr sz="3300" b="1" i="1" spc="-125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если	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AX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555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r>
              <a:rPr sz="3300" b="1" i="1" spc="-55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310" dirty="0">
                <a:solidFill>
                  <a:srgbClr val="1E1E1E"/>
                </a:solidFill>
                <a:latin typeface="DejaVu Sans"/>
                <a:cs typeface="DejaVu Sans"/>
              </a:rPr>
              <a:t>∃</a:t>
            </a:r>
            <a:r>
              <a:rPr sz="3300" b="1" i="1" spc="-31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465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≠</a:t>
            </a:r>
            <a:r>
              <a:rPr sz="3300" b="1" i="1" spc="-89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55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spc="-35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92597" y="2612485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10">
                <a:moveTo>
                  <a:pt x="564883" y="0"/>
                </a:moveTo>
                <a:lnTo>
                  <a:pt x="369999" y="0"/>
                </a:lnTo>
                <a:lnTo>
                  <a:pt x="348604" y="29070"/>
                </a:lnTo>
                <a:lnTo>
                  <a:pt x="305793" y="90900"/>
                </a:lnTo>
                <a:lnTo>
                  <a:pt x="284529" y="123713"/>
                </a:lnTo>
                <a:lnTo>
                  <a:pt x="263460" y="157827"/>
                </a:lnTo>
                <a:lnTo>
                  <a:pt x="242663" y="193270"/>
                </a:lnTo>
                <a:lnTo>
                  <a:pt x="222212" y="230069"/>
                </a:lnTo>
                <a:lnTo>
                  <a:pt x="202185" y="268251"/>
                </a:lnTo>
                <a:lnTo>
                  <a:pt x="182656" y="307842"/>
                </a:lnTo>
                <a:lnTo>
                  <a:pt x="163702" y="348871"/>
                </a:lnTo>
                <a:lnTo>
                  <a:pt x="145399" y="391363"/>
                </a:lnTo>
                <a:lnTo>
                  <a:pt x="127823" y="435347"/>
                </a:lnTo>
                <a:lnTo>
                  <a:pt x="111049" y="480850"/>
                </a:lnTo>
                <a:lnTo>
                  <a:pt x="95154" y="527898"/>
                </a:lnTo>
                <a:lnTo>
                  <a:pt x="80213" y="576518"/>
                </a:lnTo>
                <a:lnTo>
                  <a:pt x="66303" y="626738"/>
                </a:lnTo>
                <a:lnTo>
                  <a:pt x="53499" y="678585"/>
                </a:lnTo>
                <a:lnTo>
                  <a:pt x="41877" y="732086"/>
                </a:lnTo>
                <a:lnTo>
                  <a:pt x="31513" y="787268"/>
                </a:lnTo>
                <a:lnTo>
                  <a:pt x="22483" y="844158"/>
                </a:lnTo>
                <a:lnTo>
                  <a:pt x="14863" y="902783"/>
                </a:lnTo>
                <a:lnTo>
                  <a:pt x="8728" y="963171"/>
                </a:lnTo>
                <a:lnTo>
                  <a:pt x="4156" y="1025348"/>
                </a:lnTo>
                <a:lnTo>
                  <a:pt x="1221" y="1089342"/>
                </a:lnTo>
                <a:lnTo>
                  <a:pt x="0" y="1155179"/>
                </a:lnTo>
                <a:lnTo>
                  <a:pt x="908" y="1220366"/>
                </a:lnTo>
                <a:lnTo>
                  <a:pt x="3581" y="1283760"/>
                </a:lnTo>
                <a:lnTo>
                  <a:pt x="7940" y="1345385"/>
                </a:lnTo>
                <a:lnTo>
                  <a:pt x="13905" y="1405264"/>
                </a:lnTo>
                <a:lnTo>
                  <a:pt x="21397" y="1463423"/>
                </a:lnTo>
                <a:lnTo>
                  <a:pt x="30337" y="1519885"/>
                </a:lnTo>
                <a:lnTo>
                  <a:pt x="40645" y="1574673"/>
                </a:lnTo>
                <a:lnTo>
                  <a:pt x="52244" y="1627811"/>
                </a:lnTo>
                <a:lnTo>
                  <a:pt x="65052" y="1679324"/>
                </a:lnTo>
                <a:lnTo>
                  <a:pt x="78992" y="1729234"/>
                </a:lnTo>
                <a:lnTo>
                  <a:pt x="93984" y="1777567"/>
                </a:lnTo>
                <a:lnTo>
                  <a:pt x="109948" y="1824345"/>
                </a:lnTo>
                <a:lnTo>
                  <a:pt x="126807" y="1869593"/>
                </a:lnTo>
                <a:lnTo>
                  <a:pt x="144480" y="1913335"/>
                </a:lnTo>
                <a:lnTo>
                  <a:pt x="162888" y="1955594"/>
                </a:lnTo>
                <a:lnTo>
                  <a:pt x="181952" y="1996394"/>
                </a:lnTo>
                <a:lnTo>
                  <a:pt x="201594" y="2035760"/>
                </a:lnTo>
                <a:lnTo>
                  <a:pt x="221733" y="2073714"/>
                </a:lnTo>
                <a:lnTo>
                  <a:pt x="242291" y="2110281"/>
                </a:lnTo>
                <a:lnTo>
                  <a:pt x="263189" y="2145484"/>
                </a:lnTo>
                <a:lnTo>
                  <a:pt x="284347" y="2179349"/>
                </a:lnTo>
                <a:lnTo>
                  <a:pt x="305686" y="2211897"/>
                </a:lnTo>
                <a:lnTo>
                  <a:pt x="348591" y="2273143"/>
                </a:lnTo>
                <a:lnTo>
                  <a:pt x="369999" y="2301888"/>
                </a:lnTo>
                <a:lnTo>
                  <a:pt x="564883" y="2301888"/>
                </a:lnTo>
                <a:lnTo>
                  <a:pt x="540060" y="2266166"/>
                </a:lnTo>
                <a:lnTo>
                  <a:pt x="515756" y="2229594"/>
                </a:lnTo>
                <a:lnTo>
                  <a:pt x="492018" y="2192144"/>
                </a:lnTo>
                <a:lnTo>
                  <a:pt x="468894" y="2153789"/>
                </a:lnTo>
                <a:lnTo>
                  <a:pt x="446432" y="2114503"/>
                </a:lnTo>
                <a:lnTo>
                  <a:pt x="424680" y="2074258"/>
                </a:lnTo>
                <a:lnTo>
                  <a:pt x="403685" y="2033028"/>
                </a:lnTo>
                <a:lnTo>
                  <a:pt x="383496" y="1990785"/>
                </a:lnTo>
                <a:lnTo>
                  <a:pt x="364159" y="1947503"/>
                </a:lnTo>
                <a:lnTo>
                  <a:pt x="345724" y="1903154"/>
                </a:lnTo>
                <a:lnTo>
                  <a:pt x="328238" y="1857711"/>
                </a:lnTo>
                <a:lnTo>
                  <a:pt x="311748" y="1811149"/>
                </a:lnTo>
                <a:lnTo>
                  <a:pt x="296302" y="1763438"/>
                </a:lnTo>
                <a:lnTo>
                  <a:pt x="281949" y="1714554"/>
                </a:lnTo>
                <a:lnTo>
                  <a:pt x="268736" y="1664467"/>
                </a:lnTo>
                <a:lnTo>
                  <a:pt x="256711" y="1613153"/>
                </a:lnTo>
                <a:lnTo>
                  <a:pt x="245921" y="1560583"/>
                </a:lnTo>
                <a:lnTo>
                  <a:pt x="236415" y="1506731"/>
                </a:lnTo>
                <a:lnTo>
                  <a:pt x="228240" y="1451570"/>
                </a:lnTo>
                <a:lnTo>
                  <a:pt x="221444" y="1395072"/>
                </a:lnTo>
                <a:lnTo>
                  <a:pt x="216076" y="1337211"/>
                </a:lnTo>
                <a:lnTo>
                  <a:pt x="212181" y="1277960"/>
                </a:lnTo>
                <a:lnTo>
                  <a:pt x="209810" y="1217292"/>
                </a:lnTo>
                <a:lnTo>
                  <a:pt x="209009" y="1155179"/>
                </a:lnTo>
                <a:lnTo>
                  <a:pt x="209721" y="1094521"/>
                </a:lnTo>
                <a:lnTo>
                  <a:pt x="211835" y="1035224"/>
                </a:lnTo>
                <a:lnTo>
                  <a:pt x="215314" y="977270"/>
                </a:lnTo>
                <a:lnTo>
                  <a:pt x="220123" y="920636"/>
                </a:lnTo>
                <a:lnTo>
                  <a:pt x="226226" y="865303"/>
                </a:lnTo>
                <a:lnTo>
                  <a:pt x="233587" y="811250"/>
                </a:lnTo>
                <a:lnTo>
                  <a:pt x="242170" y="758456"/>
                </a:lnTo>
                <a:lnTo>
                  <a:pt x="251940" y="706901"/>
                </a:lnTo>
                <a:lnTo>
                  <a:pt x="262861" y="656563"/>
                </a:lnTo>
                <a:lnTo>
                  <a:pt x="274896" y="607424"/>
                </a:lnTo>
                <a:lnTo>
                  <a:pt x="288011" y="559460"/>
                </a:lnTo>
                <a:lnTo>
                  <a:pt x="302168" y="512653"/>
                </a:lnTo>
                <a:lnTo>
                  <a:pt x="317334" y="466982"/>
                </a:lnTo>
                <a:lnTo>
                  <a:pt x="333471" y="422426"/>
                </a:lnTo>
                <a:lnTo>
                  <a:pt x="350544" y="378963"/>
                </a:lnTo>
                <a:lnTo>
                  <a:pt x="368518" y="336575"/>
                </a:lnTo>
                <a:lnTo>
                  <a:pt x="387356" y="295240"/>
                </a:lnTo>
                <a:lnTo>
                  <a:pt x="407022" y="254937"/>
                </a:lnTo>
                <a:lnTo>
                  <a:pt x="427482" y="215647"/>
                </a:lnTo>
                <a:lnTo>
                  <a:pt x="448698" y="177347"/>
                </a:lnTo>
                <a:lnTo>
                  <a:pt x="470636" y="140019"/>
                </a:lnTo>
                <a:lnTo>
                  <a:pt x="493259" y="103640"/>
                </a:lnTo>
                <a:lnTo>
                  <a:pt x="516531" y="68191"/>
                </a:lnTo>
                <a:lnTo>
                  <a:pt x="540418" y="33651"/>
                </a:lnTo>
                <a:lnTo>
                  <a:pt x="56488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92597" y="2612485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10">
                <a:moveTo>
                  <a:pt x="369999" y="0"/>
                </a:moveTo>
                <a:lnTo>
                  <a:pt x="327177" y="59362"/>
                </a:lnTo>
                <a:lnTo>
                  <a:pt x="305793" y="90900"/>
                </a:lnTo>
                <a:lnTo>
                  <a:pt x="284529" y="123713"/>
                </a:lnTo>
                <a:lnTo>
                  <a:pt x="263460" y="157827"/>
                </a:lnTo>
                <a:lnTo>
                  <a:pt x="242663" y="193270"/>
                </a:lnTo>
                <a:lnTo>
                  <a:pt x="222212" y="230069"/>
                </a:lnTo>
                <a:lnTo>
                  <a:pt x="202185" y="268251"/>
                </a:lnTo>
                <a:lnTo>
                  <a:pt x="182656" y="307842"/>
                </a:lnTo>
                <a:lnTo>
                  <a:pt x="163702" y="348871"/>
                </a:lnTo>
                <a:lnTo>
                  <a:pt x="145399" y="391363"/>
                </a:lnTo>
                <a:lnTo>
                  <a:pt x="127823" y="435347"/>
                </a:lnTo>
                <a:lnTo>
                  <a:pt x="111049" y="480850"/>
                </a:lnTo>
                <a:lnTo>
                  <a:pt x="95154" y="527898"/>
                </a:lnTo>
                <a:lnTo>
                  <a:pt x="80213" y="576518"/>
                </a:lnTo>
                <a:lnTo>
                  <a:pt x="66303" y="626738"/>
                </a:lnTo>
                <a:lnTo>
                  <a:pt x="53499" y="678585"/>
                </a:lnTo>
                <a:lnTo>
                  <a:pt x="41877" y="732086"/>
                </a:lnTo>
                <a:lnTo>
                  <a:pt x="31513" y="787268"/>
                </a:lnTo>
                <a:lnTo>
                  <a:pt x="22483" y="844158"/>
                </a:lnTo>
                <a:lnTo>
                  <a:pt x="14863" y="902783"/>
                </a:lnTo>
                <a:lnTo>
                  <a:pt x="8728" y="963171"/>
                </a:lnTo>
                <a:lnTo>
                  <a:pt x="4156" y="1025348"/>
                </a:lnTo>
                <a:lnTo>
                  <a:pt x="1221" y="1089342"/>
                </a:lnTo>
                <a:lnTo>
                  <a:pt x="0" y="1155179"/>
                </a:lnTo>
                <a:lnTo>
                  <a:pt x="908" y="1220366"/>
                </a:lnTo>
                <a:lnTo>
                  <a:pt x="3581" y="1283760"/>
                </a:lnTo>
                <a:lnTo>
                  <a:pt x="7940" y="1345385"/>
                </a:lnTo>
                <a:lnTo>
                  <a:pt x="13905" y="1405264"/>
                </a:lnTo>
                <a:lnTo>
                  <a:pt x="21397" y="1463423"/>
                </a:lnTo>
                <a:lnTo>
                  <a:pt x="30337" y="1519885"/>
                </a:lnTo>
                <a:lnTo>
                  <a:pt x="40645" y="1574673"/>
                </a:lnTo>
                <a:lnTo>
                  <a:pt x="52244" y="1627811"/>
                </a:lnTo>
                <a:lnTo>
                  <a:pt x="65052" y="1679324"/>
                </a:lnTo>
                <a:lnTo>
                  <a:pt x="78992" y="1729234"/>
                </a:lnTo>
                <a:lnTo>
                  <a:pt x="93984" y="1777567"/>
                </a:lnTo>
                <a:lnTo>
                  <a:pt x="109948" y="1824345"/>
                </a:lnTo>
                <a:lnTo>
                  <a:pt x="126807" y="1869593"/>
                </a:lnTo>
                <a:lnTo>
                  <a:pt x="144480" y="1913335"/>
                </a:lnTo>
                <a:lnTo>
                  <a:pt x="162888" y="1955594"/>
                </a:lnTo>
                <a:lnTo>
                  <a:pt x="181952" y="1996394"/>
                </a:lnTo>
                <a:lnTo>
                  <a:pt x="201594" y="2035760"/>
                </a:lnTo>
                <a:lnTo>
                  <a:pt x="221733" y="2073714"/>
                </a:lnTo>
                <a:lnTo>
                  <a:pt x="242291" y="2110281"/>
                </a:lnTo>
                <a:lnTo>
                  <a:pt x="263189" y="2145484"/>
                </a:lnTo>
                <a:lnTo>
                  <a:pt x="284347" y="2179349"/>
                </a:lnTo>
                <a:lnTo>
                  <a:pt x="305686" y="2211897"/>
                </a:lnTo>
                <a:lnTo>
                  <a:pt x="348591" y="2273143"/>
                </a:lnTo>
                <a:lnTo>
                  <a:pt x="369999" y="2301888"/>
                </a:lnTo>
                <a:lnTo>
                  <a:pt x="564883" y="2301888"/>
                </a:lnTo>
                <a:lnTo>
                  <a:pt x="540060" y="2266166"/>
                </a:lnTo>
                <a:lnTo>
                  <a:pt x="515756" y="2229594"/>
                </a:lnTo>
                <a:lnTo>
                  <a:pt x="492018" y="2192144"/>
                </a:lnTo>
                <a:lnTo>
                  <a:pt x="468894" y="2153789"/>
                </a:lnTo>
                <a:lnTo>
                  <a:pt x="446432" y="2114503"/>
                </a:lnTo>
                <a:lnTo>
                  <a:pt x="424680" y="2074258"/>
                </a:lnTo>
                <a:lnTo>
                  <a:pt x="403685" y="2033028"/>
                </a:lnTo>
                <a:lnTo>
                  <a:pt x="383496" y="1990785"/>
                </a:lnTo>
                <a:lnTo>
                  <a:pt x="364159" y="1947503"/>
                </a:lnTo>
                <a:lnTo>
                  <a:pt x="345724" y="1903154"/>
                </a:lnTo>
                <a:lnTo>
                  <a:pt x="328238" y="1857711"/>
                </a:lnTo>
                <a:lnTo>
                  <a:pt x="311748" y="1811149"/>
                </a:lnTo>
                <a:lnTo>
                  <a:pt x="296302" y="1763438"/>
                </a:lnTo>
                <a:lnTo>
                  <a:pt x="281949" y="1714554"/>
                </a:lnTo>
                <a:lnTo>
                  <a:pt x="268736" y="1664467"/>
                </a:lnTo>
                <a:lnTo>
                  <a:pt x="256711" y="1613153"/>
                </a:lnTo>
                <a:lnTo>
                  <a:pt x="245921" y="1560583"/>
                </a:lnTo>
                <a:lnTo>
                  <a:pt x="236415" y="1506731"/>
                </a:lnTo>
                <a:lnTo>
                  <a:pt x="228240" y="1451570"/>
                </a:lnTo>
                <a:lnTo>
                  <a:pt x="221444" y="1395072"/>
                </a:lnTo>
                <a:lnTo>
                  <a:pt x="216076" y="1337211"/>
                </a:lnTo>
                <a:lnTo>
                  <a:pt x="212181" y="1277960"/>
                </a:lnTo>
                <a:lnTo>
                  <a:pt x="209810" y="1217292"/>
                </a:lnTo>
                <a:lnTo>
                  <a:pt x="209009" y="1155179"/>
                </a:lnTo>
                <a:lnTo>
                  <a:pt x="209721" y="1094521"/>
                </a:lnTo>
                <a:lnTo>
                  <a:pt x="211835" y="1035224"/>
                </a:lnTo>
                <a:lnTo>
                  <a:pt x="215314" y="977270"/>
                </a:lnTo>
                <a:lnTo>
                  <a:pt x="220123" y="920636"/>
                </a:lnTo>
                <a:lnTo>
                  <a:pt x="226226" y="865303"/>
                </a:lnTo>
                <a:lnTo>
                  <a:pt x="233587" y="811250"/>
                </a:lnTo>
                <a:lnTo>
                  <a:pt x="242170" y="758456"/>
                </a:lnTo>
                <a:lnTo>
                  <a:pt x="251940" y="706901"/>
                </a:lnTo>
                <a:lnTo>
                  <a:pt x="262861" y="656563"/>
                </a:lnTo>
                <a:lnTo>
                  <a:pt x="274896" y="607424"/>
                </a:lnTo>
                <a:lnTo>
                  <a:pt x="288011" y="559460"/>
                </a:lnTo>
                <a:lnTo>
                  <a:pt x="302168" y="512653"/>
                </a:lnTo>
                <a:lnTo>
                  <a:pt x="317334" y="466982"/>
                </a:lnTo>
                <a:lnTo>
                  <a:pt x="333471" y="422426"/>
                </a:lnTo>
                <a:lnTo>
                  <a:pt x="350544" y="378963"/>
                </a:lnTo>
                <a:lnTo>
                  <a:pt x="368518" y="336575"/>
                </a:lnTo>
                <a:lnTo>
                  <a:pt x="387356" y="295240"/>
                </a:lnTo>
                <a:lnTo>
                  <a:pt x="407022" y="254937"/>
                </a:lnTo>
                <a:lnTo>
                  <a:pt x="427482" y="215647"/>
                </a:lnTo>
                <a:lnTo>
                  <a:pt x="448698" y="177347"/>
                </a:lnTo>
                <a:lnTo>
                  <a:pt x="470636" y="140019"/>
                </a:lnTo>
                <a:lnTo>
                  <a:pt x="493259" y="103640"/>
                </a:lnTo>
                <a:lnTo>
                  <a:pt x="516531" y="68191"/>
                </a:lnTo>
                <a:lnTo>
                  <a:pt x="540418" y="33651"/>
                </a:lnTo>
                <a:lnTo>
                  <a:pt x="564883" y="0"/>
                </a:lnTo>
                <a:lnTo>
                  <a:pt x="369999" y="0"/>
                </a:lnTo>
                <a:close/>
              </a:path>
            </a:pathLst>
          </a:custGeom>
          <a:ln w="1256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69058" y="2612485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10">
                <a:moveTo>
                  <a:pt x="194884" y="0"/>
                </a:moveTo>
                <a:lnTo>
                  <a:pt x="0" y="0"/>
                </a:lnTo>
                <a:lnTo>
                  <a:pt x="24822" y="35721"/>
                </a:lnTo>
                <a:lnTo>
                  <a:pt x="49126" y="72293"/>
                </a:lnTo>
                <a:lnTo>
                  <a:pt x="72864" y="109743"/>
                </a:lnTo>
                <a:lnTo>
                  <a:pt x="95988" y="148098"/>
                </a:lnTo>
                <a:lnTo>
                  <a:pt x="118450" y="187384"/>
                </a:lnTo>
                <a:lnTo>
                  <a:pt x="140203" y="227629"/>
                </a:lnTo>
                <a:lnTo>
                  <a:pt x="161197" y="268859"/>
                </a:lnTo>
                <a:lnTo>
                  <a:pt x="181387" y="311102"/>
                </a:lnTo>
                <a:lnTo>
                  <a:pt x="200723" y="354384"/>
                </a:lnTo>
                <a:lnTo>
                  <a:pt x="219158" y="398733"/>
                </a:lnTo>
                <a:lnTo>
                  <a:pt x="236645" y="444176"/>
                </a:lnTo>
                <a:lnTo>
                  <a:pt x="253134" y="490738"/>
                </a:lnTo>
                <a:lnTo>
                  <a:pt x="268580" y="538449"/>
                </a:lnTo>
                <a:lnTo>
                  <a:pt x="282933" y="587333"/>
                </a:lnTo>
                <a:lnTo>
                  <a:pt x="296146" y="637420"/>
                </a:lnTo>
                <a:lnTo>
                  <a:pt x="308172" y="688734"/>
                </a:lnTo>
                <a:lnTo>
                  <a:pt x="318961" y="741304"/>
                </a:lnTo>
                <a:lnTo>
                  <a:pt x="328467" y="795156"/>
                </a:lnTo>
                <a:lnTo>
                  <a:pt x="336642" y="850317"/>
                </a:lnTo>
                <a:lnTo>
                  <a:pt x="343438" y="906815"/>
                </a:lnTo>
                <a:lnTo>
                  <a:pt x="348807" y="964676"/>
                </a:lnTo>
                <a:lnTo>
                  <a:pt x="352701" y="1023927"/>
                </a:lnTo>
                <a:lnTo>
                  <a:pt x="355072" y="1084595"/>
                </a:lnTo>
                <a:lnTo>
                  <a:pt x="355873" y="1146708"/>
                </a:lnTo>
                <a:lnTo>
                  <a:pt x="355161" y="1207366"/>
                </a:lnTo>
                <a:lnTo>
                  <a:pt x="353047" y="1266663"/>
                </a:lnTo>
                <a:lnTo>
                  <a:pt x="349568" y="1324617"/>
                </a:lnTo>
                <a:lnTo>
                  <a:pt x="344759" y="1381251"/>
                </a:lnTo>
                <a:lnTo>
                  <a:pt x="338656" y="1436584"/>
                </a:lnTo>
                <a:lnTo>
                  <a:pt x="331295" y="1490637"/>
                </a:lnTo>
                <a:lnTo>
                  <a:pt x="322712" y="1543431"/>
                </a:lnTo>
                <a:lnTo>
                  <a:pt x="312942" y="1594986"/>
                </a:lnTo>
                <a:lnTo>
                  <a:pt x="302022" y="1645324"/>
                </a:lnTo>
                <a:lnTo>
                  <a:pt x="289986" y="1694464"/>
                </a:lnTo>
                <a:lnTo>
                  <a:pt x="276872" y="1742427"/>
                </a:lnTo>
                <a:lnTo>
                  <a:pt x="262714" y="1789234"/>
                </a:lnTo>
                <a:lnTo>
                  <a:pt x="247548" y="1834905"/>
                </a:lnTo>
                <a:lnTo>
                  <a:pt x="231411" y="1879462"/>
                </a:lnTo>
                <a:lnTo>
                  <a:pt x="214338" y="1922924"/>
                </a:lnTo>
                <a:lnTo>
                  <a:pt x="196364" y="1965312"/>
                </a:lnTo>
                <a:lnTo>
                  <a:pt x="177527" y="2006647"/>
                </a:lnTo>
                <a:lnTo>
                  <a:pt x="157860" y="2046950"/>
                </a:lnTo>
                <a:lnTo>
                  <a:pt x="137401" y="2086240"/>
                </a:lnTo>
                <a:lnTo>
                  <a:pt x="116184" y="2124540"/>
                </a:lnTo>
                <a:lnTo>
                  <a:pt x="94247" y="2161868"/>
                </a:lnTo>
                <a:lnTo>
                  <a:pt x="71624" y="2198247"/>
                </a:lnTo>
                <a:lnTo>
                  <a:pt x="48351" y="2233696"/>
                </a:lnTo>
                <a:lnTo>
                  <a:pt x="24464" y="2268236"/>
                </a:lnTo>
                <a:lnTo>
                  <a:pt x="0" y="2301888"/>
                </a:lnTo>
                <a:lnTo>
                  <a:pt x="194884" y="2301888"/>
                </a:lnTo>
                <a:lnTo>
                  <a:pt x="237705" y="2242525"/>
                </a:lnTo>
                <a:lnTo>
                  <a:pt x="259089" y="2210987"/>
                </a:lnTo>
                <a:lnTo>
                  <a:pt x="280353" y="2178174"/>
                </a:lnTo>
                <a:lnTo>
                  <a:pt x="301422" y="2144060"/>
                </a:lnTo>
                <a:lnTo>
                  <a:pt x="322220" y="2108617"/>
                </a:lnTo>
                <a:lnTo>
                  <a:pt x="342670" y="2071818"/>
                </a:lnTo>
                <a:lnTo>
                  <a:pt x="362698" y="2033636"/>
                </a:lnTo>
                <a:lnTo>
                  <a:pt x="382226" y="1994045"/>
                </a:lnTo>
                <a:lnTo>
                  <a:pt x="401180" y="1953016"/>
                </a:lnTo>
                <a:lnTo>
                  <a:pt x="419483" y="1910524"/>
                </a:lnTo>
                <a:lnTo>
                  <a:pt x="437059" y="1866540"/>
                </a:lnTo>
                <a:lnTo>
                  <a:pt x="453833" y="1821037"/>
                </a:lnTo>
                <a:lnTo>
                  <a:pt x="469728" y="1773989"/>
                </a:lnTo>
                <a:lnTo>
                  <a:pt x="484669" y="1725369"/>
                </a:lnTo>
                <a:lnTo>
                  <a:pt x="498580" y="1675149"/>
                </a:lnTo>
                <a:lnTo>
                  <a:pt x="511384" y="1623302"/>
                </a:lnTo>
                <a:lnTo>
                  <a:pt x="523006" y="1569801"/>
                </a:lnTo>
                <a:lnTo>
                  <a:pt x="533370" y="1514619"/>
                </a:lnTo>
                <a:lnTo>
                  <a:pt x="542400" y="1457729"/>
                </a:lnTo>
                <a:lnTo>
                  <a:pt x="550020" y="1399104"/>
                </a:lnTo>
                <a:lnTo>
                  <a:pt x="556154" y="1338716"/>
                </a:lnTo>
                <a:lnTo>
                  <a:pt x="560727" y="1276539"/>
                </a:lnTo>
                <a:lnTo>
                  <a:pt x="563661" y="1212545"/>
                </a:lnTo>
                <a:lnTo>
                  <a:pt x="564883" y="1146708"/>
                </a:lnTo>
                <a:lnTo>
                  <a:pt x="563974" y="1081521"/>
                </a:lnTo>
                <a:lnTo>
                  <a:pt x="561301" y="1018128"/>
                </a:lnTo>
                <a:lnTo>
                  <a:pt x="556942" y="956503"/>
                </a:lnTo>
                <a:lnTo>
                  <a:pt x="550977" y="896623"/>
                </a:lnTo>
                <a:lnTo>
                  <a:pt x="543485" y="838464"/>
                </a:lnTo>
                <a:lnTo>
                  <a:pt x="534545" y="782002"/>
                </a:lnTo>
                <a:lnTo>
                  <a:pt x="524237" y="727214"/>
                </a:lnTo>
                <a:lnTo>
                  <a:pt x="512639" y="674076"/>
                </a:lnTo>
                <a:lnTo>
                  <a:pt x="499830" y="622563"/>
                </a:lnTo>
                <a:lnTo>
                  <a:pt x="485890" y="572653"/>
                </a:lnTo>
                <a:lnTo>
                  <a:pt x="470899" y="524320"/>
                </a:lnTo>
                <a:lnTo>
                  <a:pt x="454934" y="477542"/>
                </a:lnTo>
                <a:lnTo>
                  <a:pt x="438076" y="432294"/>
                </a:lnTo>
                <a:lnTo>
                  <a:pt x="420403" y="388552"/>
                </a:lnTo>
                <a:lnTo>
                  <a:pt x="401994" y="346293"/>
                </a:lnTo>
                <a:lnTo>
                  <a:pt x="382930" y="305493"/>
                </a:lnTo>
                <a:lnTo>
                  <a:pt x="363288" y="266127"/>
                </a:lnTo>
                <a:lnTo>
                  <a:pt x="343149" y="228173"/>
                </a:lnTo>
                <a:lnTo>
                  <a:pt x="322591" y="191606"/>
                </a:lnTo>
                <a:lnTo>
                  <a:pt x="301693" y="156403"/>
                </a:lnTo>
                <a:lnTo>
                  <a:pt x="280535" y="122538"/>
                </a:lnTo>
                <a:lnTo>
                  <a:pt x="259196" y="89990"/>
                </a:lnTo>
                <a:lnTo>
                  <a:pt x="216291" y="28744"/>
                </a:lnTo>
                <a:lnTo>
                  <a:pt x="194884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69058" y="2612485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10">
                <a:moveTo>
                  <a:pt x="194884" y="2301888"/>
                </a:moveTo>
                <a:lnTo>
                  <a:pt x="237705" y="2242525"/>
                </a:lnTo>
                <a:lnTo>
                  <a:pt x="259089" y="2210987"/>
                </a:lnTo>
                <a:lnTo>
                  <a:pt x="280353" y="2178174"/>
                </a:lnTo>
                <a:lnTo>
                  <a:pt x="301422" y="2144060"/>
                </a:lnTo>
                <a:lnTo>
                  <a:pt x="322220" y="2108617"/>
                </a:lnTo>
                <a:lnTo>
                  <a:pt x="342670" y="2071818"/>
                </a:lnTo>
                <a:lnTo>
                  <a:pt x="362698" y="2033636"/>
                </a:lnTo>
                <a:lnTo>
                  <a:pt x="382226" y="1994045"/>
                </a:lnTo>
                <a:lnTo>
                  <a:pt x="401180" y="1953016"/>
                </a:lnTo>
                <a:lnTo>
                  <a:pt x="419483" y="1910524"/>
                </a:lnTo>
                <a:lnTo>
                  <a:pt x="437059" y="1866540"/>
                </a:lnTo>
                <a:lnTo>
                  <a:pt x="453833" y="1821037"/>
                </a:lnTo>
                <a:lnTo>
                  <a:pt x="469728" y="1773989"/>
                </a:lnTo>
                <a:lnTo>
                  <a:pt x="484669" y="1725369"/>
                </a:lnTo>
                <a:lnTo>
                  <a:pt x="498580" y="1675149"/>
                </a:lnTo>
                <a:lnTo>
                  <a:pt x="511384" y="1623302"/>
                </a:lnTo>
                <a:lnTo>
                  <a:pt x="523006" y="1569801"/>
                </a:lnTo>
                <a:lnTo>
                  <a:pt x="533370" y="1514619"/>
                </a:lnTo>
                <a:lnTo>
                  <a:pt x="542400" y="1457729"/>
                </a:lnTo>
                <a:lnTo>
                  <a:pt x="550020" y="1399104"/>
                </a:lnTo>
                <a:lnTo>
                  <a:pt x="556154" y="1338716"/>
                </a:lnTo>
                <a:lnTo>
                  <a:pt x="560727" y="1276539"/>
                </a:lnTo>
                <a:lnTo>
                  <a:pt x="563661" y="1212545"/>
                </a:lnTo>
                <a:lnTo>
                  <a:pt x="564883" y="1146708"/>
                </a:lnTo>
                <a:lnTo>
                  <a:pt x="563974" y="1081521"/>
                </a:lnTo>
                <a:lnTo>
                  <a:pt x="561301" y="1018128"/>
                </a:lnTo>
                <a:lnTo>
                  <a:pt x="556942" y="956503"/>
                </a:lnTo>
                <a:lnTo>
                  <a:pt x="550977" y="896623"/>
                </a:lnTo>
                <a:lnTo>
                  <a:pt x="543485" y="838464"/>
                </a:lnTo>
                <a:lnTo>
                  <a:pt x="534545" y="782002"/>
                </a:lnTo>
                <a:lnTo>
                  <a:pt x="524237" y="727214"/>
                </a:lnTo>
                <a:lnTo>
                  <a:pt x="512639" y="674076"/>
                </a:lnTo>
                <a:lnTo>
                  <a:pt x="499830" y="622563"/>
                </a:lnTo>
                <a:lnTo>
                  <a:pt x="485890" y="572653"/>
                </a:lnTo>
                <a:lnTo>
                  <a:pt x="470899" y="524320"/>
                </a:lnTo>
                <a:lnTo>
                  <a:pt x="454934" y="477542"/>
                </a:lnTo>
                <a:lnTo>
                  <a:pt x="438076" y="432294"/>
                </a:lnTo>
                <a:lnTo>
                  <a:pt x="420403" y="388552"/>
                </a:lnTo>
                <a:lnTo>
                  <a:pt x="401994" y="346293"/>
                </a:lnTo>
                <a:lnTo>
                  <a:pt x="382930" y="305493"/>
                </a:lnTo>
                <a:lnTo>
                  <a:pt x="363288" y="266127"/>
                </a:lnTo>
                <a:lnTo>
                  <a:pt x="343149" y="228173"/>
                </a:lnTo>
                <a:lnTo>
                  <a:pt x="322591" y="191606"/>
                </a:lnTo>
                <a:lnTo>
                  <a:pt x="301693" y="156403"/>
                </a:lnTo>
                <a:lnTo>
                  <a:pt x="280535" y="122538"/>
                </a:lnTo>
                <a:lnTo>
                  <a:pt x="259196" y="89990"/>
                </a:lnTo>
                <a:lnTo>
                  <a:pt x="216291" y="28744"/>
                </a:lnTo>
                <a:lnTo>
                  <a:pt x="194884" y="0"/>
                </a:lnTo>
                <a:lnTo>
                  <a:pt x="0" y="0"/>
                </a:lnTo>
                <a:lnTo>
                  <a:pt x="24822" y="35721"/>
                </a:lnTo>
                <a:lnTo>
                  <a:pt x="49126" y="72293"/>
                </a:lnTo>
                <a:lnTo>
                  <a:pt x="72864" y="109743"/>
                </a:lnTo>
                <a:lnTo>
                  <a:pt x="95988" y="148098"/>
                </a:lnTo>
                <a:lnTo>
                  <a:pt x="118450" y="187384"/>
                </a:lnTo>
                <a:lnTo>
                  <a:pt x="140203" y="227629"/>
                </a:lnTo>
                <a:lnTo>
                  <a:pt x="161197" y="268859"/>
                </a:lnTo>
                <a:lnTo>
                  <a:pt x="181387" y="311102"/>
                </a:lnTo>
                <a:lnTo>
                  <a:pt x="200723" y="354384"/>
                </a:lnTo>
                <a:lnTo>
                  <a:pt x="219158" y="398733"/>
                </a:lnTo>
                <a:lnTo>
                  <a:pt x="236645" y="444176"/>
                </a:lnTo>
                <a:lnTo>
                  <a:pt x="253134" y="490738"/>
                </a:lnTo>
                <a:lnTo>
                  <a:pt x="268580" y="538449"/>
                </a:lnTo>
                <a:lnTo>
                  <a:pt x="282933" y="587333"/>
                </a:lnTo>
                <a:lnTo>
                  <a:pt x="296146" y="637420"/>
                </a:lnTo>
                <a:lnTo>
                  <a:pt x="308172" y="688734"/>
                </a:lnTo>
                <a:lnTo>
                  <a:pt x="318961" y="741304"/>
                </a:lnTo>
                <a:lnTo>
                  <a:pt x="328467" y="795156"/>
                </a:lnTo>
                <a:lnTo>
                  <a:pt x="336642" y="850317"/>
                </a:lnTo>
                <a:lnTo>
                  <a:pt x="343438" y="906815"/>
                </a:lnTo>
                <a:lnTo>
                  <a:pt x="348807" y="964676"/>
                </a:lnTo>
                <a:lnTo>
                  <a:pt x="352701" y="1023927"/>
                </a:lnTo>
                <a:lnTo>
                  <a:pt x="355072" y="1084595"/>
                </a:lnTo>
                <a:lnTo>
                  <a:pt x="355873" y="1146708"/>
                </a:lnTo>
                <a:lnTo>
                  <a:pt x="355161" y="1207366"/>
                </a:lnTo>
                <a:lnTo>
                  <a:pt x="353047" y="1266663"/>
                </a:lnTo>
                <a:lnTo>
                  <a:pt x="349568" y="1324617"/>
                </a:lnTo>
                <a:lnTo>
                  <a:pt x="344759" y="1381251"/>
                </a:lnTo>
                <a:lnTo>
                  <a:pt x="338656" y="1436584"/>
                </a:lnTo>
                <a:lnTo>
                  <a:pt x="331295" y="1490637"/>
                </a:lnTo>
                <a:lnTo>
                  <a:pt x="322712" y="1543431"/>
                </a:lnTo>
                <a:lnTo>
                  <a:pt x="312942" y="1594986"/>
                </a:lnTo>
                <a:lnTo>
                  <a:pt x="302022" y="1645324"/>
                </a:lnTo>
                <a:lnTo>
                  <a:pt x="289986" y="1694464"/>
                </a:lnTo>
                <a:lnTo>
                  <a:pt x="276872" y="1742427"/>
                </a:lnTo>
                <a:lnTo>
                  <a:pt x="262714" y="1789234"/>
                </a:lnTo>
                <a:lnTo>
                  <a:pt x="247548" y="1834905"/>
                </a:lnTo>
                <a:lnTo>
                  <a:pt x="231411" y="1879462"/>
                </a:lnTo>
                <a:lnTo>
                  <a:pt x="214338" y="1922924"/>
                </a:lnTo>
                <a:lnTo>
                  <a:pt x="196364" y="1965312"/>
                </a:lnTo>
                <a:lnTo>
                  <a:pt x="177527" y="2006647"/>
                </a:lnTo>
                <a:lnTo>
                  <a:pt x="157860" y="2046950"/>
                </a:lnTo>
                <a:lnTo>
                  <a:pt x="137401" y="2086240"/>
                </a:lnTo>
                <a:lnTo>
                  <a:pt x="116184" y="2124540"/>
                </a:lnTo>
                <a:lnTo>
                  <a:pt x="94247" y="2161868"/>
                </a:lnTo>
                <a:lnTo>
                  <a:pt x="71624" y="2198247"/>
                </a:lnTo>
                <a:lnTo>
                  <a:pt x="48351" y="2233696"/>
                </a:lnTo>
                <a:lnTo>
                  <a:pt x="24464" y="2268236"/>
                </a:lnTo>
                <a:lnTo>
                  <a:pt x="0" y="2301888"/>
                </a:lnTo>
                <a:lnTo>
                  <a:pt x="194884" y="2301888"/>
                </a:lnTo>
                <a:close/>
              </a:path>
            </a:pathLst>
          </a:custGeom>
          <a:ln w="1256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92396" y="2838731"/>
            <a:ext cx="607060" cy="2035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" marR="62230" indent="-6350">
              <a:lnSpc>
                <a:spcPct val="100000"/>
              </a:lnSpc>
              <a:spcBef>
                <a:spcPts val="95"/>
              </a:spcBef>
            </a:pPr>
            <a:r>
              <a:rPr sz="4950" b="1" i="1" spc="-532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spc="-35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i="1" spc="-355" dirty="0">
                <a:solidFill>
                  <a:srgbClr val="1E1E1E"/>
                </a:solidFill>
                <a:latin typeface="Verdana"/>
                <a:cs typeface="Verdana"/>
              </a:rPr>
              <a:t>n  </a:t>
            </a:r>
            <a:r>
              <a:rPr sz="4950" b="1" i="1" spc="-555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spc="-27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855"/>
              </a:lnSpc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endParaRPr sz="3300">
              <a:latin typeface="Verdana"/>
              <a:cs typeface="Verdana"/>
            </a:endParaRPr>
          </a:p>
          <a:p>
            <a:pPr marL="80010">
              <a:lnSpc>
                <a:spcPct val="100000"/>
              </a:lnSpc>
              <a:spcBef>
                <a:spcPts val="1095"/>
              </a:spcBef>
            </a:pPr>
            <a:r>
              <a:rPr sz="4950" b="1" i="1" spc="-540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nn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55</a:t>
            </a:fld>
            <a:endParaRPr spc="-370" dirty="0"/>
          </a:p>
        </p:txBody>
      </p:sp>
      <p:sp>
        <p:nvSpPr>
          <p:cNvPr id="16" name="object 16"/>
          <p:cNvSpPr txBox="1"/>
          <p:nvPr/>
        </p:nvSpPr>
        <p:spPr>
          <a:xfrm>
            <a:off x="2940089" y="2838731"/>
            <a:ext cx="1517015" cy="2035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  <a:tabLst>
                <a:tab pos="1010285" algn="l"/>
              </a:tabLst>
            </a:pPr>
            <a:r>
              <a:rPr sz="4950" b="1" i="1" spc="-585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spc="-390" dirty="0">
                <a:solidFill>
                  <a:srgbClr val="1E1E1E"/>
                </a:solidFill>
                <a:latin typeface="Verdana"/>
                <a:cs typeface="Verdana"/>
              </a:rPr>
              <a:t>11	</a:t>
            </a:r>
            <a:r>
              <a:rPr sz="4950" b="1" i="1" spc="-615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spc="-409" dirty="0">
                <a:solidFill>
                  <a:srgbClr val="1E1E1E"/>
                </a:solidFill>
                <a:latin typeface="Verdana"/>
                <a:cs typeface="Verdana"/>
              </a:rPr>
              <a:t>12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3410"/>
              </a:lnSpc>
              <a:tabLst>
                <a:tab pos="976630" algn="l"/>
              </a:tabLst>
            </a:pPr>
            <a:r>
              <a:rPr sz="4950" b="1" i="1" spc="-509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spc="-340" dirty="0">
                <a:solidFill>
                  <a:srgbClr val="1E1E1E"/>
                </a:solidFill>
                <a:latin typeface="Verdana"/>
                <a:cs typeface="Verdana"/>
              </a:rPr>
              <a:t>21	</a:t>
            </a:r>
            <a:r>
              <a:rPr sz="4950" b="1" i="1" spc="-480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22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3410"/>
              </a:lnSpc>
              <a:tabLst>
                <a:tab pos="963294" algn="l"/>
              </a:tabLst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	…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1001394" algn="l"/>
              </a:tabLst>
            </a:pPr>
            <a:r>
              <a:rPr sz="4950" b="1" i="1" spc="-540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i="1" spc="-37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4950" b="1" i="1" spc="-540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i="1" spc="-32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52419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75" dirty="0"/>
              <a:t>Собственные </a:t>
            </a:r>
            <a:r>
              <a:rPr spc="-295" dirty="0"/>
              <a:t>числа </a:t>
            </a:r>
            <a:r>
              <a:rPr spc="-200" dirty="0"/>
              <a:t>и </a:t>
            </a:r>
            <a:r>
              <a:rPr spc="-395" dirty="0"/>
              <a:t>собственные </a:t>
            </a:r>
            <a:r>
              <a:rPr spc="-285" dirty="0"/>
              <a:t>векторы</a:t>
            </a:r>
            <a:r>
              <a:rPr spc="-90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9122" y="7083209"/>
            <a:ext cx="1059815" cy="1310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27699"/>
              </a:lnSpc>
              <a:spcBef>
                <a:spcPts val="100"/>
              </a:spcBef>
            </a:pPr>
            <a:r>
              <a:rPr sz="3300" b="1" i="1" spc="-39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spc="-585" baseline="-32163" dirty="0">
                <a:solidFill>
                  <a:srgbClr val="1E1E1E"/>
                </a:solidFill>
                <a:latin typeface="Verdana"/>
                <a:cs typeface="Verdana"/>
              </a:rPr>
              <a:t>11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85" dirty="0">
                <a:solidFill>
                  <a:srgbClr val="CB3757"/>
                </a:solidFill>
                <a:latin typeface="Verdana"/>
                <a:cs typeface="Verdana"/>
              </a:rPr>
              <a:t>λ  </a:t>
            </a:r>
            <a:r>
              <a:rPr sz="4950" b="1" i="1" spc="-555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spc="-370" dirty="0">
                <a:solidFill>
                  <a:srgbClr val="1E1E1E"/>
                </a:solidFill>
                <a:latin typeface="Verdana"/>
                <a:cs typeface="Verdana"/>
              </a:rPr>
              <a:t>21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9164" y="9121262"/>
            <a:ext cx="5219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b="1" i="1" spc="-540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i="1" spc="-37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90503" y="5212271"/>
            <a:ext cx="12609195" cy="1784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" marR="5080" indent="-635">
              <a:lnSpc>
                <a:spcPct val="100000"/>
              </a:lnSpc>
              <a:spcBef>
                <a:spcPts val="95"/>
              </a:spcBef>
              <a:tabLst>
                <a:tab pos="8504555" algn="l"/>
              </a:tabLst>
            </a:pP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Вектор-столбец </a:t>
            </a:r>
            <a:r>
              <a:rPr sz="3300" b="1" i="1" spc="-64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780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1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622" baseline="-32163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2850" b="1" i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собственный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вектор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матрицы, 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принадлежащий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собственному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числу</a:t>
            </a:r>
            <a:r>
              <a:rPr sz="3300" spc="31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585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r>
              <a:rPr sz="3300" b="1" i="1" spc="-125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если	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AX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555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r>
              <a:rPr sz="3300" b="1" i="1" spc="-555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310" dirty="0">
                <a:solidFill>
                  <a:srgbClr val="1E1E1E"/>
                </a:solidFill>
                <a:latin typeface="DejaVu Sans"/>
                <a:cs typeface="DejaVu Sans"/>
              </a:rPr>
              <a:t>∃</a:t>
            </a:r>
            <a:r>
              <a:rPr sz="3300" b="1" i="1" spc="-31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465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≠</a:t>
            </a:r>
            <a:r>
              <a:rPr sz="3300" b="1" i="1" spc="-89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55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spc="-35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75"/>
              </a:spcBef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Система </a:t>
            </a:r>
            <a:r>
              <a:rPr sz="3300" spc="-190" dirty="0">
                <a:solidFill>
                  <a:srgbClr val="1E1E1E"/>
                </a:solidFill>
                <a:latin typeface="Arial"/>
                <a:cs typeface="Arial"/>
              </a:rPr>
              <a:t>л. </a:t>
            </a:r>
            <a:r>
              <a:rPr sz="3300" spc="-229" dirty="0">
                <a:solidFill>
                  <a:srgbClr val="1E1E1E"/>
                </a:solidFill>
                <a:latin typeface="Arial"/>
                <a:cs typeface="Arial"/>
              </a:rPr>
              <a:t>у.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относительно </a:t>
            </a:r>
            <a:r>
              <a:rPr sz="3300" b="1" i="1" spc="-43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644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43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6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502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spc="-335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3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32592" y="7362153"/>
            <a:ext cx="1146175" cy="891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410"/>
              </a:lnSpc>
              <a:spcBef>
                <a:spcPts val="95"/>
              </a:spcBef>
            </a:pPr>
            <a:r>
              <a:rPr sz="4950" b="1" i="1" spc="-615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spc="-409" dirty="0">
                <a:solidFill>
                  <a:srgbClr val="1E1E1E"/>
                </a:solidFill>
                <a:latin typeface="Verdana"/>
                <a:cs typeface="Verdana"/>
              </a:rPr>
              <a:t>12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3410"/>
              </a:lnSpc>
            </a:pPr>
            <a:r>
              <a:rPr sz="3300" b="1" i="1" spc="-32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spc="-480" baseline="-32163" dirty="0">
                <a:solidFill>
                  <a:srgbClr val="1E1E1E"/>
                </a:solidFill>
                <a:latin typeface="Verdana"/>
                <a:cs typeface="Verdana"/>
              </a:rPr>
              <a:t>22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7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32780" y="9121262"/>
            <a:ext cx="5276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b="1" i="1" spc="-540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i="1" spc="-32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27347" y="8981790"/>
            <a:ext cx="11214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29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442" baseline="-32163" dirty="0">
                <a:solidFill>
                  <a:srgbClr val="1E1E1E"/>
                </a:solidFill>
                <a:latin typeface="Verdana"/>
                <a:cs typeface="Verdana"/>
              </a:rPr>
              <a:t>nn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8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27421" y="7362153"/>
            <a:ext cx="53403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95"/>
              </a:spcBef>
            </a:pPr>
            <a:r>
              <a:rPr sz="4950" b="1" i="1" spc="-532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spc="-35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i="1" spc="-355" dirty="0">
                <a:solidFill>
                  <a:srgbClr val="1E1E1E"/>
                </a:solidFill>
                <a:latin typeface="Verdana"/>
                <a:cs typeface="Verdana"/>
              </a:rPr>
              <a:t>n  </a:t>
            </a:r>
            <a:r>
              <a:rPr sz="4950" b="1" i="1" spc="-555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spc="-27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58200" y="7976585"/>
            <a:ext cx="2755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394257" y="8594694"/>
            <a:ext cx="275590" cy="275590"/>
          </a:xfrm>
          <a:custGeom>
            <a:avLst/>
            <a:gdLst/>
            <a:ahLst/>
            <a:cxnLst/>
            <a:rect l="l" t="t" r="r" b="b"/>
            <a:pathLst>
              <a:path w="275589" h="275590">
                <a:moveTo>
                  <a:pt x="39425" y="0"/>
                </a:moveTo>
                <a:lnTo>
                  <a:pt x="25223" y="3234"/>
                </a:lnTo>
                <a:lnTo>
                  <a:pt x="12216" y="12330"/>
                </a:lnTo>
                <a:lnTo>
                  <a:pt x="3248" y="25120"/>
                </a:lnTo>
                <a:lnTo>
                  <a:pt x="0" y="39131"/>
                </a:lnTo>
                <a:lnTo>
                  <a:pt x="2637" y="53141"/>
                </a:lnTo>
                <a:lnTo>
                  <a:pt x="11326" y="65931"/>
                </a:lnTo>
                <a:lnTo>
                  <a:pt x="24287" y="74790"/>
                </a:lnTo>
                <a:lnTo>
                  <a:pt x="38388" y="77514"/>
                </a:lnTo>
                <a:lnTo>
                  <a:pt x="52435" y="74297"/>
                </a:lnTo>
                <a:lnTo>
                  <a:pt x="65230" y="65334"/>
                </a:lnTo>
                <a:lnTo>
                  <a:pt x="74450" y="52208"/>
                </a:lnTo>
                <a:lnTo>
                  <a:pt x="77704" y="38053"/>
                </a:lnTo>
                <a:lnTo>
                  <a:pt x="75017" y="24065"/>
                </a:lnTo>
                <a:lnTo>
                  <a:pt x="66414" y="11440"/>
                </a:lnTo>
                <a:lnTo>
                  <a:pt x="53572" y="2708"/>
                </a:lnTo>
                <a:lnTo>
                  <a:pt x="39425" y="0"/>
                </a:lnTo>
                <a:close/>
              </a:path>
              <a:path w="275589" h="275590">
                <a:moveTo>
                  <a:pt x="138159" y="98732"/>
                </a:moveTo>
                <a:lnTo>
                  <a:pt x="123885" y="101896"/>
                </a:lnTo>
                <a:lnTo>
                  <a:pt x="110831" y="110945"/>
                </a:lnTo>
                <a:lnTo>
                  <a:pt x="101911" y="123782"/>
                </a:lnTo>
                <a:lnTo>
                  <a:pt x="98766" y="137897"/>
                </a:lnTo>
                <a:lnTo>
                  <a:pt x="101508" y="152012"/>
                </a:lnTo>
                <a:lnTo>
                  <a:pt x="110245" y="164849"/>
                </a:lnTo>
                <a:lnTo>
                  <a:pt x="123205" y="173709"/>
                </a:lnTo>
                <a:lnTo>
                  <a:pt x="137307" y="176433"/>
                </a:lnTo>
                <a:lnTo>
                  <a:pt x="151353" y="173216"/>
                </a:lnTo>
                <a:lnTo>
                  <a:pt x="164149" y="164252"/>
                </a:lnTo>
                <a:lnTo>
                  <a:pt x="173241" y="150994"/>
                </a:lnTo>
                <a:lnTo>
                  <a:pt x="176476" y="136820"/>
                </a:lnTo>
                <a:lnTo>
                  <a:pt x="173770" y="122813"/>
                </a:lnTo>
                <a:lnTo>
                  <a:pt x="165039" y="110055"/>
                </a:lnTo>
                <a:lnTo>
                  <a:pt x="152321" y="101452"/>
                </a:lnTo>
                <a:lnTo>
                  <a:pt x="138159" y="98732"/>
                </a:lnTo>
                <a:close/>
              </a:path>
              <a:path w="275589" h="275590">
                <a:moveTo>
                  <a:pt x="237076" y="197651"/>
                </a:moveTo>
                <a:lnTo>
                  <a:pt x="222803" y="200815"/>
                </a:lnTo>
                <a:lnTo>
                  <a:pt x="209750" y="209864"/>
                </a:lnTo>
                <a:lnTo>
                  <a:pt x="200829" y="222701"/>
                </a:lnTo>
                <a:lnTo>
                  <a:pt x="197685" y="236816"/>
                </a:lnTo>
                <a:lnTo>
                  <a:pt x="200426" y="250931"/>
                </a:lnTo>
                <a:lnTo>
                  <a:pt x="209163" y="263768"/>
                </a:lnTo>
                <a:lnTo>
                  <a:pt x="222124" y="272627"/>
                </a:lnTo>
                <a:lnTo>
                  <a:pt x="236225" y="275351"/>
                </a:lnTo>
                <a:lnTo>
                  <a:pt x="250272" y="272134"/>
                </a:lnTo>
                <a:lnTo>
                  <a:pt x="263067" y="263171"/>
                </a:lnTo>
                <a:lnTo>
                  <a:pt x="272159" y="249913"/>
                </a:lnTo>
                <a:lnTo>
                  <a:pt x="275393" y="235738"/>
                </a:lnTo>
                <a:lnTo>
                  <a:pt x="272684" y="221731"/>
                </a:lnTo>
                <a:lnTo>
                  <a:pt x="263947" y="208974"/>
                </a:lnTo>
                <a:lnTo>
                  <a:pt x="251235" y="200371"/>
                </a:lnTo>
                <a:lnTo>
                  <a:pt x="237076" y="197651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54664" y="9374583"/>
            <a:ext cx="354965" cy="78105"/>
          </a:xfrm>
          <a:custGeom>
            <a:avLst/>
            <a:gdLst/>
            <a:ahLst/>
            <a:cxnLst/>
            <a:rect l="l" t="t" r="r" b="b"/>
            <a:pathLst>
              <a:path w="354964" h="78104">
                <a:moveTo>
                  <a:pt x="37695" y="0"/>
                </a:moveTo>
                <a:lnTo>
                  <a:pt x="22440" y="2905"/>
                </a:lnTo>
                <a:lnTo>
                  <a:pt x="10523" y="10994"/>
                </a:lnTo>
                <a:lnTo>
                  <a:pt x="2768" y="23323"/>
                </a:lnTo>
                <a:lnTo>
                  <a:pt x="0" y="38951"/>
                </a:lnTo>
                <a:lnTo>
                  <a:pt x="2702" y="54337"/>
                </a:lnTo>
                <a:lnTo>
                  <a:pt x="10313" y="66542"/>
                </a:lnTo>
                <a:lnTo>
                  <a:pt x="22087" y="74585"/>
                </a:lnTo>
                <a:lnTo>
                  <a:pt x="37276" y="77484"/>
                </a:lnTo>
                <a:lnTo>
                  <a:pt x="52707" y="74585"/>
                </a:lnTo>
                <a:lnTo>
                  <a:pt x="64605" y="66542"/>
                </a:lnTo>
                <a:lnTo>
                  <a:pt x="72262" y="54337"/>
                </a:lnTo>
                <a:lnTo>
                  <a:pt x="74971" y="38951"/>
                </a:lnTo>
                <a:lnTo>
                  <a:pt x="72209" y="23147"/>
                </a:lnTo>
                <a:lnTo>
                  <a:pt x="64500" y="10837"/>
                </a:lnTo>
                <a:lnTo>
                  <a:pt x="52707" y="2846"/>
                </a:lnTo>
                <a:lnTo>
                  <a:pt x="37695" y="0"/>
                </a:lnTo>
                <a:close/>
              </a:path>
              <a:path w="354964" h="78104">
                <a:moveTo>
                  <a:pt x="177167" y="0"/>
                </a:moveTo>
                <a:lnTo>
                  <a:pt x="162089" y="2905"/>
                </a:lnTo>
                <a:lnTo>
                  <a:pt x="150152" y="10994"/>
                </a:lnTo>
                <a:lnTo>
                  <a:pt x="142299" y="23323"/>
                </a:lnTo>
                <a:lnTo>
                  <a:pt x="139472" y="38951"/>
                </a:lnTo>
                <a:lnTo>
                  <a:pt x="142240" y="54337"/>
                </a:lnTo>
                <a:lnTo>
                  <a:pt x="149995" y="66542"/>
                </a:lnTo>
                <a:lnTo>
                  <a:pt x="161912" y="74585"/>
                </a:lnTo>
                <a:lnTo>
                  <a:pt x="177167" y="77484"/>
                </a:lnTo>
                <a:lnTo>
                  <a:pt x="192598" y="74585"/>
                </a:lnTo>
                <a:lnTo>
                  <a:pt x="204496" y="66542"/>
                </a:lnTo>
                <a:lnTo>
                  <a:pt x="212153" y="54337"/>
                </a:lnTo>
                <a:lnTo>
                  <a:pt x="214862" y="38951"/>
                </a:lnTo>
                <a:lnTo>
                  <a:pt x="211917" y="23147"/>
                </a:lnTo>
                <a:lnTo>
                  <a:pt x="204182" y="10837"/>
                </a:lnTo>
                <a:lnTo>
                  <a:pt x="192363" y="2846"/>
                </a:lnTo>
                <a:lnTo>
                  <a:pt x="177167" y="0"/>
                </a:lnTo>
                <a:close/>
              </a:path>
              <a:path w="354964" h="78104">
                <a:moveTo>
                  <a:pt x="317058" y="0"/>
                </a:moveTo>
                <a:lnTo>
                  <a:pt x="301980" y="2905"/>
                </a:lnTo>
                <a:lnTo>
                  <a:pt x="290043" y="10994"/>
                </a:lnTo>
                <a:lnTo>
                  <a:pt x="282190" y="23323"/>
                </a:lnTo>
                <a:lnTo>
                  <a:pt x="279363" y="38951"/>
                </a:lnTo>
                <a:lnTo>
                  <a:pt x="282131" y="54337"/>
                </a:lnTo>
                <a:lnTo>
                  <a:pt x="289886" y="66542"/>
                </a:lnTo>
                <a:lnTo>
                  <a:pt x="301803" y="74585"/>
                </a:lnTo>
                <a:lnTo>
                  <a:pt x="317058" y="77484"/>
                </a:lnTo>
                <a:lnTo>
                  <a:pt x="332489" y="74585"/>
                </a:lnTo>
                <a:lnTo>
                  <a:pt x="344387" y="66542"/>
                </a:lnTo>
                <a:lnTo>
                  <a:pt x="352044" y="54337"/>
                </a:lnTo>
                <a:lnTo>
                  <a:pt x="354753" y="38951"/>
                </a:lnTo>
                <a:lnTo>
                  <a:pt x="351808" y="23147"/>
                </a:lnTo>
                <a:lnTo>
                  <a:pt x="344073" y="10837"/>
                </a:lnTo>
                <a:lnTo>
                  <a:pt x="332254" y="2846"/>
                </a:lnTo>
                <a:lnTo>
                  <a:pt x="317058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54664" y="7602386"/>
            <a:ext cx="354965" cy="78105"/>
          </a:xfrm>
          <a:custGeom>
            <a:avLst/>
            <a:gdLst/>
            <a:ahLst/>
            <a:cxnLst/>
            <a:rect l="l" t="t" r="r" b="b"/>
            <a:pathLst>
              <a:path w="354964" h="78104">
                <a:moveTo>
                  <a:pt x="37695" y="0"/>
                </a:moveTo>
                <a:lnTo>
                  <a:pt x="22440" y="2905"/>
                </a:lnTo>
                <a:lnTo>
                  <a:pt x="10523" y="10994"/>
                </a:lnTo>
                <a:lnTo>
                  <a:pt x="2768" y="23323"/>
                </a:lnTo>
                <a:lnTo>
                  <a:pt x="0" y="38951"/>
                </a:lnTo>
                <a:lnTo>
                  <a:pt x="2702" y="54337"/>
                </a:lnTo>
                <a:lnTo>
                  <a:pt x="10313" y="66542"/>
                </a:lnTo>
                <a:lnTo>
                  <a:pt x="22087" y="74585"/>
                </a:lnTo>
                <a:lnTo>
                  <a:pt x="37276" y="77484"/>
                </a:lnTo>
                <a:lnTo>
                  <a:pt x="52707" y="74585"/>
                </a:lnTo>
                <a:lnTo>
                  <a:pt x="64605" y="66542"/>
                </a:lnTo>
                <a:lnTo>
                  <a:pt x="72262" y="54337"/>
                </a:lnTo>
                <a:lnTo>
                  <a:pt x="74971" y="38951"/>
                </a:lnTo>
                <a:lnTo>
                  <a:pt x="72209" y="23147"/>
                </a:lnTo>
                <a:lnTo>
                  <a:pt x="64500" y="10837"/>
                </a:lnTo>
                <a:lnTo>
                  <a:pt x="52707" y="2846"/>
                </a:lnTo>
                <a:lnTo>
                  <a:pt x="37695" y="0"/>
                </a:lnTo>
                <a:close/>
              </a:path>
              <a:path w="354964" h="78104">
                <a:moveTo>
                  <a:pt x="177167" y="0"/>
                </a:moveTo>
                <a:lnTo>
                  <a:pt x="162089" y="2905"/>
                </a:lnTo>
                <a:lnTo>
                  <a:pt x="150152" y="10994"/>
                </a:lnTo>
                <a:lnTo>
                  <a:pt x="142299" y="23323"/>
                </a:lnTo>
                <a:lnTo>
                  <a:pt x="139472" y="38951"/>
                </a:lnTo>
                <a:lnTo>
                  <a:pt x="142240" y="54337"/>
                </a:lnTo>
                <a:lnTo>
                  <a:pt x="149995" y="66542"/>
                </a:lnTo>
                <a:lnTo>
                  <a:pt x="161912" y="74585"/>
                </a:lnTo>
                <a:lnTo>
                  <a:pt x="177167" y="77484"/>
                </a:lnTo>
                <a:lnTo>
                  <a:pt x="192598" y="74585"/>
                </a:lnTo>
                <a:lnTo>
                  <a:pt x="204496" y="66542"/>
                </a:lnTo>
                <a:lnTo>
                  <a:pt x="212153" y="54337"/>
                </a:lnTo>
                <a:lnTo>
                  <a:pt x="214862" y="38951"/>
                </a:lnTo>
                <a:lnTo>
                  <a:pt x="211917" y="23147"/>
                </a:lnTo>
                <a:lnTo>
                  <a:pt x="204182" y="10837"/>
                </a:lnTo>
                <a:lnTo>
                  <a:pt x="192363" y="2846"/>
                </a:lnTo>
                <a:lnTo>
                  <a:pt x="177167" y="0"/>
                </a:lnTo>
                <a:close/>
              </a:path>
              <a:path w="354964" h="78104">
                <a:moveTo>
                  <a:pt x="317058" y="0"/>
                </a:moveTo>
                <a:lnTo>
                  <a:pt x="301980" y="2905"/>
                </a:lnTo>
                <a:lnTo>
                  <a:pt x="290043" y="10994"/>
                </a:lnTo>
                <a:lnTo>
                  <a:pt x="282190" y="23323"/>
                </a:lnTo>
                <a:lnTo>
                  <a:pt x="279363" y="38951"/>
                </a:lnTo>
                <a:lnTo>
                  <a:pt x="282131" y="54337"/>
                </a:lnTo>
                <a:lnTo>
                  <a:pt x="289886" y="66542"/>
                </a:lnTo>
                <a:lnTo>
                  <a:pt x="301803" y="74585"/>
                </a:lnTo>
                <a:lnTo>
                  <a:pt x="317058" y="77484"/>
                </a:lnTo>
                <a:lnTo>
                  <a:pt x="332489" y="74585"/>
                </a:lnTo>
                <a:lnTo>
                  <a:pt x="344387" y="66542"/>
                </a:lnTo>
                <a:lnTo>
                  <a:pt x="352044" y="54337"/>
                </a:lnTo>
                <a:lnTo>
                  <a:pt x="354753" y="38951"/>
                </a:lnTo>
                <a:lnTo>
                  <a:pt x="351808" y="23147"/>
                </a:lnTo>
                <a:lnTo>
                  <a:pt x="344073" y="10837"/>
                </a:lnTo>
                <a:lnTo>
                  <a:pt x="332254" y="2846"/>
                </a:lnTo>
                <a:lnTo>
                  <a:pt x="317058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54664" y="8093209"/>
            <a:ext cx="354965" cy="78105"/>
          </a:xfrm>
          <a:custGeom>
            <a:avLst/>
            <a:gdLst/>
            <a:ahLst/>
            <a:cxnLst/>
            <a:rect l="l" t="t" r="r" b="b"/>
            <a:pathLst>
              <a:path w="354964" h="78104">
                <a:moveTo>
                  <a:pt x="37695" y="0"/>
                </a:moveTo>
                <a:lnTo>
                  <a:pt x="22440" y="2905"/>
                </a:lnTo>
                <a:lnTo>
                  <a:pt x="10523" y="10994"/>
                </a:lnTo>
                <a:lnTo>
                  <a:pt x="2768" y="23323"/>
                </a:lnTo>
                <a:lnTo>
                  <a:pt x="0" y="38951"/>
                </a:lnTo>
                <a:lnTo>
                  <a:pt x="2702" y="54337"/>
                </a:lnTo>
                <a:lnTo>
                  <a:pt x="10313" y="66542"/>
                </a:lnTo>
                <a:lnTo>
                  <a:pt x="22087" y="74585"/>
                </a:lnTo>
                <a:lnTo>
                  <a:pt x="37276" y="77484"/>
                </a:lnTo>
                <a:lnTo>
                  <a:pt x="52707" y="74585"/>
                </a:lnTo>
                <a:lnTo>
                  <a:pt x="64605" y="66542"/>
                </a:lnTo>
                <a:lnTo>
                  <a:pt x="72262" y="54337"/>
                </a:lnTo>
                <a:lnTo>
                  <a:pt x="74971" y="38951"/>
                </a:lnTo>
                <a:lnTo>
                  <a:pt x="72209" y="23147"/>
                </a:lnTo>
                <a:lnTo>
                  <a:pt x="64500" y="10837"/>
                </a:lnTo>
                <a:lnTo>
                  <a:pt x="52707" y="2846"/>
                </a:lnTo>
                <a:lnTo>
                  <a:pt x="37695" y="0"/>
                </a:lnTo>
                <a:close/>
              </a:path>
              <a:path w="354964" h="78104">
                <a:moveTo>
                  <a:pt x="177167" y="0"/>
                </a:moveTo>
                <a:lnTo>
                  <a:pt x="162089" y="2905"/>
                </a:lnTo>
                <a:lnTo>
                  <a:pt x="150152" y="10994"/>
                </a:lnTo>
                <a:lnTo>
                  <a:pt x="142299" y="23323"/>
                </a:lnTo>
                <a:lnTo>
                  <a:pt x="139472" y="38951"/>
                </a:lnTo>
                <a:lnTo>
                  <a:pt x="142240" y="54337"/>
                </a:lnTo>
                <a:lnTo>
                  <a:pt x="149995" y="66542"/>
                </a:lnTo>
                <a:lnTo>
                  <a:pt x="161912" y="74585"/>
                </a:lnTo>
                <a:lnTo>
                  <a:pt x="177167" y="77484"/>
                </a:lnTo>
                <a:lnTo>
                  <a:pt x="192598" y="74585"/>
                </a:lnTo>
                <a:lnTo>
                  <a:pt x="204496" y="66542"/>
                </a:lnTo>
                <a:lnTo>
                  <a:pt x="212153" y="54337"/>
                </a:lnTo>
                <a:lnTo>
                  <a:pt x="214862" y="38951"/>
                </a:lnTo>
                <a:lnTo>
                  <a:pt x="211917" y="23147"/>
                </a:lnTo>
                <a:lnTo>
                  <a:pt x="204182" y="10837"/>
                </a:lnTo>
                <a:lnTo>
                  <a:pt x="192363" y="2846"/>
                </a:lnTo>
                <a:lnTo>
                  <a:pt x="177167" y="0"/>
                </a:lnTo>
                <a:close/>
              </a:path>
              <a:path w="354964" h="78104">
                <a:moveTo>
                  <a:pt x="317058" y="0"/>
                </a:moveTo>
                <a:lnTo>
                  <a:pt x="301980" y="2905"/>
                </a:lnTo>
                <a:lnTo>
                  <a:pt x="290043" y="10994"/>
                </a:lnTo>
                <a:lnTo>
                  <a:pt x="282190" y="23323"/>
                </a:lnTo>
                <a:lnTo>
                  <a:pt x="279363" y="38951"/>
                </a:lnTo>
                <a:lnTo>
                  <a:pt x="282131" y="54337"/>
                </a:lnTo>
                <a:lnTo>
                  <a:pt x="289886" y="66542"/>
                </a:lnTo>
                <a:lnTo>
                  <a:pt x="301803" y="74585"/>
                </a:lnTo>
                <a:lnTo>
                  <a:pt x="317058" y="77484"/>
                </a:lnTo>
                <a:lnTo>
                  <a:pt x="332489" y="74585"/>
                </a:lnTo>
                <a:lnTo>
                  <a:pt x="344387" y="66542"/>
                </a:lnTo>
                <a:lnTo>
                  <a:pt x="352044" y="54337"/>
                </a:lnTo>
                <a:lnTo>
                  <a:pt x="354753" y="38951"/>
                </a:lnTo>
                <a:lnTo>
                  <a:pt x="351808" y="23147"/>
                </a:lnTo>
                <a:lnTo>
                  <a:pt x="344073" y="10837"/>
                </a:lnTo>
                <a:lnTo>
                  <a:pt x="332254" y="2846"/>
                </a:lnTo>
                <a:lnTo>
                  <a:pt x="317058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112501" y="8554922"/>
            <a:ext cx="78105" cy="354965"/>
          </a:xfrm>
          <a:custGeom>
            <a:avLst/>
            <a:gdLst/>
            <a:ahLst/>
            <a:cxnLst/>
            <a:rect l="l" t="t" r="r" b="b"/>
            <a:pathLst>
              <a:path w="78105" h="354965">
                <a:moveTo>
                  <a:pt x="38951" y="279782"/>
                </a:moveTo>
                <a:lnTo>
                  <a:pt x="23147" y="282543"/>
                </a:lnTo>
                <a:lnTo>
                  <a:pt x="10837" y="290252"/>
                </a:lnTo>
                <a:lnTo>
                  <a:pt x="2846" y="302045"/>
                </a:lnTo>
                <a:lnTo>
                  <a:pt x="0" y="317058"/>
                </a:lnTo>
                <a:lnTo>
                  <a:pt x="2905" y="332313"/>
                </a:lnTo>
                <a:lnTo>
                  <a:pt x="10994" y="344230"/>
                </a:lnTo>
                <a:lnTo>
                  <a:pt x="23323" y="351985"/>
                </a:lnTo>
                <a:lnTo>
                  <a:pt x="38951" y="354753"/>
                </a:lnTo>
                <a:lnTo>
                  <a:pt x="54337" y="352050"/>
                </a:lnTo>
                <a:lnTo>
                  <a:pt x="66542" y="344439"/>
                </a:lnTo>
                <a:lnTo>
                  <a:pt x="74585" y="332666"/>
                </a:lnTo>
                <a:lnTo>
                  <a:pt x="77484" y="317477"/>
                </a:lnTo>
                <a:lnTo>
                  <a:pt x="74585" y="302045"/>
                </a:lnTo>
                <a:lnTo>
                  <a:pt x="66542" y="290148"/>
                </a:lnTo>
                <a:lnTo>
                  <a:pt x="54337" y="282491"/>
                </a:lnTo>
                <a:lnTo>
                  <a:pt x="38951" y="279782"/>
                </a:lnTo>
                <a:close/>
              </a:path>
              <a:path w="78105" h="354965">
                <a:moveTo>
                  <a:pt x="38951" y="139891"/>
                </a:moveTo>
                <a:lnTo>
                  <a:pt x="23147" y="142835"/>
                </a:lnTo>
                <a:lnTo>
                  <a:pt x="10837" y="150571"/>
                </a:lnTo>
                <a:lnTo>
                  <a:pt x="2846" y="162390"/>
                </a:lnTo>
                <a:lnTo>
                  <a:pt x="0" y="177586"/>
                </a:lnTo>
                <a:lnTo>
                  <a:pt x="2905" y="192664"/>
                </a:lnTo>
                <a:lnTo>
                  <a:pt x="10994" y="204601"/>
                </a:lnTo>
                <a:lnTo>
                  <a:pt x="23323" y="212454"/>
                </a:lnTo>
                <a:lnTo>
                  <a:pt x="38951" y="215281"/>
                </a:lnTo>
                <a:lnTo>
                  <a:pt x="54337" y="212513"/>
                </a:lnTo>
                <a:lnTo>
                  <a:pt x="66542" y="204758"/>
                </a:lnTo>
                <a:lnTo>
                  <a:pt x="74585" y="192840"/>
                </a:lnTo>
                <a:lnTo>
                  <a:pt x="77484" y="177586"/>
                </a:lnTo>
                <a:lnTo>
                  <a:pt x="74585" y="162154"/>
                </a:lnTo>
                <a:lnTo>
                  <a:pt x="66542" y="150257"/>
                </a:lnTo>
                <a:lnTo>
                  <a:pt x="54337" y="142600"/>
                </a:lnTo>
                <a:lnTo>
                  <a:pt x="38951" y="139891"/>
                </a:lnTo>
                <a:close/>
              </a:path>
              <a:path w="78105" h="354965">
                <a:moveTo>
                  <a:pt x="38951" y="0"/>
                </a:moveTo>
                <a:lnTo>
                  <a:pt x="23147" y="2944"/>
                </a:lnTo>
                <a:lnTo>
                  <a:pt x="10837" y="10680"/>
                </a:lnTo>
                <a:lnTo>
                  <a:pt x="2846" y="22499"/>
                </a:lnTo>
                <a:lnTo>
                  <a:pt x="0" y="37695"/>
                </a:lnTo>
                <a:lnTo>
                  <a:pt x="2905" y="52773"/>
                </a:lnTo>
                <a:lnTo>
                  <a:pt x="10994" y="64710"/>
                </a:lnTo>
                <a:lnTo>
                  <a:pt x="23323" y="72563"/>
                </a:lnTo>
                <a:lnTo>
                  <a:pt x="38951" y="75390"/>
                </a:lnTo>
                <a:lnTo>
                  <a:pt x="54337" y="72622"/>
                </a:lnTo>
                <a:lnTo>
                  <a:pt x="66542" y="64867"/>
                </a:lnTo>
                <a:lnTo>
                  <a:pt x="74585" y="52949"/>
                </a:lnTo>
                <a:lnTo>
                  <a:pt x="77484" y="37695"/>
                </a:lnTo>
                <a:lnTo>
                  <a:pt x="74585" y="22263"/>
                </a:lnTo>
                <a:lnTo>
                  <a:pt x="66542" y="10366"/>
                </a:lnTo>
                <a:lnTo>
                  <a:pt x="54337" y="2709"/>
                </a:lnTo>
                <a:lnTo>
                  <a:pt x="38951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53372" y="8554922"/>
            <a:ext cx="78105" cy="354965"/>
          </a:xfrm>
          <a:custGeom>
            <a:avLst/>
            <a:gdLst/>
            <a:ahLst/>
            <a:cxnLst/>
            <a:rect l="l" t="t" r="r" b="b"/>
            <a:pathLst>
              <a:path w="78104" h="354965">
                <a:moveTo>
                  <a:pt x="38951" y="279782"/>
                </a:moveTo>
                <a:lnTo>
                  <a:pt x="23147" y="282543"/>
                </a:lnTo>
                <a:lnTo>
                  <a:pt x="10837" y="290252"/>
                </a:lnTo>
                <a:lnTo>
                  <a:pt x="2846" y="302045"/>
                </a:lnTo>
                <a:lnTo>
                  <a:pt x="0" y="317058"/>
                </a:lnTo>
                <a:lnTo>
                  <a:pt x="2905" y="332313"/>
                </a:lnTo>
                <a:lnTo>
                  <a:pt x="10994" y="344230"/>
                </a:lnTo>
                <a:lnTo>
                  <a:pt x="23323" y="351985"/>
                </a:lnTo>
                <a:lnTo>
                  <a:pt x="38951" y="354753"/>
                </a:lnTo>
                <a:lnTo>
                  <a:pt x="54337" y="352050"/>
                </a:lnTo>
                <a:lnTo>
                  <a:pt x="66542" y="344439"/>
                </a:lnTo>
                <a:lnTo>
                  <a:pt x="74585" y="332666"/>
                </a:lnTo>
                <a:lnTo>
                  <a:pt x="77484" y="317477"/>
                </a:lnTo>
                <a:lnTo>
                  <a:pt x="74585" y="302045"/>
                </a:lnTo>
                <a:lnTo>
                  <a:pt x="66542" y="290148"/>
                </a:lnTo>
                <a:lnTo>
                  <a:pt x="54337" y="282491"/>
                </a:lnTo>
                <a:lnTo>
                  <a:pt x="38951" y="279782"/>
                </a:lnTo>
                <a:close/>
              </a:path>
              <a:path w="78104" h="354965">
                <a:moveTo>
                  <a:pt x="38951" y="139891"/>
                </a:moveTo>
                <a:lnTo>
                  <a:pt x="23147" y="142835"/>
                </a:lnTo>
                <a:lnTo>
                  <a:pt x="10837" y="150571"/>
                </a:lnTo>
                <a:lnTo>
                  <a:pt x="2846" y="162390"/>
                </a:lnTo>
                <a:lnTo>
                  <a:pt x="0" y="177586"/>
                </a:lnTo>
                <a:lnTo>
                  <a:pt x="2905" y="192664"/>
                </a:lnTo>
                <a:lnTo>
                  <a:pt x="10994" y="204601"/>
                </a:lnTo>
                <a:lnTo>
                  <a:pt x="23323" y="212454"/>
                </a:lnTo>
                <a:lnTo>
                  <a:pt x="38951" y="215281"/>
                </a:lnTo>
                <a:lnTo>
                  <a:pt x="54337" y="212513"/>
                </a:lnTo>
                <a:lnTo>
                  <a:pt x="66542" y="204758"/>
                </a:lnTo>
                <a:lnTo>
                  <a:pt x="74585" y="192840"/>
                </a:lnTo>
                <a:lnTo>
                  <a:pt x="77484" y="177586"/>
                </a:lnTo>
                <a:lnTo>
                  <a:pt x="74585" y="162154"/>
                </a:lnTo>
                <a:lnTo>
                  <a:pt x="66542" y="150257"/>
                </a:lnTo>
                <a:lnTo>
                  <a:pt x="54337" y="142600"/>
                </a:lnTo>
                <a:lnTo>
                  <a:pt x="38951" y="139891"/>
                </a:lnTo>
                <a:close/>
              </a:path>
              <a:path w="78104" h="354965">
                <a:moveTo>
                  <a:pt x="38951" y="0"/>
                </a:moveTo>
                <a:lnTo>
                  <a:pt x="23147" y="2944"/>
                </a:lnTo>
                <a:lnTo>
                  <a:pt x="10837" y="10680"/>
                </a:lnTo>
                <a:lnTo>
                  <a:pt x="2846" y="22499"/>
                </a:lnTo>
                <a:lnTo>
                  <a:pt x="0" y="37695"/>
                </a:lnTo>
                <a:lnTo>
                  <a:pt x="2905" y="52773"/>
                </a:lnTo>
                <a:lnTo>
                  <a:pt x="10994" y="64710"/>
                </a:lnTo>
                <a:lnTo>
                  <a:pt x="23323" y="72563"/>
                </a:lnTo>
                <a:lnTo>
                  <a:pt x="38951" y="75390"/>
                </a:lnTo>
                <a:lnTo>
                  <a:pt x="54337" y="72622"/>
                </a:lnTo>
                <a:lnTo>
                  <a:pt x="66542" y="64867"/>
                </a:lnTo>
                <a:lnTo>
                  <a:pt x="74585" y="52949"/>
                </a:lnTo>
                <a:lnTo>
                  <a:pt x="77484" y="37695"/>
                </a:lnTo>
                <a:lnTo>
                  <a:pt x="74585" y="22263"/>
                </a:lnTo>
                <a:lnTo>
                  <a:pt x="66542" y="10366"/>
                </a:lnTo>
                <a:lnTo>
                  <a:pt x="54337" y="2709"/>
                </a:lnTo>
                <a:lnTo>
                  <a:pt x="38951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89218" y="8554922"/>
            <a:ext cx="78105" cy="354965"/>
          </a:xfrm>
          <a:custGeom>
            <a:avLst/>
            <a:gdLst/>
            <a:ahLst/>
            <a:cxnLst/>
            <a:rect l="l" t="t" r="r" b="b"/>
            <a:pathLst>
              <a:path w="78104" h="354965">
                <a:moveTo>
                  <a:pt x="38951" y="279782"/>
                </a:moveTo>
                <a:lnTo>
                  <a:pt x="23147" y="282543"/>
                </a:lnTo>
                <a:lnTo>
                  <a:pt x="10837" y="290252"/>
                </a:lnTo>
                <a:lnTo>
                  <a:pt x="2846" y="302045"/>
                </a:lnTo>
                <a:lnTo>
                  <a:pt x="0" y="317058"/>
                </a:lnTo>
                <a:lnTo>
                  <a:pt x="2905" y="332313"/>
                </a:lnTo>
                <a:lnTo>
                  <a:pt x="10994" y="344230"/>
                </a:lnTo>
                <a:lnTo>
                  <a:pt x="23323" y="351985"/>
                </a:lnTo>
                <a:lnTo>
                  <a:pt x="38951" y="354753"/>
                </a:lnTo>
                <a:lnTo>
                  <a:pt x="54337" y="352050"/>
                </a:lnTo>
                <a:lnTo>
                  <a:pt x="66542" y="344439"/>
                </a:lnTo>
                <a:lnTo>
                  <a:pt x="74585" y="332666"/>
                </a:lnTo>
                <a:lnTo>
                  <a:pt x="77484" y="317477"/>
                </a:lnTo>
                <a:lnTo>
                  <a:pt x="74585" y="302045"/>
                </a:lnTo>
                <a:lnTo>
                  <a:pt x="66542" y="290148"/>
                </a:lnTo>
                <a:lnTo>
                  <a:pt x="54337" y="282491"/>
                </a:lnTo>
                <a:lnTo>
                  <a:pt x="38951" y="279782"/>
                </a:lnTo>
                <a:close/>
              </a:path>
              <a:path w="78104" h="354965">
                <a:moveTo>
                  <a:pt x="38951" y="139891"/>
                </a:moveTo>
                <a:lnTo>
                  <a:pt x="23147" y="142835"/>
                </a:lnTo>
                <a:lnTo>
                  <a:pt x="10837" y="150571"/>
                </a:lnTo>
                <a:lnTo>
                  <a:pt x="2846" y="162390"/>
                </a:lnTo>
                <a:lnTo>
                  <a:pt x="0" y="177586"/>
                </a:lnTo>
                <a:lnTo>
                  <a:pt x="2905" y="192664"/>
                </a:lnTo>
                <a:lnTo>
                  <a:pt x="10994" y="204601"/>
                </a:lnTo>
                <a:lnTo>
                  <a:pt x="23323" y="212454"/>
                </a:lnTo>
                <a:lnTo>
                  <a:pt x="38951" y="215281"/>
                </a:lnTo>
                <a:lnTo>
                  <a:pt x="54337" y="212513"/>
                </a:lnTo>
                <a:lnTo>
                  <a:pt x="66542" y="204758"/>
                </a:lnTo>
                <a:lnTo>
                  <a:pt x="74585" y="192840"/>
                </a:lnTo>
                <a:lnTo>
                  <a:pt x="77484" y="177586"/>
                </a:lnTo>
                <a:lnTo>
                  <a:pt x="74585" y="162154"/>
                </a:lnTo>
                <a:lnTo>
                  <a:pt x="66542" y="150257"/>
                </a:lnTo>
                <a:lnTo>
                  <a:pt x="54337" y="142600"/>
                </a:lnTo>
                <a:lnTo>
                  <a:pt x="38951" y="139891"/>
                </a:lnTo>
                <a:close/>
              </a:path>
              <a:path w="78104" h="354965">
                <a:moveTo>
                  <a:pt x="38951" y="0"/>
                </a:moveTo>
                <a:lnTo>
                  <a:pt x="23147" y="2944"/>
                </a:lnTo>
                <a:lnTo>
                  <a:pt x="10837" y="10680"/>
                </a:lnTo>
                <a:lnTo>
                  <a:pt x="2846" y="22499"/>
                </a:lnTo>
                <a:lnTo>
                  <a:pt x="0" y="37695"/>
                </a:lnTo>
                <a:lnTo>
                  <a:pt x="2905" y="52773"/>
                </a:lnTo>
                <a:lnTo>
                  <a:pt x="10994" y="64710"/>
                </a:lnTo>
                <a:lnTo>
                  <a:pt x="23323" y="72563"/>
                </a:lnTo>
                <a:lnTo>
                  <a:pt x="38951" y="75390"/>
                </a:lnTo>
                <a:lnTo>
                  <a:pt x="54337" y="72622"/>
                </a:lnTo>
                <a:lnTo>
                  <a:pt x="66542" y="64867"/>
                </a:lnTo>
                <a:lnTo>
                  <a:pt x="74585" y="52949"/>
                </a:lnTo>
                <a:lnTo>
                  <a:pt x="77484" y="37695"/>
                </a:lnTo>
                <a:lnTo>
                  <a:pt x="74585" y="22263"/>
                </a:lnTo>
                <a:lnTo>
                  <a:pt x="66542" y="10366"/>
                </a:lnTo>
                <a:lnTo>
                  <a:pt x="54337" y="2709"/>
                </a:lnTo>
                <a:lnTo>
                  <a:pt x="38951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971548" y="8554922"/>
            <a:ext cx="78105" cy="354965"/>
          </a:xfrm>
          <a:custGeom>
            <a:avLst/>
            <a:gdLst/>
            <a:ahLst/>
            <a:cxnLst/>
            <a:rect l="l" t="t" r="r" b="b"/>
            <a:pathLst>
              <a:path w="78104" h="354965">
                <a:moveTo>
                  <a:pt x="38951" y="279782"/>
                </a:moveTo>
                <a:lnTo>
                  <a:pt x="23147" y="282543"/>
                </a:lnTo>
                <a:lnTo>
                  <a:pt x="10837" y="290252"/>
                </a:lnTo>
                <a:lnTo>
                  <a:pt x="2846" y="302045"/>
                </a:lnTo>
                <a:lnTo>
                  <a:pt x="0" y="317058"/>
                </a:lnTo>
                <a:lnTo>
                  <a:pt x="2905" y="332313"/>
                </a:lnTo>
                <a:lnTo>
                  <a:pt x="10994" y="344230"/>
                </a:lnTo>
                <a:lnTo>
                  <a:pt x="23323" y="351985"/>
                </a:lnTo>
                <a:lnTo>
                  <a:pt x="38951" y="354753"/>
                </a:lnTo>
                <a:lnTo>
                  <a:pt x="54337" y="352050"/>
                </a:lnTo>
                <a:lnTo>
                  <a:pt x="66542" y="344439"/>
                </a:lnTo>
                <a:lnTo>
                  <a:pt x="74585" y="332666"/>
                </a:lnTo>
                <a:lnTo>
                  <a:pt x="77484" y="317477"/>
                </a:lnTo>
                <a:lnTo>
                  <a:pt x="74585" y="302045"/>
                </a:lnTo>
                <a:lnTo>
                  <a:pt x="66542" y="290148"/>
                </a:lnTo>
                <a:lnTo>
                  <a:pt x="54337" y="282491"/>
                </a:lnTo>
                <a:lnTo>
                  <a:pt x="38951" y="279782"/>
                </a:lnTo>
                <a:close/>
              </a:path>
              <a:path w="78104" h="354965">
                <a:moveTo>
                  <a:pt x="38951" y="139891"/>
                </a:moveTo>
                <a:lnTo>
                  <a:pt x="23147" y="142835"/>
                </a:lnTo>
                <a:lnTo>
                  <a:pt x="10837" y="150571"/>
                </a:lnTo>
                <a:lnTo>
                  <a:pt x="2846" y="162390"/>
                </a:lnTo>
                <a:lnTo>
                  <a:pt x="0" y="177586"/>
                </a:lnTo>
                <a:lnTo>
                  <a:pt x="2905" y="192664"/>
                </a:lnTo>
                <a:lnTo>
                  <a:pt x="10994" y="204601"/>
                </a:lnTo>
                <a:lnTo>
                  <a:pt x="23323" y="212454"/>
                </a:lnTo>
                <a:lnTo>
                  <a:pt x="38951" y="215281"/>
                </a:lnTo>
                <a:lnTo>
                  <a:pt x="54337" y="212513"/>
                </a:lnTo>
                <a:lnTo>
                  <a:pt x="66542" y="204758"/>
                </a:lnTo>
                <a:lnTo>
                  <a:pt x="74585" y="192840"/>
                </a:lnTo>
                <a:lnTo>
                  <a:pt x="77484" y="177586"/>
                </a:lnTo>
                <a:lnTo>
                  <a:pt x="74585" y="162154"/>
                </a:lnTo>
                <a:lnTo>
                  <a:pt x="66542" y="150257"/>
                </a:lnTo>
                <a:lnTo>
                  <a:pt x="54337" y="142600"/>
                </a:lnTo>
                <a:lnTo>
                  <a:pt x="38951" y="139891"/>
                </a:lnTo>
                <a:close/>
              </a:path>
              <a:path w="78104" h="354965">
                <a:moveTo>
                  <a:pt x="38951" y="0"/>
                </a:moveTo>
                <a:lnTo>
                  <a:pt x="23147" y="2944"/>
                </a:lnTo>
                <a:lnTo>
                  <a:pt x="10837" y="10680"/>
                </a:lnTo>
                <a:lnTo>
                  <a:pt x="2846" y="22499"/>
                </a:lnTo>
                <a:lnTo>
                  <a:pt x="0" y="37695"/>
                </a:lnTo>
                <a:lnTo>
                  <a:pt x="2905" y="52773"/>
                </a:lnTo>
                <a:lnTo>
                  <a:pt x="10994" y="64710"/>
                </a:lnTo>
                <a:lnTo>
                  <a:pt x="23323" y="72563"/>
                </a:lnTo>
                <a:lnTo>
                  <a:pt x="38951" y="75390"/>
                </a:lnTo>
                <a:lnTo>
                  <a:pt x="54337" y="72622"/>
                </a:lnTo>
                <a:lnTo>
                  <a:pt x="66542" y="64867"/>
                </a:lnTo>
                <a:lnTo>
                  <a:pt x="74585" y="52949"/>
                </a:lnTo>
                <a:lnTo>
                  <a:pt x="77484" y="37695"/>
                </a:lnTo>
                <a:lnTo>
                  <a:pt x="74585" y="22263"/>
                </a:lnTo>
                <a:lnTo>
                  <a:pt x="66542" y="10366"/>
                </a:lnTo>
                <a:lnTo>
                  <a:pt x="54337" y="2709"/>
                </a:lnTo>
                <a:lnTo>
                  <a:pt x="38951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145598" y="7222681"/>
            <a:ext cx="25844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145598" y="8981790"/>
            <a:ext cx="25844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233898" y="8554922"/>
            <a:ext cx="78105" cy="354965"/>
          </a:xfrm>
          <a:custGeom>
            <a:avLst/>
            <a:gdLst/>
            <a:ahLst/>
            <a:cxnLst/>
            <a:rect l="l" t="t" r="r" b="b"/>
            <a:pathLst>
              <a:path w="78104" h="354965">
                <a:moveTo>
                  <a:pt x="38951" y="279782"/>
                </a:moveTo>
                <a:lnTo>
                  <a:pt x="23147" y="282543"/>
                </a:lnTo>
                <a:lnTo>
                  <a:pt x="10837" y="290252"/>
                </a:lnTo>
                <a:lnTo>
                  <a:pt x="2846" y="302045"/>
                </a:lnTo>
                <a:lnTo>
                  <a:pt x="0" y="317058"/>
                </a:lnTo>
                <a:lnTo>
                  <a:pt x="2905" y="332313"/>
                </a:lnTo>
                <a:lnTo>
                  <a:pt x="10994" y="344230"/>
                </a:lnTo>
                <a:lnTo>
                  <a:pt x="23323" y="351985"/>
                </a:lnTo>
                <a:lnTo>
                  <a:pt x="38951" y="354753"/>
                </a:lnTo>
                <a:lnTo>
                  <a:pt x="54337" y="352050"/>
                </a:lnTo>
                <a:lnTo>
                  <a:pt x="66542" y="344439"/>
                </a:lnTo>
                <a:lnTo>
                  <a:pt x="74585" y="332666"/>
                </a:lnTo>
                <a:lnTo>
                  <a:pt x="77484" y="317477"/>
                </a:lnTo>
                <a:lnTo>
                  <a:pt x="74585" y="302045"/>
                </a:lnTo>
                <a:lnTo>
                  <a:pt x="66542" y="290148"/>
                </a:lnTo>
                <a:lnTo>
                  <a:pt x="54337" y="282491"/>
                </a:lnTo>
                <a:lnTo>
                  <a:pt x="38951" y="279782"/>
                </a:lnTo>
                <a:close/>
              </a:path>
              <a:path w="78104" h="354965">
                <a:moveTo>
                  <a:pt x="38951" y="139891"/>
                </a:moveTo>
                <a:lnTo>
                  <a:pt x="23147" y="142835"/>
                </a:lnTo>
                <a:lnTo>
                  <a:pt x="10837" y="150571"/>
                </a:lnTo>
                <a:lnTo>
                  <a:pt x="2846" y="162390"/>
                </a:lnTo>
                <a:lnTo>
                  <a:pt x="0" y="177586"/>
                </a:lnTo>
                <a:lnTo>
                  <a:pt x="2905" y="192664"/>
                </a:lnTo>
                <a:lnTo>
                  <a:pt x="10994" y="204601"/>
                </a:lnTo>
                <a:lnTo>
                  <a:pt x="23323" y="212454"/>
                </a:lnTo>
                <a:lnTo>
                  <a:pt x="38951" y="215281"/>
                </a:lnTo>
                <a:lnTo>
                  <a:pt x="54337" y="212513"/>
                </a:lnTo>
                <a:lnTo>
                  <a:pt x="66542" y="204758"/>
                </a:lnTo>
                <a:lnTo>
                  <a:pt x="74585" y="192840"/>
                </a:lnTo>
                <a:lnTo>
                  <a:pt x="77484" y="177586"/>
                </a:lnTo>
                <a:lnTo>
                  <a:pt x="74585" y="162154"/>
                </a:lnTo>
                <a:lnTo>
                  <a:pt x="66542" y="150257"/>
                </a:lnTo>
                <a:lnTo>
                  <a:pt x="54337" y="142600"/>
                </a:lnTo>
                <a:lnTo>
                  <a:pt x="38951" y="139891"/>
                </a:lnTo>
                <a:close/>
              </a:path>
              <a:path w="78104" h="354965">
                <a:moveTo>
                  <a:pt x="38951" y="0"/>
                </a:moveTo>
                <a:lnTo>
                  <a:pt x="23147" y="2944"/>
                </a:lnTo>
                <a:lnTo>
                  <a:pt x="10837" y="10680"/>
                </a:lnTo>
                <a:lnTo>
                  <a:pt x="2846" y="22499"/>
                </a:lnTo>
                <a:lnTo>
                  <a:pt x="0" y="37695"/>
                </a:lnTo>
                <a:lnTo>
                  <a:pt x="2905" y="52773"/>
                </a:lnTo>
                <a:lnTo>
                  <a:pt x="10994" y="64710"/>
                </a:lnTo>
                <a:lnTo>
                  <a:pt x="23323" y="72563"/>
                </a:lnTo>
                <a:lnTo>
                  <a:pt x="38951" y="75390"/>
                </a:lnTo>
                <a:lnTo>
                  <a:pt x="54337" y="72622"/>
                </a:lnTo>
                <a:lnTo>
                  <a:pt x="66542" y="64867"/>
                </a:lnTo>
                <a:lnTo>
                  <a:pt x="74585" y="52949"/>
                </a:lnTo>
                <a:lnTo>
                  <a:pt x="77484" y="37695"/>
                </a:lnTo>
                <a:lnTo>
                  <a:pt x="74585" y="22263"/>
                </a:lnTo>
                <a:lnTo>
                  <a:pt x="66542" y="10366"/>
                </a:lnTo>
                <a:lnTo>
                  <a:pt x="54337" y="2709"/>
                </a:lnTo>
                <a:lnTo>
                  <a:pt x="38951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406104" y="3453163"/>
            <a:ext cx="7531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345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50" dirty="0">
                <a:solidFill>
                  <a:srgbClr val="1E1E1E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72714" y="2699259"/>
            <a:ext cx="44450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24911" y="4207066"/>
            <a:ext cx="4445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392597" y="2612485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10">
                <a:moveTo>
                  <a:pt x="564883" y="0"/>
                </a:moveTo>
                <a:lnTo>
                  <a:pt x="369999" y="0"/>
                </a:lnTo>
                <a:lnTo>
                  <a:pt x="348604" y="29070"/>
                </a:lnTo>
                <a:lnTo>
                  <a:pt x="305793" y="90900"/>
                </a:lnTo>
                <a:lnTo>
                  <a:pt x="284529" y="123713"/>
                </a:lnTo>
                <a:lnTo>
                  <a:pt x="263460" y="157827"/>
                </a:lnTo>
                <a:lnTo>
                  <a:pt x="242663" y="193270"/>
                </a:lnTo>
                <a:lnTo>
                  <a:pt x="222212" y="230069"/>
                </a:lnTo>
                <a:lnTo>
                  <a:pt x="202185" y="268251"/>
                </a:lnTo>
                <a:lnTo>
                  <a:pt x="182656" y="307842"/>
                </a:lnTo>
                <a:lnTo>
                  <a:pt x="163702" y="348871"/>
                </a:lnTo>
                <a:lnTo>
                  <a:pt x="145399" y="391363"/>
                </a:lnTo>
                <a:lnTo>
                  <a:pt x="127823" y="435347"/>
                </a:lnTo>
                <a:lnTo>
                  <a:pt x="111049" y="480850"/>
                </a:lnTo>
                <a:lnTo>
                  <a:pt x="95154" y="527898"/>
                </a:lnTo>
                <a:lnTo>
                  <a:pt x="80213" y="576518"/>
                </a:lnTo>
                <a:lnTo>
                  <a:pt x="66303" y="626738"/>
                </a:lnTo>
                <a:lnTo>
                  <a:pt x="53499" y="678585"/>
                </a:lnTo>
                <a:lnTo>
                  <a:pt x="41877" y="732086"/>
                </a:lnTo>
                <a:lnTo>
                  <a:pt x="31513" y="787268"/>
                </a:lnTo>
                <a:lnTo>
                  <a:pt x="22483" y="844158"/>
                </a:lnTo>
                <a:lnTo>
                  <a:pt x="14863" y="902783"/>
                </a:lnTo>
                <a:lnTo>
                  <a:pt x="8728" y="963171"/>
                </a:lnTo>
                <a:lnTo>
                  <a:pt x="4156" y="1025348"/>
                </a:lnTo>
                <a:lnTo>
                  <a:pt x="1221" y="1089342"/>
                </a:lnTo>
                <a:lnTo>
                  <a:pt x="0" y="1155179"/>
                </a:lnTo>
                <a:lnTo>
                  <a:pt x="908" y="1220366"/>
                </a:lnTo>
                <a:lnTo>
                  <a:pt x="3581" y="1283760"/>
                </a:lnTo>
                <a:lnTo>
                  <a:pt x="7940" y="1345385"/>
                </a:lnTo>
                <a:lnTo>
                  <a:pt x="13905" y="1405264"/>
                </a:lnTo>
                <a:lnTo>
                  <a:pt x="21397" y="1463423"/>
                </a:lnTo>
                <a:lnTo>
                  <a:pt x="30337" y="1519885"/>
                </a:lnTo>
                <a:lnTo>
                  <a:pt x="40645" y="1574673"/>
                </a:lnTo>
                <a:lnTo>
                  <a:pt x="52244" y="1627811"/>
                </a:lnTo>
                <a:lnTo>
                  <a:pt x="65052" y="1679324"/>
                </a:lnTo>
                <a:lnTo>
                  <a:pt x="78992" y="1729234"/>
                </a:lnTo>
                <a:lnTo>
                  <a:pt x="93984" y="1777567"/>
                </a:lnTo>
                <a:lnTo>
                  <a:pt x="109948" y="1824345"/>
                </a:lnTo>
                <a:lnTo>
                  <a:pt x="126807" y="1869593"/>
                </a:lnTo>
                <a:lnTo>
                  <a:pt x="144480" y="1913335"/>
                </a:lnTo>
                <a:lnTo>
                  <a:pt x="162888" y="1955594"/>
                </a:lnTo>
                <a:lnTo>
                  <a:pt x="181952" y="1996394"/>
                </a:lnTo>
                <a:lnTo>
                  <a:pt x="201594" y="2035760"/>
                </a:lnTo>
                <a:lnTo>
                  <a:pt x="221733" y="2073714"/>
                </a:lnTo>
                <a:lnTo>
                  <a:pt x="242291" y="2110281"/>
                </a:lnTo>
                <a:lnTo>
                  <a:pt x="263189" y="2145484"/>
                </a:lnTo>
                <a:lnTo>
                  <a:pt x="284347" y="2179349"/>
                </a:lnTo>
                <a:lnTo>
                  <a:pt x="305686" y="2211897"/>
                </a:lnTo>
                <a:lnTo>
                  <a:pt x="348591" y="2273143"/>
                </a:lnTo>
                <a:lnTo>
                  <a:pt x="369999" y="2301888"/>
                </a:lnTo>
                <a:lnTo>
                  <a:pt x="564883" y="2301888"/>
                </a:lnTo>
                <a:lnTo>
                  <a:pt x="540060" y="2266166"/>
                </a:lnTo>
                <a:lnTo>
                  <a:pt x="515756" y="2229594"/>
                </a:lnTo>
                <a:lnTo>
                  <a:pt x="492018" y="2192144"/>
                </a:lnTo>
                <a:lnTo>
                  <a:pt x="468894" y="2153789"/>
                </a:lnTo>
                <a:lnTo>
                  <a:pt x="446432" y="2114503"/>
                </a:lnTo>
                <a:lnTo>
                  <a:pt x="424680" y="2074258"/>
                </a:lnTo>
                <a:lnTo>
                  <a:pt x="403685" y="2033028"/>
                </a:lnTo>
                <a:lnTo>
                  <a:pt x="383496" y="1990785"/>
                </a:lnTo>
                <a:lnTo>
                  <a:pt x="364159" y="1947503"/>
                </a:lnTo>
                <a:lnTo>
                  <a:pt x="345724" y="1903154"/>
                </a:lnTo>
                <a:lnTo>
                  <a:pt x="328238" y="1857711"/>
                </a:lnTo>
                <a:lnTo>
                  <a:pt x="311748" y="1811149"/>
                </a:lnTo>
                <a:lnTo>
                  <a:pt x="296302" y="1763438"/>
                </a:lnTo>
                <a:lnTo>
                  <a:pt x="281949" y="1714554"/>
                </a:lnTo>
                <a:lnTo>
                  <a:pt x="268736" y="1664467"/>
                </a:lnTo>
                <a:lnTo>
                  <a:pt x="256711" y="1613153"/>
                </a:lnTo>
                <a:lnTo>
                  <a:pt x="245921" y="1560583"/>
                </a:lnTo>
                <a:lnTo>
                  <a:pt x="236415" y="1506731"/>
                </a:lnTo>
                <a:lnTo>
                  <a:pt x="228240" y="1451570"/>
                </a:lnTo>
                <a:lnTo>
                  <a:pt x="221444" y="1395072"/>
                </a:lnTo>
                <a:lnTo>
                  <a:pt x="216076" y="1337211"/>
                </a:lnTo>
                <a:lnTo>
                  <a:pt x="212181" y="1277960"/>
                </a:lnTo>
                <a:lnTo>
                  <a:pt x="209810" y="1217292"/>
                </a:lnTo>
                <a:lnTo>
                  <a:pt x="209009" y="1155179"/>
                </a:lnTo>
                <a:lnTo>
                  <a:pt x="209721" y="1094521"/>
                </a:lnTo>
                <a:lnTo>
                  <a:pt x="211835" y="1035224"/>
                </a:lnTo>
                <a:lnTo>
                  <a:pt x="215314" y="977270"/>
                </a:lnTo>
                <a:lnTo>
                  <a:pt x="220123" y="920636"/>
                </a:lnTo>
                <a:lnTo>
                  <a:pt x="226226" y="865303"/>
                </a:lnTo>
                <a:lnTo>
                  <a:pt x="233587" y="811250"/>
                </a:lnTo>
                <a:lnTo>
                  <a:pt x="242170" y="758456"/>
                </a:lnTo>
                <a:lnTo>
                  <a:pt x="251940" y="706901"/>
                </a:lnTo>
                <a:lnTo>
                  <a:pt x="262861" y="656563"/>
                </a:lnTo>
                <a:lnTo>
                  <a:pt x="274896" y="607424"/>
                </a:lnTo>
                <a:lnTo>
                  <a:pt x="288011" y="559460"/>
                </a:lnTo>
                <a:lnTo>
                  <a:pt x="302168" y="512653"/>
                </a:lnTo>
                <a:lnTo>
                  <a:pt x="317334" y="466982"/>
                </a:lnTo>
                <a:lnTo>
                  <a:pt x="333471" y="422426"/>
                </a:lnTo>
                <a:lnTo>
                  <a:pt x="350544" y="378963"/>
                </a:lnTo>
                <a:lnTo>
                  <a:pt x="368518" y="336575"/>
                </a:lnTo>
                <a:lnTo>
                  <a:pt x="387356" y="295240"/>
                </a:lnTo>
                <a:lnTo>
                  <a:pt x="407022" y="254937"/>
                </a:lnTo>
                <a:lnTo>
                  <a:pt x="427482" y="215647"/>
                </a:lnTo>
                <a:lnTo>
                  <a:pt x="448698" y="177347"/>
                </a:lnTo>
                <a:lnTo>
                  <a:pt x="470636" y="140019"/>
                </a:lnTo>
                <a:lnTo>
                  <a:pt x="493259" y="103640"/>
                </a:lnTo>
                <a:lnTo>
                  <a:pt x="516531" y="68191"/>
                </a:lnTo>
                <a:lnTo>
                  <a:pt x="540418" y="33651"/>
                </a:lnTo>
                <a:lnTo>
                  <a:pt x="56488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392597" y="2612485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10">
                <a:moveTo>
                  <a:pt x="369999" y="0"/>
                </a:moveTo>
                <a:lnTo>
                  <a:pt x="327177" y="59362"/>
                </a:lnTo>
                <a:lnTo>
                  <a:pt x="305793" y="90900"/>
                </a:lnTo>
                <a:lnTo>
                  <a:pt x="284529" y="123713"/>
                </a:lnTo>
                <a:lnTo>
                  <a:pt x="263460" y="157827"/>
                </a:lnTo>
                <a:lnTo>
                  <a:pt x="242663" y="193270"/>
                </a:lnTo>
                <a:lnTo>
                  <a:pt x="222212" y="230069"/>
                </a:lnTo>
                <a:lnTo>
                  <a:pt x="202185" y="268251"/>
                </a:lnTo>
                <a:lnTo>
                  <a:pt x="182656" y="307842"/>
                </a:lnTo>
                <a:lnTo>
                  <a:pt x="163702" y="348871"/>
                </a:lnTo>
                <a:lnTo>
                  <a:pt x="145399" y="391363"/>
                </a:lnTo>
                <a:lnTo>
                  <a:pt x="127823" y="435347"/>
                </a:lnTo>
                <a:lnTo>
                  <a:pt x="111049" y="480850"/>
                </a:lnTo>
                <a:lnTo>
                  <a:pt x="95154" y="527898"/>
                </a:lnTo>
                <a:lnTo>
                  <a:pt x="80213" y="576518"/>
                </a:lnTo>
                <a:lnTo>
                  <a:pt x="66303" y="626738"/>
                </a:lnTo>
                <a:lnTo>
                  <a:pt x="53499" y="678585"/>
                </a:lnTo>
                <a:lnTo>
                  <a:pt x="41877" y="732086"/>
                </a:lnTo>
                <a:lnTo>
                  <a:pt x="31513" y="787268"/>
                </a:lnTo>
                <a:lnTo>
                  <a:pt x="22483" y="844158"/>
                </a:lnTo>
                <a:lnTo>
                  <a:pt x="14863" y="902783"/>
                </a:lnTo>
                <a:lnTo>
                  <a:pt x="8728" y="963171"/>
                </a:lnTo>
                <a:lnTo>
                  <a:pt x="4156" y="1025348"/>
                </a:lnTo>
                <a:lnTo>
                  <a:pt x="1221" y="1089342"/>
                </a:lnTo>
                <a:lnTo>
                  <a:pt x="0" y="1155179"/>
                </a:lnTo>
                <a:lnTo>
                  <a:pt x="908" y="1220366"/>
                </a:lnTo>
                <a:lnTo>
                  <a:pt x="3581" y="1283760"/>
                </a:lnTo>
                <a:lnTo>
                  <a:pt x="7940" y="1345385"/>
                </a:lnTo>
                <a:lnTo>
                  <a:pt x="13905" y="1405264"/>
                </a:lnTo>
                <a:lnTo>
                  <a:pt x="21397" y="1463423"/>
                </a:lnTo>
                <a:lnTo>
                  <a:pt x="30337" y="1519885"/>
                </a:lnTo>
                <a:lnTo>
                  <a:pt x="40645" y="1574673"/>
                </a:lnTo>
                <a:lnTo>
                  <a:pt x="52244" y="1627811"/>
                </a:lnTo>
                <a:lnTo>
                  <a:pt x="65052" y="1679324"/>
                </a:lnTo>
                <a:lnTo>
                  <a:pt x="78992" y="1729234"/>
                </a:lnTo>
                <a:lnTo>
                  <a:pt x="93984" y="1777567"/>
                </a:lnTo>
                <a:lnTo>
                  <a:pt x="109948" y="1824345"/>
                </a:lnTo>
                <a:lnTo>
                  <a:pt x="126807" y="1869593"/>
                </a:lnTo>
                <a:lnTo>
                  <a:pt x="144480" y="1913335"/>
                </a:lnTo>
                <a:lnTo>
                  <a:pt x="162888" y="1955594"/>
                </a:lnTo>
                <a:lnTo>
                  <a:pt x="181952" y="1996394"/>
                </a:lnTo>
                <a:lnTo>
                  <a:pt x="201594" y="2035760"/>
                </a:lnTo>
                <a:lnTo>
                  <a:pt x="221733" y="2073714"/>
                </a:lnTo>
                <a:lnTo>
                  <a:pt x="242291" y="2110281"/>
                </a:lnTo>
                <a:lnTo>
                  <a:pt x="263189" y="2145484"/>
                </a:lnTo>
                <a:lnTo>
                  <a:pt x="284347" y="2179349"/>
                </a:lnTo>
                <a:lnTo>
                  <a:pt x="305686" y="2211897"/>
                </a:lnTo>
                <a:lnTo>
                  <a:pt x="348591" y="2273143"/>
                </a:lnTo>
                <a:lnTo>
                  <a:pt x="369999" y="2301888"/>
                </a:lnTo>
                <a:lnTo>
                  <a:pt x="564883" y="2301888"/>
                </a:lnTo>
                <a:lnTo>
                  <a:pt x="540060" y="2266166"/>
                </a:lnTo>
                <a:lnTo>
                  <a:pt x="515756" y="2229594"/>
                </a:lnTo>
                <a:lnTo>
                  <a:pt x="492018" y="2192144"/>
                </a:lnTo>
                <a:lnTo>
                  <a:pt x="468894" y="2153789"/>
                </a:lnTo>
                <a:lnTo>
                  <a:pt x="446432" y="2114503"/>
                </a:lnTo>
                <a:lnTo>
                  <a:pt x="424680" y="2074258"/>
                </a:lnTo>
                <a:lnTo>
                  <a:pt x="403685" y="2033028"/>
                </a:lnTo>
                <a:lnTo>
                  <a:pt x="383496" y="1990785"/>
                </a:lnTo>
                <a:lnTo>
                  <a:pt x="364159" y="1947503"/>
                </a:lnTo>
                <a:lnTo>
                  <a:pt x="345724" y="1903154"/>
                </a:lnTo>
                <a:lnTo>
                  <a:pt x="328238" y="1857711"/>
                </a:lnTo>
                <a:lnTo>
                  <a:pt x="311748" y="1811149"/>
                </a:lnTo>
                <a:lnTo>
                  <a:pt x="296302" y="1763438"/>
                </a:lnTo>
                <a:lnTo>
                  <a:pt x="281949" y="1714554"/>
                </a:lnTo>
                <a:lnTo>
                  <a:pt x="268736" y="1664467"/>
                </a:lnTo>
                <a:lnTo>
                  <a:pt x="256711" y="1613153"/>
                </a:lnTo>
                <a:lnTo>
                  <a:pt x="245921" y="1560583"/>
                </a:lnTo>
                <a:lnTo>
                  <a:pt x="236415" y="1506731"/>
                </a:lnTo>
                <a:lnTo>
                  <a:pt x="228240" y="1451570"/>
                </a:lnTo>
                <a:lnTo>
                  <a:pt x="221444" y="1395072"/>
                </a:lnTo>
                <a:lnTo>
                  <a:pt x="216076" y="1337211"/>
                </a:lnTo>
                <a:lnTo>
                  <a:pt x="212181" y="1277960"/>
                </a:lnTo>
                <a:lnTo>
                  <a:pt x="209810" y="1217292"/>
                </a:lnTo>
                <a:lnTo>
                  <a:pt x="209009" y="1155179"/>
                </a:lnTo>
                <a:lnTo>
                  <a:pt x="209721" y="1094521"/>
                </a:lnTo>
                <a:lnTo>
                  <a:pt x="211835" y="1035224"/>
                </a:lnTo>
                <a:lnTo>
                  <a:pt x="215314" y="977270"/>
                </a:lnTo>
                <a:lnTo>
                  <a:pt x="220123" y="920636"/>
                </a:lnTo>
                <a:lnTo>
                  <a:pt x="226226" y="865303"/>
                </a:lnTo>
                <a:lnTo>
                  <a:pt x="233587" y="811250"/>
                </a:lnTo>
                <a:lnTo>
                  <a:pt x="242170" y="758456"/>
                </a:lnTo>
                <a:lnTo>
                  <a:pt x="251940" y="706901"/>
                </a:lnTo>
                <a:lnTo>
                  <a:pt x="262861" y="656563"/>
                </a:lnTo>
                <a:lnTo>
                  <a:pt x="274896" y="607424"/>
                </a:lnTo>
                <a:lnTo>
                  <a:pt x="288011" y="559460"/>
                </a:lnTo>
                <a:lnTo>
                  <a:pt x="302168" y="512653"/>
                </a:lnTo>
                <a:lnTo>
                  <a:pt x="317334" y="466982"/>
                </a:lnTo>
                <a:lnTo>
                  <a:pt x="333471" y="422426"/>
                </a:lnTo>
                <a:lnTo>
                  <a:pt x="350544" y="378963"/>
                </a:lnTo>
                <a:lnTo>
                  <a:pt x="368518" y="336575"/>
                </a:lnTo>
                <a:lnTo>
                  <a:pt x="387356" y="295240"/>
                </a:lnTo>
                <a:lnTo>
                  <a:pt x="407022" y="254937"/>
                </a:lnTo>
                <a:lnTo>
                  <a:pt x="427482" y="215647"/>
                </a:lnTo>
                <a:lnTo>
                  <a:pt x="448698" y="177347"/>
                </a:lnTo>
                <a:lnTo>
                  <a:pt x="470636" y="140019"/>
                </a:lnTo>
                <a:lnTo>
                  <a:pt x="493259" y="103640"/>
                </a:lnTo>
                <a:lnTo>
                  <a:pt x="516531" y="68191"/>
                </a:lnTo>
                <a:lnTo>
                  <a:pt x="540418" y="33651"/>
                </a:lnTo>
                <a:lnTo>
                  <a:pt x="564883" y="0"/>
                </a:lnTo>
                <a:lnTo>
                  <a:pt x="369999" y="0"/>
                </a:lnTo>
                <a:close/>
              </a:path>
            </a:pathLst>
          </a:custGeom>
          <a:ln w="1256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387392" y="7284207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09">
                <a:moveTo>
                  <a:pt x="564883" y="0"/>
                </a:moveTo>
                <a:lnTo>
                  <a:pt x="369999" y="0"/>
                </a:lnTo>
                <a:lnTo>
                  <a:pt x="348604" y="29070"/>
                </a:lnTo>
                <a:lnTo>
                  <a:pt x="305793" y="90900"/>
                </a:lnTo>
                <a:lnTo>
                  <a:pt x="284529" y="123713"/>
                </a:lnTo>
                <a:lnTo>
                  <a:pt x="263460" y="157827"/>
                </a:lnTo>
                <a:lnTo>
                  <a:pt x="242663" y="193270"/>
                </a:lnTo>
                <a:lnTo>
                  <a:pt x="222212" y="230069"/>
                </a:lnTo>
                <a:lnTo>
                  <a:pt x="202185" y="268251"/>
                </a:lnTo>
                <a:lnTo>
                  <a:pt x="182656" y="307842"/>
                </a:lnTo>
                <a:lnTo>
                  <a:pt x="163702" y="348871"/>
                </a:lnTo>
                <a:lnTo>
                  <a:pt x="145399" y="391363"/>
                </a:lnTo>
                <a:lnTo>
                  <a:pt x="127823" y="435347"/>
                </a:lnTo>
                <a:lnTo>
                  <a:pt x="111049" y="480850"/>
                </a:lnTo>
                <a:lnTo>
                  <a:pt x="95154" y="527898"/>
                </a:lnTo>
                <a:lnTo>
                  <a:pt x="80213" y="576518"/>
                </a:lnTo>
                <a:lnTo>
                  <a:pt x="66303" y="626738"/>
                </a:lnTo>
                <a:lnTo>
                  <a:pt x="53499" y="678585"/>
                </a:lnTo>
                <a:lnTo>
                  <a:pt x="41877" y="732086"/>
                </a:lnTo>
                <a:lnTo>
                  <a:pt x="31513" y="787268"/>
                </a:lnTo>
                <a:lnTo>
                  <a:pt x="22483" y="844158"/>
                </a:lnTo>
                <a:lnTo>
                  <a:pt x="14863" y="902783"/>
                </a:lnTo>
                <a:lnTo>
                  <a:pt x="8728" y="963171"/>
                </a:lnTo>
                <a:lnTo>
                  <a:pt x="4156" y="1025348"/>
                </a:lnTo>
                <a:lnTo>
                  <a:pt x="1221" y="1089342"/>
                </a:lnTo>
                <a:lnTo>
                  <a:pt x="0" y="1155179"/>
                </a:lnTo>
                <a:lnTo>
                  <a:pt x="908" y="1220366"/>
                </a:lnTo>
                <a:lnTo>
                  <a:pt x="3581" y="1283760"/>
                </a:lnTo>
                <a:lnTo>
                  <a:pt x="7940" y="1345385"/>
                </a:lnTo>
                <a:lnTo>
                  <a:pt x="13905" y="1405264"/>
                </a:lnTo>
                <a:lnTo>
                  <a:pt x="21397" y="1463423"/>
                </a:lnTo>
                <a:lnTo>
                  <a:pt x="30337" y="1519885"/>
                </a:lnTo>
                <a:lnTo>
                  <a:pt x="40645" y="1574673"/>
                </a:lnTo>
                <a:lnTo>
                  <a:pt x="52244" y="1627811"/>
                </a:lnTo>
                <a:lnTo>
                  <a:pt x="65052" y="1679324"/>
                </a:lnTo>
                <a:lnTo>
                  <a:pt x="78992" y="1729234"/>
                </a:lnTo>
                <a:lnTo>
                  <a:pt x="93984" y="1777567"/>
                </a:lnTo>
                <a:lnTo>
                  <a:pt x="109948" y="1824345"/>
                </a:lnTo>
                <a:lnTo>
                  <a:pt x="126807" y="1869593"/>
                </a:lnTo>
                <a:lnTo>
                  <a:pt x="144480" y="1913335"/>
                </a:lnTo>
                <a:lnTo>
                  <a:pt x="162888" y="1955594"/>
                </a:lnTo>
                <a:lnTo>
                  <a:pt x="181952" y="1996394"/>
                </a:lnTo>
                <a:lnTo>
                  <a:pt x="201594" y="2035760"/>
                </a:lnTo>
                <a:lnTo>
                  <a:pt x="221733" y="2073714"/>
                </a:lnTo>
                <a:lnTo>
                  <a:pt x="242291" y="2110281"/>
                </a:lnTo>
                <a:lnTo>
                  <a:pt x="263189" y="2145484"/>
                </a:lnTo>
                <a:lnTo>
                  <a:pt x="284347" y="2179349"/>
                </a:lnTo>
                <a:lnTo>
                  <a:pt x="305686" y="2211897"/>
                </a:lnTo>
                <a:lnTo>
                  <a:pt x="348591" y="2273143"/>
                </a:lnTo>
                <a:lnTo>
                  <a:pt x="369999" y="2301888"/>
                </a:lnTo>
                <a:lnTo>
                  <a:pt x="564883" y="2301888"/>
                </a:lnTo>
                <a:lnTo>
                  <a:pt x="540060" y="2266166"/>
                </a:lnTo>
                <a:lnTo>
                  <a:pt x="515756" y="2229594"/>
                </a:lnTo>
                <a:lnTo>
                  <a:pt x="492018" y="2192144"/>
                </a:lnTo>
                <a:lnTo>
                  <a:pt x="468894" y="2153789"/>
                </a:lnTo>
                <a:lnTo>
                  <a:pt x="446432" y="2114503"/>
                </a:lnTo>
                <a:lnTo>
                  <a:pt x="424680" y="2074258"/>
                </a:lnTo>
                <a:lnTo>
                  <a:pt x="403685" y="2033028"/>
                </a:lnTo>
                <a:lnTo>
                  <a:pt x="383496" y="1990785"/>
                </a:lnTo>
                <a:lnTo>
                  <a:pt x="364159" y="1947503"/>
                </a:lnTo>
                <a:lnTo>
                  <a:pt x="345724" y="1903154"/>
                </a:lnTo>
                <a:lnTo>
                  <a:pt x="328238" y="1857711"/>
                </a:lnTo>
                <a:lnTo>
                  <a:pt x="311748" y="1811149"/>
                </a:lnTo>
                <a:lnTo>
                  <a:pt x="296302" y="1763438"/>
                </a:lnTo>
                <a:lnTo>
                  <a:pt x="281949" y="1714554"/>
                </a:lnTo>
                <a:lnTo>
                  <a:pt x="268736" y="1664467"/>
                </a:lnTo>
                <a:lnTo>
                  <a:pt x="256711" y="1613153"/>
                </a:lnTo>
                <a:lnTo>
                  <a:pt x="245921" y="1560583"/>
                </a:lnTo>
                <a:lnTo>
                  <a:pt x="236415" y="1506731"/>
                </a:lnTo>
                <a:lnTo>
                  <a:pt x="228240" y="1451570"/>
                </a:lnTo>
                <a:lnTo>
                  <a:pt x="221444" y="1395072"/>
                </a:lnTo>
                <a:lnTo>
                  <a:pt x="216076" y="1337211"/>
                </a:lnTo>
                <a:lnTo>
                  <a:pt x="212181" y="1277960"/>
                </a:lnTo>
                <a:lnTo>
                  <a:pt x="209810" y="1217292"/>
                </a:lnTo>
                <a:lnTo>
                  <a:pt x="209009" y="1155179"/>
                </a:lnTo>
                <a:lnTo>
                  <a:pt x="209721" y="1094521"/>
                </a:lnTo>
                <a:lnTo>
                  <a:pt x="211835" y="1035224"/>
                </a:lnTo>
                <a:lnTo>
                  <a:pt x="215314" y="977270"/>
                </a:lnTo>
                <a:lnTo>
                  <a:pt x="220123" y="920636"/>
                </a:lnTo>
                <a:lnTo>
                  <a:pt x="226226" y="865303"/>
                </a:lnTo>
                <a:lnTo>
                  <a:pt x="233587" y="811250"/>
                </a:lnTo>
                <a:lnTo>
                  <a:pt x="242170" y="758456"/>
                </a:lnTo>
                <a:lnTo>
                  <a:pt x="251940" y="706901"/>
                </a:lnTo>
                <a:lnTo>
                  <a:pt x="262861" y="656563"/>
                </a:lnTo>
                <a:lnTo>
                  <a:pt x="274896" y="607424"/>
                </a:lnTo>
                <a:lnTo>
                  <a:pt x="288011" y="559460"/>
                </a:lnTo>
                <a:lnTo>
                  <a:pt x="302168" y="512653"/>
                </a:lnTo>
                <a:lnTo>
                  <a:pt x="317334" y="466982"/>
                </a:lnTo>
                <a:lnTo>
                  <a:pt x="333471" y="422426"/>
                </a:lnTo>
                <a:lnTo>
                  <a:pt x="350544" y="378963"/>
                </a:lnTo>
                <a:lnTo>
                  <a:pt x="368518" y="336575"/>
                </a:lnTo>
                <a:lnTo>
                  <a:pt x="387356" y="295240"/>
                </a:lnTo>
                <a:lnTo>
                  <a:pt x="407022" y="254937"/>
                </a:lnTo>
                <a:lnTo>
                  <a:pt x="427482" y="215647"/>
                </a:lnTo>
                <a:lnTo>
                  <a:pt x="448698" y="177347"/>
                </a:lnTo>
                <a:lnTo>
                  <a:pt x="470636" y="140019"/>
                </a:lnTo>
                <a:lnTo>
                  <a:pt x="493259" y="103640"/>
                </a:lnTo>
                <a:lnTo>
                  <a:pt x="516531" y="68191"/>
                </a:lnTo>
                <a:lnTo>
                  <a:pt x="540418" y="33651"/>
                </a:lnTo>
                <a:lnTo>
                  <a:pt x="56488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387392" y="7284207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09">
                <a:moveTo>
                  <a:pt x="369999" y="0"/>
                </a:moveTo>
                <a:lnTo>
                  <a:pt x="327177" y="59362"/>
                </a:lnTo>
                <a:lnTo>
                  <a:pt x="305793" y="90900"/>
                </a:lnTo>
                <a:lnTo>
                  <a:pt x="284529" y="123713"/>
                </a:lnTo>
                <a:lnTo>
                  <a:pt x="263460" y="157827"/>
                </a:lnTo>
                <a:lnTo>
                  <a:pt x="242663" y="193270"/>
                </a:lnTo>
                <a:lnTo>
                  <a:pt x="222212" y="230069"/>
                </a:lnTo>
                <a:lnTo>
                  <a:pt x="202185" y="268251"/>
                </a:lnTo>
                <a:lnTo>
                  <a:pt x="182656" y="307842"/>
                </a:lnTo>
                <a:lnTo>
                  <a:pt x="163702" y="348871"/>
                </a:lnTo>
                <a:lnTo>
                  <a:pt x="145399" y="391363"/>
                </a:lnTo>
                <a:lnTo>
                  <a:pt x="127823" y="435347"/>
                </a:lnTo>
                <a:lnTo>
                  <a:pt x="111049" y="480850"/>
                </a:lnTo>
                <a:lnTo>
                  <a:pt x="95154" y="527898"/>
                </a:lnTo>
                <a:lnTo>
                  <a:pt x="80213" y="576518"/>
                </a:lnTo>
                <a:lnTo>
                  <a:pt x="66303" y="626738"/>
                </a:lnTo>
                <a:lnTo>
                  <a:pt x="53499" y="678585"/>
                </a:lnTo>
                <a:lnTo>
                  <a:pt x="41877" y="732086"/>
                </a:lnTo>
                <a:lnTo>
                  <a:pt x="31513" y="787268"/>
                </a:lnTo>
                <a:lnTo>
                  <a:pt x="22483" y="844158"/>
                </a:lnTo>
                <a:lnTo>
                  <a:pt x="14863" y="902783"/>
                </a:lnTo>
                <a:lnTo>
                  <a:pt x="8728" y="963171"/>
                </a:lnTo>
                <a:lnTo>
                  <a:pt x="4156" y="1025348"/>
                </a:lnTo>
                <a:lnTo>
                  <a:pt x="1221" y="1089342"/>
                </a:lnTo>
                <a:lnTo>
                  <a:pt x="0" y="1155179"/>
                </a:lnTo>
                <a:lnTo>
                  <a:pt x="908" y="1220366"/>
                </a:lnTo>
                <a:lnTo>
                  <a:pt x="3581" y="1283760"/>
                </a:lnTo>
                <a:lnTo>
                  <a:pt x="7940" y="1345385"/>
                </a:lnTo>
                <a:lnTo>
                  <a:pt x="13905" y="1405264"/>
                </a:lnTo>
                <a:lnTo>
                  <a:pt x="21397" y="1463423"/>
                </a:lnTo>
                <a:lnTo>
                  <a:pt x="30337" y="1519885"/>
                </a:lnTo>
                <a:lnTo>
                  <a:pt x="40645" y="1574673"/>
                </a:lnTo>
                <a:lnTo>
                  <a:pt x="52244" y="1627811"/>
                </a:lnTo>
                <a:lnTo>
                  <a:pt x="65052" y="1679324"/>
                </a:lnTo>
                <a:lnTo>
                  <a:pt x="78992" y="1729234"/>
                </a:lnTo>
                <a:lnTo>
                  <a:pt x="93984" y="1777567"/>
                </a:lnTo>
                <a:lnTo>
                  <a:pt x="109948" y="1824345"/>
                </a:lnTo>
                <a:lnTo>
                  <a:pt x="126807" y="1869593"/>
                </a:lnTo>
                <a:lnTo>
                  <a:pt x="144480" y="1913335"/>
                </a:lnTo>
                <a:lnTo>
                  <a:pt x="162888" y="1955594"/>
                </a:lnTo>
                <a:lnTo>
                  <a:pt x="181952" y="1996394"/>
                </a:lnTo>
                <a:lnTo>
                  <a:pt x="201594" y="2035760"/>
                </a:lnTo>
                <a:lnTo>
                  <a:pt x="221733" y="2073714"/>
                </a:lnTo>
                <a:lnTo>
                  <a:pt x="242291" y="2110281"/>
                </a:lnTo>
                <a:lnTo>
                  <a:pt x="263189" y="2145484"/>
                </a:lnTo>
                <a:lnTo>
                  <a:pt x="284347" y="2179349"/>
                </a:lnTo>
                <a:lnTo>
                  <a:pt x="305686" y="2211897"/>
                </a:lnTo>
                <a:lnTo>
                  <a:pt x="348591" y="2273143"/>
                </a:lnTo>
                <a:lnTo>
                  <a:pt x="369999" y="2301888"/>
                </a:lnTo>
                <a:lnTo>
                  <a:pt x="564883" y="2301888"/>
                </a:lnTo>
                <a:lnTo>
                  <a:pt x="540060" y="2266166"/>
                </a:lnTo>
                <a:lnTo>
                  <a:pt x="515756" y="2229594"/>
                </a:lnTo>
                <a:lnTo>
                  <a:pt x="492018" y="2192144"/>
                </a:lnTo>
                <a:lnTo>
                  <a:pt x="468894" y="2153789"/>
                </a:lnTo>
                <a:lnTo>
                  <a:pt x="446432" y="2114503"/>
                </a:lnTo>
                <a:lnTo>
                  <a:pt x="424680" y="2074258"/>
                </a:lnTo>
                <a:lnTo>
                  <a:pt x="403685" y="2033028"/>
                </a:lnTo>
                <a:lnTo>
                  <a:pt x="383496" y="1990785"/>
                </a:lnTo>
                <a:lnTo>
                  <a:pt x="364159" y="1947503"/>
                </a:lnTo>
                <a:lnTo>
                  <a:pt x="345724" y="1903154"/>
                </a:lnTo>
                <a:lnTo>
                  <a:pt x="328238" y="1857711"/>
                </a:lnTo>
                <a:lnTo>
                  <a:pt x="311748" y="1811149"/>
                </a:lnTo>
                <a:lnTo>
                  <a:pt x="296302" y="1763438"/>
                </a:lnTo>
                <a:lnTo>
                  <a:pt x="281949" y="1714554"/>
                </a:lnTo>
                <a:lnTo>
                  <a:pt x="268736" y="1664467"/>
                </a:lnTo>
                <a:lnTo>
                  <a:pt x="256711" y="1613153"/>
                </a:lnTo>
                <a:lnTo>
                  <a:pt x="245921" y="1560583"/>
                </a:lnTo>
                <a:lnTo>
                  <a:pt x="236415" y="1506731"/>
                </a:lnTo>
                <a:lnTo>
                  <a:pt x="228240" y="1451570"/>
                </a:lnTo>
                <a:lnTo>
                  <a:pt x="221444" y="1395072"/>
                </a:lnTo>
                <a:lnTo>
                  <a:pt x="216076" y="1337211"/>
                </a:lnTo>
                <a:lnTo>
                  <a:pt x="212181" y="1277960"/>
                </a:lnTo>
                <a:lnTo>
                  <a:pt x="209810" y="1217292"/>
                </a:lnTo>
                <a:lnTo>
                  <a:pt x="209009" y="1155179"/>
                </a:lnTo>
                <a:lnTo>
                  <a:pt x="209721" y="1094521"/>
                </a:lnTo>
                <a:lnTo>
                  <a:pt x="211835" y="1035224"/>
                </a:lnTo>
                <a:lnTo>
                  <a:pt x="215314" y="977270"/>
                </a:lnTo>
                <a:lnTo>
                  <a:pt x="220123" y="920636"/>
                </a:lnTo>
                <a:lnTo>
                  <a:pt x="226226" y="865303"/>
                </a:lnTo>
                <a:lnTo>
                  <a:pt x="233587" y="811250"/>
                </a:lnTo>
                <a:lnTo>
                  <a:pt x="242170" y="758456"/>
                </a:lnTo>
                <a:lnTo>
                  <a:pt x="251940" y="706901"/>
                </a:lnTo>
                <a:lnTo>
                  <a:pt x="262861" y="656563"/>
                </a:lnTo>
                <a:lnTo>
                  <a:pt x="274896" y="607424"/>
                </a:lnTo>
                <a:lnTo>
                  <a:pt x="288011" y="559460"/>
                </a:lnTo>
                <a:lnTo>
                  <a:pt x="302168" y="512653"/>
                </a:lnTo>
                <a:lnTo>
                  <a:pt x="317334" y="466982"/>
                </a:lnTo>
                <a:lnTo>
                  <a:pt x="333471" y="422426"/>
                </a:lnTo>
                <a:lnTo>
                  <a:pt x="350544" y="378963"/>
                </a:lnTo>
                <a:lnTo>
                  <a:pt x="368518" y="336575"/>
                </a:lnTo>
                <a:lnTo>
                  <a:pt x="387356" y="295240"/>
                </a:lnTo>
                <a:lnTo>
                  <a:pt x="407022" y="254937"/>
                </a:lnTo>
                <a:lnTo>
                  <a:pt x="427482" y="215647"/>
                </a:lnTo>
                <a:lnTo>
                  <a:pt x="448698" y="177347"/>
                </a:lnTo>
                <a:lnTo>
                  <a:pt x="470636" y="140019"/>
                </a:lnTo>
                <a:lnTo>
                  <a:pt x="493259" y="103640"/>
                </a:lnTo>
                <a:lnTo>
                  <a:pt x="516531" y="68191"/>
                </a:lnTo>
                <a:lnTo>
                  <a:pt x="540418" y="33651"/>
                </a:lnTo>
                <a:lnTo>
                  <a:pt x="564883" y="0"/>
                </a:lnTo>
                <a:lnTo>
                  <a:pt x="369999" y="0"/>
                </a:lnTo>
                <a:close/>
              </a:path>
            </a:pathLst>
          </a:custGeom>
          <a:ln w="1256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69058" y="2612485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10">
                <a:moveTo>
                  <a:pt x="194884" y="0"/>
                </a:moveTo>
                <a:lnTo>
                  <a:pt x="0" y="0"/>
                </a:lnTo>
                <a:lnTo>
                  <a:pt x="24822" y="35721"/>
                </a:lnTo>
                <a:lnTo>
                  <a:pt x="49126" y="72293"/>
                </a:lnTo>
                <a:lnTo>
                  <a:pt x="72864" y="109743"/>
                </a:lnTo>
                <a:lnTo>
                  <a:pt x="95988" y="148098"/>
                </a:lnTo>
                <a:lnTo>
                  <a:pt x="118450" y="187384"/>
                </a:lnTo>
                <a:lnTo>
                  <a:pt x="140203" y="227629"/>
                </a:lnTo>
                <a:lnTo>
                  <a:pt x="161197" y="268859"/>
                </a:lnTo>
                <a:lnTo>
                  <a:pt x="181387" y="311102"/>
                </a:lnTo>
                <a:lnTo>
                  <a:pt x="200723" y="354384"/>
                </a:lnTo>
                <a:lnTo>
                  <a:pt x="219158" y="398733"/>
                </a:lnTo>
                <a:lnTo>
                  <a:pt x="236645" y="444176"/>
                </a:lnTo>
                <a:lnTo>
                  <a:pt x="253134" y="490738"/>
                </a:lnTo>
                <a:lnTo>
                  <a:pt x="268580" y="538449"/>
                </a:lnTo>
                <a:lnTo>
                  <a:pt x="282933" y="587333"/>
                </a:lnTo>
                <a:lnTo>
                  <a:pt x="296146" y="637420"/>
                </a:lnTo>
                <a:lnTo>
                  <a:pt x="308172" y="688734"/>
                </a:lnTo>
                <a:lnTo>
                  <a:pt x="318961" y="741304"/>
                </a:lnTo>
                <a:lnTo>
                  <a:pt x="328467" y="795156"/>
                </a:lnTo>
                <a:lnTo>
                  <a:pt x="336642" y="850317"/>
                </a:lnTo>
                <a:lnTo>
                  <a:pt x="343438" y="906815"/>
                </a:lnTo>
                <a:lnTo>
                  <a:pt x="348807" y="964676"/>
                </a:lnTo>
                <a:lnTo>
                  <a:pt x="352701" y="1023927"/>
                </a:lnTo>
                <a:lnTo>
                  <a:pt x="355072" y="1084595"/>
                </a:lnTo>
                <a:lnTo>
                  <a:pt x="355873" y="1146708"/>
                </a:lnTo>
                <a:lnTo>
                  <a:pt x="355161" y="1207366"/>
                </a:lnTo>
                <a:lnTo>
                  <a:pt x="353047" y="1266663"/>
                </a:lnTo>
                <a:lnTo>
                  <a:pt x="349568" y="1324617"/>
                </a:lnTo>
                <a:lnTo>
                  <a:pt x="344759" y="1381251"/>
                </a:lnTo>
                <a:lnTo>
                  <a:pt x="338656" y="1436584"/>
                </a:lnTo>
                <a:lnTo>
                  <a:pt x="331295" y="1490637"/>
                </a:lnTo>
                <a:lnTo>
                  <a:pt x="322712" y="1543431"/>
                </a:lnTo>
                <a:lnTo>
                  <a:pt x="312942" y="1594986"/>
                </a:lnTo>
                <a:lnTo>
                  <a:pt x="302022" y="1645324"/>
                </a:lnTo>
                <a:lnTo>
                  <a:pt x="289986" y="1694464"/>
                </a:lnTo>
                <a:lnTo>
                  <a:pt x="276872" y="1742427"/>
                </a:lnTo>
                <a:lnTo>
                  <a:pt x="262714" y="1789234"/>
                </a:lnTo>
                <a:lnTo>
                  <a:pt x="247548" y="1834905"/>
                </a:lnTo>
                <a:lnTo>
                  <a:pt x="231411" y="1879462"/>
                </a:lnTo>
                <a:lnTo>
                  <a:pt x="214338" y="1922924"/>
                </a:lnTo>
                <a:lnTo>
                  <a:pt x="196364" y="1965312"/>
                </a:lnTo>
                <a:lnTo>
                  <a:pt x="177527" y="2006647"/>
                </a:lnTo>
                <a:lnTo>
                  <a:pt x="157860" y="2046950"/>
                </a:lnTo>
                <a:lnTo>
                  <a:pt x="137401" y="2086240"/>
                </a:lnTo>
                <a:lnTo>
                  <a:pt x="116184" y="2124540"/>
                </a:lnTo>
                <a:lnTo>
                  <a:pt x="94247" y="2161868"/>
                </a:lnTo>
                <a:lnTo>
                  <a:pt x="71624" y="2198247"/>
                </a:lnTo>
                <a:lnTo>
                  <a:pt x="48351" y="2233696"/>
                </a:lnTo>
                <a:lnTo>
                  <a:pt x="24464" y="2268236"/>
                </a:lnTo>
                <a:lnTo>
                  <a:pt x="0" y="2301888"/>
                </a:lnTo>
                <a:lnTo>
                  <a:pt x="194884" y="2301888"/>
                </a:lnTo>
                <a:lnTo>
                  <a:pt x="237705" y="2242525"/>
                </a:lnTo>
                <a:lnTo>
                  <a:pt x="259089" y="2210987"/>
                </a:lnTo>
                <a:lnTo>
                  <a:pt x="280353" y="2178174"/>
                </a:lnTo>
                <a:lnTo>
                  <a:pt x="301422" y="2144060"/>
                </a:lnTo>
                <a:lnTo>
                  <a:pt x="322220" y="2108617"/>
                </a:lnTo>
                <a:lnTo>
                  <a:pt x="342670" y="2071818"/>
                </a:lnTo>
                <a:lnTo>
                  <a:pt x="362698" y="2033636"/>
                </a:lnTo>
                <a:lnTo>
                  <a:pt x="382226" y="1994045"/>
                </a:lnTo>
                <a:lnTo>
                  <a:pt x="401180" y="1953016"/>
                </a:lnTo>
                <a:lnTo>
                  <a:pt x="419483" y="1910524"/>
                </a:lnTo>
                <a:lnTo>
                  <a:pt x="437059" y="1866540"/>
                </a:lnTo>
                <a:lnTo>
                  <a:pt x="453833" y="1821037"/>
                </a:lnTo>
                <a:lnTo>
                  <a:pt x="469728" y="1773989"/>
                </a:lnTo>
                <a:lnTo>
                  <a:pt x="484669" y="1725369"/>
                </a:lnTo>
                <a:lnTo>
                  <a:pt x="498580" y="1675149"/>
                </a:lnTo>
                <a:lnTo>
                  <a:pt x="511384" y="1623302"/>
                </a:lnTo>
                <a:lnTo>
                  <a:pt x="523006" y="1569801"/>
                </a:lnTo>
                <a:lnTo>
                  <a:pt x="533370" y="1514619"/>
                </a:lnTo>
                <a:lnTo>
                  <a:pt x="542400" y="1457729"/>
                </a:lnTo>
                <a:lnTo>
                  <a:pt x="550020" y="1399104"/>
                </a:lnTo>
                <a:lnTo>
                  <a:pt x="556154" y="1338716"/>
                </a:lnTo>
                <a:lnTo>
                  <a:pt x="560727" y="1276539"/>
                </a:lnTo>
                <a:lnTo>
                  <a:pt x="563661" y="1212545"/>
                </a:lnTo>
                <a:lnTo>
                  <a:pt x="564883" y="1146708"/>
                </a:lnTo>
                <a:lnTo>
                  <a:pt x="563974" y="1081521"/>
                </a:lnTo>
                <a:lnTo>
                  <a:pt x="561301" y="1018128"/>
                </a:lnTo>
                <a:lnTo>
                  <a:pt x="556942" y="956503"/>
                </a:lnTo>
                <a:lnTo>
                  <a:pt x="550977" y="896623"/>
                </a:lnTo>
                <a:lnTo>
                  <a:pt x="543485" y="838464"/>
                </a:lnTo>
                <a:lnTo>
                  <a:pt x="534545" y="782002"/>
                </a:lnTo>
                <a:lnTo>
                  <a:pt x="524237" y="727214"/>
                </a:lnTo>
                <a:lnTo>
                  <a:pt x="512639" y="674076"/>
                </a:lnTo>
                <a:lnTo>
                  <a:pt x="499830" y="622563"/>
                </a:lnTo>
                <a:lnTo>
                  <a:pt x="485890" y="572653"/>
                </a:lnTo>
                <a:lnTo>
                  <a:pt x="470899" y="524320"/>
                </a:lnTo>
                <a:lnTo>
                  <a:pt x="454934" y="477542"/>
                </a:lnTo>
                <a:lnTo>
                  <a:pt x="438076" y="432294"/>
                </a:lnTo>
                <a:lnTo>
                  <a:pt x="420403" y="388552"/>
                </a:lnTo>
                <a:lnTo>
                  <a:pt x="401994" y="346293"/>
                </a:lnTo>
                <a:lnTo>
                  <a:pt x="382930" y="305493"/>
                </a:lnTo>
                <a:lnTo>
                  <a:pt x="363288" y="266127"/>
                </a:lnTo>
                <a:lnTo>
                  <a:pt x="343149" y="228173"/>
                </a:lnTo>
                <a:lnTo>
                  <a:pt x="322591" y="191606"/>
                </a:lnTo>
                <a:lnTo>
                  <a:pt x="301693" y="156403"/>
                </a:lnTo>
                <a:lnTo>
                  <a:pt x="280535" y="122538"/>
                </a:lnTo>
                <a:lnTo>
                  <a:pt x="259196" y="89990"/>
                </a:lnTo>
                <a:lnTo>
                  <a:pt x="216291" y="28744"/>
                </a:lnTo>
                <a:lnTo>
                  <a:pt x="194884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69058" y="2612485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10">
                <a:moveTo>
                  <a:pt x="194884" y="2301888"/>
                </a:moveTo>
                <a:lnTo>
                  <a:pt x="237705" y="2242525"/>
                </a:lnTo>
                <a:lnTo>
                  <a:pt x="259089" y="2210987"/>
                </a:lnTo>
                <a:lnTo>
                  <a:pt x="280353" y="2178174"/>
                </a:lnTo>
                <a:lnTo>
                  <a:pt x="301422" y="2144060"/>
                </a:lnTo>
                <a:lnTo>
                  <a:pt x="322220" y="2108617"/>
                </a:lnTo>
                <a:lnTo>
                  <a:pt x="342670" y="2071818"/>
                </a:lnTo>
                <a:lnTo>
                  <a:pt x="362698" y="2033636"/>
                </a:lnTo>
                <a:lnTo>
                  <a:pt x="382226" y="1994045"/>
                </a:lnTo>
                <a:lnTo>
                  <a:pt x="401180" y="1953016"/>
                </a:lnTo>
                <a:lnTo>
                  <a:pt x="419483" y="1910524"/>
                </a:lnTo>
                <a:lnTo>
                  <a:pt x="437059" y="1866540"/>
                </a:lnTo>
                <a:lnTo>
                  <a:pt x="453833" y="1821037"/>
                </a:lnTo>
                <a:lnTo>
                  <a:pt x="469728" y="1773989"/>
                </a:lnTo>
                <a:lnTo>
                  <a:pt x="484669" y="1725369"/>
                </a:lnTo>
                <a:lnTo>
                  <a:pt x="498580" y="1675149"/>
                </a:lnTo>
                <a:lnTo>
                  <a:pt x="511384" y="1623302"/>
                </a:lnTo>
                <a:lnTo>
                  <a:pt x="523006" y="1569801"/>
                </a:lnTo>
                <a:lnTo>
                  <a:pt x="533370" y="1514619"/>
                </a:lnTo>
                <a:lnTo>
                  <a:pt x="542400" y="1457729"/>
                </a:lnTo>
                <a:lnTo>
                  <a:pt x="550020" y="1399104"/>
                </a:lnTo>
                <a:lnTo>
                  <a:pt x="556154" y="1338716"/>
                </a:lnTo>
                <a:lnTo>
                  <a:pt x="560727" y="1276539"/>
                </a:lnTo>
                <a:lnTo>
                  <a:pt x="563661" y="1212545"/>
                </a:lnTo>
                <a:lnTo>
                  <a:pt x="564883" y="1146708"/>
                </a:lnTo>
                <a:lnTo>
                  <a:pt x="563974" y="1081521"/>
                </a:lnTo>
                <a:lnTo>
                  <a:pt x="561301" y="1018128"/>
                </a:lnTo>
                <a:lnTo>
                  <a:pt x="556942" y="956503"/>
                </a:lnTo>
                <a:lnTo>
                  <a:pt x="550977" y="896623"/>
                </a:lnTo>
                <a:lnTo>
                  <a:pt x="543485" y="838464"/>
                </a:lnTo>
                <a:lnTo>
                  <a:pt x="534545" y="782002"/>
                </a:lnTo>
                <a:lnTo>
                  <a:pt x="524237" y="727214"/>
                </a:lnTo>
                <a:lnTo>
                  <a:pt x="512639" y="674076"/>
                </a:lnTo>
                <a:lnTo>
                  <a:pt x="499830" y="622563"/>
                </a:lnTo>
                <a:lnTo>
                  <a:pt x="485890" y="572653"/>
                </a:lnTo>
                <a:lnTo>
                  <a:pt x="470899" y="524320"/>
                </a:lnTo>
                <a:lnTo>
                  <a:pt x="454934" y="477542"/>
                </a:lnTo>
                <a:lnTo>
                  <a:pt x="438076" y="432294"/>
                </a:lnTo>
                <a:lnTo>
                  <a:pt x="420403" y="388552"/>
                </a:lnTo>
                <a:lnTo>
                  <a:pt x="401994" y="346293"/>
                </a:lnTo>
                <a:lnTo>
                  <a:pt x="382930" y="305493"/>
                </a:lnTo>
                <a:lnTo>
                  <a:pt x="363288" y="266127"/>
                </a:lnTo>
                <a:lnTo>
                  <a:pt x="343149" y="228173"/>
                </a:lnTo>
                <a:lnTo>
                  <a:pt x="322591" y="191606"/>
                </a:lnTo>
                <a:lnTo>
                  <a:pt x="301693" y="156403"/>
                </a:lnTo>
                <a:lnTo>
                  <a:pt x="280535" y="122538"/>
                </a:lnTo>
                <a:lnTo>
                  <a:pt x="259196" y="89990"/>
                </a:lnTo>
                <a:lnTo>
                  <a:pt x="216291" y="28744"/>
                </a:lnTo>
                <a:lnTo>
                  <a:pt x="194884" y="0"/>
                </a:lnTo>
                <a:lnTo>
                  <a:pt x="0" y="0"/>
                </a:lnTo>
                <a:lnTo>
                  <a:pt x="24822" y="35721"/>
                </a:lnTo>
                <a:lnTo>
                  <a:pt x="49126" y="72293"/>
                </a:lnTo>
                <a:lnTo>
                  <a:pt x="72864" y="109743"/>
                </a:lnTo>
                <a:lnTo>
                  <a:pt x="95988" y="148098"/>
                </a:lnTo>
                <a:lnTo>
                  <a:pt x="118450" y="187384"/>
                </a:lnTo>
                <a:lnTo>
                  <a:pt x="140203" y="227629"/>
                </a:lnTo>
                <a:lnTo>
                  <a:pt x="161197" y="268859"/>
                </a:lnTo>
                <a:lnTo>
                  <a:pt x="181387" y="311102"/>
                </a:lnTo>
                <a:lnTo>
                  <a:pt x="200723" y="354384"/>
                </a:lnTo>
                <a:lnTo>
                  <a:pt x="219158" y="398733"/>
                </a:lnTo>
                <a:lnTo>
                  <a:pt x="236645" y="444176"/>
                </a:lnTo>
                <a:lnTo>
                  <a:pt x="253134" y="490738"/>
                </a:lnTo>
                <a:lnTo>
                  <a:pt x="268580" y="538449"/>
                </a:lnTo>
                <a:lnTo>
                  <a:pt x="282933" y="587333"/>
                </a:lnTo>
                <a:lnTo>
                  <a:pt x="296146" y="637420"/>
                </a:lnTo>
                <a:lnTo>
                  <a:pt x="308172" y="688734"/>
                </a:lnTo>
                <a:lnTo>
                  <a:pt x="318961" y="741304"/>
                </a:lnTo>
                <a:lnTo>
                  <a:pt x="328467" y="795156"/>
                </a:lnTo>
                <a:lnTo>
                  <a:pt x="336642" y="850317"/>
                </a:lnTo>
                <a:lnTo>
                  <a:pt x="343438" y="906815"/>
                </a:lnTo>
                <a:lnTo>
                  <a:pt x="348807" y="964676"/>
                </a:lnTo>
                <a:lnTo>
                  <a:pt x="352701" y="1023927"/>
                </a:lnTo>
                <a:lnTo>
                  <a:pt x="355072" y="1084595"/>
                </a:lnTo>
                <a:lnTo>
                  <a:pt x="355873" y="1146708"/>
                </a:lnTo>
                <a:lnTo>
                  <a:pt x="355161" y="1207366"/>
                </a:lnTo>
                <a:lnTo>
                  <a:pt x="353047" y="1266663"/>
                </a:lnTo>
                <a:lnTo>
                  <a:pt x="349568" y="1324617"/>
                </a:lnTo>
                <a:lnTo>
                  <a:pt x="344759" y="1381251"/>
                </a:lnTo>
                <a:lnTo>
                  <a:pt x="338656" y="1436584"/>
                </a:lnTo>
                <a:lnTo>
                  <a:pt x="331295" y="1490637"/>
                </a:lnTo>
                <a:lnTo>
                  <a:pt x="322712" y="1543431"/>
                </a:lnTo>
                <a:lnTo>
                  <a:pt x="312942" y="1594986"/>
                </a:lnTo>
                <a:lnTo>
                  <a:pt x="302022" y="1645324"/>
                </a:lnTo>
                <a:lnTo>
                  <a:pt x="289986" y="1694464"/>
                </a:lnTo>
                <a:lnTo>
                  <a:pt x="276872" y="1742427"/>
                </a:lnTo>
                <a:lnTo>
                  <a:pt x="262714" y="1789234"/>
                </a:lnTo>
                <a:lnTo>
                  <a:pt x="247548" y="1834905"/>
                </a:lnTo>
                <a:lnTo>
                  <a:pt x="231411" y="1879462"/>
                </a:lnTo>
                <a:lnTo>
                  <a:pt x="214338" y="1922924"/>
                </a:lnTo>
                <a:lnTo>
                  <a:pt x="196364" y="1965312"/>
                </a:lnTo>
                <a:lnTo>
                  <a:pt x="177527" y="2006647"/>
                </a:lnTo>
                <a:lnTo>
                  <a:pt x="157860" y="2046950"/>
                </a:lnTo>
                <a:lnTo>
                  <a:pt x="137401" y="2086240"/>
                </a:lnTo>
                <a:lnTo>
                  <a:pt x="116184" y="2124540"/>
                </a:lnTo>
                <a:lnTo>
                  <a:pt x="94247" y="2161868"/>
                </a:lnTo>
                <a:lnTo>
                  <a:pt x="71624" y="2198247"/>
                </a:lnTo>
                <a:lnTo>
                  <a:pt x="48351" y="2233696"/>
                </a:lnTo>
                <a:lnTo>
                  <a:pt x="24464" y="2268236"/>
                </a:lnTo>
                <a:lnTo>
                  <a:pt x="0" y="2301888"/>
                </a:lnTo>
                <a:lnTo>
                  <a:pt x="194884" y="2301888"/>
                </a:lnTo>
                <a:close/>
              </a:path>
            </a:pathLst>
          </a:custGeom>
          <a:ln w="1256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437490" y="7284207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09">
                <a:moveTo>
                  <a:pt x="194884" y="0"/>
                </a:moveTo>
                <a:lnTo>
                  <a:pt x="0" y="0"/>
                </a:lnTo>
                <a:lnTo>
                  <a:pt x="24822" y="35721"/>
                </a:lnTo>
                <a:lnTo>
                  <a:pt x="49126" y="72293"/>
                </a:lnTo>
                <a:lnTo>
                  <a:pt x="72864" y="109743"/>
                </a:lnTo>
                <a:lnTo>
                  <a:pt x="95988" y="148098"/>
                </a:lnTo>
                <a:lnTo>
                  <a:pt x="118450" y="187384"/>
                </a:lnTo>
                <a:lnTo>
                  <a:pt x="140203" y="227629"/>
                </a:lnTo>
                <a:lnTo>
                  <a:pt x="161197" y="268859"/>
                </a:lnTo>
                <a:lnTo>
                  <a:pt x="181387" y="311102"/>
                </a:lnTo>
                <a:lnTo>
                  <a:pt x="200723" y="354384"/>
                </a:lnTo>
                <a:lnTo>
                  <a:pt x="219158" y="398733"/>
                </a:lnTo>
                <a:lnTo>
                  <a:pt x="236645" y="444176"/>
                </a:lnTo>
                <a:lnTo>
                  <a:pt x="253134" y="490738"/>
                </a:lnTo>
                <a:lnTo>
                  <a:pt x="268580" y="538449"/>
                </a:lnTo>
                <a:lnTo>
                  <a:pt x="282933" y="587333"/>
                </a:lnTo>
                <a:lnTo>
                  <a:pt x="296146" y="637420"/>
                </a:lnTo>
                <a:lnTo>
                  <a:pt x="308172" y="688734"/>
                </a:lnTo>
                <a:lnTo>
                  <a:pt x="318961" y="741304"/>
                </a:lnTo>
                <a:lnTo>
                  <a:pt x="328467" y="795156"/>
                </a:lnTo>
                <a:lnTo>
                  <a:pt x="336642" y="850317"/>
                </a:lnTo>
                <a:lnTo>
                  <a:pt x="343438" y="906815"/>
                </a:lnTo>
                <a:lnTo>
                  <a:pt x="348807" y="964676"/>
                </a:lnTo>
                <a:lnTo>
                  <a:pt x="352701" y="1023927"/>
                </a:lnTo>
                <a:lnTo>
                  <a:pt x="355072" y="1084595"/>
                </a:lnTo>
                <a:lnTo>
                  <a:pt x="355873" y="1146708"/>
                </a:lnTo>
                <a:lnTo>
                  <a:pt x="355161" y="1207366"/>
                </a:lnTo>
                <a:lnTo>
                  <a:pt x="353047" y="1266663"/>
                </a:lnTo>
                <a:lnTo>
                  <a:pt x="349568" y="1324617"/>
                </a:lnTo>
                <a:lnTo>
                  <a:pt x="344759" y="1381251"/>
                </a:lnTo>
                <a:lnTo>
                  <a:pt x="338656" y="1436584"/>
                </a:lnTo>
                <a:lnTo>
                  <a:pt x="331295" y="1490637"/>
                </a:lnTo>
                <a:lnTo>
                  <a:pt x="322712" y="1543431"/>
                </a:lnTo>
                <a:lnTo>
                  <a:pt x="312942" y="1594986"/>
                </a:lnTo>
                <a:lnTo>
                  <a:pt x="302022" y="1645324"/>
                </a:lnTo>
                <a:lnTo>
                  <a:pt x="289986" y="1694464"/>
                </a:lnTo>
                <a:lnTo>
                  <a:pt x="276872" y="1742427"/>
                </a:lnTo>
                <a:lnTo>
                  <a:pt x="262714" y="1789234"/>
                </a:lnTo>
                <a:lnTo>
                  <a:pt x="247548" y="1834905"/>
                </a:lnTo>
                <a:lnTo>
                  <a:pt x="231411" y="1879462"/>
                </a:lnTo>
                <a:lnTo>
                  <a:pt x="214338" y="1922924"/>
                </a:lnTo>
                <a:lnTo>
                  <a:pt x="196364" y="1965312"/>
                </a:lnTo>
                <a:lnTo>
                  <a:pt x="177527" y="2006647"/>
                </a:lnTo>
                <a:lnTo>
                  <a:pt x="157860" y="2046950"/>
                </a:lnTo>
                <a:lnTo>
                  <a:pt x="137401" y="2086240"/>
                </a:lnTo>
                <a:lnTo>
                  <a:pt x="116184" y="2124540"/>
                </a:lnTo>
                <a:lnTo>
                  <a:pt x="94247" y="2161868"/>
                </a:lnTo>
                <a:lnTo>
                  <a:pt x="71624" y="2198247"/>
                </a:lnTo>
                <a:lnTo>
                  <a:pt x="48351" y="2233696"/>
                </a:lnTo>
                <a:lnTo>
                  <a:pt x="24464" y="2268236"/>
                </a:lnTo>
                <a:lnTo>
                  <a:pt x="0" y="2301888"/>
                </a:lnTo>
                <a:lnTo>
                  <a:pt x="194884" y="2301888"/>
                </a:lnTo>
                <a:lnTo>
                  <a:pt x="237705" y="2242525"/>
                </a:lnTo>
                <a:lnTo>
                  <a:pt x="259089" y="2210987"/>
                </a:lnTo>
                <a:lnTo>
                  <a:pt x="280353" y="2178174"/>
                </a:lnTo>
                <a:lnTo>
                  <a:pt x="301422" y="2144060"/>
                </a:lnTo>
                <a:lnTo>
                  <a:pt x="322220" y="2108617"/>
                </a:lnTo>
                <a:lnTo>
                  <a:pt x="342670" y="2071818"/>
                </a:lnTo>
                <a:lnTo>
                  <a:pt x="362698" y="2033636"/>
                </a:lnTo>
                <a:lnTo>
                  <a:pt x="382226" y="1994045"/>
                </a:lnTo>
                <a:lnTo>
                  <a:pt x="401180" y="1953016"/>
                </a:lnTo>
                <a:lnTo>
                  <a:pt x="419483" y="1910524"/>
                </a:lnTo>
                <a:lnTo>
                  <a:pt x="437059" y="1866540"/>
                </a:lnTo>
                <a:lnTo>
                  <a:pt x="453833" y="1821037"/>
                </a:lnTo>
                <a:lnTo>
                  <a:pt x="469728" y="1773989"/>
                </a:lnTo>
                <a:lnTo>
                  <a:pt x="484669" y="1725369"/>
                </a:lnTo>
                <a:lnTo>
                  <a:pt x="498580" y="1675149"/>
                </a:lnTo>
                <a:lnTo>
                  <a:pt x="511384" y="1623302"/>
                </a:lnTo>
                <a:lnTo>
                  <a:pt x="523006" y="1569801"/>
                </a:lnTo>
                <a:lnTo>
                  <a:pt x="533370" y="1514619"/>
                </a:lnTo>
                <a:lnTo>
                  <a:pt x="542400" y="1457729"/>
                </a:lnTo>
                <a:lnTo>
                  <a:pt x="550020" y="1399104"/>
                </a:lnTo>
                <a:lnTo>
                  <a:pt x="556154" y="1338716"/>
                </a:lnTo>
                <a:lnTo>
                  <a:pt x="560727" y="1276539"/>
                </a:lnTo>
                <a:lnTo>
                  <a:pt x="563661" y="1212545"/>
                </a:lnTo>
                <a:lnTo>
                  <a:pt x="564883" y="1146708"/>
                </a:lnTo>
                <a:lnTo>
                  <a:pt x="563974" y="1081521"/>
                </a:lnTo>
                <a:lnTo>
                  <a:pt x="561301" y="1018128"/>
                </a:lnTo>
                <a:lnTo>
                  <a:pt x="556942" y="956503"/>
                </a:lnTo>
                <a:lnTo>
                  <a:pt x="550977" y="896623"/>
                </a:lnTo>
                <a:lnTo>
                  <a:pt x="543485" y="838464"/>
                </a:lnTo>
                <a:lnTo>
                  <a:pt x="534545" y="782002"/>
                </a:lnTo>
                <a:lnTo>
                  <a:pt x="524237" y="727214"/>
                </a:lnTo>
                <a:lnTo>
                  <a:pt x="512639" y="674076"/>
                </a:lnTo>
                <a:lnTo>
                  <a:pt x="499830" y="622563"/>
                </a:lnTo>
                <a:lnTo>
                  <a:pt x="485890" y="572653"/>
                </a:lnTo>
                <a:lnTo>
                  <a:pt x="470899" y="524320"/>
                </a:lnTo>
                <a:lnTo>
                  <a:pt x="454934" y="477542"/>
                </a:lnTo>
                <a:lnTo>
                  <a:pt x="438076" y="432294"/>
                </a:lnTo>
                <a:lnTo>
                  <a:pt x="420403" y="388552"/>
                </a:lnTo>
                <a:lnTo>
                  <a:pt x="401994" y="346293"/>
                </a:lnTo>
                <a:lnTo>
                  <a:pt x="382930" y="305493"/>
                </a:lnTo>
                <a:lnTo>
                  <a:pt x="363288" y="266127"/>
                </a:lnTo>
                <a:lnTo>
                  <a:pt x="343149" y="228173"/>
                </a:lnTo>
                <a:lnTo>
                  <a:pt x="322591" y="191606"/>
                </a:lnTo>
                <a:lnTo>
                  <a:pt x="301693" y="156403"/>
                </a:lnTo>
                <a:lnTo>
                  <a:pt x="280535" y="122538"/>
                </a:lnTo>
                <a:lnTo>
                  <a:pt x="259196" y="89990"/>
                </a:lnTo>
                <a:lnTo>
                  <a:pt x="216291" y="28744"/>
                </a:lnTo>
                <a:lnTo>
                  <a:pt x="194884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437490" y="7284207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09">
                <a:moveTo>
                  <a:pt x="194884" y="2301888"/>
                </a:moveTo>
                <a:lnTo>
                  <a:pt x="237705" y="2242525"/>
                </a:lnTo>
                <a:lnTo>
                  <a:pt x="259089" y="2210987"/>
                </a:lnTo>
                <a:lnTo>
                  <a:pt x="280353" y="2178174"/>
                </a:lnTo>
                <a:lnTo>
                  <a:pt x="301422" y="2144060"/>
                </a:lnTo>
                <a:lnTo>
                  <a:pt x="322220" y="2108617"/>
                </a:lnTo>
                <a:lnTo>
                  <a:pt x="342670" y="2071818"/>
                </a:lnTo>
                <a:lnTo>
                  <a:pt x="362698" y="2033636"/>
                </a:lnTo>
                <a:lnTo>
                  <a:pt x="382226" y="1994045"/>
                </a:lnTo>
                <a:lnTo>
                  <a:pt x="401180" y="1953016"/>
                </a:lnTo>
                <a:lnTo>
                  <a:pt x="419483" y="1910524"/>
                </a:lnTo>
                <a:lnTo>
                  <a:pt x="437059" y="1866540"/>
                </a:lnTo>
                <a:lnTo>
                  <a:pt x="453833" y="1821037"/>
                </a:lnTo>
                <a:lnTo>
                  <a:pt x="469728" y="1773989"/>
                </a:lnTo>
                <a:lnTo>
                  <a:pt x="484669" y="1725369"/>
                </a:lnTo>
                <a:lnTo>
                  <a:pt x="498580" y="1675149"/>
                </a:lnTo>
                <a:lnTo>
                  <a:pt x="511384" y="1623302"/>
                </a:lnTo>
                <a:lnTo>
                  <a:pt x="523006" y="1569801"/>
                </a:lnTo>
                <a:lnTo>
                  <a:pt x="533370" y="1514619"/>
                </a:lnTo>
                <a:lnTo>
                  <a:pt x="542400" y="1457729"/>
                </a:lnTo>
                <a:lnTo>
                  <a:pt x="550020" y="1399104"/>
                </a:lnTo>
                <a:lnTo>
                  <a:pt x="556154" y="1338716"/>
                </a:lnTo>
                <a:lnTo>
                  <a:pt x="560727" y="1276539"/>
                </a:lnTo>
                <a:lnTo>
                  <a:pt x="563661" y="1212545"/>
                </a:lnTo>
                <a:lnTo>
                  <a:pt x="564883" y="1146708"/>
                </a:lnTo>
                <a:lnTo>
                  <a:pt x="563974" y="1081521"/>
                </a:lnTo>
                <a:lnTo>
                  <a:pt x="561301" y="1018128"/>
                </a:lnTo>
                <a:lnTo>
                  <a:pt x="556942" y="956503"/>
                </a:lnTo>
                <a:lnTo>
                  <a:pt x="550977" y="896623"/>
                </a:lnTo>
                <a:lnTo>
                  <a:pt x="543485" y="838464"/>
                </a:lnTo>
                <a:lnTo>
                  <a:pt x="534545" y="782002"/>
                </a:lnTo>
                <a:lnTo>
                  <a:pt x="524237" y="727214"/>
                </a:lnTo>
                <a:lnTo>
                  <a:pt x="512639" y="674076"/>
                </a:lnTo>
                <a:lnTo>
                  <a:pt x="499830" y="622563"/>
                </a:lnTo>
                <a:lnTo>
                  <a:pt x="485890" y="572653"/>
                </a:lnTo>
                <a:lnTo>
                  <a:pt x="470899" y="524320"/>
                </a:lnTo>
                <a:lnTo>
                  <a:pt x="454934" y="477542"/>
                </a:lnTo>
                <a:lnTo>
                  <a:pt x="438076" y="432294"/>
                </a:lnTo>
                <a:lnTo>
                  <a:pt x="420403" y="388552"/>
                </a:lnTo>
                <a:lnTo>
                  <a:pt x="401994" y="346293"/>
                </a:lnTo>
                <a:lnTo>
                  <a:pt x="382930" y="305493"/>
                </a:lnTo>
                <a:lnTo>
                  <a:pt x="363288" y="266127"/>
                </a:lnTo>
                <a:lnTo>
                  <a:pt x="343149" y="228173"/>
                </a:lnTo>
                <a:lnTo>
                  <a:pt x="322591" y="191606"/>
                </a:lnTo>
                <a:lnTo>
                  <a:pt x="301693" y="156403"/>
                </a:lnTo>
                <a:lnTo>
                  <a:pt x="280535" y="122538"/>
                </a:lnTo>
                <a:lnTo>
                  <a:pt x="259196" y="89990"/>
                </a:lnTo>
                <a:lnTo>
                  <a:pt x="216291" y="28744"/>
                </a:lnTo>
                <a:lnTo>
                  <a:pt x="194884" y="0"/>
                </a:lnTo>
                <a:lnTo>
                  <a:pt x="0" y="0"/>
                </a:lnTo>
                <a:lnTo>
                  <a:pt x="24822" y="35721"/>
                </a:lnTo>
                <a:lnTo>
                  <a:pt x="49126" y="72293"/>
                </a:lnTo>
                <a:lnTo>
                  <a:pt x="72864" y="109743"/>
                </a:lnTo>
                <a:lnTo>
                  <a:pt x="95988" y="148098"/>
                </a:lnTo>
                <a:lnTo>
                  <a:pt x="118450" y="187384"/>
                </a:lnTo>
                <a:lnTo>
                  <a:pt x="140203" y="227629"/>
                </a:lnTo>
                <a:lnTo>
                  <a:pt x="161197" y="268859"/>
                </a:lnTo>
                <a:lnTo>
                  <a:pt x="181387" y="311102"/>
                </a:lnTo>
                <a:lnTo>
                  <a:pt x="200723" y="354384"/>
                </a:lnTo>
                <a:lnTo>
                  <a:pt x="219158" y="398733"/>
                </a:lnTo>
                <a:lnTo>
                  <a:pt x="236645" y="444176"/>
                </a:lnTo>
                <a:lnTo>
                  <a:pt x="253134" y="490738"/>
                </a:lnTo>
                <a:lnTo>
                  <a:pt x="268580" y="538449"/>
                </a:lnTo>
                <a:lnTo>
                  <a:pt x="282933" y="587333"/>
                </a:lnTo>
                <a:lnTo>
                  <a:pt x="296146" y="637420"/>
                </a:lnTo>
                <a:lnTo>
                  <a:pt x="308172" y="688734"/>
                </a:lnTo>
                <a:lnTo>
                  <a:pt x="318961" y="741304"/>
                </a:lnTo>
                <a:lnTo>
                  <a:pt x="328467" y="795156"/>
                </a:lnTo>
                <a:lnTo>
                  <a:pt x="336642" y="850317"/>
                </a:lnTo>
                <a:lnTo>
                  <a:pt x="343438" y="906815"/>
                </a:lnTo>
                <a:lnTo>
                  <a:pt x="348807" y="964676"/>
                </a:lnTo>
                <a:lnTo>
                  <a:pt x="352701" y="1023927"/>
                </a:lnTo>
                <a:lnTo>
                  <a:pt x="355072" y="1084595"/>
                </a:lnTo>
                <a:lnTo>
                  <a:pt x="355873" y="1146708"/>
                </a:lnTo>
                <a:lnTo>
                  <a:pt x="355161" y="1207366"/>
                </a:lnTo>
                <a:lnTo>
                  <a:pt x="353047" y="1266663"/>
                </a:lnTo>
                <a:lnTo>
                  <a:pt x="349568" y="1324617"/>
                </a:lnTo>
                <a:lnTo>
                  <a:pt x="344759" y="1381251"/>
                </a:lnTo>
                <a:lnTo>
                  <a:pt x="338656" y="1436584"/>
                </a:lnTo>
                <a:lnTo>
                  <a:pt x="331295" y="1490637"/>
                </a:lnTo>
                <a:lnTo>
                  <a:pt x="322712" y="1543431"/>
                </a:lnTo>
                <a:lnTo>
                  <a:pt x="312942" y="1594986"/>
                </a:lnTo>
                <a:lnTo>
                  <a:pt x="302022" y="1645324"/>
                </a:lnTo>
                <a:lnTo>
                  <a:pt x="289986" y="1694464"/>
                </a:lnTo>
                <a:lnTo>
                  <a:pt x="276872" y="1742427"/>
                </a:lnTo>
                <a:lnTo>
                  <a:pt x="262714" y="1789234"/>
                </a:lnTo>
                <a:lnTo>
                  <a:pt x="247548" y="1834905"/>
                </a:lnTo>
                <a:lnTo>
                  <a:pt x="231411" y="1879462"/>
                </a:lnTo>
                <a:lnTo>
                  <a:pt x="214338" y="1922924"/>
                </a:lnTo>
                <a:lnTo>
                  <a:pt x="196364" y="1965312"/>
                </a:lnTo>
                <a:lnTo>
                  <a:pt x="177527" y="2006647"/>
                </a:lnTo>
                <a:lnTo>
                  <a:pt x="157860" y="2046950"/>
                </a:lnTo>
                <a:lnTo>
                  <a:pt x="137401" y="2086240"/>
                </a:lnTo>
                <a:lnTo>
                  <a:pt x="116184" y="2124540"/>
                </a:lnTo>
                <a:lnTo>
                  <a:pt x="94247" y="2161868"/>
                </a:lnTo>
                <a:lnTo>
                  <a:pt x="71624" y="2198247"/>
                </a:lnTo>
                <a:lnTo>
                  <a:pt x="48351" y="2233696"/>
                </a:lnTo>
                <a:lnTo>
                  <a:pt x="24464" y="2268236"/>
                </a:lnTo>
                <a:lnTo>
                  <a:pt x="0" y="2301888"/>
                </a:lnTo>
                <a:lnTo>
                  <a:pt x="194884" y="2301888"/>
                </a:lnTo>
                <a:close/>
              </a:path>
            </a:pathLst>
          </a:custGeom>
          <a:ln w="1256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220158" y="7284207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09">
                <a:moveTo>
                  <a:pt x="194884" y="0"/>
                </a:moveTo>
                <a:lnTo>
                  <a:pt x="0" y="0"/>
                </a:lnTo>
                <a:lnTo>
                  <a:pt x="24822" y="35721"/>
                </a:lnTo>
                <a:lnTo>
                  <a:pt x="49126" y="72293"/>
                </a:lnTo>
                <a:lnTo>
                  <a:pt x="72864" y="109743"/>
                </a:lnTo>
                <a:lnTo>
                  <a:pt x="95988" y="148098"/>
                </a:lnTo>
                <a:lnTo>
                  <a:pt x="118450" y="187384"/>
                </a:lnTo>
                <a:lnTo>
                  <a:pt x="140203" y="227629"/>
                </a:lnTo>
                <a:lnTo>
                  <a:pt x="161197" y="268859"/>
                </a:lnTo>
                <a:lnTo>
                  <a:pt x="181387" y="311102"/>
                </a:lnTo>
                <a:lnTo>
                  <a:pt x="200723" y="354384"/>
                </a:lnTo>
                <a:lnTo>
                  <a:pt x="219158" y="398733"/>
                </a:lnTo>
                <a:lnTo>
                  <a:pt x="236645" y="444176"/>
                </a:lnTo>
                <a:lnTo>
                  <a:pt x="253134" y="490738"/>
                </a:lnTo>
                <a:lnTo>
                  <a:pt x="268580" y="538449"/>
                </a:lnTo>
                <a:lnTo>
                  <a:pt x="282933" y="587333"/>
                </a:lnTo>
                <a:lnTo>
                  <a:pt x="296146" y="637420"/>
                </a:lnTo>
                <a:lnTo>
                  <a:pt x="308172" y="688734"/>
                </a:lnTo>
                <a:lnTo>
                  <a:pt x="318961" y="741304"/>
                </a:lnTo>
                <a:lnTo>
                  <a:pt x="328467" y="795156"/>
                </a:lnTo>
                <a:lnTo>
                  <a:pt x="336642" y="850317"/>
                </a:lnTo>
                <a:lnTo>
                  <a:pt x="343438" y="906815"/>
                </a:lnTo>
                <a:lnTo>
                  <a:pt x="348807" y="964676"/>
                </a:lnTo>
                <a:lnTo>
                  <a:pt x="352701" y="1023927"/>
                </a:lnTo>
                <a:lnTo>
                  <a:pt x="355072" y="1084595"/>
                </a:lnTo>
                <a:lnTo>
                  <a:pt x="355873" y="1146708"/>
                </a:lnTo>
                <a:lnTo>
                  <a:pt x="355161" y="1207366"/>
                </a:lnTo>
                <a:lnTo>
                  <a:pt x="353047" y="1266663"/>
                </a:lnTo>
                <a:lnTo>
                  <a:pt x="349568" y="1324617"/>
                </a:lnTo>
                <a:lnTo>
                  <a:pt x="344759" y="1381251"/>
                </a:lnTo>
                <a:lnTo>
                  <a:pt x="338656" y="1436584"/>
                </a:lnTo>
                <a:lnTo>
                  <a:pt x="331295" y="1490637"/>
                </a:lnTo>
                <a:lnTo>
                  <a:pt x="322712" y="1543431"/>
                </a:lnTo>
                <a:lnTo>
                  <a:pt x="312942" y="1594986"/>
                </a:lnTo>
                <a:lnTo>
                  <a:pt x="302022" y="1645324"/>
                </a:lnTo>
                <a:lnTo>
                  <a:pt x="289986" y="1694464"/>
                </a:lnTo>
                <a:lnTo>
                  <a:pt x="276872" y="1742427"/>
                </a:lnTo>
                <a:lnTo>
                  <a:pt x="262714" y="1789234"/>
                </a:lnTo>
                <a:lnTo>
                  <a:pt x="247548" y="1834905"/>
                </a:lnTo>
                <a:lnTo>
                  <a:pt x="231411" y="1879462"/>
                </a:lnTo>
                <a:lnTo>
                  <a:pt x="214338" y="1922924"/>
                </a:lnTo>
                <a:lnTo>
                  <a:pt x="196364" y="1965312"/>
                </a:lnTo>
                <a:lnTo>
                  <a:pt x="177527" y="2006647"/>
                </a:lnTo>
                <a:lnTo>
                  <a:pt x="157860" y="2046950"/>
                </a:lnTo>
                <a:lnTo>
                  <a:pt x="137401" y="2086240"/>
                </a:lnTo>
                <a:lnTo>
                  <a:pt x="116184" y="2124540"/>
                </a:lnTo>
                <a:lnTo>
                  <a:pt x="94247" y="2161868"/>
                </a:lnTo>
                <a:lnTo>
                  <a:pt x="71624" y="2198247"/>
                </a:lnTo>
                <a:lnTo>
                  <a:pt x="48351" y="2233696"/>
                </a:lnTo>
                <a:lnTo>
                  <a:pt x="24464" y="2268236"/>
                </a:lnTo>
                <a:lnTo>
                  <a:pt x="0" y="2301888"/>
                </a:lnTo>
                <a:lnTo>
                  <a:pt x="194884" y="2301888"/>
                </a:lnTo>
                <a:lnTo>
                  <a:pt x="237705" y="2242525"/>
                </a:lnTo>
                <a:lnTo>
                  <a:pt x="259089" y="2210987"/>
                </a:lnTo>
                <a:lnTo>
                  <a:pt x="280353" y="2178174"/>
                </a:lnTo>
                <a:lnTo>
                  <a:pt x="301422" y="2144060"/>
                </a:lnTo>
                <a:lnTo>
                  <a:pt x="322220" y="2108617"/>
                </a:lnTo>
                <a:lnTo>
                  <a:pt x="342670" y="2071818"/>
                </a:lnTo>
                <a:lnTo>
                  <a:pt x="362698" y="2033636"/>
                </a:lnTo>
                <a:lnTo>
                  <a:pt x="382226" y="1994045"/>
                </a:lnTo>
                <a:lnTo>
                  <a:pt x="401180" y="1953016"/>
                </a:lnTo>
                <a:lnTo>
                  <a:pt x="419483" y="1910524"/>
                </a:lnTo>
                <a:lnTo>
                  <a:pt x="437059" y="1866540"/>
                </a:lnTo>
                <a:lnTo>
                  <a:pt x="453833" y="1821037"/>
                </a:lnTo>
                <a:lnTo>
                  <a:pt x="469728" y="1773989"/>
                </a:lnTo>
                <a:lnTo>
                  <a:pt x="484669" y="1725369"/>
                </a:lnTo>
                <a:lnTo>
                  <a:pt x="498580" y="1675149"/>
                </a:lnTo>
                <a:lnTo>
                  <a:pt x="511384" y="1623302"/>
                </a:lnTo>
                <a:lnTo>
                  <a:pt x="523006" y="1569801"/>
                </a:lnTo>
                <a:lnTo>
                  <a:pt x="533370" y="1514619"/>
                </a:lnTo>
                <a:lnTo>
                  <a:pt x="542400" y="1457729"/>
                </a:lnTo>
                <a:lnTo>
                  <a:pt x="550020" y="1399104"/>
                </a:lnTo>
                <a:lnTo>
                  <a:pt x="556154" y="1338716"/>
                </a:lnTo>
                <a:lnTo>
                  <a:pt x="560727" y="1276539"/>
                </a:lnTo>
                <a:lnTo>
                  <a:pt x="563661" y="1212545"/>
                </a:lnTo>
                <a:lnTo>
                  <a:pt x="564883" y="1146708"/>
                </a:lnTo>
                <a:lnTo>
                  <a:pt x="563974" y="1081521"/>
                </a:lnTo>
                <a:lnTo>
                  <a:pt x="561301" y="1018128"/>
                </a:lnTo>
                <a:lnTo>
                  <a:pt x="556942" y="956503"/>
                </a:lnTo>
                <a:lnTo>
                  <a:pt x="550977" y="896623"/>
                </a:lnTo>
                <a:lnTo>
                  <a:pt x="543485" y="838464"/>
                </a:lnTo>
                <a:lnTo>
                  <a:pt x="534545" y="782002"/>
                </a:lnTo>
                <a:lnTo>
                  <a:pt x="524237" y="727214"/>
                </a:lnTo>
                <a:lnTo>
                  <a:pt x="512639" y="674076"/>
                </a:lnTo>
                <a:lnTo>
                  <a:pt x="499830" y="622563"/>
                </a:lnTo>
                <a:lnTo>
                  <a:pt x="485890" y="572653"/>
                </a:lnTo>
                <a:lnTo>
                  <a:pt x="470899" y="524320"/>
                </a:lnTo>
                <a:lnTo>
                  <a:pt x="454934" y="477542"/>
                </a:lnTo>
                <a:lnTo>
                  <a:pt x="438076" y="432294"/>
                </a:lnTo>
                <a:lnTo>
                  <a:pt x="420403" y="388552"/>
                </a:lnTo>
                <a:lnTo>
                  <a:pt x="401994" y="346293"/>
                </a:lnTo>
                <a:lnTo>
                  <a:pt x="382930" y="305493"/>
                </a:lnTo>
                <a:lnTo>
                  <a:pt x="363288" y="266127"/>
                </a:lnTo>
                <a:lnTo>
                  <a:pt x="343149" y="228173"/>
                </a:lnTo>
                <a:lnTo>
                  <a:pt x="322591" y="191606"/>
                </a:lnTo>
                <a:lnTo>
                  <a:pt x="301693" y="156403"/>
                </a:lnTo>
                <a:lnTo>
                  <a:pt x="280535" y="122538"/>
                </a:lnTo>
                <a:lnTo>
                  <a:pt x="259196" y="89990"/>
                </a:lnTo>
                <a:lnTo>
                  <a:pt x="216291" y="28744"/>
                </a:lnTo>
                <a:lnTo>
                  <a:pt x="194884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220158" y="7284207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09">
                <a:moveTo>
                  <a:pt x="194884" y="2301888"/>
                </a:moveTo>
                <a:lnTo>
                  <a:pt x="237705" y="2242525"/>
                </a:lnTo>
                <a:lnTo>
                  <a:pt x="259089" y="2210987"/>
                </a:lnTo>
                <a:lnTo>
                  <a:pt x="280353" y="2178174"/>
                </a:lnTo>
                <a:lnTo>
                  <a:pt x="301422" y="2144060"/>
                </a:lnTo>
                <a:lnTo>
                  <a:pt x="322220" y="2108617"/>
                </a:lnTo>
                <a:lnTo>
                  <a:pt x="342670" y="2071818"/>
                </a:lnTo>
                <a:lnTo>
                  <a:pt x="362698" y="2033636"/>
                </a:lnTo>
                <a:lnTo>
                  <a:pt x="382226" y="1994045"/>
                </a:lnTo>
                <a:lnTo>
                  <a:pt x="401180" y="1953016"/>
                </a:lnTo>
                <a:lnTo>
                  <a:pt x="419483" y="1910524"/>
                </a:lnTo>
                <a:lnTo>
                  <a:pt x="437059" y="1866540"/>
                </a:lnTo>
                <a:lnTo>
                  <a:pt x="453833" y="1821037"/>
                </a:lnTo>
                <a:lnTo>
                  <a:pt x="469728" y="1773989"/>
                </a:lnTo>
                <a:lnTo>
                  <a:pt x="484669" y="1725369"/>
                </a:lnTo>
                <a:lnTo>
                  <a:pt x="498580" y="1675149"/>
                </a:lnTo>
                <a:lnTo>
                  <a:pt x="511384" y="1623302"/>
                </a:lnTo>
                <a:lnTo>
                  <a:pt x="523006" y="1569801"/>
                </a:lnTo>
                <a:lnTo>
                  <a:pt x="533370" y="1514619"/>
                </a:lnTo>
                <a:lnTo>
                  <a:pt x="542400" y="1457729"/>
                </a:lnTo>
                <a:lnTo>
                  <a:pt x="550020" y="1399104"/>
                </a:lnTo>
                <a:lnTo>
                  <a:pt x="556154" y="1338716"/>
                </a:lnTo>
                <a:lnTo>
                  <a:pt x="560727" y="1276539"/>
                </a:lnTo>
                <a:lnTo>
                  <a:pt x="563661" y="1212545"/>
                </a:lnTo>
                <a:lnTo>
                  <a:pt x="564883" y="1146708"/>
                </a:lnTo>
                <a:lnTo>
                  <a:pt x="563974" y="1081521"/>
                </a:lnTo>
                <a:lnTo>
                  <a:pt x="561301" y="1018128"/>
                </a:lnTo>
                <a:lnTo>
                  <a:pt x="556942" y="956503"/>
                </a:lnTo>
                <a:lnTo>
                  <a:pt x="550977" y="896623"/>
                </a:lnTo>
                <a:lnTo>
                  <a:pt x="543485" y="838464"/>
                </a:lnTo>
                <a:lnTo>
                  <a:pt x="534545" y="782002"/>
                </a:lnTo>
                <a:lnTo>
                  <a:pt x="524237" y="727214"/>
                </a:lnTo>
                <a:lnTo>
                  <a:pt x="512639" y="674076"/>
                </a:lnTo>
                <a:lnTo>
                  <a:pt x="499830" y="622563"/>
                </a:lnTo>
                <a:lnTo>
                  <a:pt x="485890" y="572653"/>
                </a:lnTo>
                <a:lnTo>
                  <a:pt x="470899" y="524320"/>
                </a:lnTo>
                <a:lnTo>
                  <a:pt x="454934" y="477542"/>
                </a:lnTo>
                <a:lnTo>
                  <a:pt x="438076" y="432294"/>
                </a:lnTo>
                <a:lnTo>
                  <a:pt x="420403" y="388552"/>
                </a:lnTo>
                <a:lnTo>
                  <a:pt x="401994" y="346293"/>
                </a:lnTo>
                <a:lnTo>
                  <a:pt x="382930" y="305493"/>
                </a:lnTo>
                <a:lnTo>
                  <a:pt x="363288" y="266127"/>
                </a:lnTo>
                <a:lnTo>
                  <a:pt x="343149" y="228173"/>
                </a:lnTo>
                <a:lnTo>
                  <a:pt x="322591" y="191606"/>
                </a:lnTo>
                <a:lnTo>
                  <a:pt x="301693" y="156403"/>
                </a:lnTo>
                <a:lnTo>
                  <a:pt x="280535" y="122538"/>
                </a:lnTo>
                <a:lnTo>
                  <a:pt x="259196" y="89990"/>
                </a:lnTo>
                <a:lnTo>
                  <a:pt x="216291" y="28744"/>
                </a:lnTo>
                <a:lnTo>
                  <a:pt x="194884" y="0"/>
                </a:lnTo>
                <a:lnTo>
                  <a:pt x="0" y="0"/>
                </a:lnTo>
                <a:lnTo>
                  <a:pt x="24822" y="35721"/>
                </a:lnTo>
                <a:lnTo>
                  <a:pt x="49126" y="72293"/>
                </a:lnTo>
                <a:lnTo>
                  <a:pt x="72864" y="109743"/>
                </a:lnTo>
                <a:lnTo>
                  <a:pt x="95988" y="148098"/>
                </a:lnTo>
                <a:lnTo>
                  <a:pt x="118450" y="187384"/>
                </a:lnTo>
                <a:lnTo>
                  <a:pt x="140203" y="227629"/>
                </a:lnTo>
                <a:lnTo>
                  <a:pt x="161197" y="268859"/>
                </a:lnTo>
                <a:lnTo>
                  <a:pt x="181387" y="311102"/>
                </a:lnTo>
                <a:lnTo>
                  <a:pt x="200723" y="354384"/>
                </a:lnTo>
                <a:lnTo>
                  <a:pt x="219158" y="398733"/>
                </a:lnTo>
                <a:lnTo>
                  <a:pt x="236645" y="444176"/>
                </a:lnTo>
                <a:lnTo>
                  <a:pt x="253134" y="490738"/>
                </a:lnTo>
                <a:lnTo>
                  <a:pt x="268580" y="538449"/>
                </a:lnTo>
                <a:lnTo>
                  <a:pt x="282933" y="587333"/>
                </a:lnTo>
                <a:lnTo>
                  <a:pt x="296146" y="637420"/>
                </a:lnTo>
                <a:lnTo>
                  <a:pt x="308172" y="688734"/>
                </a:lnTo>
                <a:lnTo>
                  <a:pt x="318961" y="741304"/>
                </a:lnTo>
                <a:lnTo>
                  <a:pt x="328467" y="795156"/>
                </a:lnTo>
                <a:lnTo>
                  <a:pt x="336642" y="850317"/>
                </a:lnTo>
                <a:lnTo>
                  <a:pt x="343438" y="906815"/>
                </a:lnTo>
                <a:lnTo>
                  <a:pt x="348807" y="964676"/>
                </a:lnTo>
                <a:lnTo>
                  <a:pt x="352701" y="1023927"/>
                </a:lnTo>
                <a:lnTo>
                  <a:pt x="355072" y="1084595"/>
                </a:lnTo>
                <a:lnTo>
                  <a:pt x="355873" y="1146708"/>
                </a:lnTo>
                <a:lnTo>
                  <a:pt x="355161" y="1207366"/>
                </a:lnTo>
                <a:lnTo>
                  <a:pt x="353047" y="1266663"/>
                </a:lnTo>
                <a:lnTo>
                  <a:pt x="349568" y="1324617"/>
                </a:lnTo>
                <a:lnTo>
                  <a:pt x="344759" y="1381251"/>
                </a:lnTo>
                <a:lnTo>
                  <a:pt x="338656" y="1436584"/>
                </a:lnTo>
                <a:lnTo>
                  <a:pt x="331295" y="1490637"/>
                </a:lnTo>
                <a:lnTo>
                  <a:pt x="322712" y="1543431"/>
                </a:lnTo>
                <a:lnTo>
                  <a:pt x="312942" y="1594986"/>
                </a:lnTo>
                <a:lnTo>
                  <a:pt x="302022" y="1645324"/>
                </a:lnTo>
                <a:lnTo>
                  <a:pt x="289986" y="1694464"/>
                </a:lnTo>
                <a:lnTo>
                  <a:pt x="276872" y="1742427"/>
                </a:lnTo>
                <a:lnTo>
                  <a:pt x="262714" y="1789234"/>
                </a:lnTo>
                <a:lnTo>
                  <a:pt x="247548" y="1834905"/>
                </a:lnTo>
                <a:lnTo>
                  <a:pt x="231411" y="1879462"/>
                </a:lnTo>
                <a:lnTo>
                  <a:pt x="214338" y="1922924"/>
                </a:lnTo>
                <a:lnTo>
                  <a:pt x="196364" y="1965312"/>
                </a:lnTo>
                <a:lnTo>
                  <a:pt x="177527" y="2006647"/>
                </a:lnTo>
                <a:lnTo>
                  <a:pt x="157860" y="2046950"/>
                </a:lnTo>
                <a:lnTo>
                  <a:pt x="137401" y="2086240"/>
                </a:lnTo>
                <a:lnTo>
                  <a:pt x="116184" y="2124540"/>
                </a:lnTo>
                <a:lnTo>
                  <a:pt x="94247" y="2161868"/>
                </a:lnTo>
                <a:lnTo>
                  <a:pt x="71624" y="2198247"/>
                </a:lnTo>
                <a:lnTo>
                  <a:pt x="48351" y="2233696"/>
                </a:lnTo>
                <a:lnTo>
                  <a:pt x="24464" y="2268236"/>
                </a:lnTo>
                <a:lnTo>
                  <a:pt x="0" y="2301888"/>
                </a:lnTo>
                <a:lnTo>
                  <a:pt x="194884" y="2301888"/>
                </a:lnTo>
                <a:close/>
              </a:path>
            </a:pathLst>
          </a:custGeom>
          <a:ln w="1256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77140" y="7284207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09">
                <a:moveTo>
                  <a:pt x="564883" y="0"/>
                </a:moveTo>
                <a:lnTo>
                  <a:pt x="369999" y="0"/>
                </a:lnTo>
                <a:lnTo>
                  <a:pt x="348604" y="29070"/>
                </a:lnTo>
                <a:lnTo>
                  <a:pt x="305793" y="90900"/>
                </a:lnTo>
                <a:lnTo>
                  <a:pt x="284529" y="123713"/>
                </a:lnTo>
                <a:lnTo>
                  <a:pt x="263460" y="157827"/>
                </a:lnTo>
                <a:lnTo>
                  <a:pt x="242663" y="193270"/>
                </a:lnTo>
                <a:lnTo>
                  <a:pt x="222212" y="230069"/>
                </a:lnTo>
                <a:lnTo>
                  <a:pt x="202185" y="268251"/>
                </a:lnTo>
                <a:lnTo>
                  <a:pt x="182656" y="307842"/>
                </a:lnTo>
                <a:lnTo>
                  <a:pt x="163702" y="348871"/>
                </a:lnTo>
                <a:lnTo>
                  <a:pt x="145399" y="391363"/>
                </a:lnTo>
                <a:lnTo>
                  <a:pt x="127823" y="435347"/>
                </a:lnTo>
                <a:lnTo>
                  <a:pt x="111049" y="480850"/>
                </a:lnTo>
                <a:lnTo>
                  <a:pt x="95154" y="527898"/>
                </a:lnTo>
                <a:lnTo>
                  <a:pt x="80213" y="576518"/>
                </a:lnTo>
                <a:lnTo>
                  <a:pt x="66303" y="626738"/>
                </a:lnTo>
                <a:lnTo>
                  <a:pt x="53499" y="678585"/>
                </a:lnTo>
                <a:lnTo>
                  <a:pt x="41877" y="732086"/>
                </a:lnTo>
                <a:lnTo>
                  <a:pt x="31513" y="787268"/>
                </a:lnTo>
                <a:lnTo>
                  <a:pt x="22483" y="844158"/>
                </a:lnTo>
                <a:lnTo>
                  <a:pt x="14863" y="902783"/>
                </a:lnTo>
                <a:lnTo>
                  <a:pt x="8728" y="963171"/>
                </a:lnTo>
                <a:lnTo>
                  <a:pt x="4156" y="1025348"/>
                </a:lnTo>
                <a:lnTo>
                  <a:pt x="1221" y="1089342"/>
                </a:lnTo>
                <a:lnTo>
                  <a:pt x="0" y="1155179"/>
                </a:lnTo>
                <a:lnTo>
                  <a:pt x="908" y="1220366"/>
                </a:lnTo>
                <a:lnTo>
                  <a:pt x="3581" y="1283760"/>
                </a:lnTo>
                <a:lnTo>
                  <a:pt x="7940" y="1345385"/>
                </a:lnTo>
                <a:lnTo>
                  <a:pt x="13905" y="1405264"/>
                </a:lnTo>
                <a:lnTo>
                  <a:pt x="21397" y="1463423"/>
                </a:lnTo>
                <a:lnTo>
                  <a:pt x="30337" y="1519885"/>
                </a:lnTo>
                <a:lnTo>
                  <a:pt x="40645" y="1574673"/>
                </a:lnTo>
                <a:lnTo>
                  <a:pt x="52244" y="1627811"/>
                </a:lnTo>
                <a:lnTo>
                  <a:pt x="65052" y="1679324"/>
                </a:lnTo>
                <a:lnTo>
                  <a:pt x="78992" y="1729234"/>
                </a:lnTo>
                <a:lnTo>
                  <a:pt x="93984" y="1777567"/>
                </a:lnTo>
                <a:lnTo>
                  <a:pt x="109948" y="1824345"/>
                </a:lnTo>
                <a:lnTo>
                  <a:pt x="126807" y="1869593"/>
                </a:lnTo>
                <a:lnTo>
                  <a:pt x="144480" y="1913335"/>
                </a:lnTo>
                <a:lnTo>
                  <a:pt x="162888" y="1955594"/>
                </a:lnTo>
                <a:lnTo>
                  <a:pt x="181952" y="1996394"/>
                </a:lnTo>
                <a:lnTo>
                  <a:pt x="201594" y="2035760"/>
                </a:lnTo>
                <a:lnTo>
                  <a:pt x="221733" y="2073714"/>
                </a:lnTo>
                <a:lnTo>
                  <a:pt x="242291" y="2110281"/>
                </a:lnTo>
                <a:lnTo>
                  <a:pt x="263189" y="2145484"/>
                </a:lnTo>
                <a:lnTo>
                  <a:pt x="284347" y="2179349"/>
                </a:lnTo>
                <a:lnTo>
                  <a:pt x="305686" y="2211897"/>
                </a:lnTo>
                <a:lnTo>
                  <a:pt x="348591" y="2273143"/>
                </a:lnTo>
                <a:lnTo>
                  <a:pt x="369999" y="2301888"/>
                </a:lnTo>
                <a:lnTo>
                  <a:pt x="564883" y="2301888"/>
                </a:lnTo>
                <a:lnTo>
                  <a:pt x="540060" y="2266166"/>
                </a:lnTo>
                <a:lnTo>
                  <a:pt x="515756" y="2229594"/>
                </a:lnTo>
                <a:lnTo>
                  <a:pt x="492018" y="2192144"/>
                </a:lnTo>
                <a:lnTo>
                  <a:pt x="468894" y="2153789"/>
                </a:lnTo>
                <a:lnTo>
                  <a:pt x="446432" y="2114503"/>
                </a:lnTo>
                <a:lnTo>
                  <a:pt x="424680" y="2074258"/>
                </a:lnTo>
                <a:lnTo>
                  <a:pt x="403685" y="2033028"/>
                </a:lnTo>
                <a:lnTo>
                  <a:pt x="383496" y="1990785"/>
                </a:lnTo>
                <a:lnTo>
                  <a:pt x="364159" y="1947503"/>
                </a:lnTo>
                <a:lnTo>
                  <a:pt x="345724" y="1903154"/>
                </a:lnTo>
                <a:lnTo>
                  <a:pt x="328238" y="1857711"/>
                </a:lnTo>
                <a:lnTo>
                  <a:pt x="311748" y="1811149"/>
                </a:lnTo>
                <a:lnTo>
                  <a:pt x="296302" y="1763438"/>
                </a:lnTo>
                <a:lnTo>
                  <a:pt x="281949" y="1714554"/>
                </a:lnTo>
                <a:lnTo>
                  <a:pt x="268736" y="1664467"/>
                </a:lnTo>
                <a:lnTo>
                  <a:pt x="256711" y="1613153"/>
                </a:lnTo>
                <a:lnTo>
                  <a:pt x="245921" y="1560583"/>
                </a:lnTo>
                <a:lnTo>
                  <a:pt x="236415" y="1506731"/>
                </a:lnTo>
                <a:lnTo>
                  <a:pt x="228240" y="1451570"/>
                </a:lnTo>
                <a:lnTo>
                  <a:pt x="221444" y="1395072"/>
                </a:lnTo>
                <a:lnTo>
                  <a:pt x="216076" y="1337211"/>
                </a:lnTo>
                <a:lnTo>
                  <a:pt x="212181" y="1277960"/>
                </a:lnTo>
                <a:lnTo>
                  <a:pt x="209810" y="1217292"/>
                </a:lnTo>
                <a:lnTo>
                  <a:pt x="209009" y="1155179"/>
                </a:lnTo>
                <a:lnTo>
                  <a:pt x="209721" y="1094521"/>
                </a:lnTo>
                <a:lnTo>
                  <a:pt x="211835" y="1035224"/>
                </a:lnTo>
                <a:lnTo>
                  <a:pt x="215314" y="977270"/>
                </a:lnTo>
                <a:lnTo>
                  <a:pt x="220123" y="920636"/>
                </a:lnTo>
                <a:lnTo>
                  <a:pt x="226226" y="865303"/>
                </a:lnTo>
                <a:lnTo>
                  <a:pt x="233587" y="811250"/>
                </a:lnTo>
                <a:lnTo>
                  <a:pt x="242170" y="758456"/>
                </a:lnTo>
                <a:lnTo>
                  <a:pt x="251940" y="706901"/>
                </a:lnTo>
                <a:lnTo>
                  <a:pt x="262861" y="656563"/>
                </a:lnTo>
                <a:lnTo>
                  <a:pt x="274896" y="607424"/>
                </a:lnTo>
                <a:lnTo>
                  <a:pt x="288011" y="559460"/>
                </a:lnTo>
                <a:lnTo>
                  <a:pt x="302168" y="512653"/>
                </a:lnTo>
                <a:lnTo>
                  <a:pt x="317334" y="466982"/>
                </a:lnTo>
                <a:lnTo>
                  <a:pt x="333471" y="422426"/>
                </a:lnTo>
                <a:lnTo>
                  <a:pt x="350544" y="378963"/>
                </a:lnTo>
                <a:lnTo>
                  <a:pt x="368518" y="336575"/>
                </a:lnTo>
                <a:lnTo>
                  <a:pt x="387356" y="295240"/>
                </a:lnTo>
                <a:lnTo>
                  <a:pt x="407022" y="254937"/>
                </a:lnTo>
                <a:lnTo>
                  <a:pt x="427482" y="215647"/>
                </a:lnTo>
                <a:lnTo>
                  <a:pt x="448698" y="177347"/>
                </a:lnTo>
                <a:lnTo>
                  <a:pt x="470636" y="140019"/>
                </a:lnTo>
                <a:lnTo>
                  <a:pt x="493259" y="103640"/>
                </a:lnTo>
                <a:lnTo>
                  <a:pt x="516531" y="68191"/>
                </a:lnTo>
                <a:lnTo>
                  <a:pt x="540418" y="33651"/>
                </a:lnTo>
                <a:lnTo>
                  <a:pt x="56488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277140" y="7284207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09">
                <a:moveTo>
                  <a:pt x="369999" y="0"/>
                </a:moveTo>
                <a:lnTo>
                  <a:pt x="327177" y="59362"/>
                </a:lnTo>
                <a:lnTo>
                  <a:pt x="305793" y="90900"/>
                </a:lnTo>
                <a:lnTo>
                  <a:pt x="284529" y="123713"/>
                </a:lnTo>
                <a:lnTo>
                  <a:pt x="263460" y="157827"/>
                </a:lnTo>
                <a:lnTo>
                  <a:pt x="242663" y="193270"/>
                </a:lnTo>
                <a:lnTo>
                  <a:pt x="222212" y="230069"/>
                </a:lnTo>
                <a:lnTo>
                  <a:pt x="202185" y="268251"/>
                </a:lnTo>
                <a:lnTo>
                  <a:pt x="182656" y="307842"/>
                </a:lnTo>
                <a:lnTo>
                  <a:pt x="163702" y="348871"/>
                </a:lnTo>
                <a:lnTo>
                  <a:pt x="145399" y="391363"/>
                </a:lnTo>
                <a:lnTo>
                  <a:pt x="127823" y="435347"/>
                </a:lnTo>
                <a:lnTo>
                  <a:pt x="111049" y="480850"/>
                </a:lnTo>
                <a:lnTo>
                  <a:pt x="95154" y="527898"/>
                </a:lnTo>
                <a:lnTo>
                  <a:pt x="80213" y="576518"/>
                </a:lnTo>
                <a:lnTo>
                  <a:pt x="66303" y="626738"/>
                </a:lnTo>
                <a:lnTo>
                  <a:pt x="53499" y="678585"/>
                </a:lnTo>
                <a:lnTo>
                  <a:pt x="41877" y="732086"/>
                </a:lnTo>
                <a:lnTo>
                  <a:pt x="31513" y="787268"/>
                </a:lnTo>
                <a:lnTo>
                  <a:pt x="22483" y="844158"/>
                </a:lnTo>
                <a:lnTo>
                  <a:pt x="14863" y="902783"/>
                </a:lnTo>
                <a:lnTo>
                  <a:pt x="8728" y="963171"/>
                </a:lnTo>
                <a:lnTo>
                  <a:pt x="4156" y="1025348"/>
                </a:lnTo>
                <a:lnTo>
                  <a:pt x="1221" y="1089342"/>
                </a:lnTo>
                <a:lnTo>
                  <a:pt x="0" y="1155179"/>
                </a:lnTo>
                <a:lnTo>
                  <a:pt x="908" y="1220366"/>
                </a:lnTo>
                <a:lnTo>
                  <a:pt x="3581" y="1283760"/>
                </a:lnTo>
                <a:lnTo>
                  <a:pt x="7940" y="1345385"/>
                </a:lnTo>
                <a:lnTo>
                  <a:pt x="13905" y="1405264"/>
                </a:lnTo>
                <a:lnTo>
                  <a:pt x="21397" y="1463423"/>
                </a:lnTo>
                <a:lnTo>
                  <a:pt x="30337" y="1519885"/>
                </a:lnTo>
                <a:lnTo>
                  <a:pt x="40645" y="1574673"/>
                </a:lnTo>
                <a:lnTo>
                  <a:pt x="52244" y="1627811"/>
                </a:lnTo>
                <a:lnTo>
                  <a:pt x="65052" y="1679324"/>
                </a:lnTo>
                <a:lnTo>
                  <a:pt x="78992" y="1729234"/>
                </a:lnTo>
                <a:lnTo>
                  <a:pt x="93984" y="1777567"/>
                </a:lnTo>
                <a:lnTo>
                  <a:pt x="109948" y="1824345"/>
                </a:lnTo>
                <a:lnTo>
                  <a:pt x="126807" y="1869593"/>
                </a:lnTo>
                <a:lnTo>
                  <a:pt x="144480" y="1913335"/>
                </a:lnTo>
                <a:lnTo>
                  <a:pt x="162888" y="1955594"/>
                </a:lnTo>
                <a:lnTo>
                  <a:pt x="181952" y="1996394"/>
                </a:lnTo>
                <a:lnTo>
                  <a:pt x="201594" y="2035760"/>
                </a:lnTo>
                <a:lnTo>
                  <a:pt x="221733" y="2073714"/>
                </a:lnTo>
                <a:lnTo>
                  <a:pt x="242291" y="2110281"/>
                </a:lnTo>
                <a:lnTo>
                  <a:pt x="263189" y="2145484"/>
                </a:lnTo>
                <a:lnTo>
                  <a:pt x="284347" y="2179349"/>
                </a:lnTo>
                <a:lnTo>
                  <a:pt x="305686" y="2211897"/>
                </a:lnTo>
                <a:lnTo>
                  <a:pt x="348591" y="2273143"/>
                </a:lnTo>
                <a:lnTo>
                  <a:pt x="369999" y="2301888"/>
                </a:lnTo>
                <a:lnTo>
                  <a:pt x="564883" y="2301888"/>
                </a:lnTo>
                <a:lnTo>
                  <a:pt x="540060" y="2266166"/>
                </a:lnTo>
                <a:lnTo>
                  <a:pt x="515756" y="2229594"/>
                </a:lnTo>
                <a:lnTo>
                  <a:pt x="492018" y="2192144"/>
                </a:lnTo>
                <a:lnTo>
                  <a:pt x="468894" y="2153789"/>
                </a:lnTo>
                <a:lnTo>
                  <a:pt x="446432" y="2114503"/>
                </a:lnTo>
                <a:lnTo>
                  <a:pt x="424680" y="2074258"/>
                </a:lnTo>
                <a:lnTo>
                  <a:pt x="403685" y="2033028"/>
                </a:lnTo>
                <a:lnTo>
                  <a:pt x="383496" y="1990785"/>
                </a:lnTo>
                <a:lnTo>
                  <a:pt x="364159" y="1947503"/>
                </a:lnTo>
                <a:lnTo>
                  <a:pt x="345724" y="1903154"/>
                </a:lnTo>
                <a:lnTo>
                  <a:pt x="328238" y="1857711"/>
                </a:lnTo>
                <a:lnTo>
                  <a:pt x="311748" y="1811149"/>
                </a:lnTo>
                <a:lnTo>
                  <a:pt x="296302" y="1763438"/>
                </a:lnTo>
                <a:lnTo>
                  <a:pt x="281949" y="1714554"/>
                </a:lnTo>
                <a:lnTo>
                  <a:pt x="268736" y="1664467"/>
                </a:lnTo>
                <a:lnTo>
                  <a:pt x="256711" y="1613153"/>
                </a:lnTo>
                <a:lnTo>
                  <a:pt x="245921" y="1560583"/>
                </a:lnTo>
                <a:lnTo>
                  <a:pt x="236415" y="1506731"/>
                </a:lnTo>
                <a:lnTo>
                  <a:pt x="228240" y="1451570"/>
                </a:lnTo>
                <a:lnTo>
                  <a:pt x="221444" y="1395072"/>
                </a:lnTo>
                <a:lnTo>
                  <a:pt x="216076" y="1337211"/>
                </a:lnTo>
                <a:lnTo>
                  <a:pt x="212181" y="1277960"/>
                </a:lnTo>
                <a:lnTo>
                  <a:pt x="209810" y="1217292"/>
                </a:lnTo>
                <a:lnTo>
                  <a:pt x="209009" y="1155179"/>
                </a:lnTo>
                <a:lnTo>
                  <a:pt x="209721" y="1094521"/>
                </a:lnTo>
                <a:lnTo>
                  <a:pt x="211835" y="1035224"/>
                </a:lnTo>
                <a:lnTo>
                  <a:pt x="215314" y="977270"/>
                </a:lnTo>
                <a:lnTo>
                  <a:pt x="220123" y="920636"/>
                </a:lnTo>
                <a:lnTo>
                  <a:pt x="226226" y="865303"/>
                </a:lnTo>
                <a:lnTo>
                  <a:pt x="233587" y="811250"/>
                </a:lnTo>
                <a:lnTo>
                  <a:pt x="242170" y="758456"/>
                </a:lnTo>
                <a:lnTo>
                  <a:pt x="251940" y="706901"/>
                </a:lnTo>
                <a:lnTo>
                  <a:pt x="262861" y="656563"/>
                </a:lnTo>
                <a:lnTo>
                  <a:pt x="274896" y="607424"/>
                </a:lnTo>
                <a:lnTo>
                  <a:pt x="288011" y="559460"/>
                </a:lnTo>
                <a:lnTo>
                  <a:pt x="302168" y="512653"/>
                </a:lnTo>
                <a:lnTo>
                  <a:pt x="317334" y="466982"/>
                </a:lnTo>
                <a:lnTo>
                  <a:pt x="333471" y="422426"/>
                </a:lnTo>
                <a:lnTo>
                  <a:pt x="350544" y="378963"/>
                </a:lnTo>
                <a:lnTo>
                  <a:pt x="368518" y="336575"/>
                </a:lnTo>
                <a:lnTo>
                  <a:pt x="387356" y="295240"/>
                </a:lnTo>
                <a:lnTo>
                  <a:pt x="407022" y="254937"/>
                </a:lnTo>
                <a:lnTo>
                  <a:pt x="427482" y="215647"/>
                </a:lnTo>
                <a:lnTo>
                  <a:pt x="448698" y="177347"/>
                </a:lnTo>
                <a:lnTo>
                  <a:pt x="470636" y="140019"/>
                </a:lnTo>
                <a:lnTo>
                  <a:pt x="493259" y="103640"/>
                </a:lnTo>
                <a:lnTo>
                  <a:pt x="516531" y="68191"/>
                </a:lnTo>
                <a:lnTo>
                  <a:pt x="540418" y="33651"/>
                </a:lnTo>
                <a:lnTo>
                  <a:pt x="564883" y="0"/>
                </a:lnTo>
                <a:lnTo>
                  <a:pt x="369999" y="0"/>
                </a:lnTo>
                <a:close/>
              </a:path>
            </a:pathLst>
          </a:custGeom>
          <a:ln w="1256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543281" y="7284207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09">
                <a:moveTo>
                  <a:pt x="564883" y="0"/>
                </a:moveTo>
                <a:lnTo>
                  <a:pt x="369999" y="0"/>
                </a:lnTo>
                <a:lnTo>
                  <a:pt x="348604" y="29070"/>
                </a:lnTo>
                <a:lnTo>
                  <a:pt x="305793" y="90900"/>
                </a:lnTo>
                <a:lnTo>
                  <a:pt x="284529" y="123713"/>
                </a:lnTo>
                <a:lnTo>
                  <a:pt x="263460" y="157827"/>
                </a:lnTo>
                <a:lnTo>
                  <a:pt x="242663" y="193270"/>
                </a:lnTo>
                <a:lnTo>
                  <a:pt x="222212" y="230069"/>
                </a:lnTo>
                <a:lnTo>
                  <a:pt x="202185" y="268251"/>
                </a:lnTo>
                <a:lnTo>
                  <a:pt x="182656" y="307842"/>
                </a:lnTo>
                <a:lnTo>
                  <a:pt x="163702" y="348871"/>
                </a:lnTo>
                <a:lnTo>
                  <a:pt x="145399" y="391363"/>
                </a:lnTo>
                <a:lnTo>
                  <a:pt x="127823" y="435347"/>
                </a:lnTo>
                <a:lnTo>
                  <a:pt x="111049" y="480850"/>
                </a:lnTo>
                <a:lnTo>
                  <a:pt x="95154" y="527898"/>
                </a:lnTo>
                <a:lnTo>
                  <a:pt x="80213" y="576518"/>
                </a:lnTo>
                <a:lnTo>
                  <a:pt x="66303" y="626738"/>
                </a:lnTo>
                <a:lnTo>
                  <a:pt x="53499" y="678585"/>
                </a:lnTo>
                <a:lnTo>
                  <a:pt x="41877" y="732086"/>
                </a:lnTo>
                <a:lnTo>
                  <a:pt x="31513" y="787268"/>
                </a:lnTo>
                <a:lnTo>
                  <a:pt x="22483" y="844158"/>
                </a:lnTo>
                <a:lnTo>
                  <a:pt x="14863" y="902783"/>
                </a:lnTo>
                <a:lnTo>
                  <a:pt x="8728" y="963171"/>
                </a:lnTo>
                <a:lnTo>
                  <a:pt x="4156" y="1025348"/>
                </a:lnTo>
                <a:lnTo>
                  <a:pt x="1221" y="1089342"/>
                </a:lnTo>
                <a:lnTo>
                  <a:pt x="0" y="1155179"/>
                </a:lnTo>
                <a:lnTo>
                  <a:pt x="908" y="1220366"/>
                </a:lnTo>
                <a:lnTo>
                  <a:pt x="3581" y="1283760"/>
                </a:lnTo>
                <a:lnTo>
                  <a:pt x="7940" y="1345385"/>
                </a:lnTo>
                <a:lnTo>
                  <a:pt x="13905" y="1405264"/>
                </a:lnTo>
                <a:lnTo>
                  <a:pt x="21397" y="1463423"/>
                </a:lnTo>
                <a:lnTo>
                  <a:pt x="30337" y="1519885"/>
                </a:lnTo>
                <a:lnTo>
                  <a:pt x="40645" y="1574673"/>
                </a:lnTo>
                <a:lnTo>
                  <a:pt x="52244" y="1627811"/>
                </a:lnTo>
                <a:lnTo>
                  <a:pt x="65052" y="1679324"/>
                </a:lnTo>
                <a:lnTo>
                  <a:pt x="78992" y="1729234"/>
                </a:lnTo>
                <a:lnTo>
                  <a:pt x="93984" y="1777567"/>
                </a:lnTo>
                <a:lnTo>
                  <a:pt x="109948" y="1824345"/>
                </a:lnTo>
                <a:lnTo>
                  <a:pt x="126807" y="1869593"/>
                </a:lnTo>
                <a:lnTo>
                  <a:pt x="144480" y="1913335"/>
                </a:lnTo>
                <a:lnTo>
                  <a:pt x="162888" y="1955594"/>
                </a:lnTo>
                <a:lnTo>
                  <a:pt x="181952" y="1996394"/>
                </a:lnTo>
                <a:lnTo>
                  <a:pt x="201594" y="2035760"/>
                </a:lnTo>
                <a:lnTo>
                  <a:pt x="221733" y="2073714"/>
                </a:lnTo>
                <a:lnTo>
                  <a:pt x="242291" y="2110281"/>
                </a:lnTo>
                <a:lnTo>
                  <a:pt x="263189" y="2145484"/>
                </a:lnTo>
                <a:lnTo>
                  <a:pt x="284347" y="2179349"/>
                </a:lnTo>
                <a:lnTo>
                  <a:pt x="305686" y="2211897"/>
                </a:lnTo>
                <a:lnTo>
                  <a:pt x="348591" y="2273143"/>
                </a:lnTo>
                <a:lnTo>
                  <a:pt x="369999" y="2301888"/>
                </a:lnTo>
                <a:lnTo>
                  <a:pt x="564883" y="2301888"/>
                </a:lnTo>
                <a:lnTo>
                  <a:pt x="540060" y="2266166"/>
                </a:lnTo>
                <a:lnTo>
                  <a:pt x="515756" y="2229594"/>
                </a:lnTo>
                <a:lnTo>
                  <a:pt x="492018" y="2192144"/>
                </a:lnTo>
                <a:lnTo>
                  <a:pt x="468894" y="2153789"/>
                </a:lnTo>
                <a:lnTo>
                  <a:pt x="446432" y="2114503"/>
                </a:lnTo>
                <a:lnTo>
                  <a:pt x="424680" y="2074258"/>
                </a:lnTo>
                <a:lnTo>
                  <a:pt x="403685" y="2033028"/>
                </a:lnTo>
                <a:lnTo>
                  <a:pt x="383496" y="1990785"/>
                </a:lnTo>
                <a:lnTo>
                  <a:pt x="364159" y="1947503"/>
                </a:lnTo>
                <a:lnTo>
                  <a:pt x="345724" y="1903154"/>
                </a:lnTo>
                <a:lnTo>
                  <a:pt x="328238" y="1857711"/>
                </a:lnTo>
                <a:lnTo>
                  <a:pt x="311748" y="1811149"/>
                </a:lnTo>
                <a:lnTo>
                  <a:pt x="296302" y="1763438"/>
                </a:lnTo>
                <a:lnTo>
                  <a:pt x="281949" y="1714554"/>
                </a:lnTo>
                <a:lnTo>
                  <a:pt x="268736" y="1664467"/>
                </a:lnTo>
                <a:lnTo>
                  <a:pt x="256711" y="1613153"/>
                </a:lnTo>
                <a:lnTo>
                  <a:pt x="245921" y="1560583"/>
                </a:lnTo>
                <a:lnTo>
                  <a:pt x="236415" y="1506731"/>
                </a:lnTo>
                <a:lnTo>
                  <a:pt x="228240" y="1451570"/>
                </a:lnTo>
                <a:lnTo>
                  <a:pt x="221444" y="1395072"/>
                </a:lnTo>
                <a:lnTo>
                  <a:pt x="216076" y="1337211"/>
                </a:lnTo>
                <a:lnTo>
                  <a:pt x="212181" y="1277960"/>
                </a:lnTo>
                <a:lnTo>
                  <a:pt x="209810" y="1217292"/>
                </a:lnTo>
                <a:lnTo>
                  <a:pt x="209009" y="1155179"/>
                </a:lnTo>
                <a:lnTo>
                  <a:pt x="209721" y="1094521"/>
                </a:lnTo>
                <a:lnTo>
                  <a:pt x="211835" y="1035224"/>
                </a:lnTo>
                <a:lnTo>
                  <a:pt x="215314" y="977270"/>
                </a:lnTo>
                <a:lnTo>
                  <a:pt x="220123" y="920636"/>
                </a:lnTo>
                <a:lnTo>
                  <a:pt x="226226" y="865303"/>
                </a:lnTo>
                <a:lnTo>
                  <a:pt x="233587" y="811250"/>
                </a:lnTo>
                <a:lnTo>
                  <a:pt x="242170" y="758456"/>
                </a:lnTo>
                <a:lnTo>
                  <a:pt x="251940" y="706901"/>
                </a:lnTo>
                <a:lnTo>
                  <a:pt x="262861" y="656563"/>
                </a:lnTo>
                <a:lnTo>
                  <a:pt x="274896" y="607424"/>
                </a:lnTo>
                <a:lnTo>
                  <a:pt x="288011" y="559460"/>
                </a:lnTo>
                <a:lnTo>
                  <a:pt x="302168" y="512653"/>
                </a:lnTo>
                <a:lnTo>
                  <a:pt x="317334" y="466982"/>
                </a:lnTo>
                <a:lnTo>
                  <a:pt x="333471" y="422426"/>
                </a:lnTo>
                <a:lnTo>
                  <a:pt x="350544" y="378963"/>
                </a:lnTo>
                <a:lnTo>
                  <a:pt x="368518" y="336575"/>
                </a:lnTo>
                <a:lnTo>
                  <a:pt x="387356" y="295240"/>
                </a:lnTo>
                <a:lnTo>
                  <a:pt x="407022" y="254937"/>
                </a:lnTo>
                <a:lnTo>
                  <a:pt x="427482" y="215647"/>
                </a:lnTo>
                <a:lnTo>
                  <a:pt x="448698" y="177347"/>
                </a:lnTo>
                <a:lnTo>
                  <a:pt x="470636" y="140019"/>
                </a:lnTo>
                <a:lnTo>
                  <a:pt x="493259" y="103640"/>
                </a:lnTo>
                <a:lnTo>
                  <a:pt x="516531" y="68191"/>
                </a:lnTo>
                <a:lnTo>
                  <a:pt x="540418" y="33651"/>
                </a:lnTo>
                <a:lnTo>
                  <a:pt x="56488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543281" y="7284207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09">
                <a:moveTo>
                  <a:pt x="369999" y="0"/>
                </a:moveTo>
                <a:lnTo>
                  <a:pt x="327177" y="59362"/>
                </a:lnTo>
                <a:lnTo>
                  <a:pt x="305793" y="90900"/>
                </a:lnTo>
                <a:lnTo>
                  <a:pt x="284529" y="123713"/>
                </a:lnTo>
                <a:lnTo>
                  <a:pt x="263460" y="157827"/>
                </a:lnTo>
                <a:lnTo>
                  <a:pt x="242663" y="193270"/>
                </a:lnTo>
                <a:lnTo>
                  <a:pt x="222212" y="230069"/>
                </a:lnTo>
                <a:lnTo>
                  <a:pt x="202185" y="268251"/>
                </a:lnTo>
                <a:lnTo>
                  <a:pt x="182656" y="307842"/>
                </a:lnTo>
                <a:lnTo>
                  <a:pt x="163702" y="348871"/>
                </a:lnTo>
                <a:lnTo>
                  <a:pt x="145399" y="391363"/>
                </a:lnTo>
                <a:lnTo>
                  <a:pt x="127823" y="435347"/>
                </a:lnTo>
                <a:lnTo>
                  <a:pt x="111049" y="480850"/>
                </a:lnTo>
                <a:lnTo>
                  <a:pt x="95154" y="527898"/>
                </a:lnTo>
                <a:lnTo>
                  <a:pt x="80213" y="576518"/>
                </a:lnTo>
                <a:lnTo>
                  <a:pt x="66303" y="626738"/>
                </a:lnTo>
                <a:lnTo>
                  <a:pt x="53499" y="678585"/>
                </a:lnTo>
                <a:lnTo>
                  <a:pt x="41877" y="732086"/>
                </a:lnTo>
                <a:lnTo>
                  <a:pt x="31513" y="787268"/>
                </a:lnTo>
                <a:lnTo>
                  <a:pt x="22483" y="844158"/>
                </a:lnTo>
                <a:lnTo>
                  <a:pt x="14863" y="902783"/>
                </a:lnTo>
                <a:lnTo>
                  <a:pt x="8728" y="963171"/>
                </a:lnTo>
                <a:lnTo>
                  <a:pt x="4156" y="1025348"/>
                </a:lnTo>
                <a:lnTo>
                  <a:pt x="1221" y="1089342"/>
                </a:lnTo>
                <a:lnTo>
                  <a:pt x="0" y="1155179"/>
                </a:lnTo>
                <a:lnTo>
                  <a:pt x="908" y="1220366"/>
                </a:lnTo>
                <a:lnTo>
                  <a:pt x="3581" y="1283760"/>
                </a:lnTo>
                <a:lnTo>
                  <a:pt x="7940" y="1345385"/>
                </a:lnTo>
                <a:lnTo>
                  <a:pt x="13905" y="1405264"/>
                </a:lnTo>
                <a:lnTo>
                  <a:pt x="21397" y="1463423"/>
                </a:lnTo>
                <a:lnTo>
                  <a:pt x="30337" y="1519885"/>
                </a:lnTo>
                <a:lnTo>
                  <a:pt x="40645" y="1574673"/>
                </a:lnTo>
                <a:lnTo>
                  <a:pt x="52244" y="1627811"/>
                </a:lnTo>
                <a:lnTo>
                  <a:pt x="65052" y="1679324"/>
                </a:lnTo>
                <a:lnTo>
                  <a:pt x="78992" y="1729234"/>
                </a:lnTo>
                <a:lnTo>
                  <a:pt x="93984" y="1777567"/>
                </a:lnTo>
                <a:lnTo>
                  <a:pt x="109948" y="1824345"/>
                </a:lnTo>
                <a:lnTo>
                  <a:pt x="126807" y="1869593"/>
                </a:lnTo>
                <a:lnTo>
                  <a:pt x="144480" y="1913335"/>
                </a:lnTo>
                <a:lnTo>
                  <a:pt x="162888" y="1955594"/>
                </a:lnTo>
                <a:lnTo>
                  <a:pt x="181952" y="1996394"/>
                </a:lnTo>
                <a:lnTo>
                  <a:pt x="201594" y="2035760"/>
                </a:lnTo>
                <a:lnTo>
                  <a:pt x="221733" y="2073714"/>
                </a:lnTo>
                <a:lnTo>
                  <a:pt x="242291" y="2110281"/>
                </a:lnTo>
                <a:lnTo>
                  <a:pt x="263189" y="2145484"/>
                </a:lnTo>
                <a:lnTo>
                  <a:pt x="284347" y="2179349"/>
                </a:lnTo>
                <a:lnTo>
                  <a:pt x="305686" y="2211897"/>
                </a:lnTo>
                <a:lnTo>
                  <a:pt x="348591" y="2273143"/>
                </a:lnTo>
                <a:lnTo>
                  <a:pt x="369999" y="2301888"/>
                </a:lnTo>
                <a:lnTo>
                  <a:pt x="564883" y="2301888"/>
                </a:lnTo>
                <a:lnTo>
                  <a:pt x="540060" y="2266166"/>
                </a:lnTo>
                <a:lnTo>
                  <a:pt x="515756" y="2229594"/>
                </a:lnTo>
                <a:lnTo>
                  <a:pt x="492018" y="2192144"/>
                </a:lnTo>
                <a:lnTo>
                  <a:pt x="468894" y="2153789"/>
                </a:lnTo>
                <a:lnTo>
                  <a:pt x="446432" y="2114503"/>
                </a:lnTo>
                <a:lnTo>
                  <a:pt x="424680" y="2074258"/>
                </a:lnTo>
                <a:lnTo>
                  <a:pt x="403685" y="2033028"/>
                </a:lnTo>
                <a:lnTo>
                  <a:pt x="383496" y="1990785"/>
                </a:lnTo>
                <a:lnTo>
                  <a:pt x="364159" y="1947503"/>
                </a:lnTo>
                <a:lnTo>
                  <a:pt x="345724" y="1903154"/>
                </a:lnTo>
                <a:lnTo>
                  <a:pt x="328238" y="1857711"/>
                </a:lnTo>
                <a:lnTo>
                  <a:pt x="311748" y="1811149"/>
                </a:lnTo>
                <a:lnTo>
                  <a:pt x="296302" y="1763438"/>
                </a:lnTo>
                <a:lnTo>
                  <a:pt x="281949" y="1714554"/>
                </a:lnTo>
                <a:lnTo>
                  <a:pt x="268736" y="1664467"/>
                </a:lnTo>
                <a:lnTo>
                  <a:pt x="256711" y="1613153"/>
                </a:lnTo>
                <a:lnTo>
                  <a:pt x="245921" y="1560583"/>
                </a:lnTo>
                <a:lnTo>
                  <a:pt x="236415" y="1506731"/>
                </a:lnTo>
                <a:lnTo>
                  <a:pt x="228240" y="1451570"/>
                </a:lnTo>
                <a:lnTo>
                  <a:pt x="221444" y="1395072"/>
                </a:lnTo>
                <a:lnTo>
                  <a:pt x="216076" y="1337211"/>
                </a:lnTo>
                <a:lnTo>
                  <a:pt x="212181" y="1277960"/>
                </a:lnTo>
                <a:lnTo>
                  <a:pt x="209810" y="1217292"/>
                </a:lnTo>
                <a:lnTo>
                  <a:pt x="209009" y="1155179"/>
                </a:lnTo>
                <a:lnTo>
                  <a:pt x="209721" y="1094521"/>
                </a:lnTo>
                <a:lnTo>
                  <a:pt x="211835" y="1035224"/>
                </a:lnTo>
                <a:lnTo>
                  <a:pt x="215314" y="977270"/>
                </a:lnTo>
                <a:lnTo>
                  <a:pt x="220123" y="920636"/>
                </a:lnTo>
                <a:lnTo>
                  <a:pt x="226226" y="865303"/>
                </a:lnTo>
                <a:lnTo>
                  <a:pt x="233587" y="811250"/>
                </a:lnTo>
                <a:lnTo>
                  <a:pt x="242170" y="758456"/>
                </a:lnTo>
                <a:lnTo>
                  <a:pt x="251940" y="706901"/>
                </a:lnTo>
                <a:lnTo>
                  <a:pt x="262861" y="656563"/>
                </a:lnTo>
                <a:lnTo>
                  <a:pt x="274896" y="607424"/>
                </a:lnTo>
                <a:lnTo>
                  <a:pt x="288011" y="559460"/>
                </a:lnTo>
                <a:lnTo>
                  <a:pt x="302168" y="512653"/>
                </a:lnTo>
                <a:lnTo>
                  <a:pt x="317334" y="466982"/>
                </a:lnTo>
                <a:lnTo>
                  <a:pt x="333471" y="422426"/>
                </a:lnTo>
                <a:lnTo>
                  <a:pt x="350544" y="378963"/>
                </a:lnTo>
                <a:lnTo>
                  <a:pt x="368518" y="336575"/>
                </a:lnTo>
                <a:lnTo>
                  <a:pt x="387356" y="295240"/>
                </a:lnTo>
                <a:lnTo>
                  <a:pt x="407022" y="254937"/>
                </a:lnTo>
                <a:lnTo>
                  <a:pt x="427482" y="215647"/>
                </a:lnTo>
                <a:lnTo>
                  <a:pt x="448698" y="177347"/>
                </a:lnTo>
                <a:lnTo>
                  <a:pt x="470636" y="140019"/>
                </a:lnTo>
                <a:lnTo>
                  <a:pt x="493259" y="103640"/>
                </a:lnTo>
                <a:lnTo>
                  <a:pt x="516531" y="68191"/>
                </a:lnTo>
                <a:lnTo>
                  <a:pt x="540418" y="33651"/>
                </a:lnTo>
                <a:lnTo>
                  <a:pt x="564883" y="0"/>
                </a:lnTo>
                <a:lnTo>
                  <a:pt x="369999" y="0"/>
                </a:lnTo>
                <a:close/>
              </a:path>
            </a:pathLst>
          </a:custGeom>
          <a:ln w="1256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486330" y="7284207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09">
                <a:moveTo>
                  <a:pt x="194884" y="0"/>
                </a:moveTo>
                <a:lnTo>
                  <a:pt x="0" y="0"/>
                </a:lnTo>
                <a:lnTo>
                  <a:pt x="24822" y="35721"/>
                </a:lnTo>
                <a:lnTo>
                  <a:pt x="49126" y="72293"/>
                </a:lnTo>
                <a:lnTo>
                  <a:pt x="72864" y="109743"/>
                </a:lnTo>
                <a:lnTo>
                  <a:pt x="95988" y="148098"/>
                </a:lnTo>
                <a:lnTo>
                  <a:pt x="118450" y="187384"/>
                </a:lnTo>
                <a:lnTo>
                  <a:pt x="140203" y="227629"/>
                </a:lnTo>
                <a:lnTo>
                  <a:pt x="161197" y="268859"/>
                </a:lnTo>
                <a:lnTo>
                  <a:pt x="181387" y="311102"/>
                </a:lnTo>
                <a:lnTo>
                  <a:pt x="200723" y="354384"/>
                </a:lnTo>
                <a:lnTo>
                  <a:pt x="219158" y="398733"/>
                </a:lnTo>
                <a:lnTo>
                  <a:pt x="236645" y="444176"/>
                </a:lnTo>
                <a:lnTo>
                  <a:pt x="253134" y="490738"/>
                </a:lnTo>
                <a:lnTo>
                  <a:pt x="268580" y="538449"/>
                </a:lnTo>
                <a:lnTo>
                  <a:pt x="282933" y="587333"/>
                </a:lnTo>
                <a:lnTo>
                  <a:pt x="296146" y="637420"/>
                </a:lnTo>
                <a:lnTo>
                  <a:pt x="308172" y="688734"/>
                </a:lnTo>
                <a:lnTo>
                  <a:pt x="318961" y="741304"/>
                </a:lnTo>
                <a:lnTo>
                  <a:pt x="328467" y="795156"/>
                </a:lnTo>
                <a:lnTo>
                  <a:pt x="336642" y="850317"/>
                </a:lnTo>
                <a:lnTo>
                  <a:pt x="343438" y="906815"/>
                </a:lnTo>
                <a:lnTo>
                  <a:pt x="348807" y="964676"/>
                </a:lnTo>
                <a:lnTo>
                  <a:pt x="352701" y="1023927"/>
                </a:lnTo>
                <a:lnTo>
                  <a:pt x="355072" y="1084595"/>
                </a:lnTo>
                <a:lnTo>
                  <a:pt x="355873" y="1146708"/>
                </a:lnTo>
                <a:lnTo>
                  <a:pt x="355161" y="1207366"/>
                </a:lnTo>
                <a:lnTo>
                  <a:pt x="353047" y="1266663"/>
                </a:lnTo>
                <a:lnTo>
                  <a:pt x="349568" y="1324617"/>
                </a:lnTo>
                <a:lnTo>
                  <a:pt x="344759" y="1381251"/>
                </a:lnTo>
                <a:lnTo>
                  <a:pt x="338656" y="1436584"/>
                </a:lnTo>
                <a:lnTo>
                  <a:pt x="331295" y="1490637"/>
                </a:lnTo>
                <a:lnTo>
                  <a:pt x="322712" y="1543431"/>
                </a:lnTo>
                <a:lnTo>
                  <a:pt x="312942" y="1594986"/>
                </a:lnTo>
                <a:lnTo>
                  <a:pt x="302022" y="1645324"/>
                </a:lnTo>
                <a:lnTo>
                  <a:pt x="289986" y="1694464"/>
                </a:lnTo>
                <a:lnTo>
                  <a:pt x="276872" y="1742427"/>
                </a:lnTo>
                <a:lnTo>
                  <a:pt x="262714" y="1789234"/>
                </a:lnTo>
                <a:lnTo>
                  <a:pt x="247548" y="1834905"/>
                </a:lnTo>
                <a:lnTo>
                  <a:pt x="231411" y="1879462"/>
                </a:lnTo>
                <a:lnTo>
                  <a:pt x="214338" y="1922924"/>
                </a:lnTo>
                <a:lnTo>
                  <a:pt x="196364" y="1965312"/>
                </a:lnTo>
                <a:lnTo>
                  <a:pt x="177527" y="2006647"/>
                </a:lnTo>
                <a:lnTo>
                  <a:pt x="157860" y="2046950"/>
                </a:lnTo>
                <a:lnTo>
                  <a:pt x="137401" y="2086240"/>
                </a:lnTo>
                <a:lnTo>
                  <a:pt x="116184" y="2124540"/>
                </a:lnTo>
                <a:lnTo>
                  <a:pt x="94247" y="2161868"/>
                </a:lnTo>
                <a:lnTo>
                  <a:pt x="71624" y="2198247"/>
                </a:lnTo>
                <a:lnTo>
                  <a:pt x="48351" y="2233696"/>
                </a:lnTo>
                <a:lnTo>
                  <a:pt x="24464" y="2268236"/>
                </a:lnTo>
                <a:lnTo>
                  <a:pt x="0" y="2301888"/>
                </a:lnTo>
                <a:lnTo>
                  <a:pt x="194884" y="2301888"/>
                </a:lnTo>
                <a:lnTo>
                  <a:pt x="237705" y="2242525"/>
                </a:lnTo>
                <a:lnTo>
                  <a:pt x="259089" y="2210987"/>
                </a:lnTo>
                <a:lnTo>
                  <a:pt x="280353" y="2178174"/>
                </a:lnTo>
                <a:lnTo>
                  <a:pt x="301422" y="2144060"/>
                </a:lnTo>
                <a:lnTo>
                  <a:pt x="322220" y="2108617"/>
                </a:lnTo>
                <a:lnTo>
                  <a:pt x="342670" y="2071818"/>
                </a:lnTo>
                <a:lnTo>
                  <a:pt x="362698" y="2033636"/>
                </a:lnTo>
                <a:lnTo>
                  <a:pt x="382226" y="1994045"/>
                </a:lnTo>
                <a:lnTo>
                  <a:pt x="401180" y="1953016"/>
                </a:lnTo>
                <a:lnTo>
                  <a:pt x="419483" y="1910524"/>
                </a:lnTo>
                <a:lnTo>
                  <a:pt x="437059" y="1866540"/>
                </a:lnTo>
                <a:lnTo>
                  <a:pt x="453833" y="1821037"/>
                </a:lnTo>
                <a:lnTo>
                  <a:pt x="469728" y="1773989"/>
                </a:lnTo>
                <a:lnTo>
                  <a:pt x="484669" y="1725369"/>
                </a:lnTo>
                <a:lnTo>
                  <a:pt x="498580" y="1675149"/>
                </a:lnTo>
                <a:lnTo>
                  <a:pt x="511384" y="1623302"/>
                </a:lnTo>
                <a:lnTo>
                  <a:pt x="523006" y="1569801"/>
                </a:lnTo>
                <a:lnTo>
                  <a:pt x="533370" y="1514619"/>
                </a:lnTo>
                <a:lnTo>
                  <a:pt x="542400" y="1457729"/>
                </a:lnTo>
                <a:lnTo>
                  <a:pt x="550020" y="1399104"/>
                </a:lnTo>
                <a:lnTo>
                  <a:pt x="556154" y="1338716"/>
                </a:lnTo>
                <a:lnTo>
                  <a:pt x="560727" y="1276539"/>
                </a:lnTo>
                <a:lnTo>
                  <a:pt x="563661" y="1212545"/>
                </a:lnTo>
                <a:lnTo>
                  <a:pt x="564883" y="1146708"/>
                </a:lnTo>
                <a:lnTo>
                  <a:pt x="563974" y="1081521"/>
                </a:lnTo>
                <a:lnTo>
                  <a:pt x="561301" y="1018128"/>
                </a:lnTo>
                <a:lnTo>
                  <a:pt x="556942" y="956503"/>
                </a:lnTo>
                <a:lnTo>
                  <a:pt x="550977" y="896623"/>
                </a:lnTo>
                <a:lnTo>
                  <a:pt x="543485" y="838464"/>
                </a:lnTo>
                <a:lnTo>
                  <a:pt x="534545" y="782002"/>
                </a:lnTo>
                <a:lnTo>
                  <a:pt x="524237" y="727214"/>
                </a:lnTo>
                <a:lnTo>
                  <a:pt x="512639" y="674076"/>
                </a:lnTo>
                <a:lnTo>
                  <a:pt x="499830" y="622563"/>
                </a:lnTo>
                <a:lnTo>
                  <a:pt x="485890" y="572653"/>
                </a:lnTo>
                <a:lnTo>
                  <a:pt x="470899" y="524320"/>
                </a:lnTo>
                <a:lnTo>
                  <a:pt x="454934" y="477542"/>
                </a:lnTo>
                <a:lnTo>
                  <a:pt x="438076" y="432294"/>
                </a:lnTo>
                <a:lnTo>
                  <a:pt x="420403" y="388552"/>
                </a:lnTo>
                <a:lnTo>
                  <a:pt x="401994" y="346293"/>
                </a:lnTo>
                <a:lnTo>
                  <a:pt x="382930" y="305493"/>
                </a:lnTo>
                <a:lnTo>
                  <a:pt x="363288" y="266127"/>
                </a:lnTo>
                <a:lnTo>
                  <a:pt x="343149" y="228173"/>
                </a:lnTo>
                <a:lnTo>
                  <a:pt x="322591" y="191606"/>
                </a:lnTo>
                <a:lnTo>
                  <a:pt x="301693" y="156403"/>
                </a:lnTo>
                <a:lnTo>
                  <a:pt x="280535" y="122538"/>
                </a:lnTo>
                <a:lnTo>
                  <a:pt x="259196" y="89990"/>
                </a:lnTo>
                <a:lnTo>
                  <a:pt x="216291" y="28744"/>
                </a:lnTo>
                <a:lnTo>
                  <a:pt x="194884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1486330" y="7284207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09">
                <a:moveTo>
                  <a:pt x="194884" y="2301888"/>
                </a:moveTo>
                <a:lnTo>
                  <a:pt x="237705" y="2242525"/>
                </a:lnTo>
                <a:lnTo>
                  <a:pt x="259089" y="2210987"/>
                </a:lnTo>
                <a:lnTo>
                  <a:pt x="280353" y="2178174"/>
                </a:lnTo>
                <a:lnTo>
                  <a:pt x="301422" y="2144060"/>
                </a:lnTo>
                <a:lnTo>
                  <a:pt x="322220" y="2108617"/>
                </a:lnTo>
                <a:lnTo>
                  <a:pt x="342670" y="2071818"/>
                </a:lnTo>
                <a:lnTo>
                  <a:pt x="362698" y="2033636"/>
                </a:lnTo>
                <a:lnTo>
                  <a:pt x="382226" y="1994045"/>
                </a:lnTo>
                <a:lnTo>
                  <a:pt x="401180" y="1953016"/>
                </a:lnTo>
                <a:lnTo>
                  <a:pt x="419483" y="1910524"/>
                </a:lnTo>
                <a:lnTo>
                  <a:pt x="437059" y="1866540"/>
                </a:lnTo>
                <a:lnTo>
                  <a:pt x="453833" y="1821037"/>
                </a:lnTo>
                <a:lnTo>
                  <a:pt x="469728" y="1773989"/>
                </a:lnTo>
                <a:lnTo>
                  <a:pt x="484669" y="1725369"/>
                </a:lnTo>
                <a:lnTo>
                  <a:pt x="498580" y="1675149"/>
                </a:lnTo>
                <a:lnTo>
                  <a:pt x="511384" y="1623302"/>
                </a:lnTo>
                <a:lnTo>
                  <a:pt x="523006" y="1569801"/>
                </a:lnTo>
                <a:lnTo>
                  <a:pt x="533370" y="1514619"/>
                </a:lnTo>
                <a:lnTo>
                  <a:pt x="542400" y="1457729"/>
                </a:lnTo>
                <a:lnTo>
                  <a:pt x="550020" y="1399104"/>
                </a:lnTo>
                <a:lnTo>
                  <a:pt x="556154" y="1338716"/>
                </a:lnTo>
                <a:lnTo>
                  <a:pt x="560727" y="1276539"/>
                </a:lnTo>
                <a:lnTo>
                  <a:pt x="563661" y="1212545"/>
                </a:lnTo>
                <a:lnTo>
                  <a:pt x="564883" y="1146708"/>
                </a:lnTo>
                <a:lnTo>
                  <a:pt x="563974" y="1081521"/>
                </a:lnTo>
                <a:lnTo>
                  <a:pt x="561301" y="1018128"/>
                </a:lnTo>
                <a:lnTo>
                  <a:pt x="556942" y="956503"/>
                </a:lnTo>
                <a:lnTo>
                  <a:pt x="550977" y="896623"/>
                </a:lnTo>
                <a:lnTo>
                  <a:pt x="543485" y="838464"/>
                </a:lnTo>
                <a:lnTo>
                  <a:pt x="534545" y="782002"/>
                </a:lnTo>
                <a:lnTo>
                  <a:pt x="524237" y="727214"/>
                </a:lnTo>
                <a:lnTo>
                  <a:pt x="512639" y="674076"/>
                </a:lnTo>
                <a:lnTo>
                  <a:pt x="499830" y="622563"/>
                </a:lnTo>
                <a:lnTo>
                  <a:pt x="485890" y="572653"/>
                </a:lnTo>
                <a:lnTo>
                  <a:pt x="470899" y="524320"/>
                </a:lnTo>
                <a:lnTo>
                  <a:pt x="454934" y="477542"/>
                </a:lnTo>
                <a:lnTo>
                  <a:pt x="438076" y="432294"/>
                </a:lnTo>
                <a:lnTo>
                  <a:pt x="420403" y="388552"/>
                </a:lnTo>
                <a:lnTo>
                  <a:pt x="401994" y="346293"/>
                </a:lnTo>
                <a:lnTo>
                  <a:pt x="382930" y="305493"/>
                </a:lnTo>
                <a:lnTo>
                  <a:pt x="363288" y="266127"/>
                </a:lnTo>
                <a:lnTo>
                  <a:pt x="343149" y="228173"/>
                </a:lnTo>
                <a:lnTo>
                  <a:pt x="322591" y="191606"/>
                </a:lnTo>
                <a:lnTo>
                  <a:pt x="301693" y="156403"/>
                </a:lnTo>
                <a:lnTo>
                  <a:pt x="280535" y="122538"/>
                </a:lnTo>
                <a:lnTo>
                  <a:pt x="259196" y="89990"/>
                </a:lnTo>
                <a:lnTo>
                  <a:pt x="216291" y="28744"/>
                </a:lnTo>
                <a:lnTo>
                  <a:pt x="194884" y="0"/>
                </a:lnTo>
                <a:lnTo>
                  <a:pt x="0" y="0"/>
                </a:lnTo>
                <a:lnTo>
                  <a:pt x="24822" y="35721"/>
                </a:lnTo>
                <a:lnTo>
                  <a:pt x="49126" y="72293"/>
                </a:lnTo>
                <a:lnTo>
                  <a:pt x="72864" y="109743"/>
                </a:lnTo>
                <a:lnTo>
                  <a:pt x="95988" y="148098"/>
                </a:lnTo>
                <a:lnTo>
                  <a:pt x="118450" y="187384"/>
                </a:lnTo>
                <a:lnTo>
                  <a:pt x="140203" y="227629"/>
                </a:lnTo>
                <a:lnTo>
                  <a:pt x="161197" y="268859"/>
                </a:lnTo>
                <a:lnTo>
                  <a:pt x="181387" y="311102"/>
                </a:lnTo>
                <a:lnTo>
                  <a:pt x="200723" y="354384"/>
                </a:lnTo>
                <a:lnTo>
                  <a:pt x="219158" y="398733"/>
                </a:lnTo>
                <a:lnTo>
                  <a:pt x="236645" y="444176"/>
                </a:lnTo>
                <a:lnTo>
                  <a:pt x="253134" y="490738"/>
                </a:lnTo>
                <a:lnTo>
                  <a:pt x="268580" y="538449"/>
                </a:lnTo>
                <a:lnTo>
                  <a:pt x="282933" y="587333"/>
                </a:lnTo>
                <a:lnTo>
                  <a:pt x="296146" y="637420"/>
                </a:lnTo>
                <a:lnTo>
                  <a:pt x="308172" y="688734"/>
                </a:lnTo>
                <a:lnTo>
                  <a:pt x="318961" y="741304"/>
                </a:lnTo>
                <a:lnTo>
                  <a:pt x="328467" y="795156"/>
                </a:lnTo>
                <a:lnTo>
                  <a:pt x="336642" y="850317"/>
                </a:lnTo>
                <a:lnTo>
                  <a:pt x="343438" y="906815"/>
                </a:lnTo>
                <a:lnTo>
                  <a:pt x="348807" y="964676"/>
                </a:lnTo>
                <a:lnTo>
                  <a:pt x="352701" y="1023927"/>
                </a:lnTo>
                <a:lnTo>
                  <a:pt x="355072" y="1084595"/>
                </a:lnTo>
                <a:lnTo>
                  <a:pt x="355873" y="1146708"/>
                </a:lnTo>
                <a:lnTo>
                  <a:pt x="355161" y="1207366"/>
                </a:lnTo>
                <a:lnTo>
                  <a:pt x="353047" y="1266663"/>
                </a:lnTo>
                <a:lnTo>
                  <a:pt x="349568" y="1324617"/>
                </a:lnTo>
                <a:lnTo>
                  <a:pt x="344759" y="1381251"/>
                </a:lnTo>
                <a:lnTo>
                  <a:pt x="338656" y="1436584"/>
                </a:lnTo>
                <a:lnTo>
                  <a:pt x="331295" y="1490637"/>
                </a:lnTo>
                <a:lnTo>
                  <a:pt x="322712" y="1543431"/>
                </a:lnTo>
                <a:lnTo>
                  <a:pt x="312942" y="1594986"/>
                </a:lnTo>
                <a:lnTo>
                  <a:pt x="302022" y="1645324"/>
                </a:lnTo>
                <a:lnTo>
                  <a:pt x="289986" y="1694464"/>
                </a:lnTo>
                <a:lnTo>
                  <a:pt x="276872" y="1742427"/>
                </a:lnTo>
                <a:lnTo>
                  <a:pt x="262714" y="1789234"/>
                </a:lnTo>
                <a:lnTo>
                  <a:pt x="247548" y="1834905"/>
                </a:lnTo>
                <a:lnTo>
                  <a:pt x="231411" y="1879462"/>
                </a:lnTo>
                <a:lnTo>
                  <a:pt x="214338" y="1922924"/>
                </a:lnTo>
                <a:lnTo>
                  <a:pt x="196364" y="1965312"/>
                </a:lnTo>
                <a:lnTo>
                  <a:pt x="177527" y="2006647"/>
                </a:lnTo>
                <a:lnTo>
                  <a:pt x="157860" y="2046950"/>
                </a:lnTo>
                <a:lnTo>
                  <a:pt x="137401" y="2086240"/>
                </a:lnTo>
                <a:lnTo>
                  <a:pt x="116184" y="2124540"/>
                </a:lnTo>
                <a:lnTo>
                  <a:pt x="94247" y="2161868"/>
                </a:lnTo>
                <a:lnTo>
                  <a:pt x="71624" y="2198247"/>
                </a:lnTo>
                <a:lnTo>
                  <a:pt x="48351" y="2233696"/>
                </a:lnTo>
                <a:lnTo>
                  <a:pt x="24464" y="2268236"/>
                </a:lnTo>
                <a:lnTo>
                  <a:pt x="0" y="2301888"/>
                </a:lnTo>
                <a:lnTo>
                  <a:pt x="194884" y="2301888"/>
                </a:lnTo>
                <a:close/>
              </a:path>
            </a:pathLst>
          </a:custGeom>
          <a:ln w="1256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5592396" y="2838731"/>
            <a:ext cx="607060" cy="2035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" marR="62230" indent="-6350">
              <a:lnSpc>
                <a:spcPct val="100000"/>
              </a:lnSpc>
              <a:spcBef>
                <a:spcPts val="95"/>
              </a:spcBef>
            </a:pPr>
            <a:r>
              <a:rPr sz="4950" b="1" i="1" spc="-532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spc="-35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i="1" spc="-355" dirty="0">
                <a:solidFill>
                  <a:srgbClr val="1E1E1E"/>
                </a:solidFill>
                <a:latin typeface="Verdana"/>
                <a:cs typeface="Verdana"/>
              </a:rPr>
              <a:t>n  </a:t>
            </a:r>
            <a:r>
              <a:rPr sz="4950" b="1" i="1" spc="-555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spc="-27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855"/>
              </a:lnSpc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endParaRPr sz="3300">
              <a:latin typeface="Verdana"/>
              <a:cs typeface="Verdana"/>
            </a:endParaRPr>
          </a:p>
          <a:p>
            <a:pPr marL="80010">
              <a:lnSpc>
                <a:spcPct val="100000"/>
              </a:lnSpc>
              <a:spcBef>
                <a:spcPts val="1095"/>
              </a:spcBef>
            </a:pPr>
            <a:r>
              <a:rPr sz="4950" b="1" i="1" spc="-540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nn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56</a:t>
            </a:fld>
            <a:endParaRPr spc="-370" dirty="0"/>
          </a:p>
        </p:txBody>
      </p:sp>
      <p:sp>
        <p:nvSpPr>
          <p:cNvPr id="46" name="object 46"/>
          <p:cNvSpPr txBox="1"/>
          <p:nvPr/>
        </p:nvSpPr>
        <p:spPr>
          <a:xfrm>
            <a:off x="2940089" y="2838731"/>
            <a:ext cx="1517015" cy="2035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  <a:tabLst>
                <a:tab pos="1010285" algn="l"/>
              </a:tabLst>
            </a:pPr>
            <a:r>
              <a:rPr sz="4950" b="1" i="1" spc="-585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spc="-390" dirty="0">
                <a:solidFill>
                  <a:srgbClr val="1E1E1E"/>
                </a:solidFill>
                <a:latin typeface="Verdana"/>
                <a:cs typeface="Verdana"/>
              </a:rPr>
              <a:t>11	</a:t>
            </a:r>
            <a:r>
              <a:rPr sz="4950" b="1" i="1" spc="-615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spc="-409" dirty="0">
                <a:solidFill>
                  <a:srgbClr val="1E1E1E"/>
                </a:solidFill>
                <a:latin typeface="Verdana"/>
                <a:cs typeface="Verdana"/>
              </a:rPr>
              <a:t>12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3410"/>
              </a:lnSpc>
              <a:tabLst>
                <a:tab pos="976630" algn="l"/>
              </a:tabLst>
            </a:pPr>
            <a:r>
              <a:rPr sz="4950" b="1" i="1" spc="-509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spc="-340" dirty="0">
                <a:solidFill>
                  <a:srgbClr val="1E1E1E"/>
                </a:solidFill>
                <a:latin typeface="Verdana"/>
                <a:cs typeface="Verdana"/>
              </a:rPr>
              <a:t>21	</a:t>
            </a:r>
            <a:r>
              <a:rPr sz="4950" b="1" i="1" spc="-480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22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3410"/>
              </a:lnSpc>
              <a:tabLst>
                <a:tab pos="963294" algn="l"/>
              </a:tabLst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	…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1001394" algn="l"/>
              </a:tabLst>
            </a:pPr>
            <a:r>
              <a:rPr sz="4950" b="1" i="1" spc="-540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i="1" spc="-37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4950" b="1" i="1" spc="-540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1900" b="1" i="1" spc="-32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916965" y="7222681"/>
            <a:ext cx="36830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b="1" i="1" spc="-6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284" baseline="-32163" dirty="0">
                <a:solidFill>
                  <a:srgbClr val="1E1E1E"/>
                </a:solidFill>
                <a:latin typeface="Verdana"/>
                <a:cs typeface="Verdana"/>
              </a:rPr>
              <a:t>1 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427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850" baseline="-32163">
              <a:latin typeface="Verdana"/>
              <a:cs typeface="Verdan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916965" y="8981790"/>
            <a:ext cx="37401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5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412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850" baseline="-3216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06104" y="1233335"/>
            <a:ext cx="873188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b="1" spc="-180" dirty="0">
                <a:solidFill>
                  <a:srgbClr val="1E1E1E"/>
                </a:solidFill>
                <a:latin typeface="Arial"/>
                <a:cs typeface="Arial"/>
              </a:rPr>
              <a:t>Характеристический</a:t>
            </a:r>
            <a:r>
              <a:rPr sz="4950" b="1" spc="-12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4950" b="1" spc="-315" dirty="0">
                <a:solidFill>
                  <a:srgbClr val="1E1E1E"/>
                </a:solidFill>
                <a:latin typeface="Arial"/>
                <a:cs typeface="Arial"/>
              </a:rPr>
              <a:t>полином</a:t>
            </a:r>
            <a:endParaRPr sz="49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57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5455720" y="3453163"/>
            <a:ext cx="27101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det(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00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0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89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873188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0" dirty="0"/>
              <a:t>Характеристический</a:t>
            </a:r>
            <a:r>
              <a:rPr spc="-125" dirty="0"/>
              <a:t> </a:t>
            </a:r>
            <a:r>
              <a:rPr spc="-315" dirty="0"/>
              <a:t>полином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58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000" y="3453163"/>
            <a:ext cx="11094085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76225" algn="ctr">
              <a:lnSpc>
                <a:spcPct val="100000"/>
              </a:lnSpc>
              <a:spcBef>
                <a:spcPts val="95"/>
              </a:spcBef>
            </a:pP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det(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  </a:t>
            </a:r>
            <a:r>
              <a:rPr sz="3300" b="1" i="1" spc="-600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00" dirty="0">
                <a:solidFill>
                  <a:srgbClr val="1E1E1E"/>
                </a:solidFill>
                <a:latin typeface="Verdana"/>
                <a:cs typeface="Verdana"/>
              </a:rPr>
              <a:t>)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8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300" b="1" spc="-105" dirty="0">
                <a:solidFill>
                  <a:srgbClr val="CB3757"/>
                </a:solidFill>
                <a:latin typeface="Arial"/>
                <a:cs typeface="Arial"/>
              </a:rPr>
              <a:t>Не </a:t>
            </a:r>
            <a:r>
              <a:rPr sz="3300" b="1" spc="-190" dirty="0">
                <a:solidFill>
                  <a:srgbClr val="CB3757"/>
                </a:solidFill>
                <a:latin typeface="Arial"/>
                <a:cs typeface="Arial"/>
              </a:rPr>
              <a:t>обязательно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собственные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будут</a:t>
            </a:r>
            <a:r>
              <a:rPr sz="3300" spc="509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вещественными.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873188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0" dirty="0"/>
              <a:t>Характеристический</a:t>
            </a:r>
            <a:r>
              <a:rPr spc="-125" dirty="0"/>
              <a:t> </a:t>
            </a:r>
            <a:r>
              <a:rPr spc="-315" dirty="0"/>
              <a:t>полином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59</a:t>
            </a:fld>
            <a:endParaRPr spc="-370" dirty="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418804" y="6837488"/>
          <a:ext cx="11140440" cy="240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5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97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03960">
                <a:tc>
                  <a:txBody>
                    <a:bodyPr/>
                    <a:lstStyle/>
                    <a:p>
                      <a:pPr marL="114935" marR="26860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300" spc="-9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</a:t>
                      </a:r>
                      <a:r>
                        <a:rPr sz="3300" spc="-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</a:t>
                      </a:r>
                      <a:r>
                        <a:rPr sz="3300" spc="-1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б</a:t>
                      </a: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</a:t>
                      </a:r>
                      <a:r>
                        <a:rPr sz="3300" spc="-2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т</a:t>
                      </a:r>
                      <a:r>
                        <a:rPr sz="3300" spc="-3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в</a:t>
                      </a:r>
                      <a:r>
                        <a:rPr sz="3300" spc="-2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е</a:t>
                      </a:r>
                      <a:r>
                        <a:rPr sz="3300" spc="-3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нн</a:t>
                      </a:r>
                      <a:r>
                        <a:rPr sz="3300" spc="-2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ы</a:t>
                      </a:r>
                      <a:r>
                        <a:rPr sz="33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е  </a:t>
                      </a:r>
                      <a:r>
                        <a:rPr sz="3300" spc="-114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числа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300" b="1" i="1" spc="-46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λ</a:t>
                      </a:r>
                      <a:r>
                        <a:rPr sz="2850" b="1" spc="-697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2850" baseline="-32163">
                        <a:latin typeface="Verdana"/>
                        <a:cs typeface="Verdana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300" b="1" i="1" spc="-42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λ</a:t>
                      </a:r>
                      <a:r>
                        <a:rPr sz="2850" b="1" spc="-630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2850" baseline="-32163">
                        <a:latin typeface="Verdana"/>
                        <a:cs typeface="Verdana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300" b="1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…</a:t>
                      </a:r>
                      <a:endParaRPr sz="3300">
                        <a:latin typeface="Verdana"/>
                        <a:cs typeface="Verdana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300" b="1" i="1" spc="-41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λ</a:t>
                      </a:r>
                      <a:r>
                        <a:rPr sz="2850" b="1" i="1" spc="-622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n</a:t>
                      </a:r>
                      <a:endParaRPr sz="2850" baseline="-32163">
                        <a:latin typeface="Verdana"/>
                        <a:cs typeface="Verdana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300" spc="-12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вещественны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3960">
                <a:tc>
                  <a:txBody>
                    <a:bodyPr/>
                    <a:lstStyle/>
                    <a:p>
                      <a:pPr marL="114935" marR="26860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3300" spc="-9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</a:t>
                      </a:r>
                      <a:r>
                        <a:rPr sz="3300" spc="-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</a:t>
                      </a:r>
                      <a:r>
                        <a:rPr sz="3300" spc="-1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б</a:t>
                      </a: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</a:t>
                      </a:r>
                      <a:r>
                        <a:rPr sz="3300" spc="-2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т</a:t>
                      </a:r>
                      <a:r>
                        <a:rPr sz="3300" spc="-3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в</a:t>
                      </a:r>
                      <a:r>
                        <a:rPr sz="3300" spc="-2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е</a:t>
                      </a:r>
                      <a:r>
                        <a:rPr sz="3300" spc="-3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нн</a:t>
                      </a:r>
                      <a:r>
                        <a:rPr sz="3300" spc="-2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ы</a:t>
                      </a:r>
                      <a:r>
                        <a:rPr sz="33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е  </a:t>
                      </a:r>
                      <a:r>
                        <a:rPr sz="3300" spc="-6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векторы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3300" b="1" i="1" spc="-32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Ӿ</a:t>
                      </a:r>
                      <a:r>
                        <a:rPr sz="2850" b="1" spc="-487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2850" baseline="-32163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3300" b="1" i="1" spc="-3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Ӿ</a:t>
                      </a:r>
                      <a:r>
                        <a:rPr sz="2850" b="1" spc="-450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2850" baseline="-32163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3300" b="1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…</a:t>
                      </a:r>
                      <a:endParaRPr sz="3300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3300" b="1" i="1" spc="-29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Ӿ</a:t>
                      </a:r>
                      <a:r>
                        <a:rPr sz="2850" b="1" i="1" spc="-43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n</a:t>
                      </a:r>
                      <a:endParaRPr sz="2850" baseline="-32163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3300" spc="-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попарно</a:t>
                      </a:r>
                      <a:r>
                        <a:rPr sz="3300" spc="2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ортогональны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7302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406104" y="3453163"/>
            <a:ext cx="11094085" cy="2538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62095">
              <a:lnSpc>
                <a:spcPct val="100000"/>
              </a:lnSpc>
              <a:spcBef>
                <a:spcPts val="95"/>
              </a:spcBef>
            </a:pP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det(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00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0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8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12700" marR="5080">
              <a:lnSpc>
                <a:spcPts val="7909"/>
              </a:lnSpc>
              <a:spcBef>
                <a:spcPts val="930"/>
              </a:spcBef>
            </a:pPr>
            <a:r>
              <a:rPr sz="3300" b="1" spc="-105" dirty="0">
                <a:solidFill>
                  <a:srgbClr val="CB3757"/>
                </a:solidFill>
                <a:latin typeface="Arial"/>
                <a:cs typeface="Arial"/>
              </a:rPr>
              <a:t>Не </a:t>
            </a:r>
            <a:r>
              <a:rPr sz="3300" b="1" spc="-190" dirty="0">
                <a:solidFill>
                  <a:srgbClr val="CB3757"/>
                </a:solidFill>
                <a:latin typeface="Arial"/>
                <a:cs typeface="Arial"/>
              </a:rPr>
              <a:t>обязательно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собственные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будут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вещественными.  </a:t>
            </a: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Но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симметричной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37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562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b="1" spc="-145" dirty="0">
                <a:solidFill>
                  <a:srgbClr val="CB3757"/>
                </a:solidFill>
                <a:latin typeface="Arial"/>
                <a:cs typeface="Arial"/>
              </a:rPr>
              <a:t>будут!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1393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9" dirty="0"/>
              <a:t>Ортогональная</a:t>
            </a:r>
            <a:r>
              <a:rPr spc="-135" dirty="0"/>
              <a:t> </a:t>
            </a:r>
            <a:r>
              <a:rPr spc="-150" dirty="0"/>
              <a:t>матрица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60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8384540" cy="153352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b="1" i="1" spc="-280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i="1" spc="-419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780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39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592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spc="-39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270" dirty="0">
                <a:solidFill>
                  <a:srgbClr val="1E1E1E"/>
                </a:solidFill>
                <a:latin typeface="Verdana"/>
                <a:cs typeface="Verdana"/>
              </a:rPr>
              <a:t>…,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705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2850" b="1" i="1" spc="-705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285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i="1" spc="-427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459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690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-84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i="1" spc="-727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2850" b="1" i="1" spc="-727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75"/>
              </a:spcBef>
              <a:tabLst>
                <a:tab pos="6687820" algn="l"/>
                <a:tab pos="7612380" algn="l"/>
              </a:tabLst>
            </a:pPr>
            <a:r>
              <a:rPr sz="3300" b="1" spc="-434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434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i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75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i="1" spc="-712" baseline="-32163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b="1" spc="-475" dirty="0">
                <a:solidFill>
                  <a:srgbClr val="1E1E1E"/>
                </a:solidFill>
                <a:latin typeface="Verdana"/>
                <a:cs typeface="Verdana"/>
              </a:rPr>
              <a:t>):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  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712" baseline="-32163" dirty="0">
                <a:solidFill>
                  <a:srgbClr val="1E1E1E"/>
                </a:solidFill>
                <a:latin typeface="Verdana"/>
                <a:cs typeface="Verdana"/>
              </a:rPr>
              <a:t>1 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1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2  </a:t>
            </a:r>
            <a:r>
              <a:rPr sz="3300" b="1" i="1" spc="-39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592" baseline="-32163" dirty="0">
                <a:solidFill>
                  <a:srgbClr val="1E1E1E"/>
                </a:solidFill>
                <a:latin typeface="Verdana"/>
                <a:cs typeface="Verdana"/>
              </a:rPr>
              <a:t>2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i="1" spc="-3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547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b="1" i="1" spc="-36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i="1" spc="-547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2850" b="1" i="1" spc="-765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 </a:t>
            </a:r>
            <a:r>
              <a:rPr sz="3300" b="1" spc="-8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	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при	</a:t>
            </a:r>
            <a:r>
              <a:rPr sz="3300" b="1" i="1" spc="-425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spc="165" dirty="0">
                <a:solidFill>
                  <a:srgbClr val="1E1E1E"/>
                </a:solidFill>
                <a:latin typeface="Arial"/>
                <a:cs typeface="Arial"/>
              </a:rPr>
              <a:t>≠</a:t>
            </a:r>
            <a:r>
              <a:rPr sz="3300" spc="-3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1393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9" dirty="0"/>
              <a:t>Ортогональная</a:t>
            </a:r>
            <a:r>
              <a:rPr spc="-135" dirty="0"/>
              <a:t> </a:t>
            </a:r>
            <a:r>
              <a:rPr spc="-150" dirty="0"/>
              <a:t>матрица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61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8384540" cy="228727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b="1" i="1" spc="-280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i="1" spc="-419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780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39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592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spc="-39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270" dirty="0">
                <a:solidFill>
                  <a:srgbClr val="1E1E1E"/>
                </a:solidFill>
                <a:latin typeface="Verdana"/>
                <a:cs typeface="Verdana"/>
              </a:rPr>
              <a:t>…,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705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2850" b="1" i="1" spc="-705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285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i="1" spc="-427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459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690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-84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i="1" spc="-727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2850" b="1" i="1" spc="-727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75"/>
              </a:spcBef>
              <a:tabLst>
                <a:tab pos="6687820" algn="l"/>
                <a:tab pos="7612380" algn="l"/>
              </a:tabLst>
            </a:pPr>
            <a:r>
              <a:rPr sz="3300" b="1" spc="-434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434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i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75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i="1" spc="-712" baseline="-32163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b="1" spc="-475" dirty="0">
                <a:solidFill>
                  <a:srgbClr val="1E1E1E"/>
                </a:solidFill>
                <a:latin typeface="Verdana"/>
                <a:cs typeface="Verdana"/>
              </a:rPr>
              <a:t>):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  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712" baseline="-32163" dirty="0">
                <a:solidFill>
                  <a:srgbClr val="1E1E1E"/>
                </a:solidFill>
                <a:latin typeface="Verdana"/>
                <a:cs typeface="Verdana"/>
              </a:rPr>
              <a:t>1 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1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2  </a:t>
            </a:r>
            <a:r>
              <a:rPr sz="3300" b="1" i="1" spc="-39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592" baseline="-32163" dirty="0">
                <a:solidFill>
                  <a:srgbClr val="1E1E1E"/>
                </a:solidFill>
                <a:latin typeface="Verdana"/>
                <a:cs typeface="Verdana"/>
              </a:rPr>
              <a:t>2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i="1" spc="-3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547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b="1" i="1" spc="-36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i="1" spc="-547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2850" b="1" i="1" spc="-765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 </a:t>
            </a:r>
            <a:r>
              <a:rPr sz="3300" b="1" spc="-8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	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при	</a:t>
            </a:r>
            <a:r>
              <a:rPr sz="3300" b="1" i="1" spc="-425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spc="165" dirty="0">
                <a:solidFill>
                  <a:srgbClr val="1E1E1E"/>
                </a:solidFill>
                <a:latin typeface="Arial"/>
                <a:cs typeface="Arial"/>
              </a:rPr>
              <a:t>≠</a:t>
            </a:r>
            <a:r>
              <a:rPr sz="3300" spc="-3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А 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можно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еще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2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185" dirty="0">
                <a:solidFill>
                  <a:srgbClr val="627AEB"/>
                </a:solidFill>
                <a:latin typeface="Arial"/>
                <a:cs typeface="Arial"/>
              </a:rPr>
              <a:t>нормировать</a:t>
            </a:r>
            <a:r>
              <a:rPr sz="3300" spc="-185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70814" y="5750056"/>
            <a:ext cx="161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98477" y="6029000"/>
            <a:ext cx="208343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405890" algn="l"/>
                <a:tab pos="2002789" algn="l"/>
              </a:tabLst>
            </a:pP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	j	j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6104" y="5714874"/>
            <a:ext cx="34201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780" dirty="0">
                <a:solidFill>
                  <a:srgbClr val="1E1E1E"/>
                </a:solidFill>
                <a:latin typeface="Verdana"/>
                <a:cs typeface="Verdana"/>
              </a:rPr>
              <a:t>||</a:t>
            </a:r>
            <a:r>
              <a:rPr sz="3300" b="1" i="1" spc="-780" dirty="0">
                <a:solidFill>
                  <a:srgbClr val="1E1E1E"/>
                </a:solidFill>
                <a:latin typeface="Arial"/>
                <a:cs typeface="Arial"/>
              </a:rPr>
              <a:t>Ӿ </a:t>
            </a:r>
            <a:r>
              <a:rPr sz="3300" b="1" i="1" spc="-1019" dirty="0">
                <a:solidFill>
                  <a:srgbClr val="1E1E1E"/>
                </a:solidFill>
                <a:latin typeface="Verdana"/>
                <a:cs typeface="Verdana"/>
              </a:rPr>
              <a:t>|| </a:t>
            </a:r>
            <a:r>
              <a:rPr sz="3300" b="1" spc="-475" dirty="0">
                <a:solidFill>
                  <a:srgbClr val="1E1E1E"/>
                </a:solidFill>
                <a:latin typeface="Verdana"/>
                <a:cs typeface="Verdana"/>
              </a:rPr>
              <a:t>: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5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50" dirty="0">
                <a:solidFill>
                  <a:srgbClr val="1E1E1E"/>
                </a:solidFill>
                <a:latin typeface="Arial"/>
                <a:cs typeface="Arial"/>
              </a:rPr>
              <a:t>Ӿ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370" dirty="0">
                <a:solidFill>
                  <a:srgbClr val="1E1E1E"/>
                </a:solidFill>
                <a:latin typeface="Arial"/>
                <a:cs typeface="Arial"/>
              </a:rPr>
              <a:t>Ӿ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 </a:t>
            </a:r>
            <a:r>
              <a:rPr sz="3300" b="1" i="1" spc="-10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21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36513" y="5750056"/>
            <a:ext cx="161925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4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  <a:p>
            <a:pPr marL="13335">
              <a:lnSpc>
                <a:spcPts val="2240"/>
              </a:lnSpc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56412" y="5714874"/>
            <a:ext cx="5695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7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36321" y="5750056"/>
            <a:ext cx="170815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4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  <a:p>
            <a:pPr marL="21590">
              <a:lnSpc>
                <a:spcPts val="2240"/>
              </a:lnSpc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84167" y="5750056"/>
            <a:ext cx="17653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4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  <a:p>
            <a:pPr marL="25400">
              <a:lnSpc>
                <a:spcPts val="2240"/>
              </a:lnSpc>
            </a:pP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64932" y="5714874"/>
            <a:ext cx="22466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66239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i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6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	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7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1393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9" dirty="0"/>
              <a:t>Ортогональная</a:t>
            </a:r>
            <a:r>
              <a:rPr spc="-135" dirty="0"/>
              <a:t> </a:t>
            </a:r>
            <a:r>
              <a:rPr spc="-150" dirty="0"/>
              <a:t>матрица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201862"/>
            <a:ext cx="8384540" cy="228727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b="1" i="1" spc="-280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i="1" spc="-419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780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52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39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592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spc="-39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270" dirty="0">
                <a:solidFill>
                  <a:srgbClr val="1E1E1E"/>
                </a:solidFill>
                <a:latin typeface="Verdana"/>
                <a:cs typeface="Verdana"/>
              </a:rPr>
              <a:t>…,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705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2850" b="1" i="1" spc="-705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285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i="1" spc="-427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459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690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-84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i="1" spc="-727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2850" b="1" i="1" spc="-727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75"/>
              </a:spcBef>
              <a:tabLst>
                <a:tab pos="6687820" algn="l"/>
                <a:tab pos="7612380" algn="l"/>
              </a:tabLst>
            </a:pPr>
            <a:r>
              <a:rPr sz="3300" b="1" spc="-434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434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i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75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i="1" spc="-712" baseline="-32163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b="1" spc="-475" dirty="0">
                <a:solidFill>
                  <a:srgbClr val="1E1E1E"/>
                </a:solidFill>
                <a:latin typeface="Verdana"/>
                <a:cs typeface="Verdana"/>
              </a:rPr>
              <a:t>):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  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712" baseline="-32163" dirty="0">
                <a:solidFill>
                  <a:srgbClr val="1E1E1E"/>
                </a:solidFill>
                <a:latin typeface="Verdana"/>
                <a:cs typeface="Verdana"/>
              </a:rPr>
              <a:t>1 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1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2  </a:t>
            </a:r>
            <a:r>
              <a:rPr sz="3300" b="1" i="1" spc="-39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592" baseline="-32163" dirty="0">
                <a:solidFill>
                  <a:srgbClr val="1E1E1E"/>
                </a:solidFill>
                <a:latin typeface="Verdana"/>
                <a:cs typeface="Verdana"/>
              </a:rPr>
              <a:t>2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i="1" spc="-36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547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b="1" i="1" spc="-36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i="1" spc="-547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2850" b="1" i="1" spc="-765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 </a:t>
            </a:r>
            <a:r>
              <a:rPr sz="3300" b="1" spc="-8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	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при	</a:t>
            </a:r>
            <a:r>
              <a:rPr sz="3300" b="1" i="1" spc="-425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spc="165" dirty="0">
                <a:solidFill>
                  <a:srgbClr val="1E1E1E"/>
                </a:solidFill>
                <a:latin typeface="Arial"/>
                <a:cs typeface="Arial"/>
              </a:rPr>
              <a:t>≠</a:t>
            </a:r>
            <a:r>
              <a:rPr sz="3300" spc="-3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А 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можно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еще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2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185" dirty="0">
                <a:solidFill>
                  <a:srgbClr val="627AEB"/>
                </a:solidFill>
                <a:latin typeface="Arial"/>
                <a:cs typeface="Arial"/>
              </a:rPr>
              <a:t>нормировать</a:t>
            </a:r>
            <a:r>
              <a:rPr sz="3300" spc="-185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70814" y="5750056"/>
            <a:ext cx="161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98477" y="6029000"/>
            <a:ext cx="208343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405890" algn="l"/>
                <a:tab pos="2002789" algn="l"/>
              </a:tabLst>
            </a:pP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	j	j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6104" y="5714874"/>
            <a:ext cx="34201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780" dirty="0">
                <a:solidFill>
                  <a:srgbClr val="1E1E1E"/>
                </a:solidFill>
                <a:latin typeface="Verdana"/>
                <a:cs typeface="Verdana"/>
              </a:rPr>
              <a:t>||</a:t>
            </a:r>
            <a:r>
              <a:rPr sz="3300" b="1" i="1" spc="-780" dirty="0">
                <a:solidFill>
                  <a:srgbClr val="1E1E1E"/>
                </a:solidFill>
                <a:latin typeface="Arial"/>
                <a:cs typeface="Arial"/>
              </a:rPr>
              <a:t>Ӿ </a:t>
            </a:r>
            <a:r>
              <a:rPr sz="3300" b="1" i="1" spc="-1019" dirty="0">
                <a:solidFill>
                  <a:srgbClr val="1E1E1E"/>
                </a:solidFill>
                <a:latin typeface="Verdana"/>
                <a:cs typeface="Verdana"/>
              </a:rPr>
              <a:t>|| </a:t>
            </a:r>
            <a:r>
              <a:rPr sz="3300" b="1" spc="-475" dirty="0">
                <a:solidFill>
                  <a:srgbClr val="1E1E1E"/>
                </a:solidFill>
                <a:latin typeface="Verdana"/>
                <a:cs typeface="Verdana"/>
              </a:rPr>
              <a:t>: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50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50" dirty="0">
                <a:solidFill>
                  <a:srgbClr val="1E1E1E"/>
                </a:solidFill>
                <a:latin typeface="Arial"/>
                <a:cs typeface="Arial"/>
              </a:rPr>
              <a:t>Ӿ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370" dirty="0">
                <a:solidFill>
                  <a:srgbClr val="1E1E1E"/>
                </a:solidFill>
                <a:latin typeface="Arial"/>
                <a:cs typeface="Arial"/>
              </a:rPr>
              <a:t>Ӿ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 </a:t>
            </a:r>
            <a:r>
              <a:rPr sz="3300" b="1" i="1" spc="-10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21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36513" y="5750056"/>
            <a:ext cx="161925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4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  <a:p>
            <a:pPr marL="13335">
              <a:lnSpc>
                <a:spcPts val="2240"/>
              </a:lnSpc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56412" y="5714874"/>
            <a:ext cx="5695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7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36321" y="5750056"/>
            <a:ext cx="170815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4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  <a:p>
            <a:pPr marL="21590">
              <a:lnSpc>
                <a:spcPts val="2240"/>
              </a:lnSpc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84167" y="5750056"/>
            <a:ext cx="17653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4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  <a:p>
            <a:pPr marL="25400">
              <a:lnSpc>
                <a:spcPts val="2240"/>
              </a:lnSpc>
            </a:pP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64932" y="5714874"/>
            <a:ext cx="22466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66239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i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6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	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7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6084" y="6468778"/>
            <a:ext cx="66560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36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365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spc="-547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385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35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350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spc="-525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494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i="1" spc="-330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spc="-494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270" dirty="0">
                <a:solidFill>
                  <a:srgbClr val="1E1E1E"/>
                </a:solidFill>
                <a:latin typeface="Verdana"/>
                <a:cs typeface="Verdana"/>
              </a:rPr>
              <a:t>…, 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345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i="1" spc="-517" baseline="-32163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8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17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1762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b="1" i="1" spc="-1175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i="1" spc="-1762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850" baseline="-32163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6104" y="7976585"/>
            <a:ext cx="59817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6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66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3300" b="1" i="1" spc="-325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spc="-487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1005" dirty="0">
                <a:solidFill>
                  <a:srgbClr val="1E1E1E"/>
                </a:solidFill>
                <a:latin typeface="Verdana"/>
                <a:cs typeface="Verdana"/>
              </a:rPr>
              <a:t>| </a:t>
            </a:r>
            <a:r>
              <a:rPr sz="3300" b="1" i="1" spc="-300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spc="-450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1005" dirty="0">
                <a:solidFill>
                  <a:srgbClr val="1E1E1E"/>
                </a:solidFill>
                <a:latin typeface="Verdana"/>
                <a:cs typeface="Verdana"/>
              </a:rPr>
              <a:t>| </a:t>
            </a:r>
            <a:r>
              <a:rPr sz="3300" b="1" i="1" spc="-440" dirty="0">
                <a:solidFill>
                  <a:srgbClr val="1E1E1E"/>
                </a:solidFill>
                <a:latin typeface="Verdana"/>
                <a:cs typeface="Verdana"/>
              </a:rPr>
              <a:t>…| </a:t>
            </a:r>
            <a:r>
              <a:rPr sz="3300" b="1" i="1" spc="-290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i="1" spc="-434" baseline="-32163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3300" b="1" i="1" spc="-325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spc="-487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1005" dirty="0">
                <a:solidFill>
                  <a:srgbClr val="1E1E1E"/>
                </a:solidFill>
                <a:latin typeface="Verdana"/>
                <a:cs typeface="Verdana"/>
              </a:rPr>
              <a:t>| </a:t>
            </a:r>
            <a:r>
              <a:rPr sz="3300" b="1" i="1" spc="-300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spc="-450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1005" dirty="0">
                <a:solidFill>
                  <a:srgbClr val="1E1E1E"/>
                </a:solidFill>
                <a:latin typeface="Verdana"/>
                <a:cs typeface="Verdana"/>
              </a:rPr>
              <a:t>| </a:t>
            </a:r>
            <a:r>
              <a:rPr sz="3300" b="1" i="1" spc="-440" dirty="0">
                <a:solidFill>
                  <a:srgbClr val="1E1E1E"/>
                </a:solidFill>
                <a:latin typeface="Verdana"/>
                <a:cs typeface="Verdana"/>
              </a:rPr>
              <a:t>…|  </a:t>
            </a:r>
            <a:r>
              <a:rPr sz="3300" b="1" i="1" spc="-1435" dirty="0">
                <a:solidFill>
                  <a:srgbClr val="1E1E1E"/>
                </a:solidFill>
                <a:latin typeface="Arial"/>
                <a:cs typeface="Arial"/>
              </a:rPr>
              <a:t>Ӿ</a:t>
            </a:r>
            <a:r>
              <a:rPr sz="2850" b="1" i="1" spc="-2152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2850" b="1" i="1" spc="-742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22463" y="7222681"/>
            <a:ext cx="119126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  <a:tabLst>
                <a:tab pos="839469" algn="l"/>
              </a:tabLst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97" baseline="-32163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  <a:tabLst>
                <a:tab pos="839469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	</a:t>
            </a:r>
            <a:r>
              <a:rPr sz="3300" b="1" i="1" spc="-56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427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850" baseline="-32163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22546" y="8981790"/>
            <a:ext cx="108585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39469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	0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874381" y="8981790"/>
            <a:ext cx="3657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6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412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850" baseline="-32163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74193" y="7222681"/>
            <a:ext cx="25844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893324" y="8594694"/>
            <a:ext cx="275590" cy="275590"/>
          </a:xfrm>
          <a:custGeom>
            <a:avLst/>
            <a:gdLst/>
            <a:ahLst/>
            <a:cxnLst/>
            <a:rect l="l" t="t" r="r" b="b"/>
            <a:pathLst>
              <a:path w="275590" h="275590">
                <a:moveTo>
                  <a:pt x="39425" y="0"/>
                </a:moveTo>
                <a:lnTo>
                  <a:pt x="25223" y="3234"/>
                </a:lnTo>
                <a:lnTo>
                  <a:pt x="12216" y="12330"/>
                </a:lnTo>
                <a:lnTo>
                  <a:pt x="3248" y="25120"/>
                </a:lnTo>
                <a:lnTo>
                  <a:pt x="0" y="39131"/>
                </a:lnTo>
                <a:lnTo>
                  <a:pt x="2637" y="53141"/>
                </a:lnTo>
                <a:lnTo>
                  <a:pt x="11326" y="65931"/>
                </a:lnTo>
                <a:lnTo>
                  <a:pt x="24287" y="74790"/>
                </a:lnTo>
                <a:lnTo>
                  <a:pt x="38388" y="77514"/>
                </a:lnTo>
                <a:lnTo>
                  <a:pt x="52435" y="74297"/>
                </a:lnTo>
                <a:lnTo>
                  <a:pt x="65230" y="65334"/>
                </a:lnTo>
                <a:lnTo>
                  <a:pt x="74450" y="52208"/>
                </a:lnTo>
                <a:lnTo>
                  <a:pt x="77704" y="38053"/>
                </a:lnTo>
                <a:lnTo>
                  <a:pt x="75017" y="24065"/>
                </a:lnTo>
                <a:lnTo>
                  <a:pt x="66414" y="11440"/>
                </a:lnTo>
                <a:lnTo>
                  <a:pt x="53572" y="2708"/>
                </a:lnTo>
                <a:lnTo>
                  <a:pt x="39425" y="0"/>
                </a:lnTo>
                <a:close/>
              </a:path>
              <a:path w="275590" h="275590">
                <a:moveTo>
                  <a:pt x="138159" y="98732"/>
                </a:moveTo>
                <a:lnTo>
                  <a:pt x="123885" y="101896"/>
                </a:lnTo>
                <a:lnTo>
                  <a:pt x="110831" y="110945"/>
                </a:lnTo>
                <a:lnTo>
                  <a:pt x="101911" y="123782"/>
                </a:lnTo>
                <a:lnTo>
                  <a:pt x="98766" y="137897"/>
                </a:lnTo>
                <a:lnTo>
                  <a:pt x="101508" y="152012"/>
                </a:lnTo>
                <a:lnTo>
                  <a:pt x="110245" y="164849"/>
                </a:lnTo>
                <a:lnTo>
                  <a:pt x="123205" y="173709"/>
                </a:lnTo>
                <a:lnTo>
                  <a:pt x="137307" y="176433"/>
                </a:lnTo>
                <a:lnTo>
                  <a:pt x="151353" y="173216"/>
                </a:lnTo>
                <a:lnTo>
                  <a:pt x="164149" y="164252"/>
                </a:lnTo>
                <a:lnTo>
                  <a:pt x="173241" y="150994"/>
                </a:lnTo>
                <a:lnTo>
                  <a:pt x="176476" y="136820"/>
                </a:lnTo>
                <a:lnTo>
                  <a:pt x="173770" y="122813"/>
                </a:lnTo>
                <a:lnTo>
                  <a:pt x="165039" y="110055"/>
                </a:lnTo>
                <a:lnTo>
                  <a:pt x="152321" y="101452"/>
                </a:lnTo>
                <a:lnTo>
                  <a:pt x="138159" y="98732"/>
                </a:lnTo>
                <a:close/>
              </a:path>
              <a:path w="275590" h="275590">
                <a:moveTo>
                  <a:pt x="237076" y="197651"/>
                </a:moveTo>
                <a:lnTo>
                  <a:pt x="222803" y="200815"/>
                </a:lnTo>
                <a:lnTo>
                  <a:pt x="209750" y="209864"/>
                </a:lnTo>
                <a:lnTo>
                  <a:pt x="200829" y="222701"/>
                </a:lnTo>
                <a:lnTo>
                  <a:pt x="197685" y="236816"/>
                </a:lnTo>
                <a:lnTo>
                  <a:pt x="200426" y="250931"/>
                </a:lnTo>
                <a:lnTo>
                  <a:pt x="209163" y="263768"/>
                </a:lnTo>
                <a:lnTo>
                  <a:pt x="222124" y="272627"/>
                </a:lnTo>
                <a:lnTo>
                  <a:pt x="236225" y="275351"/>
                </a:lnTo>
                <a:lnTo>
                  <a:pt x="250272" y="272134"/>
                </a:lnTo>
                <a:lnTo>
                  <a:pt x="263067" y="263171"/>
                </a:lnTo>
                <a:lnTo>
                  <a:pt x="272159" y="249913"/>
                </a:lnTo>
                <a:lnTo>
                  <a:pt x="275393" y="235738"/>
                </a:lnTo>
                <a:lnTo>
                  <a:pt x="272684" y="221731"/>
                </a:lnTo>
                <a:lnTo>
                  <a:pt x="263947" y="208974"/>
                </a:lnTo>
                <a:lnTo>
                  <a:pt x="251235" y="200371"/>
                </a:lnTo>
                <a:lnTo>
                  <a:pt x="237076" y="197651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853731" y="9374583"/>
            <a:ext cx="354965" cy="78105"/>
          </a:xfrm>
          <a:custGeom>
            <a:avLst/>
            <a:gdLst/>
            <a:ahLst/>
            <a:cxnLst/>
            <a:rect l="l" t="t" r="r" b="b"/>
            <a:pathLst>
              <a:path w="354965" h="78104">
                <a:moveTo>
                  <a:pt x="37695" y="0"/>
                </a:moveTo>
                <a:lnTo>
                  <a:pt x="22440" y="2905"/>
                </a:lnTo>
                <a:lnTo>
                  <a:pt x="10523" y="10994"/>
                </a:lnTo>
                <a:lnTo>
                  <a:pt x="2768" y="23323"/>
                </a:lnTo>
                <a:lnTo>
                  <a:pt x="0" y="38951"/>
                </a:lnTo>
                <a:lnTo>
                  <a:pt x="2702" y="54337"/>
                </a:lnTo>
                <a:lnTo>
                  <a:pt x="10313" y="66542"/>
                </a:lnTo>
                <a:lnTo>
                  <a:pt x="22087" y="74585"/>
                </a:lnTo>
                <a:lnTo>
                  <a:pt x="37276" y="77484"/>
                </a:lnTo>
                <a:lnTo>
                  <a:pt x="52707" y="74585"/>
                </a:lnTo>
                <a:lnTo>
                  <a:pt x="64605" y="66542"/>
                </a:lnTo>
                <a:lnTo>
                  <a:pt x="72262" y="54337"/>
                </a:lnTo>
                <a:lnTo>
                  <a:pt x="74971" y="38951"/>
                </a:lnTo>
                <a:lnTo>
                  <a:pt x="72209" y="23147"/>
                </a:lnTo>
                <a:lnTo>
                  <a:pt x="64500" y="10837"/>
                </a:lnTo>
                <a:lnTo>
                  <a:pt x="52707" y="2846"/>
                </a:lnTo>
                <a:lnTo>
                  <a:pt x="37695" y="0"/>
                </a:lnTo>
                <a:close/>
              </a:path>
              <a:path w="354965" h="78104">
                <a:moveTo>
                  <a:pt x="177167" y="0"/>
                </a:moveTo>
                <a:lnTo>
                  <a:pt x="162089" y="2905"/>
                </a:lnTo>
                <a:lnTo>
                  <a:pt x="150152" y="10994"/>
                </a:lnTo>
                <a:lnTo>
                  <a:pt x="142299" y="23323"/>
                </a:lnTo>
                <a:lnTo>
                  <a:pt x="139472" y="38951"/>
                </a:lnTo>
                <a:lnTo>
                  <a:pt x="142240" y="54337"/>
                </a:lnTo>
                <a:lnTo>
                  <a:pt x="149995" y="66542"/>
                </a:lnTo>
                <a:lnTo>
                  <a:pt x="161912" y="74585"/>
                </a:lnTo>
                <a:lnTo>
                  <a:pt x="177167" y="77484"/>
                </a:lnTo>
                <a:lnTo>
                  <a:pt x="192598" y="74585"/>
                </a:lnTo>
                <a:lnTo>
                  <a:pt x="204496" y="66542"/>
                </a:lnTo>
                <a:lnTo>
                  <a:pt x="212153" y="54337"/>
                </a:lnTo>
                <a:lnTo>
                  <a:pt x="214862" y="38951"/>
                </a:lnTo>
                <a:lnTo>
                  <a:pt x="211917" y="23147"/>
                </a:lnTo>
                <a:lnTo>
                  <a:pt x="204182" y="10837"/>
                </a:lnTo>
                <a:lnTo>
                  <a:pt x="192363" y="2846"/>
                </a:lnTo>
                <a:lnTo>
                  <a:pt x="177167" y="0"/>
                </a:lnTo>
                <a:close/>
              </a:path>
              <a:path w="354965" h="78104">
                <a:moveTo>
                  <a:pt x="317058" y="0"/>
                </a:moveTo>
                <a:lnTo>
                  <a:pt x="301980" y="2905"/>
                </a:lnTo>
                <a:lnTo>
                  <a:pt x="290043" y="10994"/>
                </a:lnTo>
                <a:lnTo>
                  <a:pt x="282190" y="23323"/>
                </a:lnTo>
                <a:lnTo>
                  <a:pt x="279363" y="38951"/>
                </a:lnTo>
                <a:lnTo>
                  <a:pt x="282131" y="54337"/>
                </a:lnTo>
                <a:lnTo>
                  <a:pt x="289886" y="66542"/>
                </a:lnTo>
                <a:lnTo>
                  <a:pt x="301803" y="74585"/>
                </a:lnTo>
                <a:lnTo>
                  <a:pt x="317058" y="77484"/>
                </a:lnTo>
                <a:lnTo>
                  <a:pt x="332489" y="74585"/>
                </a:lnTo>
                <a:lnTo>
                  <a:pt x="344387" y="66542"/>
                </a:lnTo>
                <a:lnTo>
                  <a:pt x="352044" y="54337"/>
                </a:lnTo>
                <a:lnTo>
                  <a:pt x="354753" y="38951"/>
                </a:lnTo>
                <a:lnTo>
                  <a:pt x="351808" y="23147"/>
                </a:lnTo>
                <a:lnTo>
                  <a:pt x="344073" y="10837"/>
                </a:lnTo>
                <a:lnTo>
                  <a:pt x="332254" y="2846"/>
                </a:lnTo>
                <a:lnTo>
                  <a:pt x="317058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853731" y="7602386"/>
            <a:ext cx="354965" cy="78105"/>
          </a:xfrm>
          <a:custGeom>
            <a:avLst/>
            <a:gdLst/>
            <a:ahLst/>
            <a:cxnLst/>
            <a:rect l="l" t="t" r="r" b="b"/>
            <a:pathLst>
              <a:path w="354965" h="78104">
                <a:moveTo>
                  <a:pt x="37695" y="0"/>
                </a:moveTo>
                <a:lnTo>
                  <a:pt x="22440" y="2905"/>
                </a:lnTo>
                <a:lnTo>
                  <a:pt x="10523" y="10994"/>
                </a:lnTo>
                <a:lnTo>
                  <a:pt x="2768" y="23323"/>
                </a:lnTo>
                <a:lnTo>
                  <a:pt x="0" y="38951"/>
                </a:lnTo>
                <a:lnTo>
                  <a:pt x="2702" y="54337"/>
                </a:lnTo>
                <a:lnTo>
                  <a:pt x="10313" y="66542"/>
                </a:lnTo>
                <a:lnTo>
                  <a:pt x="22087" y="74585"/>
                </a:lnTo>
                <a:lnTo>
                  <a:pt x="37276" y="77484"/>
                </a:lnTo>
                <a:lnTo>
                  <a:pt x="52707" y="74585"/>
                </a:lnTo>
                <a:lnTo>
                  <a:pt x="64605" y="66542"/>
                </a:lnTo>
                <a:lnTo>
                  <a:pt x="72262" y="54337"/>
                </a:lnTo>
                <a:lnTo>
                  <a:pt x="74971" y="38951"/>
                </a:lnTo>
                <a:lnTo>
                  <a:pt x="72209" y="23147"/>
                </a:lnTo>
                <a:lnTo>
                  <a:pt x="64500" y="10837"/>
                </a:lnTo>
                <a:lnTo>
                  <a:pt x="52707" y="2846"/>
                </a:lnTo>
                <a:lnTo>
                  <a:pt x="37695" y="0"/>
                </a:lnTo>
                <a:close/>
              </a:path>
              <a:path w="354965" h="78104">
                <a:moveTo>
                  <a:pt x="177167" y="0"/>
                </a:moveTo>
                <a:lnTo>
                  <a:pt x="162089" y="2905"/>
                </a:lnTo>
                <a:lnTo>
                  <a:pt x="150152" y="10994"/>
                </a:lnTo>
                <a:lnTo>
                  <a:pt x="142299" y="23323"/>
                </a:lnTo>
                <a:lnTo>
                  <a:pt x="139472" y="38951"/>
                </a:lnTo>
                <a:lnTo>
                  <a:pt x="142240" y="54337"/>
                </a:lnTo>
                <a:lnTo>
                  <a:pt x="149995" y="66542"/>
                </a:lnTo>
                <a:lnTo>
                  <a:pt x="161912" y="74585"/>
                </a:lnTo>
                <a:lnTo>
                  <a:pt x="177167" y="77484"/>
                </a:lnTo>
                <a:lnTo>
                  <a:pt x="192598" y="74585"/>
                </a:lnTo>
                <a:lnTo>
                  <a:pt x="204496" y="66542"/>
                </a:lnTo>
                <a:lnTo>
                  <a:pt x="212153" y="54337"/>
                </a:lnTo>
                <a:lnTo>
                  <a:pt x="214862" y="38951"/>
                </a:lnTo>
                <a:lnTo>
                  <a:pt x="211917" y="23147"/>
                </a:lnTo>
                <a:lnTo>
                  <a:pt x="204182" y="10837"/>
                </a:lnTo>
                <a:lnTo>
                  <a:pt x="192363" y="2846"/>
                </a:lnTo>
                <a:lnTo>
                  <a:pt x="177167" y="0"/>
                </a:lnTo>
                <a:close/>
              </a:path>
              <a:path w="354965" h="78104">
                <a:moveTo>
                  <a:pt x="317058" y="0"/>
                </a:moveTo>
                <a:lnTo>
                  <a:pt x="301980" y="2905"/>
                </a:lnTo>
                <a:lnTo>
                  <a:pt x="290043" y="10994"/>
                </a:lnTo>
                <a:lnTo>
                  <a:pt x="282190" y="23323"/>
                </a:lnTo>
                <a:lnTo>
                  <a:pt x="279363" y="38951"/>
                </a:lnTo>
                <a:lnTo>
                  <a:pt x="282131" y="54337"/>
                </a:lnTo>
                <a:lnTo>
                  <a:pt x="289886" y="66542"/>
                </a:lnTo>
                <a:lnTo>
                  <a:pt x="301803" y="74585"/>
                </a:lnTo>
                <a:lnTo>
                  <a:pt x="317058" y="77484"/>
                </a:lnTo>
                <a:lnTo>
                  <a:pt x="332489" y="74585"/>
                </a:lnTo>
                <a:lnTo>
                  <a:pt x="344387" y="66542"/>
                </a:lnTo>
                <a:lnTo>
                  <a:pt x="352044" y="54337"/>
                </a:lnTo>
                <a:lnTo>
                  <a:pt x="354753" y="38951"/>
                </a:lnTo>
                <a:lnTo>
                  <a:pt x="351808" y="23147"/>
                </a:lnTo>
                <a:lnTo>
                  <a:pt x="344073" y="10837"/>
                </a:lnTo>
                <a:lnTo>
                  <a:pt x="332254" y="2846"/>
                </a:lnTo>
                <a:lnTo>
                  <a:pt x="317058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853731" y="8093209"/>
            <a:ext cx="354965" cy="78105"/>
          </a:xfrm>
          <a:custGeom>
            <a:avLst/>
            <a:gdLst/>
            <a:ahLst/>
            <a:cxnLst/>
            <a:rect l="l" t="t" r="r" b="b"/>
            <a:pathLst>
              <a:path w="354965" h="78104">
                <a:moveTo>
                  <a:pt x="37695" y="0"/>
                </a:moveTo>
                <a:lnTo>
                  <a:pt x="22440" y="2905"/>
                </a:lnTo>
                <a:lnTo>
                  <a:pt x="10523" y="10994"/>
                </a:lnTo>
                <a:lnTo>
                  <a:pt x="2768" y="23323"/>
                </a:lnTo>
                <a:lnTo>
                  <a:pt x="0" y="38951"/>
                </a:lnTo>
                <a:lnTo>
                  <a:pt x="2702" y="54337"/>
                </a:lnTo>
                <a:lnTo>
                  <a:pt x="10313" y="66542"/>
                </a:lnTo>
                <a:lnTo>
                  <a:pt x="22087" y="74585"/>
                </a:lnTo>
                <a:lnTo>
                  <a:pt x="37276" y="77484"/>
                </a:lnTo>
                <a:lnTo>
                  <a:pt x="52707" y="74585"/>
                </a:lnTo>
                <a:lnTo>
                  <a:pt x="64605" y="66542"/>
                </a:lnTo>
                <a:lnTo>
                  <a:pt x="72262" y="54337"/>
                </a:lnTo>
                <a:lnTo>
                  <a:pt x="74971" y="38951"/>
                </a:lnTo>
                <a:lnTo>
                  <a:pt x="72209" y="23147"/>
                </a:lnTo>
                <a:lnTo>
                  <a:pt x="64500" y="10837"/>
                </a:lnTo>
                <a:lnTo>
                  <a:pt x="52707" y="2846"/>
                </a:lnTo>
                <a:lnTo>
                  <a:pt x="37695" y="0"/>
                </a:lnTo>
                <a:close/>
              </a:path>
              <a:path w="354965" h="78104">
                <a:moveTo>
                  <a:pt x="177167" y="0"/>
                </a:moveTo>
                <a:lnTo>
                  <a:pt x="162089" y="2905"/>
                </a:lnTo>
                <a:lnTo>
                  <a:pt x="150152" y="10994"/>
                </a:lnTo>
                <a:lnTo>
                  <a:pt x="142299" y="23323"/>
                </a:lnTo>
                <a:lnTo>
                  <a:pt x="139472" y="38951"/>
                </a:lnTo>
                <a:lnTo>
                  <a:pt x="142240" y="54337"/>
                </a:lnTo>
                <a:lnTo>
                  <a:pt x="149995" y="66542"/>
                </a:lnTo>
                <a:lnTo>
                  <a:pt x="161912" y="74585"/>
                </a:lnTo>
                <a:lnTo>
                  <a:pt x="177167" y="77484"/>
                </a:lnTo>
                <a:lnTo>
                  <a:pt x="192598" y="74585"/>
                </a:lnTo>
                <a:lnTo>
                  <a:pt x="204496" y="66542"/>
                </a:lnTo>
                <a:lnTo>
                  <a:pt x="212153" y="54337"/>
                </a:lnTo>
                <a:lnTo>
                  <a:pt x="214862" y="38951"/>
                </a:lnTo>
                <a:lnTo>
                  <a:pt x="211917" y="23147"/>
                </a:lnTo>
                <a:lnTo>
                  <a:pt x="204182" y="10837"/>
                </a:lnTo>
                <a:lnTo>
                  <a:pt x="192363" y="2846"/>
                </a:lnTo>
                <a:lnTo>
                  <a:pt x="177167" y="0"/>
                </a:lnTo>
                <a:close/>
              </a:path>
              <a:path w="354965" h="78104">
                <a:moveTo>
                  <a:pt x="317058" y="0"/>
                </a:moveTo>
                <a:lnTo>
                  <a:pt x="301980" y="2905"/>
                </a:lnTo>
                <a:lnTo>
                  <a:pt x="290043" y="10994"/>
                </a:lnTo>
                <a:lnTo>
                  <a:pt x="282190" y="23323"/>
                </a:lnTo>
                <a:lnTo>
                  <a:pt x="279363" y="38951"/>
                </a:lnTo>
                <a:lnTo>
                  <a:pt x="282131" y="54337"/>
                </a:lnTo>
                <a:lnTo>
                  <a:pt x="289886" y="66542"/>
                </a:lnTo>
                <a:lnTo>
                  <a:pt x="301803" y="74585"/>
                </a:lnTo>
                <a:lnTo>
                  <a:pt x="317058" y="77484"/>
                </a:lnTo>
                <a:lnTo>
                  <a:pt x="332489" y="74585"/>
                </a:lnTo>
                <a:lnTo>
                  <a:pt x="344387" y="66542"/>
                </a:lnTo>
                <a:lnTo>
                  <a:pt x="352044" y="54337"/>
                </a:lnTo>
                <a:lnTo>
                  <a:pt x="354753" y="38951"/>
                </a:lnTo>
                <a:lnTo>
                  <a:pt x="351808" y="23147"/>
                </a:lnTo>
                <a:lnTo>
                  <a:pt x="344073" y="10837"/>
                </a:lnTo>
                <a:lnTo>
                  <a:pt x="332254" y="2846"/>
                </a:lnTo>
                <a:lnTo>
                  <a:pt x="317058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306030" y="8554922"/>
            <a:ext cx="78105" cy="354965"/>
          </a:xfrm>
          <a:custGeom>
            <a:avLst/>
            <a:gdLst/>
            <a:ahLst/>
            <a:cxnLst/>
            <a:rect l="l" t="t" r="r" b="b"/>
            <a:pathLst>
              <a:path w="78104" h="354965">
                <a:moveTo>
                  <a:pt x="38951" y="279782"/>
                </a:moveTo>
                <a:lnTo>
                  <a:pt x="23147" y="282543"/>
                </a:lnTo>
                <a:lnTo>
                  <a:pt x="10837" y="290252"/>
                </a:lnTo>
                <a:lnTo>
                  <a:pt x="2846" y="302045"/>
                </a:lnTo>
                <a:lnTo>
                  <a:pt x="0" y="317058"/>
                </a:lnTo>
                <a:lnTo>
                  <a:pt x="2905" y="332313"/>
                </a:lnTo>
                <a:lnTo>
                  <a:pt x="10994" y="344230"/>
                </a:lnTo>
                <a:lnTo>
                  <a:pt x="23323" y="351985"/>
                </a:lnTo>
                <a:lnTo>
                  <a:pt x="38951" y="354753"/>
                </a:lnTo>
                <a:lnTo>
                  <a:pt x="54337" y="352050"/>
                </a:lnTo>
                <a:lnTo>
                  <a:pt x="66542" y="344439"/>
                </a:lnTo>
                <a:lnTo>
                  <a:pt x="74585" y="332666"/>
                </a:lnTo>
                <a:lnTo>
                  <a:pt x="77484" y="317477"/>
                </a:lnTo>
                <a:lnTo>
                  <a:pt x="74585" y="302045"/>
                </a:lnTo>
                <a:lnTo>
                  <a:pt x="66542" y="290148"/>
                </a:lnTo>
                <a:lnTo>
                  <a:pt x="54337" y="282491"/>
                </a:lnTo>
                <a:lnTo>
                  <a:pt x="38951" y="279782"/>
                </a:lnTo>
                <a:close/>
              </a:path>
              <a:path w="78104" h="354965">
                <a:moveTo>
                  <a:pt x="38951" y="139891"/>
                </a:moveTo>
                <a:lnTo>
                  <a:pt x="23147" y="142835"/>
                </a:lnTo>
                <a:lnTo>
                  <a:pt x="10837" y="150571"/>
                </a:lnTo>
                <a:lnTo>
                  <a:pt x="2846" y="162390"/>
                </a:lnTo>
                <a:lnTo>
                  <a:pt x="0" y="177586"/>
                </a:lnTo>
                <a:lnTo>
                  <a:pt x="2905" y="192664"/>
                </a:lnTo>
                <a:lnTo>
                  <a:pt x="10994" y="204601"/>
                </a:lnTo>
                <a:lnTo>
                  <a:pt x="23323" y="212454"/>
                </a:lnTo>
                <a:lnTo>
                  <a:pt x="38951" y="215281"/>
                </a:lnTo>
                <a:lnTo>
                  <a:pt x="54337" y="212513"/>
                </a:lnTo>
                <a:lnTo>
                  <a:pt x="66542" y="204758"/>
                </a:lnTo>
                <a:lnTo>
                  <a:pt x="74585" y="192840"/>
                </a:lnTo>
                <a:lnTo>
                  <a:pt x="77484" y="177586"/>
                </a:lnTo>
                <a:lnTo>
                  <a:pt x="74585" y="162154"/>
                </a:lnTo>
                <a:lnTo>
                  <a:pt x="66542" y="150257"/>
                </a:lnTo>
                <a:lnTo>
                  <a:pt x="54337" y="142600"/>
                </a:lnTo>
                <a:lnTo>
                  <a:pt x="38951" y="139891"/>
                </a:lnTo>
                <a:close/>
              </a:path>
              <a:path w="78104" h="354965">
                <a:moveTo>
                  <a:pt x="38951" y="0"/>
                </a:moveTo>
                <a:lnTo>
                  <a:pt x="23147" y="2944"/>
                </a:lnTo>
                <a:lnTo>
                  <a:pt x="10837" y="10680"/>
                </a:lnTo>
                <a:lnTo>
                  <a:pt x="2846" y="22499"/>
                </a:lnTo>
                <a:lnTo>
                  <a:pt x="0" y="37695"/>
                </a:lnTo>
                <a:lnTo>
                  <a:pt x="2905" y="52773"/>
                </a:lnTo>
                <a:lnTo>
                  <a:pt x="10994" y="64710"/>
                </a:lnTo>
                <a:lnTo>
                  <a:pt x="23323" y="72563"/>
                </a:lnTo>
                <a:lnTo>
                  <a:pt x="38951" y="75390"/>
                </a:lnTo>
                <a:lnTo>
                  <a:pt x="54337" y="72622"/>
                </a:lnTo>
                <a:lnTo>
                  <a:pt x="66542" y="64867"/>
                </a:lnTo>
                <a:lnTo>
                  <a:pt x="74585" y="52949"/>
                </a:lnTo>
                <a:lnTo>
                  <a:pt x="77484" y="37695"/>
                </a:lnTo>
                <a:lnTo>
                  <a:pt x="74585" y="22263"/>
                </a:lnTo>
                <a:lnTo>
                  <a:pt x="66542" y="10366"/>
                </a:lnTo>
                <a:lnTo>
                  <a:pt x="54337" y="2709"/>
                </a:lnTo>
                <a:lnTo>
                  <a:pt x="38951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936211" y="8554922"/>
            <a:ext cx="78105" cy="354965"/>
          </a:xfrm>
          <a:custGeom>
            <a:avLst/>
            <a:gdLst/>
            <a:ahLst/>
            <a:cxnLst/>
            <a:rect l="l" t="t" r="r" b="b"/>
            <a:pathLst>
              <a:path w="78104" h="354965">
                <a:moveTo>
                  <a:pt x="38951" y="279782"/>
                </a:moveTo>
                <a:lnTo>
                  <a:pt x="23147" y="282543"/>
                </a:lnTo>
                <a:lnTo>
                  <a:pt x="10837" y="290252"/>
                </a:lnTo>
                <a:lnTo>
                  <a:pt x="2846" y="302045"/>
                </a:lnTo>
                <a:lnTo>
                  <a:pt x="0" y="317058"/>
                </a:lnTo>
                <a:lnTo>
                  <a:pt x="2905" y="332313"/>
                </a:lnTo>
                <a:lnTo>
                  <a:pt x="10994" y="344230"/>
                </a:lnTo>
                <a:lnTo>
                  <a:pt x="23323" y="351985"/>
                </a:lnTo>
                <a:lnTo>
                  <a:pt x="38951" y="354753"/>
                </a:lnTo>
                <a:lnTo>
                  <a:pt x="54337" y="352050"/>
                </a:lnTo>
                <a:lnTo>
                  <a:pt x="66542" y="344439"/>
                </a:lnTo>
                <a:lnTo>
                  <a:pt x="74585" y="332666"/>
                </a:lnTo>
                <a:lnTo>
                  <a:pt x="77484" y="317477"/>
                </a:lnTo>
                <a:lnTo>
                  <a:pt x="74585" y="302045"/>
                </a:lnTo>
                <a:lnTo>
                  <a:pt x="66542" y="290148"/>
                </a:lnTo>
                <a:lnTo>
                  <a:pt x="54337" y="282491"/>
                </a:lnTo>
                <a:lnTo>
                  <a:pt x="38951" y="279782"/>
                </a:lnTo>
                <a:close/>
              </a:path>
              <a:path w="78104" h="354965">
                <a:moveTo>
                  <a:pt x="38951" y="139891"/>
                </a:moveTo>
                <a:lnTo>
                  <a:pt x="23147" y="142835"/>
                </a:lnTo>
                <a:lnTo>
                  <a:pt x="10837" y="150571"/>
                </a:lnTo>
                <a:lnTo>
                  <a:pt x="2846" y="162390"/>
                </a:lnTo>
                <a:lnTo>
                  <a:pt x="0" y="177586"/>
                </a:lnTo>
                <a:lnTo>
                  <a:pt x="2905" y="192664"/>
                </a:lnTo>
                <a:lnTo>
                  <a:pt x="10994" y="204601"/>
                </a:lnTo>
                <a:lnTo>
                  <a:pt x="23323" y="212454"/>
                </a:lnTo>
                <a:lnTo>
                  <a:pt x="38951" y="215281"/>
                </a:lnTo>
                <a:lnTo>
                  <a:pt x="54337" y="212513"/>
                </a:lnTo>
                <a:lnTo>
                  <a:pt x="66542" y="204758"/>
                </a:lnTo>
                <a:lnTo>
                  <a:pt x="74585" y="192840"/>
                </a:lnTo>
                <a:lnTo>
                  <a:pt x="77484" y="177586"/>
                </a:lnTo>
                <a:lnTo>
                  <a:pt x="74585" y="162154"/>
                </a:lnTo>
                <a:lnTo>
                  <a:pt x="66542" y="150257"/>
                </a:lnTo>
                <a:lnTo>
                  <a:pt x="54337" y="142600"/>
                </a:lnTo>
                <a:lnTo>
                  <a:pt x="38951" y="139891"/>
                </a:lnTo>
                <a:close/>
              </a:path>
              <a:path w="78104" h="354965">
                <a:moveTo>
                  <a:pt x="38951" y="0"/>
                </a:moveTo>
                <a:lnTo>
                  <a:pt x="23147" y="2944"/>
                </a:lnTo>
                <a:lnTo>
                  <a:pt x="10837" y="10680"/>
                </a:lnTo>
                <a:lnTo>
                  <a:pt x="2846" y="22499"/>
                </a:lnTo>
                <a:lnTo>
                  <a:pt x="0" y="37695"/>
                </a:lnTo>
                <a:lnTo>
                  <a:pt x="2905" y="52773"/>
                </a:lnTo>
                <a:lnTo>
                  <a:pt x="10994" y="64710"/>
                </a:lnTo>
                <a:lnTo>
                  <a:pt x="23323" y="72563"/>
                </a:lnTo>
                <a:lnTo>
                  <a:pt x="38951" y="75390"/>
                </a:lnTo>
                <a:lnTo>
                  <a:pt x="54337" y="72622"/>
                </a:lnTo>
                <a:lnTo>
                  <a:pt x="66542" y="64867"/>
                </a:lnTo>
                <a:lnTo>
                  <a:pt x="74585" y="52949"/>
                </a:lnTo>
                <a:lnTo>
                  <a:pt x="77484" y="37695"/>
                </a:lnTo>
                <a:lnTo>
                  <a:pt x="74585" y="22263"/>
                </a:lnTo>
                <a:lnTo>
                  <a:pt x="66542" y="10366"/>
                </a:lnTo>
                <a:lnTo>
                  <a:pt x="54337" y="2709"/>
                </a:lnTo>
                <a:lnTo>
                  <a:pt x="38951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636867" y="7222387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09">
                <a:moveTo>
                  <a:pt x="564883" y="0"/>
                </a:moveTo>
                <a:lnTo>
                  <a:pt x="369999" y="0"/>
                </a:lnTo>
                <a:lnTo>
                  <a:pt x="348604" y="29070"/>
                </a:lnTo>
                <a:lnTo>
                  <a:pt x="305793" y="90900"/>
                </a:lnTo>
                <a:lnTo>
                  <a:pt x="284529" y="123713"/>
                </a:lnTo>
                <a:lnTo>
                  <a:pt x="263460" y="157827"/>
                </a:lnTo>
                <a:lnTo>
                  <a:pt x="242663" y="193270"/>
                </a:lnTo>
                <a:lnTo>
                  <a:pt x="222212" y="230069"/>
                </a:lnTo>
                <a:lnTo>
                  <a:pt x="202185" y="268251"/>
                </a:lnTo>
                <a:lnTo>
                  <a:pt x="182656" y="307842"/>
                </a:lnTo>
                <a:lnTo>
                  <a:pt x="163702" y="348871"/>
                </a:lnTo>
                <a:lnTo>
                  <a:pt x="145399" y="391363"/>
                </a:lnTo>
                <a:lnTo>
                  <a:pt x="127823" y="435347"/>
                </a:lnTo>
                <a:lnTo>
                  <a:pt x="111049" y="480850"/>
                </a:lnTo>
                <a:lnTo>
                  <a:pt x="95154" y="527898"/>
                </a:lnTo>
                <a:lnTo>
                  <a:pt x="80213" y="576518"/>
                </a:lnTo>
                <a:lnTo>
                  <a:pt x="66303" y="626738"/>
                </a:lnTo>
                <a:lnTo>
                  <a:pt x="53499" y="678585"/>
                </a:lnTo>
                <a:lnTo>
                  <a:pt x="41877" y="732086"/>
                </a:lnTo>
                <a:lnTo>
                  <a:pt x="31513" y="787268"/>
                </a:lnTo>
                <a:lnTo>
                  <a:pt x="22483" y="844158"/>
                </a:lnTo>
                <a:lnTo>
                  <a:pt x="14863" y="902783"/>
                </a:lnTo>
                <a:lnTo>
                  <a:pt x="8728" y="963171"/>
                </a:lnTo>
                <a:lnTo>
                  <a:pt x="4156" y="1025348"/>
                </a:lnTo>
                <a:lnTo>
                  <a:pt x="1221" y="1089342"/>
                </a:lnTo>
                <a:lnTo>
                  <a:pt x="0" y="1155179"/>
                </a:lnTo>
                <a:lnTo>
                  <a:pt x="908" y="1220366"/>
                </a:lnTo>
                <a:lnTo>
                  <a:pt x="3581" y="1283760"/>
                </a:lnTo>
                <a:lnTo>
                  <a:pt x="7940" y="1345385"/>
                </a:lnTo>
                <a:lnTo>
                  <a:pt x="13905" y="1405264"/>
                </a:lnTo>
                <a:lnTo>
                  <a:pt x="21397" y="1463423"/>
                </a:lnTo>
                <a:lnTo>
                  <a:pt x="30337" y="1519885"/>
                </a:lnTo>
                <a:lnTo>
                  <a:pt x="40645" y="1574673"/>
                </a:lnTo>
                <a:lnTo>
                  <a:pt x="52244" y="1627811"/>
                </a:lnTo>
                <a:lnTo>
                  <a:pt x="65052" y="1679324"/>
                </a:lnTo>
                <a:lnTo>
                  <a:pt x="78992" y="1729234"/>
                </a:lnTo>
                <a:lnTo>
                  <a:pt x="93984" y="1777567"/>
                </a:lnTo>
                <a:lnTo>
                  <a:pt x="109948" y="1824345"/>
                </a:lnTo>
                <a:lnTo>
                  <a:pt x="126807" y="1869593"/>
                </a:lnTo>
                <a:lnTo>
                  <a:pt x="144480" y="1913335"/>
                </a:lnTo>
                <a:lnTo>
                  <a:pt x="162888" y="1955594"/>
                </a:lnTo>
                <a:lnTo>
                  <a:pt x="181952" y="1996394"/>
                </a:lnTo>
                <a:lnTo>
                  <a:pt x="201594" y="2035760"/>
                </a:lnTo>
                <a:lnTo>
                  <a:pt x="221733" y="2073714"/>
                </a:lnTo>
                <a:lnTo>
                  <a:pt x="242291" y="2110281"/>
                </a:lnTo>
                <a:lnTo>
                  <a:pt x="263189" y="2145484"/>
                </a:lnTo>
                <a:lnTo>
                  <a:pt x="284347" y="2179349"/>
                </a:lnTo>
                <a:lnTo>
                  <a:pt x="305686" y="2211897"/>
                </a:lnTo>
                <a:lnTo>
                  <a:pt x="348591" y="2273143"/>
                </a:lnTo>
                <a:lnTo>
                  <a:pt x="369999" y="2301888"/>
                </a:lnTo>
                <a:lnTo>
                  <a:pt x="564883" y="2301888"/>
                </a:lnTo>
                <a:lnTo>
                  <a:pt x="540060" y="2266166"/>
                </a:lnTo>
                <a:lnTo>
                  <a:pt x="515756" y="2229594"/>
                </a:lnTo>
                <a:lnTo>
                  <a:pt x="492018" y="2192144"/>
                </a:lnTo>
                <a:lnTo>
                  <a:pt x="468894" y="2153789"/>
                </a:lnTo>
                <a:lnTo>
                  <a:pt x="446432" y="2114503"/>
                </a:lnTo>
                <a:lnTo>
                  <a:pt x="424680" y="2074258"/>
                </a:lnTo>
                <a:lnTo>
                  <a:pt x="403685" y="2033028"/>
                </a:lnTo>
                <a:lnTo>
                  <a:pt x="383496" y="1990785"/>
                </a:lnTo>
                <a:lnTo>
                  <a:pt x="364159" y="1947503"/>
                </a:lnTo>
                <a:lnTo>
                  <a:pt x="345724" y="1903154"/>
                </a:lnTo>
                <a:lnTo>
                  <a:pt x="328238" y="1857711"/>
                </a:lnTo>
                <a:lnTo>
                  <a:pt x="311748" y="1811149"/>
                </a:lnTo>
                <a:lnTo>
                  <a:pt x="296302" y="1763438"/>
                </a:lnTo>
                <a:lnTo>
                  <a:pt x="281949" y="1714554"/>
                </a:lnTo>
                <a:lnTo>
                  <a:pt x="268736" y="1664467"/>
                </a:lnTo>
                <a:lnTo>
                  <a:pt x="256711" y="1613153"/>
                </a:lnTo>
                <a:lnTo>
                  <a:pt x="245921" y="1560583"/>
                </a:lnTo>
                <a:lnTo>
                  <a:pt x="236415" y="1506731"/>
                </a:lnTo>
                <a:lnTo>
                  <a:pt x="228240" y="1451570"/>
                </a:lnTo>
                <a:lnTo>
                  <a:pt x="221444" y="1395072"/>
                </a:lnTo>
                <a:lnTo>
                  <a:pt x="216076" y="1337211"/>
                </a:lnTo>
                <a:lnTo>
                  <a:pt x="212181" y="1277960"/>
                </a:lnTo>
                <a:lnTo>
                  <a:pt x="209810" y="1217292"/>
                </a:lnTo>
                <a:lnTo>
                  <a:pt x="209009" y="1155179"/>
                </a:lnTo>
                <a:lnTo>
                  <a:pt x="209721" y="1094521"/>
                </a:lnTo>
                <a:lnTo>
                  <a:pt x="211835" y="1035224"/>
                </a:lnTo>
                <a:lnTo>
                  <a:pt x="215314" y="977270"/>
                </a:lnTo>
                <a:lnTo>
                  <a:pt x="220123" y="920636"/>
                </a:lnTo>
                <a:lnTo>
                  <a:pt x="226226" y="865303"/>
                </a:lnTo>
                <a:lnTo>
                  <a:pt x="233587" y="811250"/>
                </a:lnTo>
                <a:lnTo>
                  <a:pt x="242170" y="758456"/>
                </a:lnTo>
                <a:lnTo>
                  <a:pt x="251940" y="706901"/>
                </a:lnTo>
                <a:lnTo>
                  <a:pt x="262861" y="656563"/>
                </a:lnTo>
                <a:lnTo>
                  <a:pt x="274896" y="607424"/>
                </a:lnTo>
                <a:lnTo>
                  <a:pt x="288011" y="559460"/>
                </a:lnTo>
                <a:lnTo>
                  <a:pt x="302168" y="512653"/>
                </a:lnTo>
                <a:lnTo>
                  <a:pt x="317334" y="466982"/>
                </a:lnTo>
                <a:lnTo>
                  <a:pt x="333471" y="422426"/>
                </a:lnTo>
                <a:lnTo>
                  <a:pt x="350544" y="378963"/>
                </a:lnTo>
                <a:lnTo>
                  <a:pt x="368518" y="336575"/>
                </a:lnTo>
                <a:lnTo>
                  <a:pt x="387356" y="295240"/>
                </a:lnTo>
                <a:lnTo>
                  <a:pt x="407022" y="254937"/>
                </a:lnTo>
                <a:lnTo>
                  <a:pt x="427482" y="215647"/>
                </a:lnTo>
                <a:lnTo>
                  <a:pt x="448698" y="177347"/>
                </a:lnTo>
                <a:lnTo>
                  <a:pt x="470636" y="140019"/>
                </a:lnTo>
                <a:lnTo>
                  <a:pt x="493259" y="103640"/>
                </a:lnTo>
                <a:lnTo>
                  <a:pt x="516531" y="68191"/>
                </a:lnTo>
                <a:lnTo>
                  <a:pt x="540418" y="33651"/>
                </a:lnTo>
                <a:lnTo>
                  <a:pt x="56488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636867" y="7222387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09">
                <a:moveTo>
                  <a:pt x="369999" y="0"/>
                </a:moveTo>
                <a:lnTo>
                  <a:pt x="327177" y="59362"/>
                </a:lnTo>
                <a:lnTo>
                  <a:pt x="305793" y="90900"/>
                </a:lnTo>
                <a:lnTo>
                  <a:pt x="284529" y="123713"/>
                </a:lnTo>
                <a:lnTo>
                  <a:pt x="263460" y="157827"/>
                </a:lnTo>
                <a:lnTo>
                  <a:pt x="242663" y="193270"/>
                </a:lnTo>
                <a:lnTo>
                  <a:pt x="222212" y="230069"/>
                </a:lnTo>
                <a:lnTo>
                  <a:pt x="202185" y="268251"/>
                </a:lnTo>
                <a:lnTo>
                  <a:pt x="182656" y="307842"/>
                </a:lnTo>
                <a:lnTo>
                  <a:pt x="163702" y="348871"/>
                </a:lnTo>
                <a:lnTo>
                  <a:pt x="145399" y="391363"/>
                </a:lnTo>
                <a:lnTo>
                  <a:pt x="127823" y="435347"/>
                </a:lnTo>
                <a:lnTo>
                  <a:pt x="111049" y="480850"/>
                </a:lnTo>
                <a:lnTo>
                  <a:pt x="95154" y="527898"/>
                </a:lnTo>
                <a:lnTo>
                  <a:pt x="80213" y="576518"/>
                </a:lnTo>
                <a:lnTo>
                  <a:pt x="66303" y="626738"/>
                </a:lnTo>
                <a:lnTo>
                  <a:pt x="53499" y="678585"/>
                </a:lnTo>
                <a:lnTo>
                  <a:pt x="41877" y="732086"/>
                </a:lnTo>
                <a:lnTo>
                  <a:pt x="31513" y="787268"/>
                </a:lnTo>
                <a:lnTo>
                  <a:pt x="22483" y="844158"/>
                </a:lnTo>
                <a:lnTo>
                  <a:pt x="14863" y="902783"/>
                </a:lnTo>
                <a:lnTo>
                  <a:pt x="8728" y="963171"/>
                </a:lnTo>
                <a:lnTo>
                  <a:pt x="4156" y="1025348"/>
                </a:lnTo>
                <a:lnTo>
                  <a:pt x="1221" y="1089342"/>
                </a:lnTo>
                <a:lnTo>
                  <a:pt x="0" y="1155179"/>
                </a:lnTo>
                <a:lnTo>
                  <a:pt x="908" y="1220366"/>
                </a:lnTo>
                <a:lnTo>
                  <a:pt x="3581" y="1283760"/>
                </a:lnTo>
                <a:lnTo>
                  <a:pt x="7940" y="1345385"/>
                </a:lnTo>
                <a:lnTo>
                  <a:pt x="13905" y="1405264"/>
                </a:lnTo>
                <a:lnTo>
                  <a:pt x="21397" y="1463423"/>
                </a:lnTo>
                <a:lnTo>
                  <a:pt x="30337" y="1519885"/>
                </a:lnTo>
                <a:lnTo>
                  <a:pt x="40645" y="1574673"/>
                </a:lnTo>
                <a:lnTo>
                  <a:pt x="52244" y="1627811"/>
                </a:lnTo>
                <a:lnTo>
                  <a:pt x="65052" y="1679324"/>
                </a:lnTo>
                <a:lnTo>
                  <a:pt x="78992" y="1729234"/>
                </a:lnTo>
                <a:lnTo>
                  <a:pt x="93984" y="1777567"/>
                </a:lnTo>
                <a:lnTo>
                  <a:pt x="109948" y="1824345"/>
                </a:lnTo>
                <a:lnTo>
                  <a:pt x="126807" y="1869593"/>
                </a:lnTo>
                <a:lnTo>
                  <a:pt x="144480" y="1913335"/>
                </a:lnTo>
                <a:lnTo>
                  <a:pt x="162888" y="1955594"/>
                </a:lnTo>
                <a:lnTo>
                  <a:pt x="181952" y="1996394"/>
                </a:lnTo>
                <a:lnTo>
                  <a:pt x="201594" y="2035760"/>
                </a:lnTo>
                <a:lnTo>
                  <a:pt x="221733" y="2073714"/>
                </a:lnTo>
                <a:lnTo>
                  <a:pt x="242291" y="2110281"/>
                </a:lnTo>
                <a:lnTo>
                  <a:pt x="263189" y="2145484"/>
                </a:lnTo>
                <a:lnTo>
                  <a:pt x="284347" y="2179349"/>
                </a:lnTo>
                <a:lnTo>
                  <a:pt x="305686" y="2211897"/>
                </a:lnTo>
                <a:lnTo>
                  <a:pt x="348591" y="2273143"/>
                </a:lnTo>
                <a:lnTo>
                  <a:pt x="369999" y="2301888"/>
                </a:lnTo>
                <a:lnTo>
                  <a:pt x="564883" y="2301888"/>
                </a:lnTo>
                <a:lnTo>
                  <a:pt x="540060" y="2266166"/>
                </a:lnTo>
                <a:lnTo>
                  <a:pt x="515756" y="2229594"/>
                </a:lnTo>
                <a:lnTo>
                  <a:pt x="492018" y="2192144"/>
                </a:lnTo>
                <a:lnTo>
                  <a:pt x="468894" y="2153789"/>
                </a:lnTo>
                <a:lnTo>
                  <a:pt x="446432" y="2114503"/>
                </a:lnTo>
                <a:lnTo>
                  <a:pt x="424680" y="2074258"/>
                </a:lnTo>
                <a:lnTo>
                  <a:pt x="403685" y="2033028"/>
                </a:lnTo>
                <a:lnTo>
                  <a:pt x="383496" y="1990785"/>
                </a:lnTo>
                <a:lnTo>
                  <a:pt x="364159" y="1947503"/>
                </a:lnTo>
                <a:lnTo>
                  <a:pt x="345724" y="1903154"/>
                </a:lnTo>
                <a:lnTo>
                  <a:pt x="328238" y="1857711"/>
                </a:lnTo>
                <a:lnTo>
                  <a:pt x="311748" y="1811149"/>
                </a:lnTo>
                <a:lnTo>
                  <a:pt x="296302" y="1763438"/>
                </a:lnTo>
                <a:lnTo>
                  <a:pt x="281949" y="1714554"/>
                </a:lnTo>
                <a:lnTo>
                  <a:pt x="268736" y="1664467"/>
                </a:lnTo>
                <a:lnTo>
                  <a:pt x="256711" y="1613153"/>
                </a:lnTo>
                <a:lnTo>
                  <a:pt x="245921" y="1560583"/>
                </a:lnTo>
                <a:lnTo>
                  <a:pt x="236415" y="1506731"/>
                </a:lnTo>
                <a:lnTo>
                  <a:pt x="228240" y="1451570"/>
                </a:lnTo>
                <a:lnTo>
                  <a:pt x="221444" y="1395072"/>
                </a:lnTo>
                <a:lnTo>
                  <a:pt x="216076" y="1337211"/>
                </a:lnTo>
                <a:lnTo>
                  <a:pt x="212181" y="1277960"/>
                </a:lnTo>
                <a:lnTo>
                  <a:pt x="209810" y="1217292"/>
                </a:lnTo>
                <a:lnTo>
                  <a:pt x="209009" y="1155179"/>
                </a:lnTo>
                <a:lnTo>
                  <a:pt x="209721" y="1094521"/>
                </a:lnTo>
                <a:lnTo>
                  <a:pt x="211835" y="1035224"/>
                </a:lnTo>
                <a:lnTo>
                  <a:pt x="215314" y="977270"/>
                </a:lnTo>
                <a:lnTo>
                  <a:pt x="220123" y="920636"/>
                </a:lnTo>
                <a:lnTo>
                  <a:pt x="226226" y="865303"/>
                </a:lnTo>
                <a:lnTo>
                  <a:pt x="233587" y="811250"/>
                </a:lnTo>
                <a:lnTo>
                  <a:pt x="242170" y="758456"/>
                </a:lnTo>
                <a:lnTo>
                  <a:pt x="251940" y="706901"/>
                </a:lnTo>
                <a:lnTo>
                  <a:pt x="262861" y="656563"/>
                </a:lnTo>
                <a:lnTo>
                  <a:pt x="274896" y="607424"/>
                </a:lnTo>
                <a:lnTo>
                  <a:pt x="288011" y="559460"/>
                </a:lnTo>
                <a:lnTo>
                  <a:pt x="302168" y="512653"/>
                </a:lnTo>
                <a:lnTo>
                  <a:pt x="317334" y="466982"/>
                </a:lnTo>
                <a:lnTo>
                  <a:pt x="333471" y="422426"/>
                </a:lnTo>
                <a:lnTo>
                  <a:pt x="350544" y="378963"/>
                </a:lnTo>
                <a:lnTo>
                  <a:pt x="368518" y="336575"/>
                </a:lnTo>
                <a:lnTo>
                  <a:pt x="387356" y="295240"/>
                </a:lnTo>
                <a:lnTo>
                  <a:pt x="407022" y="254937"/>
                </a:lnTo>
                <a:lnTo>
                  <a:pt x="427482" y="215647"/>
                </a:lnTo>
                <a:lnTo>
                  <a:pt x="448698" y="177347"/>
                </a:lnTo>
                <a:lnTo>
                  <a:pt x="470636" y="140019"/>
                </a:lnTo>
                <a:lnTo>
                  <a:pt x="493259" y="103640"/>
                </a:lnTo>
                <a:lnTo>
                  <a:pt x="516531" y="68191"/>
                </a:lnTo>
                <a:lnTo>
                  <a:pt x="540418" y="33651"/>
                </a:lnTo>
                <a:lnTo>
                  <a:pt x="564883" y="0"/>
                </a:lnTo>
                <a:lnTo>
                  <a:pt x="369999" y="0"/>
                </a:lnTo>
                <a:close/>
              </a:path>
            </a:pathLst>
          </a:custGeom>
          <a:ln w="1256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287698" y="7222387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09">
                <a:moveTo>
                  <a:pt x="194884" y="0"/>
                </a:moveTo>
                <a:lnTo>
                  <a:pt x="0" y="0"/>
                </a:lnTo>
                <a:lnTo>
                  <a:pt x="24822" y="35721"/>
                </a:lnTo>
                <a:lnTo>
                  <a:pt x="49126" y="72293"/>
                </a:lnTo>
                <a:lnTo>
                  <a:pt x="72864" y="109743"/>
                </a:lnTo>
                <a:lnTo>
                  <a:pt x="95988" y="148098"/>
                </a:lnTo>
                <a:lnTo>
                  <a:pt x="118450" y="187384"/>
                </a:lnTo>
                <a:lnTo>
                  <a:pt x="140203" y="227629"/>
                </a:lnTo>
                <a:lnTo>
                  <a:pt x="161197" y="268859"/>
                </a:lnTo>
                <a:lnTo>
                  <a:pt x="181387" y="311102"/>
                </a:lnTo>
                <a:lnTo>
                  <a:pt x="200723" y="354384"/>
                </a:lnTo>
                <a:lnTo>
                  <a:pt x="219158" y="398733"/>
                </a:lnTo>
                <a:lnTo>
                  <a:pt x="236645" y="444176"/>
                </a:lnTo>
                <a:lnTo>
                  <a:pt x="253134" y="490738"/>
                </a:lnTo>
                <a:lnTo>
                  <a:pt x="268580" y="538449"/>
                </a:lnTo>
                <a:lnTo>
                  <a:pt x="282933" y="587333"/>
                </a:lnTo>
                <a:lnTo>
                  <a:pt x="296146" y="637420"/>
                </a:lnTo>
                <a:lnTo>
                  <a:pt x="308172" y="688734"/>
                </a:lnTo>
                <a:lnTo>
                  <a:pt x="318961" y="741304"/>
                </a:lnTo>
                <a:lnTo>
                  <a:pt x="328467" y="795156"/>
                </a:lnTo>
                <a:lnTo>
                  <a:pt x="336642" y="850317"/>
                </a:lnTo>
                <a:lnTo>
                  <a:pt x="343438" y="906815"/>
                </a:lnTo>
                <a:lnTo>
                  <a:pt x="348807" y="964676"/>
                </a:lnTo>
                <a:lnTo>
                  <a:pt x="352701" y="1023927"/>
                </a:lnTo>
                <a:lnTo>
                  <a:pt x="355072" y="1084595"/>
                </a:lnTo>
                <a:lnTo>
                  <a:pt x="355873" y="1146708"/>
                </a:lnTo>
                <a:lnTo>
                  <a:pt x="355161" y="1207366"/>
                </a:lnTo>
                <a:lnTo>
                  <a:pt x="353047" y="1266663"/>
                </a:lnTo>
                <a:lnTo>
                  <a:pt x="349568" y="1324617"/>
                </a:lnTo>
                <a:lnTo>
                  <a:pt x="344759" y="1381251"/>
                </a:lnTo>
                <a:lnTo>
                  <a:pt x="338656" y="1436584"/>
                </a:lnTo>
                <a:lnTo>
                  <a:pt x="331295" y="1490637"/>
                </a:lnTo>
                <a:lnTo>
                  <a:pt x="322712" y="1543431"/>
                </a:lnTo>
                <a:lnTo>
                  <a:pt x="312942" y="1594986"/>
                </a:lnTo>
                <a:lnTo>
                  <a:pt x="302022" y="1645324"/>
                </a:lnTo>
                <a:lnTo>
                  <a:pt x="289986" y="1694464"/>
                </a:lnTo>
                <a:lnTo>
                  <a:pt x="276872" y="1742427"/>
                </a:lnTo>
                <a:lnTo>
                  <a:pt x="262714" y="1789234"/>
                </a:lnTo>
                <a:lnTo>
                  <a:pt x="247548" y="1834905"/>
                </a:lnTo>
                <a:lnTo>
                  <a:pt x="231411" y="1879462"/>
                </a:lnTo>
                <a:lnTo>
                  <a:pt x="214338" y="1922924"/>
                </a:lnTo>
                <a:lnTo>
                  <a:pt x="196364" y="1965312"/>
                </a:lnTo>
                <a:lnTo>
                  <a:pt x="177527" y="2006647"/>
                </a:lnTo>
                <a:lnTo>
                  <a:pt x="157860" y="2046950"/>
                </a:lnTo>
                <a:lnTo>
                  <a:pt x="137401" y="2086240"/>
                </a:lnTo>
                <a:lnTo>
                  <a:pt x="116184" y="2124540"/>
                </a:lnTo>
                <a:lnTo>
                  <a:pt x="94247" y="2161868"/>
                </a:lnTo>
                <a:lnTo>
                  <a:pt x="71624" y="2198247"/>
                </a:lnTo>
                <a:lnTo>
                  <a:pt x="48351" y="2233696"/>
                </a:lnTo>
                <a:lnTo>
                  <a:pt x="24464" y="2268236"/>
                </a:lnTo>
                <a:lnTo>
                  <a:pt x="0" y="2301888"/>
                </a:lnTo>
                <a:lnTo>
                  <a:pt x="194884" y="2301888"/>
                </a:lnTo>
                <a:lnTo>
                  <a:pt x="237705" y="2242525"/>
                </a:lnTo>
                <a:lnTo>
                  <a:pt x="259089" y="2210987"/>
                </a:lnTo>
                <a:lnTo>
                  <a:pt x="280353" y="2178174"/>
                </a:lnTo>
                <a:lnTo>
                  <a:pt x="301422" y="2144060"/>
                </a:lnTo>
                <a:lnTo>
                  <a:pt x="322220" y="2108617"/>
                </a:lnTo>
                <a:lnTo>
                  <a:pt x="342670" y="2071818"/>
                </a:lnTo>
                <a:lnTo>
                  <a:pt x="362698" y="2033636"/>
                </a:lnTo>
                <a:lnTo>
                  <a:pt x="382226" y="1994045"/>
                </a:lnTo>
                <a:lnTo>
                  <a:pt x="401180" y="1953016"/>
                </a:lnTo>
                <a:lnTo>
                  <a:pt x="419483" y="1910524"/>
                </a:lnTo>
                <a:lnTo>
                  <a:pt x="437059" y="1866540"/>
                </a:lnTo>
                <a:lnTo>
                  <a:pt x="453833" y="1821037"/>
                </a:lnTo>
                <a:lnTo>
                  <a:pt x="469728" y="1773989"/>
                </a:lnTo>
                <a:lnTo>
                  <a:pt x="484669" y="1725369"/>
                </a:lnTo>
                <a:lnTo>
                  <a:pt x="498580" y="1675149"/>
                </a:lnTo>
                <a:lnTo>
                  <a:pt x="511384" y="1623302"/>
                </a:lnTo>
                <a:lnTo>
                  <a:pt x="523006" y="1569801"/>
                </a:lnTo>
                <a:lnTo>
                  <a:pt x="533370" y="1514619"/>
                </a:lnTo>
                <a:lnTo>
                  <a:pt x="542400" y="1457729"/>
                </a:lnTo>
                <a:lnTo>
                  <a:pt x="550020" y="1399104"/>
                </a:lnTo>
                <a:lnTo>
                  <a:pt x="556154" y="1338716"/>
                </a:lnTo>
                <a:lnTo>
                  <a:pt x="560727" y="1276539"/>
                </a:lnTo>
                <a:lnTo>
                  <a:pt x="563661" y="1212545"/>
                </a:lnTo>
                <a:lnTo>
                  <a:pt x="564883" y="1146708"/>
                </a:lnTo>
                <a:lnTo>
                  <a:pt x="563974" y="1081521"/>
                </a:lnTo>
                <a:lnTo>
                  <a:pt x="561301" y="1018128"/>
                </a:lnTo>
                <a:lnTo>
                  <a:pt x="556942" y="956503"/>
                </a:lnTo>
                <a:lnTo>
                  <a:pt x="550977" y="896623"/>
                </a:lnTo>
                <a:lnTo>
                  <a:pt x="543485" y="838464"/>
                </a:lnTo>
                <a:lnTo>
                  <a:pt x="534545" y="782002"/>
                </a:lnTo>
                <a:lnTo>
                  <a:pt x="524237" y="727214"/>
                </a:lnTo>
                <a:lnTo>
                  <a:pt x="512639" y="674076"/>
                </a:lnTo>
                <a:lnTo>
                  <a:pt x="499830" y="622563"/>
                </a:lnTo>
                <a:lnTo>
                  <a:pt x="485890" y="572653"/>
                </a:lnTo>
                <a:lnTo>
                  <a:pt x="470899" y="524320"/>
                </a:lnTo>
                <a:lnTo>
                  <a:pt x="454934" y="477542"/>
                </a:lnTo>
                <a:lnTo>
                  <a:pt x="438076" y="432294"/>
                </a:lnTo>
                <a:lnTo>
                  <a:pt x="420403" y="388552"/>
                </a:lnTo>
                <a:lnTo>
                  <a:pt x="401994" y="346293"/>
                </a:lnTo>
                <a:lnTo>
                  <a:pt x="382930" y="305493"/>
                </a:lnTo>
                <a:lnTo>
                  <a:pt x="363288" y="266127"/>
                </a:lnTo>
                <a:lnTo>
                  <a:pt x="343149" y="228173"/>
                </a:lnTo>
                <a:lnTo>
                  <a:pt x="322591" y="191606"/>
                </a:lnTo>
                <a:lnTo>
                  <a:pt x="301693" y="156403"/>
                </a:lnTo>
                <a:lnTo>
                  <a:pt x="280535" y="122538"/>
                </a:lnTo>
                <a:lnTo>
                  <a:pt x="259196" y="89990"/>
                </a:lnTo>
                <a:lnTo>
                  <a:pt x="216291" y="28744"/>
                </a:lnTo>
                <a:lnTo>
                  <a:pt x="194884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287698" y="7222387"/>
            <a:ext cx="565150" cy="2302510"/>
          </a:xfrm>
          <a:custGeom>
            <a:avLst/>
            <a:gdLst/>
            <a:ahLst/>
            <a:cxnLst/>
            <a:rect l="l" t="t" r="r" b="b"/>
            <a:pathLst>
              <a:path w="565150" h="2302509">
                <a:moveTo>
                  <a:pt x="194884" y="2301888"/>
                </a:moveTo>
                <a:lnTo>
                  <a:pt x="237705" y="2242525"/>
                </a:lnTo>
                <a:lnTo>
                  <a:pt x="259089" y="2210987"/>
                </a:lnTo>
                <a:lnTo>
                  <a:pt x="280353" y="2178174"/>
                </a:lnTo>
                <a:lnTo>
                  <a:pt x="301422" y="2144060"/>
                </a:lnTo>
                <a:lnTo>
                  <a:pt x="322220" y="2108617"/>
                </a:lnTo>
                <a:lnTo>
                  <a:pt x="342670" y="2071818"/>
                </a:lnTo>
                <a:lnTo>
                  <a:pt x="362698" y="2033636"/>
                </a:lnTo>
                <a:lnTo>
                  <a:pt x="382226" y="1994045"/>
                </a:lnTo>
                <a:lnTo>
                  <a:pt x="401180" y="1953016"/>
                </a:lnTo>
                <a:lnTo>
                  <a:pt x="419483" y="1910524"/>
                </a:lnTo>
                <a:lnTo>
                  <a:pt x="437059" y="1866540"/>
                </a:lnTo>
                <a:lnTo>
                  <a:pt x="453833" y="1821037"/>
                </a:lnTo>
                <a:lnTo>
                  <a:pt x="469728" y="1773989"/>
                </a:lnTo>
                <a:lnTo>
                  <a:pt x="484669" y="1725369"/>
                </a:lnTo>
                <a:lnTo>
                  <a:pt x="498580" y="1675149"/>
                </a:lnTo>
                <a:lnTo>
                  <a:pt x="511384" y="1623302"/>
                </a:lnTo>
                <a:lnTo>
                  <a:pt x="523006" y="1569801"/>
                </a:lnTo>
                <a:lnTo>
                  <a:pt x="533370" y="1514619"/>
                </a:lnTo>
                <a:lnTo>
                  <a:pt x="542400" y="1457729"/>
                </a:lnTo>
                <a:lnTo>
                  <a:pt x="550020" y="1399104"/>
                </a:lnTo>
                <a:lnTo>
                  <a:pt x="556154" y="1338716"/>
                </a:lnTo>
                <a:lnTo>
                  <a:pt x="560727" y="1276539"/>
                </a:lnTo>
                <a:lnTo>
                  <a:pt x="563661" y="1212545"/>
                </a:lnTo>
                <a:lnTo>
                  <a:pt x="564883" y="1146708"/>
                </a:lnTo>
                <a:lnTo>
                  <a:pt x="563974" y="1081521"/>
                </a:lnTo>
                <a:lnTo>
                  <a:pt x="561301" y="1018128"/>
                </a:lnTo>
                <a:lnTo>
                  <a:pt x="556942" y="956503"/>
                </a:lnTo>
                <a:lnTo>
                  <a:pt x="550977" y="896623"/>
                </a:lnTo>
                <a:lnTo>
                  <a:pt x="543485" y="838464"/>
                </a:lnTo>
                <a:lnTo>
                  <a:pt x="534545" y="782002"/>
                </a:lnTo>
                <a:lnTo>
                  <a:pt x="524237" y="727214"/>
                </a:lnTo>
                <a:lnTo>
                  <a:pt x="512639" y="674076"/>
                </a:lnTo>
                <a:lnTo>
                  <a:pt x="499830" y="622563"/>
                </a:lnTo>
                <a:lnTo>
                  <a:pt x="485890" y="572653"/>
                </a:lnTo>
                <a:lnTo>
                  <a:pt x="470899" y="524320"/>
                </a:lnTo>
                <a:lnTo>
                  <a:pt x="454934" y="477542"/>
                </a:lnTo>
                <a:lnTo>
                  <a:pt x="438076" y="432294"/>
                </a:lnTo>
                <a:lnTo>
                  <a:pt x="420403" y="388552"/>
                </a:lnTo>
                <a:lnTo>
                  <a:pt x="401994" y="346293"/>
                </a:lnTo>
                <a:lnTo>
                  <a:pt x="382930" y="305493"/>
                </a:lnTo>
                <a:lnTo>
                  <a:pt x="363288" y="266127"/>
                </a:lnTo>
                <a:lnTo>
                  <a:pt x="343149" y="228173"/>
                </a:lnTo>
                <a:lnTo>
                  <a:pt x="322591" y="191606"/>
                </a:lnTo>
                <a:lnTo>
                  <a:pt x="301693" y="156403"/>
                </a:lnTo>
                <a:lnTo>
                  <a:pt x="280535" y="122538"/>
                </a:lnTo>
                <a:lnTo>
                  <a:pt x="259196" y="89990"/>
                </a:lnTo>
                <a:lnTo>
                  <a:pt x="216291" y="28744"/>
                </a:lnTo>
                <a:lnTo>
                  <a:pt x="194884" y="0"/>
                </a:lnTo>
                <a:lnTo>
                  <a:pt x="0" y="0"/>
                </a:lnTo>
                <a:lnTo>
                  <a:pt x="24822" y="35721"/>
                </a:lnTo>
                <a:lnTo>
                  <a:pt x="49126" y="72293"/>
                </a:lnTo>
                <a:lnTo>
                  <a:pt x="72864" y="109743"/>
                </a:lnTo>
                <a:lnTo>
                  <a:pt x="95988" y="148098"/>
                </a:lnTo>
                <a:lnTo>
                  <a:pt x="118450" y="187384"/>
                </a:lnTo>
                <a:lnTo>
                  <a:pt x="140203" y="227629"/>
                </a:lnTo>
                <a:lnTo>
                  <a:pt x="161197" y="268859"/>
                </a:lnTo>
                <a:lnTo>
                  <a:pt x="181387" y="311102"/>
                </a:lnTo>
                <a:lnTo>
                  <a:pt x="200723" y="354384"/>
                </a:lnTo>
                <a:lnTo>
                  <a:pt x="219158" y="398733"/>
                </a:lnTo>
                <a:lnTo>
                  <a:pt x="236645" y="444176"/>
                </a:lnTo>
                <a:lnTo>
                  <a:pt x="253134" y="490738"/>
                </a:lnTo>
                <a:lnTo>
                  <a:pt x="268580" y="538449"/>
                </a:lnTo>
                <a:lnTo>
                  <a:pt x="282933" y="587333"/>
                </a:lnTo>
                <a:lnTo>
                  <a:pt x="296146" y="637420"/>
                </a:lnTo>
                <a:lnTo>
                  <a:pt x="308172" y="688734"/>
                </a:lnTo>
                <a:lnTo>
                  <a:pt x="318961" y="741304"/>
                </a:lnTo>
                <a:lnTo>
                  <a:pt x="328467" y="795156"/>
                </a:lnTo>
                <a:lnTo>
                  <a:pt x="336642" y="850317"/>
                </a:lnTo>
                <a:lnTo>
                  <a:pt x="343438" y="906815"/>
                </a:lnTo>
                <a:lnTo>
                  <a:pt x="348807" y="964676"/>
                </a:lnTo>
                <a:lnTo>
                  <a:pt x="352701" y="1023927"/>
                </a:lnTo>
                <a:lnTo>
                  <a:pt x="355072" y="1084595"/>
                </a:lnTo>
                <a:lnTo>
                  <a:pt x="355873" y="1146708"/>
                </a:lnTo>
                <a:lnTo>
                  <a:pt x="355161" y="1207366"/>
                </a:lnTo>
                <a:lnTo>
                  <a:pt x="353047" y="1266663"/>
                </a:lnTo>
                <a:lnTo>
                  <a:pt x="349568" y="1324617"/>
                </a:lnTo>
                <a:lnTo>
                  <a:pt x="344759" y="1381251"/>
                </a:lnTo>
                <a:lnTo>
                  <a:pt x="338656" y="1436584"/>
                </a:lnTo>
                <a:lnTo>
                  <a:pt x="331295" y="1490637"/>
                </a:lnTo>
                <a:lnTo>
                  <a:pt x="322712" y="1543431"/>
                </a:lnTo>
                <a:lnTo>
                  <a:pt x="312942" y="1594986"/>
                </a:lnTo>
                <a:lnTo>
                  <a:pt x="302022" y="1645324"/>
                </a:lnTo>
                <a:lnTo>
                  <a:pt x="289986" y="1694464"/>
                </a:lnTo>
                <a:lnTo>
                  <a:pt x="276872" y="1742427"/>
                </a:lnTo>
                <a:lnTo>
                  <a:pt x="262714" y="1789234"/>
                </a:lnTo>
                <a:lnTo>
                  <a:pt x="247548" y="1834905"/>
                </a:lnTo>
                <a:lnTo>
                  <a:pt x="231411" y="1879462"/>
                </a:lnTo>
                <a:lnTo>
                  <a:pt x="214338" y="1922924"/>
                </a:lnTo>
                <a:lnTo>
                  <a:pt x="196364" y="1965312"/>
                </a:lnTo>
                <a:lnTo>
                  <a:pt x="177527" y="2006647"/>
                </a:lnTo>
                <a:lnTo>
                  <a:pt x="157860" y="2046950"/>
                </a:lnTo>
                <a:lnTo>
                  <a:pt x="137401" y="2086240"/>
                </a:lnTo>
                <a:lnTo>
                  <a:pt x="116184" y="2124540"/>
                </a:lnTo>
                <a:lnTo>
                  <a:pt x="94247" y="2161868"/>
                </a:lnTo>
                <a:lnTo>
                  <a:pt x="71624" y="2198247"/>
                </a:lnTo>
                <a:lnTo>
                  <a:pt x="48351" y="2233696"/>
                </a:lnTo>
                <a:lnTo>
                  <a:pt x="24464" y="2268236"/>
                </a:lnTo>
                <a:lnTo>
                  <a:pt x="0" y="2301888"/>
                </a:lnTo>
                <a:lnTo>
                  <a:pt x="194884" y="2301888"/>
                </a:lnTo>
                <a:close/>
              </a:path>
            </a:pathLst>
          </a:custGeom>
          <a:ln w="1256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720729" y="6649577"/>
            <a:ext cx="662940" cy="314325"/>
          </a:xfrm>
          <a:custGeom>
            <a:avLst/>
            <a:gdLst/>
            <a:ahLst/>
            <a:cxnLst/>
            <a:rect l="l" t="t" r="r" b="b"/>
            <a:pathLst>
              <a:path w="662940" h="314325">
                <a:moveTo>
                  <a:pt x="219804" y="0"/>
                </a:moveTo>
                <a:lnTo>
                  <a:pt x="182999" y="0"/>
                </a:lnTo>
                <a:lnTo>
                  <a:pt x="163434" y="20954"/>
                </a:lnTo>
                <a:lnTo>
                  <a:pt x="142169" y="41850"/>
                </a:lnTo>
                <a:lnTo>
                  <a:pt x="94562" y="83473"/>
                </a:lnTo>
                <a:lnTo>
                  <a:pt x="45424" y="120462"/>
                </a:lnTo>
                <a:lnTo>
                  <a:pt x="0" y="148372"/>
                </a:lnTo>
                <a:lnTo>
                  <a:pt x="0" y="165157"/>
                </a:lnTo>
                <a:lnTo>
                  <a:pt x="38685" y="189250"/>
                </a:lnTo>
                <a:lnTo>
                  <a:pt x="88908" y="226757"/>
                </a:lnTo>
                <a:lnTo>
                  <a:pt x="140434" y="270701"/>
                </a:lnTo>
                <a:lnTo>
                  <a:pt x="182999" y="314126"/>
                </a:lnTo>
                <a:lnTo>
                  <a:pt x="219804" y="314126"/>
                </a:lnTo>
                <a:lnTo>
                  <a:pt x="208545" y="298655"/>
                </a:lnTo>
                <a:lnTo>
                  <a:pt x="195754" y="283107"/>
                </a:lnTo>
                <a:lnTo>
                  <a:pt x="181433" y="267483"/>
                </a:lnTo>
                <a:lnTo>
                  <a:pt x="165586" y="251782"/>
                </a:lnTo>
                <a:lnTo>
                  <a:pt x="543035" y="251782"/>
                </a:lnTo>
                <a:lnTo>
                  <a:pt x="543416" y="251437"/>
                </a:lnTo>
                <a:lnTo>
                  <a:pt x="568076" y="230652"/>
                </a:lnTo>
                <a:lnTo>
                  <a:pt x="578209" y="222705"/>
                </a:lnTo>
                <a:lnTo>
                  <a:pt x="132320" y="222705"/>
                </a:lnTo>
                <a:lnTo>
                  <a:pt x="115582" y="209105"/>
                </a:lnTo>
                <a:lnTo>
                  <a:pt x="95370" y="193482"/>
                </a:lnTo>
                <a:lnTo>
                  <a:pt x="71264" y="175527"/>
                </a:lnTo>
                <a:lnTo>
                  <a:pt x="44543" y="156162"/>
                </a:lnTo>
                <a:lnTo>
                  <a:pt x="70592" y="138256"/>
                </a:lnTo>
                <a:lnTo>
                  <a:pt x="79688" y="131833"/>
                </a:lnTo>
                <a:lnTo>
                  <a:pt x="86164" y="127095"/>
                </a:lnTo>
                <a:lnTo>
                  <a:pt x="132320" y="91421"/>
                </a:lnTo>
                <a:lnTo>
                  <a:pt x="579371" y="91421"/>
                </a:lnTo>
                <a:lnTo>
                  <a:pt x="573731" y="87075"/>
                </a:lnTo>
                <a:lnTo>
                  <a:pt x="546838" y="65053"/>
                </a:lnTo>
                <a:lnTo>
                  <a:pt x="543107" y="61746"/>
                </a:lnTo>
                <a:lnTo>
                  <a:pt x="165586" y="61746"/>
                </a:lnTo>
                <a:lnTo>
                  <a:pt x="181551" y="46197"/>
                </a:lnTo>
                <a:lnTo>
                  <a:pt x="195911" y="30724"/>
                </a:lnTo>
                <a:lnTo>
                  <a:pt x="208663" y="15325"/>
                </a:lnTo>
                <a:lnTo>
                  <a:pt x="219804" y="0"/>
                </a:lnTo>
                <a:close/>
              </a:path>
              <a:path w="662940" h="314325">
                <a:moveTo>
                  <a:pt x="543035" y="251782"/>
                </a:moveTo>
                <a:lnTo>
                  <a:pt x="165586" y="251782"/>
                </a:lnTo>
                <a:lnTo>
                  <a:pt x="496717" y="252379"/>
                </a:lnTo>
                <a:lnTo>
                  <a:pt x="480758" y="267930"/>
                </a:lnTo>
                <a:lnTo>
                  <a:pt x="466466" y="283406"/>
                </a:lnTo>
                <a:lnTo>
                  <a:pt x="453829" y="298805"/>
                </a:lnTo>
                <a:lnTo>
                  <a:pt x="442834" y="314126"/>
                </a:lnTo>
                <a:lnTo>
                  <a:pt x="479597" y="314126"/>
                </a:lnTo>
                <a:lnTo>
                  <a:pt x="499175" y="293176"/>
                </a:lnTo>
                <a:lnTo>
                  <a:pt x="520448" y="272279"/>
                </a:lnTo>
                <a:lnTo>
                  <a:pt x="543035" y="251782"/>
                </a:lnTo>
                <a:close/>
              </a:path>
              <a:path w="662940" h="314325">
                <a:moveTo>
                  <a:pt x="579371" y="91421"/>
                </a:moveTo>
                <a:lnTo>
                  <a:pt x="530297" y="91421"/>
                </a:lnTo>
                <a:lnTo>
                  <a:pt x="546930" y="104891"/>
                </a:lnTo>
                <a:lnTo>
                  <a:pt x="567161" y="120462"/>
                </a:lnTo>
                <a:lnTo>
                  <a:pt x="590823" y="138011"/>
                </a:lnTo>
                <a:lnTo>
                  <a:pt x="618075" y="157660"/>
                </a:lnTo>
                <a:lnTo>
                  <a:pt x="603609" y="167458"/>
                </a:lnTo>
                <a:lnTo>
                  <a:pt x="591848" y="175571"/>
                </a:lnTo>
                <a:lnTo>
                  <a:pt x="582800" y="181998"/>
                </a:lnTo>
                <a:lnTo>
                  <a:pt x="576474" y="186737"/>
                </a:lnTo>
                <a:lnTo>
                  <a:pt x="530297" y="222412"/>
                </a:lnTo>
                <a:lnTo>
                  <a:pt x="132320" y="222705"/>
                </a:lnTo>
                <a:lnTo>
                  <a:pt x="578209" y="222705"/>
                </a:lnTo>
                <a:lnTo>
                  <a:pt x="593096" y="211029"/>
                </a:lnTo>
                <a:lnTo>
                  <a:pt x="617199" y="193672"/>
                </a:lnTo>
                <a:lnTo>
                  <a:pt x="640382" y="178580"/>
                </a:lnTo>
                <a:lnTo>
                  <a:pt x="662639" y="165754"/>
                </a:lnTo>
                <a:lnTo>
                  <a:pt x="662639" y="148979"/>
                </a:lnTo>
                <a:lnTo>
                  <a:pt x="644733" y="138473"/>
                </a:lnTo>
                <a:lnTo>
                  <a:pt x="623941" y="124655"/>
                </a:lnTo>
                <a:lnTo>
                  <a:pt x="600271" y="107523"/>
                </a:lnTo>
                <a:lnTo>
                  <a:pt x="579371" y="91421"/>
                </a:lnTo>
                <a:close/>
              </a:path>
              <a:path w="662940" h="314325">
                <a:moveTo>
                  <a:pt x="479597" y="0"/>
                </a:moveTo>
                <a:lnTo>
                  <a:pt x="442834" y="0"/>
                </a:lnTo>
                <a:lnTo>
                  <a:pt x="454677" y="16334"/>
                </a:lnTo>
                <a:lnTo>
                  <a:pt x="467597" y="32071"/>
                </a:lnTo>
                <a:lnTo>
                  <a:pt x="481606" y="47208"/>
                </a:lnTo>
                <a:lnTo>
                  <a:pt x="496717" y="61746"/>
                </a:lnTo>
                <a:lnTo>
                  <a:pt x="543107" y="61746"/>
                </a:lnTo>
                <a:lnTo>
                  <a:pt x="522184" y="43200"/>
                </a:lnTo>
                <a:lnTo>
                  <a:pt x="499770" y="21515"/>
                </a:lnTo>
                <a:lnTo>
                  <a:pt x="479597" y="0"/>
                </a:lnTo>
                <a:close/>
              </a:path>
            </a:pathLst>
          </a:custGeom>
          <a:solidFill>
            <a:srgbClr val="CB3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62</a:t>
            </a:fld>
            <a:endParaRPr spc="-37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13650" cy="1512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855"/>
              </a:lnSpc>
              <a:spcBef>
                <a:spcPts val="95"/>
              </a:spcBef>
            </a:pPr>
            <a:r>
              <a:rPr spc="-254" dirty="0"/>
              <a:t>Симметричная</a:t>
            </a:r>
          </a:p>
          <a:p>
            <a:pPr marL="12700">
              <a:lnSpc>
                <a:spcPts val="5855"/>
              </a:lnSpc>
            </a:pPr>
            <a:r>
              <a:rPr spc="-200" dirty="0"/>
              <a:t>и </a:t>
            </a:r>
            <a:r>
              <a:rPr spc="-250" dirty="0"/>
              <a:t>ортогональная</a:t>
            </a:r>
            <a:r>
              <a:rPr spc="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063" y="3453163"/>
            <a:ext cx="8707120" cy="214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Ортогональная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матрица </a:t>
            </a:r>
            <a:r>
              <a:rPr sz="3300" b="1" i="1" spc="-535" dirty="0">
                <a:solidFill>
                  <a:srgbClr val="1E1E1E"/>
                </a:solidFill>
                <a:latin typeface="Verdana"/>
                <a:cs typeface="Verdana"/>
              </a:rPr>
              <a:t>P: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5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spc="-825" baseline="-32163" dirty="0">
                <a:solidFill>
                  <a:srgbClr val="1E1E1E"/>
                </a:solidFill>
                <a:latin typeface="Verdana"/>
                <a:cs typeface="Verdana"/>
              </a:rPr>
              <a:t>[1] </a:t>
            </a:r>
            <a:r>
              <a:rPr sz="3300" b="1" spc="-865" dirty="0">
                <a:solidFill>
                  <a:srgbClr val="1E1E1E"/>
                </a:solidFill>
                <a:latin typeface="Verdana"/>
                <a:cs typeface="Verdana"/>
              </a:rPr>
              <a:t>| </a:t>
            </a:r>
            <a:r>
              <a:rPr sz="3300" b="1" spc="-44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spc="-667" baseline="-32163" dirty="0">
                <a:solidFill>
                  <a:srgbClr val="1E1E1E"/>
                </a:solidFill>
                <a:latin typeface="Verdana"/>
                <a:cs typeface="Verdana"/>
              </a:rPr>
              <a:t>[2] </a:t>
            </a:r>
            <a:r>
              <a:rPr sz="3300" b="1" spc="-865" dirty="0">
                <a:solidFill>
                  <a:srgbClr val="1E1E1E"/>
                </a:solidFill>
                <a:latin typeface="Verdana"/>
                <a:cs typeface="Verdana"/>
              </a:rPr>
              <a:t>|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spc="-865" dirty="0">
                <a:solidFill>
                  <a:srgbClr val="1E1E1E"/>
                </a:solidFill>
                <a:latin typeface="Verdana"/>
                <a:cs typeface="Verdana"/>
              </a:rPr>
              <a:t>|</a:t>
            </a:r>
            <a:r>
              <a:rPr sz="3300" b="1" spc="-8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1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spc="-772" baseline="-32163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2850" b="1" i="1" spc="-772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2850" b="1" spc="-772" baseline="-32163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3300" b="1" spc="-515" dirty="0">
                <a:solidFill>
                  <a:srgbClr val="1E1E1E"/>
                </a:solidFill>
                <a:latin typeface="Verdana"/>
                <a:cs typeface="Verdana"/>
              </a:rPr>
              <a:t>]:</a:t>
            </a:r>
            <a:endParaRPr sz="3300">
              <a:latin typeface="Verdana"/>
              <a:cs typeface="Verdana"/>
            </a:endParaRPr>
          </a:p>
          <a:p>
            <a:pPr marL="12700" marR="5072380">
              <a:lnSpc>
                <a:spcPct val="122200"/>
              </a:lnSpc>
              <a:spcBef>
                <a:spcPts val="3075"/>
              </a:spcBef>
            </a:pP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P • P </a:t>
            </a:r>
            <a:r>
              <a:rPr sz="2850" b="1" i="1" spc="15" baseline="32163" dirty="0">
                <a:solidFill>
                  <a:srgbClr val="1E1E1E"/>
                </a:solidFill>
                <a:latin typeface="Arial"/>
                <a:cs typeface="Arial"/>
              </a:rPr>
              <a:t>Т </a:t>
            </a: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= P </a:t>
            </a:r>
            <a:r>
              <a:rPr sz="2850" b="1" i="1" spc="15" baseline="32163" dirty="0">
                <a:solidFill>
                  <a:srgbClr val="1E1E1E"/>
                </a:solidFill>
                <a:latin typeface="Arial"/>
                <a:cs typeface="Arial"/>
              </a:rPr>
              <a:t>Т </a:t>
            </a: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• P = E  </a:t>
            </a:r>
            <a:r>
              <a:rPr sz="4950" b="1" i="1" spc="-7" baseline="-18518" dirty="0">
                <a:solidFill>
                  <a:srgbClr val="1E1E1E"/>
                </a:solidFill>
                <a:latin typeface="Arial"/>
                <a:cs typeface="Arial"/>
              </a:rPr>
              <a:t>P</a:t>
            </a:r>
            <a:r>
              <a:rPr sz="4950" b="1" i="1" spc="-667" baseline="-18518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1E1E1E"/>
                </a:solidFill>
                <a:latin typeface="Arial"/>
                <a:cs typeface="Arial"/>
              </a:rPr>
              <a:t>−1</a:t>
            </a:r>
            <a:r>
              <a:rPr sz="1900" b="1" spc="2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4950" b="1" i="1" spc="-7" baseline="-18518" dirty="0">
                <a:solidFill>
                  <a:srgbClr val="1E1E1E"/>
                </a:solidFill>
                <a:latin typeface="Arial"/>
                <a:cs typeface="Arial"/>
              </a:rPr>
              <a:t>=</a:t>
            </a:r>
            <a:r>
              <a:rPr sz="4950" b="1" i="1" spc="89" baseline="-18518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4950" b="1" i="1" spc="-7" baseline="-18518" dirty="0">
                <a:solidFill>
                  <a:srgbClr val="1E1E1E"/>
                </a:solidFill>
                <a:latin typeface="Arial"/>
                <a:cs typeface="Arial"/>
              </a:rPr>
              <a:t>P</a:t>
            </a:r>
            <a:r>
              <a:rPr sz="4950" b="1" i="1" spc="-667" baseline="-18518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1900" b="1" i="1" spc="1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45377" y="4576269"/>
            <a:ext cx="662940" cy="314325"/>
          </a:xfrm>
          <a:custGeom>
            <a:avLst/>
            <a:gdLst/>
            <a:ahLst/>
            <a:cxnLst/>
            <a:rect l="l" t="t" r="r" b="b"/>
            <a:pathLst>
              <a:path w="662939" h="314325">
                <a:moveTo>
                  <a:pt x="219804" y="0"/>
                </a:moveTo>
                <a:lnTo>
                  <a:pt x="182999" y="0"/>
                </a:lnTo>
                <a:lnTo>
                  <a:pt x="163434" y="20954"/>
                </a:lnTo>
                <a:lnTo>
                  <a:pt x="142169" y="41850"/>
                </a:lnTo>
                <a:lnTo>
                  <a:pt x="94562" y="83473"/>
                </a:lnTo>
                <a:lnTo>
                  <a:pt x="45424" y="120462"/>
                </a:lnTo>
                <a:lnTo>
                  <a:pt x="0" y="148372"/>
                </a:lnTo>
                <a:lnTo>
                  <a:pt x="0" y="165157"/>
                </a:lnTo>
                <a:lnTo>
                  <a:pt x="38685" y="189250"/>
                </a:lnTo>
                <a:lnTo>
                  <a:pt x="88908" y="226757"/>
                </a:lnTo>
                <a:lnTo>
                  <a:pt x="140434" y="270701"/>
                </a:lnTo>
                <a:lnTo>
                  <a:pt x="182999" y="314126"/>
                </a:lnTo>
                <a:lnTo>
                  <a:pt x="219804" y="314126"/>
                </a:lnTo>
                <a:lnTo>
                  <a:pt x="208545" y="298655"/>
                </a:lnTo>
                <a:lnTo>
                  <a:pt x="195754" y="283107"/>
                </a:lnTo>
                <a:lnTo>
                  <a:pt x="181433" y="267483"/>
                </a:lnTo>
                <a:lnTo>
                  <a:pt x="165586" y="251782"/>
                </a:lnTo>
                <a:lnTo>
                  <a:pt x="543035" y="251782"/>
                </a:lnTo>
                <a:lnTo>
                  <a:pt x="543416" y="251437"/>
                </a:lnTo>
                <a:lnTo>
                  <a:pt x="568076" y="230652"/>
                </a:lnTo>
                <a:lnTo>
                  <a:pt x="578209" y="222705"/>
                </a:lnTo>
                <a:lnTo>
                  <a:pt x="132320" y="222705"/>
                </a:lnTo>
                <a:lnTo>
                  <a:pt x="115582" y="209105"/>
                </a:lnTo>
                <a:lnTo>
                  <a:pt x="95370" y="193482"/>
                </a:lnTo>
                <a:lnTo>
                  <a:pt x="71264" y="175527"/>
                </a:lnTo>
                <a:lnTo>
                  <a:pt x="44543" y="156162"/>
                </a:lnTo>
                <a:lnTo>
                  <a:pt x="70588" y="138254"/>
                </a:lnTo>
                <a:lnTo>
                  <a:pt x="79686" y="131828"/>
                </a:lnTo>
                <a:lnTo>
                  <a:pt x="86164" y="127085"/>
                </a:lnTo>
                <a:lnTo>
                  <a:pt x="132320" y="91421"/>
                </a:lnTo>
                <a:lnTo>
                  <a:pt x="579371" y="91421"/>
                </a:lnTo>
                <a:lnTo>
                  <a:pt x="573731" y="87075"/>
                </a:lnTo>
                <a:lnTo>
                  <a:pt x="546838" y="65053"/>
                </a:lnTo>
                <a:lnTo>
                  <a:pt x="543107" y="61746"/>
                </a:lnTo>
                <a:lnTo>
                  <a:pt x="165586" y="61746"/>
                </a:lnTo>
                <a:lnTo>
                  <a:pt x="181551" y="46197"/>
                </a:lnTo>
                <a:lnTo>
                  <a:pt x="195911" y="30724"/>
                </a:lnTo>
                <a:lnTo>
                  <a:pt x="208663" y="15325"/>
                </a:lnTo>
                <a:lnTo>
                  <a:pt x="219804" y="0"/>
                </a:lnTo>
                <a:close/>
              </a:path>
              <a:path w="662939" h="314325">
                <a:moveTo>
                  <a:pt x="543035" y="251782"/>
                </a:moveTo>
                <a:lnTo>
                  <a:pt x="165586" y="251782"/>
                </a:lnTo>
                <a:lnTo>
                  <a:pt x="496717" y="252379"/>
                </a:lnTo>
                <a:lnTo>
                  <a:pt x="480758" y="267930"/>
                </a:lnTo>
                <a:lnTo>
                  <a:pt x="466466" y="283406"/>
                </a:lnTo>
                <a:lnTo>
                  <a:pt x="453829" y="298805"/>
                </a:lnTo>
                <a:lnTo>
                  <a:pt x="442834" y="314126"/>
                </a:lnTo>
                <a:lnTo>
                  <a:pt x="479597" y="314126"/>
                </a:lnTo>
                <a:lnTo>
                  <a:pt x="499175" y="293176"/>
                </a:lnTo>
                <a:lnTo>
                  <a:pt x="520448" y="272279"/>
                </a:lnTo>
                <a:lnTo>
                  <a:pt x="543035" y="251782"/>
                </a:lnTo>
                <a:close/>
              </a:path>
              <a:path w="662939" h="314325">
                <a:moveTo>
                  <a:pt x="579371" y="91421"/>
                </a:moveTo>
                <a:lnTo>
                  <a:pt x="530297" y="91421"/>
                </a:lnTo>
                <a:lnTo>
                  <a:pt x="546930" y="104891"/>
                </a:lnTo>
                <a:lnTo>
                  <a:pt x="567161" y="120462"/>
                </a:lnTo>
                <a:lnTo>
                  <a:pt x="590823" y="138011"/>
                </a:lnTo>
                <a:lnTo>
                  <a:pt x="618075" y="157660"/>
                </a:lnTo>
                <a:lnTo>
                  <a:pt x="603609" y="167458"/>
                </a:lnTo>
                <a:lnTo>
                  <a:pt x="591848" y="175571"/>
                </a:lnTo>
                <a:lnTo>
                  <a:pt x="582800" y="181998"/>
                </a:lnTo>
                <a:lnTo>
                  <a:pt x="576474" y="186737"/>
                </a:lnTo>
                <a:lnTo>
                  <a:pt x="530297" y="222412"/>
                </a:lnTo>
                <a:lnTo>
                  <a:pt x="132320" y="222705"/>
                </a:lnTo>
                <a:lnTo>
                  <a:pt x="578209" y="222705"/>
                </a:lnTo>
                <a:lnTo>
                  <a:pt x="593096" y="211029"/>
                </a:lnTo>
                <a:lnTo>
                  <a:pt x="617199" y="193672"/>
                </a:lnTo>
                <a:lnTo>
                  <a:pt x="640382" y="178580"/>
                </a:lnTo>
                <a:lnTo>
                  <a:pt x="662639" y="165754"/>
                </a:lnTo>
                <a:lnTo>
                  <a:pt x="662639" y="148979"/>
                </a:lnTo>
                <a:lnTo>
                  <a:pt x="644733" y="138473"/>
                </a:lnTo>
                <a:lnTo>
                  <a:pt x="623941" y="124655"/>
                </a:lnTo>
                <a:lnTo>
                  <a:pt x="600271" y="107523"/>
                </a:lnTo>
                <a:lnTo>
                  <a:pt x="579371" y="91421"/>
                </a:lnTo>
                <a:close/>
              </a:path>
              <a:path w="662939" h="314325">
                <a:moveTo>
                  <a:pt x="479597" y="0"/>
                </a:moveTo>
                <a:lnTo>
                  <a:pt x="442834" y="0"/>
                </a:lnTo>
                <a:lnTo>
                  <a:pt x="454677" y="16334"/>
                </a:lnTo>
                <a:lnTo>
                  <a:pt x="467597" y="32071"/>
                </a:lnTo>
                <a:lnTo>
                  <a:pt x="481606" y="47208"/>
                </a:lnTo>
                <a:lnTo>
                  <a:pt x="496717" y="61746"/>
                </a:lnTo>
                <a:lnTo>
                  <a:pt x="543107" y="61746"/>
                </a:lnTo>
                <a:lnTo>
                  <a:pt x="522184" y="43200"/>
                </a:lnTo>
                <a:lnTo>
                  <a:pt x="499770" y="21515"/>
                </a:lnTo>
                <a:lnTo>
                  <a:pt x="479597" y="0"/>
                </a:lnTo>
                <a:close/>
              </a:path>
            </a:pathLst>
          </a:custGeom>
          <a:solidFill>
            <a:srgbClr val="CB3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63</a:t>
            </a:fld>
            <a:endParaRPr spc="-37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13650" cy="1512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855"/>
              </a:lnSpc>
              <a:spcBef>
                <a:spcPts val="95"/>
              </a:spcBef>
            </a:pPr>
            <a:r>
              <a:rPr spc="-254" dirty="0"/>
              <a:t>Симметричная</a:t>
            </a:r>
          </a:p>
          <a:p>
            <a:pPr marL="12700">
              <a:lnSpc>
                <a:spcPts val="5855"/>
              </a:lnSpc>
            </a:pPr>
            <a:r>
              <a:rPr spc="-200" dirty="0"/>
              <a:t>и </a:t>
            </a:r>
            <a:r>
              <a:rPr spc="-250" dirty="0"/>
              <a:t>ортогональная</a:t>
            </a:r>
            <a:r>
              <a:rPr spc="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063" y="3453163"/>
            <a:ext cx="8707120" cy="214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Ортогональная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матрица </a:t>
            </a:r>
            <a:r>
              <a:rPr sz="3300" b="1" i="1" spc="-535" dirty="0">
                <a:solidFill>
                  <a:srgbClr val="1E1E1E"/>
                </a:solidFill>
                <a:latin typeface="Verdana"/>
                <a:cs typeface="Verdana"/>
              </a:rPr>
              <a:t>P: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5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spc="-825" baseline="-32163" dirty="0">
                <a:solidFill>
                  <a:srgbClr val="1E1E1E"/>
                </a:solidFill>
                <a:latin typeface="Verdana"/>
                <a:cs typeface="Verdana"/>
              </a:rPr>
              <a:t>[1] </a:t>
            </a:r>
            <a:r>
              <a:rPr sz="3300" b="1" spc="-865" dirty="0">
                <a:solidFill>
                  <a:srgbClr val="1E1E1E"/>
                </a:solidFill>
                <a:latin typeface="Verdana"/>
                <a:cs typeface="Verdana"/>
              </a:rPr>
              <a:t>| </a:t>
            </a:r>
            <a:r>
              <a:rPr sz="3300" b="1" spc="-44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spc="-667" baseline="-32163" dirty="0">
                <a:solidFill>
                  <a:srgbClr val="1E1E1E"/>
                </a:solidFill>
                <a:latin typeface="Verdana"/>
                <a:cs typeface="Verdana"/>
              </a:rPr>
              <a:t>[2] </a:t>
            </a:r>
            <a:r>
              <a:rPr sz="3300" b="1" spc="-865" dirty="0">
                <a:solidFill>
                  <a:srgbClr val="1E1E1E"/>
                </a:solidFill>
                <a:latin typeface="Verdana"/>
                <a:cs typeface="Verdana"/>
              </a:rPr>
              <a:t>|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spc="-865" dirty="0">
                <a:solidFill>
                  <a:srgbClr val="1E1E1E"/>
                </a:solidFill>
                <a:latin typeface="Verdana"/>
                <a:cs typeface="Verdana"/>
              </a:rPr>
              <a:t>|</a:t>
            </a:r>
            <a:r>
              <a:rPr sz="3300" b="1" spc="-8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1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spc="-772" baseline="-32163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2850" b="1" i="1" spc="-772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2850" b="1" spc="-772" baseline="-32163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3300" b="1" spc="-515" dirty="0">
                <a:solidFill>
                  <a:srgbClr val="1E1E1E"/>
                </a:solidFill>
                <a:latin typeface="Verdana"/>
                <a:cs typeface="Verdana"/>
              </a:rPr>
              <a:t>]:</a:t>
            </a:r>
            <a:endParaRPr sz="3300">
              <a:latin typeface="Verdana"/>
              <a:cs typeface="Verdana"/>
            </a:endParaRPr>
          </a:p>
          <a:p>
            <a:pPr marL="12700" marR="5072380">
              <a:lnSpc>
                <a:spcPct val="122200"/>
              </a:lnSpc>
              <a:spcBef>
                <a:spcPts val="3075"/>
              </a:spcBef>
            </a:pP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P • P </a:t>
            </a:r>
            <a:r>
              <a:rPr sz="2850" b="1" i="1" spc="15" baseline="32163" dirty="0">
                <a:solidFill>
                  <a:srgbClr val="1E1E1E"/>
                </a:solidFill>
                <a:latin typeface="Arial"/>
                <a:cs typeface="Arial"/>
              </a:rPr>
              <a:t>Т </a:t>
            </a: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= P </a:t>
            </a:r>
            <a:r>
              <a:rPr sz="2850" b="1" i="1" spc="15" baseline="32163" dirty="0">
                <a:solidFill>
                  <a:srgbClr val="1E1E1E"/>
                </a:solidFill>
                <a:latin typeface="Arial"/>
                <a:cs typeface="Arial"/>
              </a:rPr>
              <a:t>Т </a:t>
            </a: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• P = E  </a:t>
            </a:r>
            <a:r>
              <a:rPr sz="4950" b="1" i="1" spc="-7" baseline="-18518" dirty="0">
                <a:solidFill>
                  <a:srgbClr val="1E1E1E"/>
                </a:solidFill>
                <a:latin typeface="Arial"/>
                <a:cs typeface="Arial"/>
              </a:rPr>
              <a:t>P</a:t>
            </a:r>
            <a:r>
              <a:rPr sz="4950" b="1" i="1" spc="-667" baseline="-18518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1E1E1E"/>
                </a:solidFill>
                <a:latin typeface="Arial"/>
                <a:cs typeface="Arial"/>
              </a:rPr>
              <a:t>−1</a:t>
            </a:r>
            <a:r>
              <a:rPr sz="1900" b="1" spc="2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4950" b="1" i="1" spc="-7" baseline="-18518" dirty="0">
                <a:solidFill>
                  <a:srgbClr val="1E1E1E"/>
                </a:solidFill>
                <a:latin typeface="Arial"/>
                <a:cs typeface="Arial"/>
              </a:rPr>
              <a:t>=</a:t>
            </a:r>
            <a:r>
              <a:rPr sz="4950" b="1" i="1" spc="89" baseline="-18518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4950" b="1" i="1" spc="-7" baseline="-18518" dirty="0">
                <a:solidFill>
                  <a:srgbClr val="1E1E1E"/>
                </a:solidFill>
                <a:latin typeface="Arial"/>
                <a:cs typeface="Arial"/>
              </a:rPr>
              <a:t>P</a:t>
            </a:r>
            <a:r>
              <a:rPr sz="4950" b="1" i="1" spc="-667" baseline="-18518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1900" b="1" i="1" spc="1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0127" y="6468778"/>
            <a:ext cx="270573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1815" marR="5080" indent="-539750">
              <a:lnSpc>
                <a:spcPct val="100000"/>
              </a:lnSpc>
              <a:spcBef>
                <a:spcPts val="95"/>
              </a:spcBef>
            </a:pP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е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240" dirty="0">
                <a:solidFill>
                  <a:srgbClr val="1E1E1E"/>
                </a:solidFill>
                <a:latin typeface="Arial"/>
                <a:cs typeface="Arial"/>
              </a:rPr>
              <a:t>ч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н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я 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матрица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13481" y="6720078"/>
            <a:ext cx="94615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= P</a:t>
            </a:r>
            <a:r>
              <a:rPr sz="3300" b="1" i="1" spc="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•</a:t>
            </a:r>
            <a:endParaRPr sz="3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10721" y="6720078"/>
            <a:ext cx="7861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95"/>
              </a:spcBef>
              <a:buChar char="•"/>
              <a:tabLst>
                <a:tab pos="284480" algn="l"/>
              </a:tabLst>
            </a:pP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P</a:t>
            </a:r>
            <a:r>
              <a:rPr sz="3300" b="1" i="1" spc="-5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2850" b="1" i="1" spc="15" baseline="32163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endParaRPr sz="2850" baseline="32163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24032" y="6468778"/>
            <a:ext cx="262953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3715" marR="5080" indent="-501650">
              <a:lnSpc>
                <a:spcPct val="100000"/>
              </a:lnSpc>
              <a:spcBef>
                <a:spcPts val="95"/>
              </a:spcBef>
            </a:pP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ди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г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она</a:t>
            </a:r>
            <a:r>
              <a:rPr sz="3300" spc="-220" dirty="0">
                <a:solidFill>
                  <a:srgbClr val="1E1E1E"/>
                </a:solidFill>
                <a:latin typeface="Arial"/>
                <a:cs typeface="Arial"/>
              </a:rPr>
              <a:t>л</a:t>
            </a:r>
            <a:r>
              <a:rPr sz="3300" spc="-240" dirty="0">
                <a:solidFill>
                  <a:srgbClr val="1E1E1E"/>
                </a:solidFill>
                <a:latin typeface="Arial"/>
                <a:cs typeface="Arial"/>
              </a:rPr>
              <a:t>ь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н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я 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матрица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97863" y="6431846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5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97863" y="6431846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5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26700" y="6431846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5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26700" y="6431846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5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68398" y="6431846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5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68398" y="6431846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5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297235" y="6431846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5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297235" y="6431846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5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45377" y="4576269"/>
            <a:ext cx="662940" cy="314325"/>
          </a:xfrm>
          <a:custGeom>
            <a:avLst/>
            <a:gdLst/>
            <a:ahLst/>
            <a:cxnLst/>
            <a:rect l="l" t="t" r="r" b="b"/>
            <a:pathLst>
              <a:path w="662939" h="314325">
                <a:moveTo>
                  <a:pt x="219804" y="0"/>
                </a:moveTo>
                <a:lnTo>
                  <a:pt x="182999" y="0"/>
                </a:lnTo>
                <a:lnTo>
                  <a:pt x="163434" y="20954"/>
                </a:lnTo>
                <a:lnTo>
                  <a:pt x="142169" y="41850"/>
                </a:lnTo>
                <a:lnTo>
                  <a:pt x="94562" y="83473"/>
                </a:lnTo>
                <a:lnTo>
                  <a:pt x="45424" y="120462"/>
                </a:lnTo>
                <a:lnTo>
                  <a:pt x="0" y="148372"/>
                </a:lnTo>
                <a:lnTo>
                  <a:pt x="0" y="165157"/>
                </a:lnTo>
                <a:lnTo>
                  <a:pt x="38685" y="189250"/>
                </a:lnTo>
                <a:lnTo>
                  <a:pt x="88908" y="226757"/>
                </a:lnTo>
                <a:lnTo>
                  <a:pt x="140434" y="270701"/>
                </a:lnTo>
                <a:lnTo>
                  <a:pt x="182999" y="314126"/>
                </a:lnTo>
                <a:lnTo>
                  <a:pt x="219804" y="314126"/>
                </a:lnTo>
                <a:lnTo>
                  <a:pt x="208545" y="298655"/>
                </a:lnTo>
                <a:lnTo>
                  <a:pt x="195754" y="283107"/>
                </a:lnTo>
                <a:lnTo>
                  <a:pt x="181433" y="267483"/>
                </a:lnTo>
                <a:lnTo>
                  <a:pt x="165586" y="251782"/>
                </a:lnTo>
                <a:lnTo>
                  <a:pt x="543035" y="251782"/>
                </a:lnTo>
                <a:lnTo>
                  <a:pt x="543416" y="251437"/>
                </a:lnTo>
                <a:lnTo>
                  <a:pt x="568076" y="230652"/>
                </a:lnTo>
                <a:lnTo>
                  <a:pt x="578209" y="222705"/>
                </a:lnTo>
                <a:lnTo>
                  <a:pt x="132320" y="222705"/>
                </a:lnTo>
                <a:lnTo>
                  <a:pt x="115582" y="209105"/>
                </a:lnTo>
                <a:lnTo>
                  <a:pt x="95370" y="193482"/>
                </a:lnTo>
                <a:lnTo>
                  <a:pt x="71264" y="175527"/>
                </a:lnTo>
                <a:lnTo>
                  <a:pt x="44543" y="156162"/>
                </a:lnTo>
                <a:lnTo>
                  <a:pt x="70588" y="138254"/>
                </a:lnTo>
                <a:lnTo>
                  <a:pt x="79686" y="131828"/>
                </a:lnTo>
                <a:lnTo>
                  <a:pt x="86164" y="127085"/>
                </a:lnTo>
                <a:lnTo>
                  <a:pt x="132320" y="91421"/>
                </a:lnTo>
                <a:lnTo>
                  <a:pt x="579371" y="91421"/>
                </a:lnTo>
                <a:lnTo>
                  <a:pt x="573731" y="87075"/>
                </a:lnTo>
                <a:lnTo>
                  <a:pt x="546838" y="65053"/>
                </a:lnTo>
                <a:lnTo>
                  <a:pt x="543107" y="61746"/>
                </a:lnTo>
                <a:lnTo>
                  <a:pt x="165586" y="61746"/>
                </a:lnTo>
                <a:lnTo>
                  <a:pt x="181551" y="46197"/>
                </a:lnTo>
                <a:lnTo>
                  <a:pt x="195911" y="30724"/>
                </a:lnTo>
                <a:lnTo>
                  <a:pt x="208663" y="15325"/>
                </a:lnTo>
                <a:lnTo>
                  <a:pt x="219804" y="0"/>
                </a:lnTo>
                <a:close/>
              </a:path>
              <a:path w="662939" h="314325">
                <a:moveTo>
                  <a:pt x="543035" y="251782"/>
                </a:moveTo>
                <a:lnTo>
                  <a:pt x="165586" y="251782"/>
                </a:lnTo>
                <a:lnTo>
                  <a:pt x="496717" y="252379"/>
                </a:lnTo>
                <a:lnTo>
                  <a:pt x="480758" y="267930"/>
                </a:lnTo>
                <a:lnTo>
                  <a:pt x="466466" y="283406"/>
                </a:lnTo>
                <a:lnTo>
                  <a:pt x="453829" y="298805"/>
                </a:lnTo>
                <a:lnTo>
                  <a:pt x="442834" y="314126"/>
                </a:lnTo>
                <a:lnTo>
                  <a:pt x="479597" y="314126"/>
                </a:lnTo>
                <a:lnTo>
                  <a:pt x="499175" y="293176"/>
                </a:lnTo>
                <a:lnTo>
                  <a:pt x="520448" y="272279"/>
                </a:lnTo>
                <a:lnTo>
                  <a:pt x="543035" y="251782"/>
                </a:lnTo>
                <a:close/>
              </a:path>
              <a:path w="662939" h="314325">
                <a:moveTo>
                  <a:pt x="579371" y="91421"/>
                </a:moveTo>
                <a:lnTo>
                  <a:pt x="530297" y="91421"/>
                </a:lnTo>
                <a:lnTo>
                  <a:pt x="546930" y="104891"/>
                </a:lnTo>
                <a:lnTo>
                  <a:pt x="567161" y="120462"/>
                </a:lnTo>
                <a:lnTo>
                  <a:pt x="590823" y="138011"/>
                </a:lnTo>
                <a:lnTo>
                  <a:pt x="618075" y="157660"/>
                </a:lnTo>
                <a:lnTo>
                  <a:pt x="603609" y="167458"/>
                </a:lnTo>
                <a:lnTo>
                  <a:pt x="591848" y="175571"/>
                </a:lnTo>
                <a:lnTo>
                  <a:pt x="582800" y="181998"/>
                </a:lnTo>
                <a:lnTo>
                  <a:pt x="576474" y="186737"/>
                </a:lnTo>
                <a:lnTo>
                  <a:pt x="530297" y="222412"/>
                </a:lnTo>
                <a:lnTo>
                  <a:pt x="132320" y="222705"/>
                </a:lnTo>
                <a:lnTo>
                  <a:pt x="578209" y="222705"/>
                </a:lnTo>
                <a:lnTo>
                  <a:pt x="593096" y="211029"/>
                </a:lnTo>
                <a:lnTo>
                  <a:pt x="617199" y="193672"/>
                </a:lnTo>
                <a:lnTo>
                  <a:pt x="640382" y="178580"/>
                </a:lnTo>
                <a:lnTo>
                  <a:pt x="662639" y="165754"/>
                </a:lnTo>
                <a:lnTo>
                  <a:pt x="662639" y="148979"/>
                </a:lnTo>
                <a:lnTo>
                  <a:pt x="644733" y="138473"/>
                </a:lnTo>
                <a:lnTo>
                  <a:pt x="623941" y="124655"/>
                </a:lnTo>
                <a:lnTo>
                  <a:pt x="600271" y="107523"/>
                </a:lnTo>
                <a:lnTo>
                  <a:pt x="579371" y="91421"/>
                </a:lnTo>
                <a:close/>
              </a:path>
              <a:path w="662939" h="314325">
                <a:moveTo>
                  <a:pt x="479597" y="0"/>
                </a:moveTo>
                <a:lnTo>
                  <a:pt x="442834" y="0"/>
                </a:lnTo>
                <a:lnTo>
                  <a:pt x="454677" y="16334"/>
                </a:lnTo>
                <a:lnTo>
                  <a:pt x="467597" y="32071"/>
                </a:lnTo>
                <a:lnTo>
                  <a:pt x="481606" y="47208"/>
                </a:lnTo>
                <a:lnTo>
                  <a:pt x="496717" y="61746"/>
                </a:lnTo>
                <a:lnTo>
                  <a:pt x="543107" y="61746"/>
                </a:lnTo>
                <a:lnTo>
                  <a:pt x="522184" y="43200"/>
                </a:lnTo>
                <a:lnTo>
                  <a:pt x="499770" y="21515"/>
                </a:lnTo>
                <a:lnTo>
                  <a:pt x="479597" y="0"/>
                </a:lnTo>
                <a:close/>
              </a:path>
            </a:pathLst>
          </a:custGeom>
          <a:solidFill>
            <a:srgbClr val="CB3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64</a:t>
            </a:fld>
            <a:endParaRPr spc="-37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13650" cy="1512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855"/>
              </a:lnSpc>
              <a:spcBef>
                <a:spcPts val="95"/>
              </a:spcBef>
            </a:pPr>
            <a:r>
              <a:rPr spc="-254" dirty="0"/>
              <a:t>Симметричная</a:t>
            </a:r>
          </a:p>
          <a:p>
            <a:pPr marL="12700">
              <a:lnSpc>
                <a:spcPts val="5855"/>
              </a:lnSpc>
            </a:pPr>
            <a:r>
              <a:rPr spc="-200" dirty="0"/>
              <a:t>и </a:t>
            </a:r>
            <a:r>
              <a:rPr spc="-250" dirty="0"/>
              <a:t>ортогональная</a:t>
            </a:r>
            <a:r>
              <a:rPr spc="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10137" y="6468778"/>
            <a:ext cx="270573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1815" marR="5080" indent="-539750">
              <a:lnSpc>
                <a:spcPct val="100000"/>
              </a:lnSpc>
              <a:spcBef>
                <a:spcPts val="95"/>
              </a:spcBef>
            </a:pP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е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240" dirty="0">
                <a:solidFill>
                  <a:srgbClr val="1E1E1E"/>
                </a:solidFill>
                <a:latin typeface="Arial"/>
                <a:cs typeface="Arial"/>
              </a:rPr>
              <a:t>ч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н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я 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матрица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76424" y="8793314"/>
            <a:ext cx="64897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3540" algn="l"/>
              </a:tabLst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[1]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6063" y="8479187"/>
            <a:ext cx="2075814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02105" algn="l"/>
              </a:tabLst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 </a:t>
            </a:r>
            <a:r>
              <a:rPr sz="3300" b="1" i="1" spc="-8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3300" b="1" i="1" spc="-1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92111" y="8514370"/>
            <a:ext cx="277495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6830">
              <a:lnSpc>
                <a:spcPts val="2240"/>
              </a:lnSpc>
              <a:spcBef>
                <a:spcPts val="120"/>
              </a:spcBef>
            </a:pPr>
            <a:r>
              <a:rPr sz="1900" b="1" i="1" spc="1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ts val="2240"/>
              </a:lnSpc>
            </a:pP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[1]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77302" y="8793314"/>
            <a:ext cx="68072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94970" algn="l"/>
              </a:tabLst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	</a:t>
            </a:r>
            <a:r>
              <a:rPr sz="1900" b="1" spc="-44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2]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39905" y="8479187"/>
            <a:ext cx="4953000" cy="63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95"/>
              </a:spcBef>
              <a:tabLst>
                <a:tab pos="1296035" algn="l"/>
                <a:tab pos="426974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1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 </a:t>
            </a:r>
            <a:r>
              <a:rPr sz="2850" b="1" i="1" spc="15" baseline="32163" dirty="0">
                <a:solidFill>
                  <a:srgbClr val="1E1E1E"/>
                </a:solidFill>
                <a:latin typeface="Arial"/>
                <a:cs typeface="Arial"/>
              </a:rPr>
              <a:t>Т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4950" b="1" spc="-247" baseline="10942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7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i="1" spc="-6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15" baseline="32163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endParaRPr sz="2850" baseline="32163">
              <a:latin typeface="Arial"/>
              <a:cs typeface="Arial"/>
            </a:endParaRPr>
          </a:p>
          <a:p>
            <a:pPr marL="1792605">
              <a:lnSpc>
                <a:spcPts val="1550"/>
              </a:lnSpc>
              <a:tabLst>
                <a:tab pos="3532504" algn="l"/>
                <a:tab pos="3910965" algn="l"/>
              </a:tabLst>
            </a:pPr>
            <a:r>
              <a:rPr sz="1900" b="1" spc="-409" dirty="0">
                <a:solidFill>
                  <a:srgbClr val="1E1E1E"/>
                </a:solidFill>
                <a:latin typeface="Verdana"/>
                <a:cs typeface="Verdana"/>
              </a:rPr>
              <a:t>[2]	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	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42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93610" y="8793225"/>
            <a:ext cx="3009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34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06104" y="3453163"/>
            <a:ext cx="8707120" cy="214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Ортогональная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матрица </a:t>
            </a:r>
            <a:r>
              <a:rPr sz="3300" b="1" i="1" spc="-535" dirty="0">
                <a:solidFill>
                  <a:srgbClr val="1E1E1E"/>
                </a:solidFill>
                <a:latin typeface="Verdana"/>
                <a:cs typeface="Verdana"/>
              </a:rPr>
              <a:t>P: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55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spc="-825" baseline="-32163" dirty="0">
                <a:solidFill>
                  <a:srgbClr val="1E1E1E"/>
                </a:solidFill>
                <a:latin typeface="Verdana"/>
                <a:cs typeface="Verdana"/>
              </a:rPr>
              <a:t>[1] </a:t>
            </a:r>
            <a:r>
              <a:rPr sz="3300" b="1" spc="-865" dirty="0">
                <a:solidFill>
                  <a:srgbClr val="1E1E1E"/>
                </a:solidFill>
                <a:latin typeface="Verdana"/>
                <a:cs typeface="Verdana"/>
              </a:rPr>
              <a:t>| </a:t>
            </a:r>
            <a:r>
              <a:rPr sz="3300" b="1" spc="-44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spc="-667" baseline="-32163" dirty="0">
                <a:solidFill>
                  <a:srgbClr val="1E1E1E"/>
                </a:solidFill>
                <a:latin typeface="Verdana"/>
                <a:cs typeface="Verdana"/>
              </a:rPr>
              <a:t>[2] </a:t>
            </a:r>
            <a:r>
              <a:rPr sz="3300" b="1" spc="-865" dirty="0">
                <a:solidFill>
                  <a:srgbClr val="1E1E1E"/>
                </a:solidFill>
                <a:latin typeface="Verdana"/>
                <a:cs typeface="Verdana"/>
              </a:rPr>
              <a:t>|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spc="-865" dirty="0">
                <a:solidFill>
                  <a:srgbClr val="1E1E1E"/>
                </a:solidFill>
                <a:latin typeface="Verdana"/>
                <a:cs typeface="Verdana"/>
              </a:rPr>
              <a:t>|</a:t>
            </a:r>
            <a:r>
              <a:rPr sz="3300" b="1" spc="-8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1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spc="-772" baseline="-32163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2850" b="1" i="1" spc="-772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2850" b="1" spc="-772" baseline="-32163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3300" b="1" spc="-515" dirty="0">
                <a:solidFill>
                  <a:srgbClr val="1E1E1E"/>
                </a:solidFill>
                <a:latin typeface="Verdana"/>
                <a:cs typeface="Verdana"/>
              </a:rPr>
              <a:t>]:</a:t>
            </a:r>
            <a:endParaRPr sz="3300">
              <a:latin typeface="Verdana"/>
              <a:cs typeface="Verdana"/>
            </a:endParaRPr>
          </a:p>
          <a:p>
            <a:pPr marL="12700" marR="5072380">
              <a:lnSpc>
                <a:spcPct val="122200"/>
              </a:lnSpc>
              <a:spcBef>
                <a:spcPts val="3075"/>
              </a:spcBef>
            </a:pP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P • P </a:t>
            </a:r>
            <a:r>
              <a:rPr sz="2850" b="1" i="1" spc="15" baseline="32163" dirty="0">
                <a:solidFill>
                  <a:srgbClr val="1E1E1E"/>
                </a:solidFill>
                <a:latin typeface="Arial"/>
                <a:cs typeface="Arial"/>
              </a:rPr>
              <a:t>Т </a:t>
            </a: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= P </a:t>
            </a:r>
            <a:r>
              <a:rPr sz="2850" b="1" i="1" spc="15" baseline="32163" dirty="0">
                <a:solidFill>
                  <a:srgbClr val="1E1E1E"/>
                </a:solidFill>
                <a:latin typeface="Arial"/>
                <a:cs typeface="Arial"/>
              </a:rPr>
              <a:t>Т </a:t>
            </a: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• P = E  </a:t>
            </a:r>
            <a:r>
              <a:rPr sz="4950" b="1" i="1" spc="-7" baseline="-18518" dirty="0">
                <a:solidFill>
                  <a:srgbClr val="1E1E1E"/>
                </a:solidFill>
                <a:latin typeface="Arial"/>
                <a:cs typeface="Arial"/>
              </a:rPr>
              <a:t>P</a:t>
            </a:r>
            <a:r>
              <a:rPr sz="4950" b="1" i="1" spc="-667" baseline="-18518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1E1E1E"/>
                </a:solidFill>
                <a:latin typeface="Arial"/>
                <a:cs typeface="Arial"/>
              </a:rPr>
              <a:t>−1</a:t>
            </a:r>
            <a:r>
              <a:rPr sz="1900" b="1" spc="2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4950" b="1" i="1" spc="-7" baseline="-18518" dirty="0">
                <a:solidFill>
                  <a:srgbClr val="1E1E1E"/>
                </a:solidFill>
                <a:latin typeface="Arial"/>
                <a:cs typeface="Arial"/>
              </a:rPr>
              <a:t>=</a:t>
            </a:r>
            <a:r>
              <a:rPr sz="4950" b="1" i="1" spc="89" baseline="-18518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4950" b="1" i="1" spc="-7" baseline="-18518" dirty="0">
                <a:solidFill>
                  <a:srgbClr val="1E1E1E"/>
                </a:solidFill>
                <a:latin typeface="Arial"/>
                <a:cs typeface="Arial"/>
              </a:rPr>
              <a:t>P</a:t>
            </a:r>
            <a:r>
              <a:rPr sz="4950" b="1" i="1" spc="-667" baseline="-18518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1900" b="1" i="1" spc="1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endParaRPr sz="1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13325" y="6720078"/>
            <a:ext cx="94615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= P</a:t>
            </a:r>
            <a:r>
              <a:rPr sz="3300" b="1" i="1" spc="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•</a:t>
            </a:r>
            <a:endParaRPr sz="3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10563" y="6720078"/>
            <a:ext cx="7861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95"/>
              </a:spcBef>
              <a:buChar char="•"/>
              <a:tabLst>
                <a:tab pos="284480" algn="l"/>
              </a:tabLst>
            </a:pP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P</a:t>
            </a:r>
            <a:r>
              <a:rPr sz="3300" b="1" i="1" spc="-5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2850" b="1" i="1" spc="15" baseline="32163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endParaRPr sz="2850" baseline="32163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24032" y="6468778"/>
            <a:ext cx="262953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3715" marR="5080" indent="-501650">
              <a:lnSpc>
                <a:spcPct val="100000"/>
              </a:lnSpc>
              <a:spcBef>
                <a:spcPts val="95"/>
              </a:spcBef>
            </a:pP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ди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г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она</a:t>
            </a:r>
            <a:r>
              <a:rPr sz="3300" spc="-220" dirty="0">
                <a:solidFill>
                  <a:srgbClr val="1E1E1E"/>
                </a:solidFill>
                <a:latin typeface="Arial"/>
                <a:cs typeface="Arial"/>
              </a:rPr>
              <a:t>л</a:t>
            </a:r>
            <a:r>
              <a:rPr sz="3300" spc="-240" dirty="0">
                <a:solidFill>
                  <a:srgbClr val="1E1E1E"/>
                </a:solidFill>
                <a:latin typeface="Arial"/>
                <a:cs typeface="Arial"/>
              </a:rPr>
              <a:t>ь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н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я 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матрица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97863" y="6431846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5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97863" y="6431846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5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526700" y="6431846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5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526700" y="6431846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5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68398" y="6431846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5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68398" y="6431846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5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297235" y="6431846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5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297235" y="6431846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5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45377" y="4576269"/>
            <a:ext cx="662940" cy="314325"/>
          </a:xfrm>
          <a:custGeom>
            <a:avLst/>
            <a:gdLst/>
            <a:ahLst/>
            <a:cxnLst/>
            <a:rect l="l" t="t" r="r" b="b"/>
            <a:pathLst>
              <a:path w="662939" h="314325">
                <a:moveTo>
                  <a:pt x="219804" y="0"/>
                </a:moveTo>
                <a:lnTo>
                  <a:pt x="182999" y="0"/>
                </a:lnTo>
                <a:lnTo>
                  <a:pt x="163434" y="20954"/>
                </a:lnTo>
                <a:lnTo>
                  <a:pt x="142169" y="41850"/>
                </a:lnTo>
                <a:lnTo>
                  <a:pt x="94562" y="83473"/>
                </a:lnTo>
                <a:lnTo>
                  <a:pt x="45424" y="120462"/>
                </a:lnTo>
                <a:lnTo>
                  <a:pt x="0" y="148372"/>
                </a:lnTo>
                <a:lnTo>
                  <a:pt x="0" y="165157"/>
                </a:lnTo>
                <a:lnTo>
                  <a:pt x="38685" y="189250"/>
                </a:lnTo>
                <a:lnTo>
                  <a:pt x="88908" y="226757"/>
                </a:lnTo>
                <a:lnTo>
                  <a:pt x="140434" y="270701"/>
                </a:lnTo>
                <a:lnTo>
                  <a:pt x="182999" y="314126"/>
                </a:lnTo>
                <a:lnTo>
                  <a:pt x="219804" y="314126"/>
                </a:lnTo>
                <a:lnTo>
                  <a:pt x="208545" y="298655"/>
                </a:lnTo>
                <a:lnTo>
                  <a:pt x="195754" y="283107"/>
                </a:lnTo>
                <a:lnTo>
                  <a:pt x="181433" y="267483"/>
                </a:lnTo>
                <a:lnTo>
                  <a:pt x="165586" y="251782"/>
                </a:lnTo>
                <a:lnTo>
                  <a:pt x="543035" y="251782"/>
                </a:lnTo>
                <a:lnTo>
                  <a:pt x="543416" y="251437"/>
                </a:lnTo>
                <a:lnTo>
                  <a:pt x="568076" y="230652"/>
                </a:lnTo>
                <a:lnTo>
                  <a:pt x="578209" y="222705"/>
                </a:lnTo>
                <a:lnTo>
                  <a:pt x="132320" y="222705"/>
                </a:lnTo>
                <a:lnTo>
                  <a:pt x="115582" y="209105"/>
                </a:lnTo>
                <a:lnTo>
                  <a:pt x="95370" y="193482"/>
                </a:lnTo>
                <a:lnTo>
                  <a:pt x="71264" y="175527"/>
                </a:lnTo>
                <a:lnTo>
                  <a:pt x="44543" y="156162"/>
                </a:lnTo>
                <a:lnTo>
                  <a:pt x="70588" y="138254"/>
                </a:lnTo>
                <a:lnTo>
                  <a:pt x="79686" y="131828"/>
                </a:lnTo>
                <a:lnTo>
                  <a:pt x="86164" y="127085"/>
                </a:lnTo>
                <a:lnTo>
                  <a:pt x="132320" y="91421"/>
                </a:lnTo>
                <a:lnTo>
                  <a:pt x="579371" y="91421"/>
                </a:lnTo>
                <a:lnTo>
                  <a:pt x="573731" y="87075"/>
                </a:lnTo>
                <a:lnTo>
                  <a:pt x="546838" y="65053"/>
                </a:lnTo>
                <a:lnTo>
                  <a:pt x="543107" y="61746"/>
                </a:lnTo>
                <a:lnTo>
                  <a:pt x="165586" y="61746"/>
                </a:lnTo>
                <a:lnTo>
                  <a:pt x="181551" y="46197"/>
                </a:lnTo>
                <a:lnTo>
                  <a:pt x="195911" y="30724"/>
                </a:lnTo>
                <a:lnTo>
                  <a:pt x="208663" y="15325"/>
                </a:lnTo>
                <a:lnTo>
                  <a:pt x="219804" y="0"/>
                </a:lnTo>
                <a:close/>
              </a:path>
              <a:path w="662939" h="314325">
                <a:moveTo>
                  <a:pt x="543035" y="251782"/>
                </a:moveTo>
                <a:lnTo>
                  <a:pt x="165586" y="251782"/>
                </a:lnTo>
                <a:lnTo>
                  <a:pt x="496717" y="252379"/>
                </a:lnTo>
                <a:lnTo>
                  <a:pt x="480758" y="267930"/>
                </a:lnTo>
                <a:lnTo>
                  <a:pt x="466466" y="283406"/>
                </a:lnTo>
                <a:lnTo>
                  <a:pt x="453829" y="298805"/>
                </a:lnTo>
                <a:lnTo>
                  <a:pt x="442834" y="314126"/>
                </a:lnTo>
                <a:lnTo>
                  <a:pt x="479597" y="314126"/>
                </a:lnTo>
                <a:lnTo>
                  <a:pt x="499175" y="293176"/>
                </a:lnTo>
                <a:lnTo>
                  <a:pt x="520448" y="272279"/>
                </a:lnTo>
                <a:lnTo>
                  <a:pt x="543035" y="251782"/>
                </a:lnTo>
                <a:close/>
              </a:path>
              <a:path w="662939" h="314325">
                <a:moveTo>
                  <a:pt x="579371" y="91421"/>
                </a:moveTo>
                <a:lnTo>
                  <a:pt x="530297" y="91421"/>
                </a:lnTo>
                <a:lnTo>
                  <a:pt x="546930" y="104891"/>
                </a:lnTo>
                <a:lnTo>
                  <a:pt x="567161" y="120462"/>
                </a:lnTo>
                <a:lnTo>
                  <a:pt x="590823" y="138011"/>
                </a:lnTo>
                <a:lnTo>
                  <a:pt x="618075" y="157660"/>
                </a:lnTo>
                <a:lnTo>
                  <a:pt x="603609" y="167458"/>
                </a:lnTo>
                <a:lnTo>
                  <a:pt x="591848" y="175571"/>
                </a:lnTo>
                <a:lnTo>
                  <a:pt x="582800" y="181998"/>
                </a:lnTo>
                <a:lnTo>
                  <a:pt x="576474" y="186737"/>
                </a:lnTo>
                <a:lnTo>
                  <a:pt x="530297" y="222412"/>
                </a:lnTo>
                <a:lnTo>
                  <a:pt x="132320" y="222705"/>
                </a:lnTo>
                <a:lnTo>
                  <a:pt x="578209" y="222705"/>
                </a:lnTo>
                <a:lnTo>
                  <a:pt x="593096" y="211029"/>
                </a:lnTo>
                <a:lnTo>
                  <a:pt x="617199" y="193672"/>
                </a:lnTo>
                <a:lnTo>
                  <a:pt x="640382" y="178580"/>
                </a:lnTo>
                <a:lnTo>
                  <a:pt x="662639" y="165754"/>
                </a:lnTo>
                <a:lnTo>
                  <a:pt x="662639" y="148979"/>
                </a:lnTo>
                <a:lnTo>
                  <a:pt x="644733" y="138473"/>
                </a:lnTo>
                <a:lnTo>
                  <a:pt x="623941" y="124655"/>
                </a:lnTo>
                <a:lnTo>
                  <a:pt x="600271" y="107523"/>
                </a:lnTo>
                <a:lnTo>
                  <a:pt x="579371" y="91421"/>
                </a:lnTo>
                <a:close/>
              </a:path>
              <a:path w="662939" h="314325">
                <a:moveTo>
                  <a:pt x="479597" y="0"/>
                </a:moveTo>
                <a:lnTo>
                  <a:pt x="442834" y="0"/>
                </a:lnTo>
                <a:lnTo>
                  <a:pt x="454677" y="16334"/>
                </a:lnTo>
                <a:lnTo>
                  <a:pt x="467597" y="32071"/>
                </a:lnTo>
                <a:lnTo>
                  <a:pt x="481606" y="47208"/>
                </a:lnTo>
                <a:lnTo>
                  <a:pt x="496717" y="61746"/>
                </a:lnTo>
                <a:lnTo>
                  <a:pt x="543107" y="61746"/>
                </a:lnTo>
                <a:lnTo>
                  <a:pt x="522184" y="43200"/>
                </a:lnTo>
                <a:lnTo>
                  <a:pt x="499770" y="21515"/>
                </a:lnTo>
                <a:lnTo>
                  <a:pt x="479597" y="0"/>
                </a:lnTo>
                <a:close/>
              </a:path>
            </a:pathLst>
          </a:custGeom>
          <a:solidFill>
            <a:srgbClr val="CB3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65</a:t>
            </a:fld>
            <a:endParaRPr spc="-37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269047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Экстремальное </a:t>
            </a:r>
            <a:r>
              <a:rPr spc="-405" dirty="0"/>
              <a:t>свойство </a:t>
            </a:r>
            <a:r>
              <a:rPr spc="-375" dirty="0"/>
              <a:t>собственных</a:t>
            </a:r>
            <a:r>
              <a:rPr spc="-515" dirty="0"/>
              <a:t> </a:t>
            </a:r>
            <a:r>
              <a:rPr spc="-395" dirty="0"/>
              <a:t>чисел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13309" y="5463573"/>
            <a:ext cx="1548765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3960"/>
              </a:lnSpc>
              <a:spcBef>
                <a:spcPts val="95"/>
              </a:spcBef>
            </a:pPr>
            <a:r>
              <a:rPr sz="3300" b="1" spc="-109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spc="-955" dirty="0">
                <a:solidFill>
                  <a:srgbClr val="1E1E1E"/>
                </a:solidFill>
                <a:latin typeface="Verdana"/>
                <a:cs typeface="Verdana"/>
              </a:rPr>
              <a:t>⁄</a:t>
            </a:r>
            <a:r>
              <a:rPr sz="3300" b="1" spc="-1205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3300">
              <a:latin typeface="Verdana"/>
              <a:cs typeface="Verdana"/>
            </a:endParaRPr>
          </a:p>
          <a:p>
            <a:pPr marL="1166495" marR="5080" indent="-1154430" algn="r">
              <a:lnSpc>
                <a:spcPts val="3960"/>
              </a:lnSpc>
              <a:spcBef>
                <a:spcPts val="130"/>
              </a:spcBef>
              <a:tabLst>
                <a:tab pos="1196340" algn="l"/>
              </a:tabLst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4</a:t>
            </a:r>
            <a:r>
              <a:rPr sz="3300" b="1" spc="-4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	</a:t>
            </a:r>
            <a:r>
              <a:rPr sz="3300" b="1" spc="-132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spc="-955" dirty="0">
                <a:solidFill>
                  <a:srgbClr val="1E1E1E"/>
                </a:solidFill>
                <a:latin typeface="Verdana"/>
                <a:cs typeface="Verdana"/>
              </a:rPr>
              <a:t>⁄</a:t>
            </a:r>
            <a:r>
              <a:rPr sz="3300" b="1" spc="-790" dirty="0">
                <a:solidFill>
                  <a:srgbClr val="1E1E1E"/>
                </a:solidFill>
                <a:latin typeface="Verdana"/>
                <a:cs typeface="Verdana"/>
              </a:rPr>
              <a:t>3  </a:t>
            </a:r>
            <a:r>
              <a:rPr sz="3300" b="1" spc="-109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spc="-955" dirty="0">
                <a:solidFill>
                  <a:srgbClr val="1E1E1E"/>
                </a:solidFill>
                <a:latin typeface="Verdana"/>
                <a:cs typeface="Verdana"/>
              </a:rPr>
              <a:t>⁄</a:t>
            </a:r>
            <a:r>
              <a:rPr sz="3300" b="1" spc="-1205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209" y="5714874"/>
            <a:ext cx="3668395" cy="1282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5510">
              <a:lnSpc>
                <a:spcPts val="2970"/>
              </a:lnSpc>
              <a:spcBef>
                <a:spcPts val="95"/>
              </a:spcBef>
              <a:tabLst>
                <a:tab pos="1885314" algn="l"/>
                <a:tab pos="2460625" algn="l"/>
                <a:tab pos="3342004" algn="l"/>
              </a:tabLst>
            </a:pPr>
            <a:r>
              <a:rPr sz="4950" b="1" spc="-1987" baseline="336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4950" b="1" spc="-1432" baseline="33670" dirty="0">
                <a:solidFill>
                  <a:srgbClr val="1E1E1E"/>
                </a:solidFill>
                <a:latin typeface="Verdana"/>
                <a:cs typeface="Verdana"/>
              </a:rPr>
              <a:t>⁄</a:t>
            </a:r>
            <a:r>
              <a:rPr sz="4950" b="1" spc="-1807" baseline="33670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r>
              <a:rPr sz="4950" b="1" baseline="33670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1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2970"/>
              </a:lnSpc>
              <a:tabLst>
                <a:tab pos="875030" algn="l"/>
                <a:tab pos="1962785" algn="l"/>
              </a:tabLst>
            </a:pP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7</a:t>
            </a:r>
            <a:r>
              <a:rPr sz="3300" b="1" spc="-4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∙	</a:t>
            </a:r>
            <a:r>
              <a:rPr sz="3300" b="1" spc="-1085" dirty="0">
                <a:solidFill>
                  <a:srgbClr val="1E1E1E"/>
                </a:solidFill>
                <a:latin typeface="Verdana"/>
                <a:cs typeface="Verdana"/>
              </a:rPr>
              <a:t>2⁄3	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 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4950" baseline="-33670">
              <a:latin typeface="Verdana"/>
              <a:cs typeface="Verdana"/>
            </a:endParaRPr>
          </a:p>
          <a:p>
            <a:pPr marL="789940">
              <a:lnSpc>
                <a:spcPts val="3960"/>
              </a:lnSpc>
            </a:pPr>
            <a:r>
              <a:rPr sz="3300" b="1" spc="-1045" dirty="0">
                <a:solidFill>
                  <a:srgbClr val="1E1E1E"/>
                </a:solidFill>
                <a:latin typeface="Verdana"/>
                <a:cs typeface="Verdana"/>
              </a:rPr>
              <a:t>-2⁄3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85945" y="5714874"/>
            <a:ext cx="15125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7375" algn="l"/>
                <a:tab pos="1186180" algn="l"/>
              </a:tabLst>
            </a:pP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66329" y="6217477"/>
            <a:ext cx="143192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 </a:t>
            </a:r>
            <a:r>
              <a:rPr sz="4950" b="1" i="1" spc="-502" baseline="3367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 </a:t>
            </a:r>
            <a:r>
              <a:rPr sz="4950" b="1" i="1" spc="-502" baseline="33670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4950" b="1" i="1" spc="-1139" baseline="336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21904" y="5714874"/>
            <a:ext cx="15354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0235" algn="l"/>
                <a:tab pos="1209040" algn="l"/>
              </a:tabLst>
            </a:pP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97475" y="5463573"/>
            <a:ext cx="3959860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355725" algn="ctr">
              <a:lnSpc>
                <a:spcPts val="3960"/>
              </a:lnSpc>
              <a:spcBef>
                <a:spcPts val="95"/>
              </a:spcBef>
            </a:pPr>
            <a:r>
              <a:rPr sz="3300" b="1" spc="-1045" dirty="0">
                <a:solidFill>
                  <a:srgbClr val="1E1E1E"/>
                </a:solidFill>
                <a:latin typeface="Verdana"/>
                <a:cs typeface="Verdana"/>
              </a:rPr>
              <a:t>-2⁄3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54"/>
              </a:lnSpc>
              <a:tabLst>
                <a:tab pos="1155065" algn="l"/>
                <a:tab pos="2145665" algn="l"/>
              </a:tabLst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 </a:t>
            </a:r>
            <a:r>
              <a:rPr sz="3300" b="1" spc="-8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1</a:t>
            </a:r>
            <a:r>
              <a:rPr sz="3300" b="1" spc="-4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∙	</a:t>
            </a:r>
            <a:r>
              <a:rPr sz="3300" b="1" spc="-1085" dirty="0">
                <a:solidFill>
                  <a:srgbClr val="1E1E1E"/>
                </a:solidFill>
                <a:latin typeface="Verdana"/>
                <a:cs typeface="Verdana"/>
              </a:rPr>
              <a:t>2⁄3	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4950" baseline="-33670">
              <a:latin typeface="Verdana"/>
              <a:cs typeface="Verdana"/>
            </a:endParaRPr>
          </a:p>
          <a:p>
            <a:pPr marR="1242695" algn="ctr">
              <a:lnSpc>
                <a:spcPts val="3960"/>
              </a:lnSpc>
            </a:pPr>
            <a:r>
              <a:rPr sz="3300" b="1" spc="-1160" dirty="0">
                <a:solidFill>
                  <a:srgbClr val="1E1E1E"/>
                </a:solidFill>
                <a:latin typeface="Verdana"/>
                <a:cs typeface="Verdana"/>
              </a:rPr>
              <a:t>1⁄3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83706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5" h="1570990">
                <a:moveTo>
                  <a:pt x="217564" y="0"/>
                </a:moveTo>
                <a:lnTo>
                  <a:pt x="0" y="0"/>
                </a:lnTo>
                <a:lnTo>
                  <a:pt x="0" y="1570632"/>
                </a:lnTo>
                <a:lnTo>
                  <a:pt x="217564" y="1570632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89560" y="5805697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4" h="955675">
                <a:moveTo>
                  <a:pt x="217564" y="0"/>
                </a:moveTo>
                <a:lnTo>
                  <a:pt x="0" y="0"/>
                </a:lnTo>
                <a:lnTo>
                  <a:pt x="0" y="955384"/>
                </a:lnTo>
                <a:lnTo>
                  <a:pt x="217564" y="955384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96420" y="5805697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4" h="955675">
                <a:moveTo>
                  <a:pt x="217564" y="0"/>
                </a:moveTo>
                <a:lnTo>
                  <a:pt x="0" y="0"/>
                </a:lnTo>
                <a:lnTo>
                  <a:pt x="0" y="955384"/>
                </a:lnTo>
                <a:lnTo>
                  <a:pt x="217564" y="955384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704062" y="5805697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4" h="955675">
                <a:moveTo>
                  <a:pt x="217564" y="0"/>
                </a:moveTo>
                <a:lnTo>
                  <a:pt x="0" y="0"/>
                </a:lnTo>
                <a:lnTo>
                  <a:pt x="0" y="955384"/>
                </a:lnTo>
                <a:lnTo>
                  <a:pt x="217564" y="955384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65866" y="5805781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4" h="955675">
                <a:moveTo>
                  <a:pt x="0" y="955384"/>
                </a:moveTo>
                <a:lnTo>
                  <a:pt x="217564" y="955384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242367" y="5805781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4" h="955675">
                <a:moveTo>
                  <a:pt x="0" y="955384"/>
                </a:moveTo>
                <a:lnTo>
                  <a:pt x="217564" y="955384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722095" y="5805781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5" h="955675">
                <a:moveTo>
                  <a:pt x="0" y="955384"/>
                </a:moveTo>
                <a:lnTo>
                  <a:pt x="217564" y="955384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14161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5" h="1570990">
                <a:moveTo>
                  <a:pt x="0" y="1570632"/>
                </a:moveTo>
                <a:lnTo>
                  <a:pt x="217564" y="1570632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87791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4" h="1570990">
                <a:moveTo>
                  <a:pt x="217564" y="0"/>
                </a:moveTo>
                <a:lnTo>
                  <a:pt x="0" y="0"/>
                </a:lnTo>
                <a:lnTo>
                  <a:pt x="0" y="1570632"/>
                </a:lnTo>
                <a:lnTo>
                  <a:pt x="217564" y="1570632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18246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4" h="1570990">
                <a:moveTo>
                  <a:pt x="0" y="1570632"/>
                </a:moveTo>
                <a:lnTo>
                  <a:pt x="217564" y="1570632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655507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4" h="1570990">
                <a:moveTo>
                  <a:pt x="217564" y="0"/>
                </a:moveTo>
                <a:lnTo>
                  <a:pt x="0" y="0"/>
                </a:lnTo>
                <a:lnTo>
                  <a:pt x="0" y="1570632"/>
                </a:lnTo>
                <a:lnTo>
                  <a:pt x="217564" y="1570632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185942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4" h="1570990">
                <a:moveTo>
                  <a:pt x="0" y="1570632"/>
                </a:moveTo>
                <a:lnTo>
                  <a:pt x="217564" y="1570632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406104" y="2950560"/>
            <a:ext cx="4644390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93215">
              <a:lnSpc>
                <a:spcPts val="3960"/>
              </a:lnSpc>
              <a:spcBef>
                <a:spcPts val="95"/>
              </a:spcBef>
              <a:tabLst>
                <a:tab pos="2401570" algn="l"/>
                <a:tab pos="3324225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	2	0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  <a:tabLst>
                <a:tab pos="1593215" algn="l"/>
                <a:tab pos="2401570" algn="l"/>
                <a:tab pos="3096260" algn="l"/>
                <a:tab pos="4381500" algn="l"/>
              </a:tabLst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r>
              <a:rPr sz="3300" spc="-2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4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spc="-955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64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  <a:p>
            <a:pPr marL="1593215">
              <a:lnSpc>
                <a:spcPts val="3960"/>
              </a:lnSpc>
              <a:tabLst>
                <a:tab pos="2173605" algn="l"/>
                <a:tab pos="3324225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	</a:t>
            </a:r>
            <a:r>
              <a:rPr sz="3300" b="1" spc="-795" dirty="0">
                <a:solidFill>
                  <a:srgbClr val="1E1E1E"/>
                </a:solidFill>
                <a:latin typeface="Verdana"/>
                <a:cs typeface="Verdana"/>
              </a:rPr>
              <a:t>−2	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5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109457" y="2908298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143775" y="0"/>
                </a:moveTo>
                <a:lnTo>
                  <a:pt x="0" y="0"/>
                </a:lnTo>
                <a:lnTo>
                  <a:pt x="24334" y="35276"/>
                </a:lnTo>
                <a:lnTo>
                  <a:pt x="47968" y="71681"/>
                </a:lnTo>
                <a:lnTo>
                  <a:pt x="70817" y="109260"/>
                </a:lnTo>
                <a:lnTo>
                  <a:pt x="92797" y="148061"/>
                </a:lnTo>
                <a:lnTo>
                  <a:pt x="113826" y="188132"/>
                </a:lnTo>
                <a:lnTo>
                  <a:pt x="133820" y="229519"/>
                </a:lnTo>
                <a:lnTo>
                  <a:pt x="152694" y="272270"/>
                </a:lnTo>
                <a:lnTo>
                  <a:pt x="170366" y="316431"/>
                </a:lnTo>
                <a:lnTo>
                  <a:pt x="186752" y="362050"/>
                </a:lnTo>
                <a:lnTo>
                  <a:pt x="201767" y="409174"/>
                </a:lnTo>
                <a:lnTo>
                  <a:pt x="215330" y="457850"/>
                </a:lnTo>
                <a:lnTo>
                  <a:pt x="227355" y="508126"/>
                </a:lnTo>
                <a:lnTo>
                  <a:pt x="237760" y="560048"/>
                </a:lnTo>
                <a:lnTo>
                  <a:pt x="246460" y="613664"/>
                </a:lnTo>
                <a:lnTo>
                  <a:pt x="253372" y="669020"/>
                </a:lnTo>
                <a:lnTo>
                  <a:pt x="258413" y="726164"/>
                </a:lnTo>
                <a:lnTo>
                  <a:pt x="261499" y="785144"/>
                </a:lnTo>
                <a:lnTo>
                  <a:pt x="262546" y="846005"/>
                </a:lnTo>
                <a:lnTo>
                  <a:pt x="261536" y="907888"/>
                </a:lnTo>
                <a:lnTo>
                  <a:pt x="258551" y="967844"/>
                </a:lnTo>
                <a:lnTo>
                  <a:pt x="253662" y="1025913"/>
                </a:lnTo>
                <a:lnTo>
                  <a:pt x="246940" y="1082137"/>
                </a:lnTo>
                <a:lnTo>
                  <a:pt x="238456" y="1136555"/>
                </a:lnTo>
                <a:lnTo>
                  <a:pt x="228281" y="1189210"/>
                </a:lnTo>
                <a:lnTo>
                  <a:pt x="216485" y="1240140"/>
                </a:lnTo>
                <a:lnTo>
                  <a:pt x="203139" y="1289388"/>
                </a:lnTo>
                <a:lnTo>
                  <a:pt x="188314" y="1336994"/>
                </a:lnTo>
                <a:lnTo>
                  <a:pt x="172081" y="1382999"/>
                </a:lnTo>
                <a:lnTo>
                  <a:pt x="154510" y="1427442"/>
                </a:lnTo>
                <a:lnTo>
                  <a:pt x="135672" y="1470366"/>
                </a:lnTo>
                <a:lnTo>
                  <a:pt x="115638" y="1511811"/>
                </a:lnTo>
                <a:lnTo>
                  <a:pt x="94478" y="1551817"/>
                </a:lnTo>
                <a:lnTo>
                  <a:pt x="72264" y="1590426"/>
                </a:lnTo>
                <a:lnTo>
                  <a:pt x="49065" y="1627677"/>
                </a:lnTo>
                <a:lnTo>
                  <a:pt x="24954" y="1663613"/>
                </a:lnTo>
                <a:lnTo>
                  <a:pt x="0" y="1698272"/>
                </a:lnTo>
                <a:lnTo>
                  <a:pt x="143775" y="1698272"/>
                </a:lnTo>
                <a:lnTo>
                  <a:pt x="187642" y="1636458"/>
                </a:lnTo>
                <a:lnTo>
                  <a:pt x="209432" y="1602871"/>
                </a:lnTo>
                <a:lnTo>
                  <a:pt x="230926" y="1567425"/>
                </a:lnTo>
                <a:lnTo>
                  <a:pt x="251975" y="1530067"/>
                </a:lnTo>
                <a:lnTo>
                  <a:pt x="272428" y="1490743"/>
                </a:lnTo>
                <a:lnTo>
                  <a:pt x="292134" y="1449399"/>
                </a:lnTo>
                <a:lnTo>
                  <a:pt x="310945" y="1405983"/>
                </a:lnTo>
                <a:lnTo>
                  <a:pt x="328709" y="1360440"/>
                </a:lnTo>
                <a:lnTo>
                  <a:pt x="345278" y="1312716"/>
                </a:lnTo>
                <a:lnTo>
                  <a:pt x="360500" y="1262759"/>
                </a:lnTo>
                <a:lnTo>
                  <a:pt x="374225" y="1210515"/>
                </a:lnTo>
                <a:lnTo>
                  <a:pt x="386305" y="1155929"/>
                </a:lnTo>
                <a:lnTo>
                  <a:pt x="396587" y="1098948"/>
                </a:lnTo>
                <a:lnTo>
                  <a:pt x="404923" y="1039519"/>
                </a:lnTo>
                <a:lnTo>
                  <a:pt x="411163" y="977588"/>
                </a:lnTo>
                <a:lnTo>
                  <a:pt x="415155" y="913101"/>
                </a:lnTo>
                <a:lnTo>
                  <a:pt x="416751" y="846005"/>
                </a:lnTo>
                <a:lnTo>
                  <a:pt x="415465" y="779568"/>
                </a:lnTo>
                <a:lnTo>
                  <a:pt x="411712" y="715669"/>
                </a:lnTo>
                <a:lnTo>
                  <a:pt x="405647" y="654260"/>
                </a:lnTo>
                <a:lnTo>
                  <a:pt x="397428" y="595296"/>
                </a:lnTo>
                <a:lnTo>
                  <a:pt x="387210" y="538729"/>
                </a:lnTo>
                <a:lnTo>
                  <a:pt x="375152" y="484511"/>
                </a:lnTo>
                <a:lnTo>
                  <a:pt x="361408" y="432595"/>
                </a:lnTo>
                <a:lnTo>
                  <a:pt x="346135" y="382935"/>
                </a:lnTo>
                <a:lnTo>
                  <a:pt x="329491" y="335483"/>
                </a:lnTo>
                <a:lnTo>
                  <a:pt x="311631" y="290192"/>
                </a:lnTo>
                <a:lnTo>
                  <a:pt x="292712" y="247014"/>
                </a:lnTo>
                <a:lnTo>
                  <a:pt x="272891" y="205904"/>
                </a:lnTo>
                <a:lnTo>
                  <a:pt x="252323" y="166813"/>
                </a:lnTo>
                <a:lnTo>
                  <a:pt x="231166" y="129694"/>
                </a:lnTo>
                <a:lnTo>
                  <a:pt x="209577" y="94500"/>
                </a:lnTo>
                <a:lnTo>
                  <a:pt x="187711" y="61185"/>
                </a:lnTo>
                <a:lnTo>
                  <a:pt x="165725" y="29700"/>
                </a:lnTo>
                <a:lnTo>
                  <a:pt x="14377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09457" y="2908298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143775" y="1698272"/>
                </a:moveTo>
                <a:lnTo>
                  <a:pt x="187642" y="1636458"/>
                </a:lnTo>
                <a:lnTo>
                  <a:pt x="209432" y="1602871"/>
                </a:lnTo>
                <a:lnTo>
                  <a:pt x="230926" y="1567425"/>
                </a:lnTo>
                <a:lnTo>
                  <a:pt x="251975" y="1530067"/>
                </a:lnTo>
                <a:lnTo>
                  <a:pt x="272428" y="1490743"/>
                </a:lnTo>
                <a:lnTo>
                  <a:pt x="292134" y="1449399"/>
                </a:lnTo>
                <a:lnTo>
                  <a:pt x="310945" y="1405983"/>
                </a:lnTo>
                <a:lnTo>
                  <a:pt x="328709" y="1360440"/>
                </a:lnTo>
                <a:lnTo>
                  <a:pt x="345278" y="1312716"/>
                </a:lnTo>
                <a:lnTo>
                  <a:pt x="360500" y="1262759"/>
                </a:lnTo>
                <a:lnTo>
                  <a:pt x="374225" y="1210515"/>
                </a:lnTo>
                <a:lnTo>
                  <a:pt x="386305" y="1155929"/>
                </a:lnTo>
                <a:lnTo>
                  <a:pt x="396587" y="1098948"/>
                </a:lnTo>
                <a:lnTo>
                  <a:pt x="404923" y="1039519"/>
                </a:lnTo>
                <a:lnTo>
                  <a:pt x="411163" y="977588"/>
                </a:lnTo>
                <a:lnTo>
                  <a:pt x="415155" y="913101"/>
                </a:lnTo>
                <a:lnTo>
                  <a:pt x="416751" y="846005"/>
                </a:lnTo>
                <a:lnTo>
                  <a:pt x="415465" y="779568"/>
                </a:lnTo>
                <a:lnTo>
                  <a:pt x="411712" y="715669"/>
                </a:lnTo>
                <a:lnTo>
                  <a:pt x="405647" y="654260"/>
                </a:lnTo>
                <a:lnTo>
                  <a:pt x="397428" y="595296"/>
                </a:lnTo>
                <a:lnTo>
                  <a:pt x="387210" y="538729"/>
                </a:lnTo>
                <a:lnTo>
                  <a:pt x="375152" y="484511"/>
                </a:lnTo>
                <a:lnTo>
                  <a:pt x="361408" y="432595"/>
                </a:lnTo>
                <a:lnTo>
                  <a:pt x="346135" y="382935"/>
                </a:lnTo>
                <a:lnTo>
                  <a:pt x="329491" y="335483"/>
                </a:lnTo>
                <a:lnTo>
                  <a:pt x="311631" y="290192"/>
                </a:lnTo>
                <a:lnTo>
                  <a:pt x="292712" y="247014"/>
                </a:lnTo>
                <a:lnTo>
                  <a:pt x="272891" y="205904"/>
                </a:lnTo>
                <a:lnTo>
                  <a:pt x="252323" y="166813"/>
                </a:lnTo>
                <a:lnTo>
                  <a:pt x="231166" y="129694"/>
                </a:lnTo>
                <a:lnTo>
                  <a:pt x="209577" y="94500"/>
                </a:lnTo>
                <a:lnTo>
                  <a:pt x="187711" y="61185"/>
                </a:lnTo>
                <a:lnTo>
                  <a:pt x="165725" y="29700"/>
                </a:lnTo>
                <a:lnTo>
                  <a:pt x="143775" y="0"/>
                </a:lnTo>
                <a:lnTo>
                  <a:pt x="0" y="0"/>
                </a:lnTo>
                <a:lnTo>
                  <a:pt x="24334" y="35276"/>
                </a:lnTo>
                <a:lnTo>
                  <a:pt x="47968" y="71681"/>
                </a:lnTo>
                <a:lnTo>
                  <a:pt x="70817" y="109260"/>
                </a:lnTo>
                <a:lnTo>
                  <a:pt x="92797" y="148061"/>
                </a:lnTo>
                <a:lnTo>
                  <a:pt x="113826" y="188132"/>
                </a:lnTo>
                <a:lnTo>
                  <a:pt x="133820" y="229519"/>
                </a:lnTo>
                <a:lnTo>
                  <a:pt x="152694" y="272270"/>
                </a:lnTo>
                <a:lnTo>
                  <a:pt x="170366" y="316431"/>
                </a:lnTo>
                <a:lnTo>
                  <a:pt x="186752" y="362050"/>
                </a:lnTo>
                <a:lnTo>
                  <a:pt x="201767" y="409174"/>
                </a:lnTo>
                <a:lnTo>
                  <a:pt x="215330" y="457850"/>
                </a:lnTo>
                <a:lnTo>
                  <a:pt x="227355" y="508126"/>
                </a:lnTo>
                <a:lnTo>
                  <a:pt x="237760" y="560048"/>
                </a:lnTo>
                <a:lnTo>
                  <a:pt x="246460" y="613664"/>
                </a:lnTo>
                <a:lnTo>
                  <a:pt x="253372" y="669020"/>
                </a:lnTo>
                <a:lnTo>
                  <a:pt x="258413" y="726164"/>
                </a:lnTo>
                <a:lnTo>
                  <a:pt x="261499" y="785144"/>
                </a:lnTo>
                <a:lnTo>
                  <a:pt x="262546" y="846005"/>
                </a:lnTo>
                <a:lnTo>
                  <a:pt x="261536" y="907888"/>
                </a:lnTo>
                <a:lnTo>
                  <a:pt x="258551" y="967844"/>
                </a:lnTo>
                <a:lnTo>
                  <a:pt x="253662" y="1025913"/>
                </a:lnTo>
                <a:lnTo>
                  <a:pt x="246940" y="1082137"/>
                </a:lnTo>
                <a:lnTo>
                  <a:pt x="238456" y="1136555"/>
                </a:lnTo>
                <a:lnTo>
                  <a:pt x="228281" y="1189210"/>
                </a:lnTo>
                <a:lnTo>
                  <a:pt x="216485" y="1240140"/>
                </a:lnTo>
                <a:lnTo>
                  <a:pt x="203139" y="1289388"/>
                </a:lnTo>
                <a:lnTo>
                  <a:pt x="188314" y="1336994"/>
                </a:lnTo>
                <a:lnTo>
                  <a:pt x="172081" y="1382999"/>
                </a:lnTo>
                <a:lnTo>
                  <a:pt x="154510" y="1427442"/>
                </a:lnTo>
                <a:lnTo>
                  <a:pt x="135672" y="1470366"/>
                </a:lnTo>
                <a:lnTo>
                  <a:pt x="115638" y="1511811"/>
                </a:lnTo>
                <a:lnTo>
                  <a:pt x="94478" y="1551817"/>
                </a:lnTo>
                <a:lnTo>
                  <a:pt x="72264" y="1590426"/>
                </a:lnTo>
                <a:lnTo>
                  <a:pt x="49065" y="1627677"/>
                </a:lnTo>
                <a:lnTo>
                  <a:pt x="24954" y="1663613"/>
                </a:lnTo>
                <a:lnTo>
                  <a:pt x="0" y="1698272"/>
                </a:lnTo>
                <a:lnTo>
                  <a:pt x="143775" y="1698272"/>
                </a:lnTo>
                <a:close/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424009" y="2908288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4" h="1698625">
                <a:moveTo>
                  <a:pt x="416751" y="0"/>
                </a:moveTo>
                <a:lnTo>
                  <a:pt x="272975" y="0"/>
                </a:lnTo>
                <a:lnTo>
                  <a:pt x="251044" y="30031"/>
                </a:lnTo>
                <a:lnTo>
                  <a:pt x="229109" y="61814"/>
                </a:lnTo>
                <a:lnTo>
                  <a:pt x="207319" y="95401"/>
                </a:lnTo>
                <a:lnTo>
                  <a:pt x="185824" y="130847"/>
                </a:lnTo>
                <a:lnTo>
                  <a:pt x="164776" y="168205"/>
                </a:lnTo>
                <a:lnTo>
                  <a:pt x="144323" y="207529"/>
                </a:lnTo>
                <a:lnTo>
                  <a:pt x="124617" y="248873"/>
                </a:lnTo>
                <a:lnTo>
                  <a:pt x="105806" y="292289"/>
                </a:lnTo>
                <a:lnTo>
                  <a:pt x="88041" y="337832"/>
                </a:lnTo>
                <a:lnTo>
                  <a:pt x="71473" y="385555"/>
                </a:lnTo>
                <a:lnTo>
                  <a:pt x="56251" y="435513"/>
                </a:lnTo>
                <a:lnTo>
                  <a:pt x="42525" y="487757"/>
                </a:lnTo>
                <a:lnTo>
                  <a:pt x="30446" y="542343"/>
                </a:lnTo>
                <a:lnTo>
                  <a:pt x="20163" y="599324"/>
                </a:lnTo>
                <a:lnTo>
                  <a:pt x="11827" y="658753"/>
                </a:lnTo>
                <a:lnTo>
                  <a:pt x="5588" y="720684"/>
                </a:lnTo>
                <a:lnTo>
                  <a:pt x="1595" y="785171"/>
                </a:lnTo>
                <a:lnTo>
                  <a:pt x="0" y="852267"/>
                </a:lnTo>
                <a:lnTo>
                  <a:pt x="1285" y="918704"/>
                </a:lnTo>
                <a:lnTo>
                  <a:pt x="5039" y="982603"/>
                </a:lnTo>
                <a:lnTo>
                  <a:pt x="11104" y="1044011"/>
                </a:lnTo>
                <a:lnTo>
                  <a:pt x="19323" y="1102976"/>
                </a:lnTo>
                <a:lnTo>
                  <a:pt x="29540" y="1159543"/>
                </a:lnTo>
                <a:lnTo>
                  <a:pt x="41599" y="1213761"/>
                </a:lnTo>
                <a:lnTo>
                  <a:pt x="55343" y="1265677"/>
                </a:lnTo>
                <a:lnTo>
                  <a:pt x="70615" y="1315337"/>
                </a:lnTo>
                <a:lnTo>
                  <a:pt x="87260" y="1362789"/>
                </a:lnTo>
                <a:lnTo>
                  <a:pt x="105120" y="1408080"/>
                </a:lnTo>
                <a:lnTo>
                  <a:pt x="124039" y="1451258"/>
                </a:lnTo>
                <a:lnTo>
                  <a:pt x="143860" y="1492368"/>
                </a:lnTo>
                <a:lnTo>
                  <a:pt x="164427" y="1531459"/>
                </a:lnTo>
                <a:lnTo>
                  <a:pt x="185584" y="1568578"/>
                </a:lnTo>
                <a:lnTo>
                  <a:pt x="207174" y="1603772"/>
                </a:lnTo>
                <a:lnTo>
                  <a:pt x="229040" y="1637087"/>
                </a:lnTo>
                <a:lnTo>
                  <a:pt x="251026" y="1668572"/>
                </a:lnTo>
                <a:lnTo>
                  <a:pt x="272975" y="1698272"/>
                </a:lnTo>
                <a:lnTo>
                  <a:pt x="416751" y="1698272"/>
                </a:lnTo>
                <a:lnTo>
                  <a:pt x="392417" y="1662996"/>
                </a:lnTo>
                <a:lnTo>
                  <a:pt x="368783" y="1626591"/>
                </a:lnTo>
                <a:lnTo>
                  <a:pt x="345934" y="1589012"/>
                </a:lnTo>
                <a:lnTo>
                  <a:pt x="323953" y="1550211"/>
                </a:lnTo>
                <a:lnTo>
                  <a:pt x="302924" y="1510140"/>
                </a:lnTo>
                <a:lnTo>
                  <a:pt x="282931" y="1468753"/>
                </a:lnTo>
                <a:lnTo>
                  <a:pt x="264056" y="1426002"/>
                </a:lnTo>
                <a:lnTo>
                  <a:pt x="246385" y="1381841"/>
                </a:lnTo>
                <a:lnTo>
                  <a:pt x="229999" y="1336222"/>
                </a:lnTo>
                <a:lnTo>
                  <a:pt x="214983" y="1289098"/>
                </a:lnTo>
                <a:lnTo>
                  <a:pt x="201421" y="1240421"/>
                </a:lnTo>
                <a:lnTo>
                  <a:pt x="189396" y="1190146"/>
                </a:lnTo>
                <a:lnTo>
                  <a:pt x="178991" y="1138224"/>
                </a:lnTo>
                <a:lnTo>
                  <a:pt x="170291" y="1084608"/>
                </a:lnTo>
                <a:lnTo>
                  <a:pt x="163378" y="1029252"/>
                </a:lnTo>
                <a:lnTo>
                  <a:pt x="158337" y="972108"/>
                </a:lnTo>
                <a:lnTo>
                  <a:pt x="155251" y="913128"/>
                </a:lnTo>
                <a:lnTo>
                  <a:pt x="154204" y="852267"/>
                </a:lnTo>
                <a:lnTo>
                  <a:pt x="155215" y="790384"/>
                </a:lnTo>
                <a:lnTo>
                  <a:pt x="158200" y="730428"/>
                </a:lnTo>
                <a:lnTo>
                  <a:pt x="163089" y="672359"/>
                </a:lnTo>
                <a:lnTo>
                  <a:pt x="169811" y="616135"/>
                </a:lnTo>
                <a:lnTo>
                  <a:pt x="178294" y="561716"/>
                </a:lnTo>
                <a:lnTo>
                  <a:pt x="188470" y="509062"/>
                </a:lnTo>
                <a:lnTo>
                  <a:pt x="200265" y="458131"/>
                </a:lnTo>
                <a:lnTo>
                  <a:pt x="213611" y="408884"/>
                </a:lnTo>
                <a:lnTo>
                  <a:pt x="228436" y="361278"/>
                </a:lnTo>
                <a:lnTo>
                  <a:pt x="244670" y="315273"/>
                </a:lnTo>
                <a:lnTo>
                  <a:pt x="262241" y="270830"/>
                </a:lnTo>
                <a:lnTo>
                  <a:pt x="281079" y="227906"/>
                </a:lnTo>
                <a:lnTo>
                  <a:pt x="301113" y="186461"/>
                </a:lnTo>
                <a:lnTo>
                  <a:pt x="322273" y="146455"/>
                </a:lnTo>
                <a:lnTo>
                  <a:pt x="344487" y="107846"/>
                </a:lnTo>
                <a:lnTo>
                  <a:pt x="367686" y="70595"/>
                </a:lnTo>
                <a:lnTo>
                  <a:pt x="391797" y="34659"/>
                </a:lnTo>
                <a:lnTo>
                  <a:pt x="416751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424009" y="2908288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4" h="1698625">
                <a:moveTo>
                  <a:pt x="272975" y="0"/>
                </a:moveTo>
                <a:lnTo>
                  <a:pt x="229109" y="61814"/>
                </a:lnTo>
                <a:lnTo>
                  <a:pt x="207319" y="95401"/>
                </a:lnTo>
                <a:lnTo>
                  <a:pt x="185824" y="130847"/>
                </a:lnTo>
                <a:lnTo>
                  <a:pt x="164776" y="168205"/>
                </a:lnTo>
                <a:lnTo>
                  <a:pt x="144323" y="207529"/>
                </a:lnTo>
                <a:lnTo>
                  <a:pt x="124617" y="248873"/>
                </a:lnTo>
                <a:lnTo>
                  <a:pt x="105806" y="292289"/>
                </a:lnTo>
                <a:lnTo>
                  <a:pt x="88041" y="337832"/>
                </a:lnTo>
                <a:lnTo>
                  <a:pt x="71473" y="385555"/>
                </a:lnTo>
                <a:lnTo>
                  <a:pt x="56251" y="435513"/>
                </a:lnTo>
                <a:lnTo>
                  <a:pt x="42525" y="487757"/>
                </a:lnTo>
                <a:lnTo>
                  <a:pt x="30446" y="542343"/>
                </a:lnTo>
                <a:lnTo>
                  <a:pt x="20163" y="599324"/>
                </a:lnTo>
                <a:lnTo>
                  <a:pt x="11827" y="658753"/>
                </a:lnTo>
                <a:lnTo>
                  <a:pt x="5588" y="720684"/>
                </a:lnTo>
                <a:lnTo>
                  <a:pt x="1595" y="785171"/>
                </a:lnTo>
                <a:lnTo>
                  <a:pt x="0" y="852267"/>
                </a:lnTo>
                <a:lnTo>
                  <a:pt x="1285" y="918704"/>
                </a:lnTo>
                <a:lnTo>
                  <a:pt x="5039" y="982603"/>
                </a:lnTo>
                <a:lnTo>
                  <a:pt x="11104" y="1044011"/>
                </a:lnTo>
                <a:lnTo>
                  <a:pt x="19323" y="1102976"/>
                </a:lnTo>
                <a:lnTo>
                  <a:pt x="29540" y="1159543"/>
                </a:lnTo>
                <a:lnTo>
                  <a:pt x="41599" y="1213761"/>
                </a:lnTo>
                <a:lnTo>
                  <a:pt x="55343" y="1265677"/>
                </a:lnTo>
                <a:lnTo>
                  <a:pt x="70615" y="1315337"/>
                </a:lnTo>
                <a:lnTo>
                  <a:pt x="87260" y="1362789"/>
                </a:lnTo>
                <a:lnTo>
                  <a:pt x="105120" y="1408080"/>
                </a:lnTo>
                <a:lnTo>
                  <a:pt x="124039" y="1451258"/>
                </a:lnTo>
                <a:lnTo>
                  <a:pt x="143860" y="1492368"/>
                </a:lnTo>
                <a:lnTo>
                  <a:pt x="164427" y="1531459"/>
                </a:lnTo>
                <a:lnTo>
                  <a:pt x="185584" y="1568578"/>
                </a:lnTo>
                <a:lnTo>
                  <a:pt x="207174" y="1603772"/>
                </a:lnTo>
                <a:lnTo>
                  <a:pt x="229040" y="1637087"/>
                </a:lnTo>
                <a:lnTo>
                  <a:pt x="251026" y="1668572"/>
                </a:lnTo>
                <a:lnTo>
                  <a:pt x="272975" y="1698272"/>
                </a:lnTo>
                <a:lnTo>
                  <a:pt x="416751" y="1698272"/>
                </a:lnTo>
                <a:lnTo>
                  <a:pt x="392417" y="1662996"/>
                </a:lnTo>
                <a:lnTo>
                  <a:pt x="368783" y="1626591"/>
                </a:lnTo>
                <a:lnTo>
                  <a:pt x="345934" y="1589012"/>
                </a:lnTo>
                <a:lnTo>
                  <a:pt x="323953" y="1550211"/>
                </a:lnTo>
                <a:lnTo>
                  <a:pt x="302924" y="1510140"/>
                </a:lnTo>
                <a:lnTo>
                  <a:pt x="282931" y="1468753"/>
                </a:lnTo>
                <a:lnTo>
                  <a:pt x="264056" y="1426002"/>
                </a:lnTo>
                <a:lnTo>
                  <a:pt x="246385" y="1381841"/>
                </a:lnTo>
                <a:lnTo>
                  <a:pt x="229999" y="1336222"/>
                </a:lnTo>
                <a:lnTo>
                  <a:pt x="214983" y="1289098"/>
                </a:lnTo>
                <a:lnTo>
                  <a:pt x="201421" y="1240421"/>
                </a:lnTo>
                <a:lnTo>
                  <a:pt x="189396" y="1190146"/>
                </a:lnTo>
                <a:lnTo>
                  <a:pt x="178991" y="1138224"/>
                </a:lnTo>
                <a:lnTo>
                  <a:pt x="170291" y="1084608"/>
                </a:lnTo>
                <a:lnTo>
                  <a:pt x="163378" y="1029252"/>
                </a:lnTo>
                <a:lnTo>
                  <a:pt x="158337" y="972108"/>
                </a:lnTo>
                <a:lnTo>
                  <a:pt x="155251" y="913128"/>
                </a:lnTo>
                <a:lnTo>
                  <a:pt x="154204" y="852267"/>
                </a:lnTo>
                <a:lnTo>
                  <a:pt x="155215" y="790384"/>
                </a:lnTo>
                <a:lnTo>
                  <a:pt x="158200" y="730428"/>
                </a:lnTo>
                <a:lnTo>
                  <a:pt x="163089" y="672359"/>
                </a:lnTo>
                <a:lnTo>
                  <a:pt x="169811" y="616135"/>
                </a:lnTo>
                <a:lnTo>
                  <a:pt x="178294" y="561716"/>
                </a:lnTo>
                <a:lnTo>
                  <a:pt x="188470" y="509062"/>
                </a:lnTo>
                <a:lnTo>
                  <a:pt x="200265" y="458131"/>
                </a:lnTo>
                <a:lnTo>
                  <a:pt x="213611" y="408884"/>
                </a:lnTo>
                <a:lnTo>
                  <a:pt x="228436" y="361278"/>
                </a:lnTo>
                <a:lnTo>
                  <a:pt x="244670" y="315273"/>
                </a:lnTo>
                <a:lnTo>
                  <a:pt x="262241" y="270830"/>
                </a:lnTo>
                <a:lnTo>
                  <a:pt x="281079" y="227906"/>
                </a:lnTo>
                <a:lnTo>
                  <a:pt x="301113" y="186461"/>
                </a:lnTo>
                <a:lnTo>
                  <a:pt x="322273" y="146455"/>
                </a:lnTo>
                <a:lnTo>
                  <a:pt x="344487" y="107846"/>
                </a:lnTo>
                <a:lnTo>
                  <a:pt x="367686" y="70595"/>
                </a:lnTo>
                <a:lnTo>
                  <a:pt x="391797" y="34659"/>
                </a:lnTo>
                <a:lnTo>
                  <a:pt x="416751" y="0"/>
                </a:lnTo>
                <a:lnTo>
                  <a:pt x="272975" y="0"/>
                </a:lnTo>
                <a:close/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66</a:t>
            </a:fld>
            <a:endParaRPr spc="-37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269047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Экстремальное </a:t>
            </a:r>
            <a:r>
              <a:rPr spc="-405" dirty="0"/>
              <a:t>свойство </a:t>
            </a:r>
            <a:r>
              <a:rPr spc="-375" dirty="0"/>
              <a:t>собственных</a:t>
            </a:r>
            <a:r>
              <a:rPr spc="-515" dirty="0"/>
              <a:t> </a:t>
            </a:r>
            <a:r>
              <a:rPr spc="-395" dirty="0"/>
              <a:t>чисел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7725284"/>
            <a:ext cx="10701020" cy="153352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  <a:tabLst>
                <a:tab pos="6674484" algn="l"/>
              </a:tabLst>
            </a:pP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Можно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ли</a:t>
            </a:r>
            <a:r>
              <a:rPr sz="3300" spc="7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поместить</a:t>
            </a:r>
            <a:r>
              <a:rPr sz="3300" spc="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поверхность	</a:t>
            </a:r>
            <a:r>
              <a:rPr sz="3300" b="1" spc="-68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8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675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r>
              <a:rPr sz="3300" b="1" spc="-67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spc="-68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8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505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r>
              <a:rPr sz="3300" b="1" spc="-505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2850" b="1" i="1" spc="-757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7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75"/>
              </a:spcBef>
            </a:pP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внутрь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посылочного</a:t>
            </a:r>
            <a:r>
              <a:rPr sz="3300" spc="1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ящика?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13309" y="5463573"/>
            <a:ext cx="1548765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3960"/>
              </a:lnSpc>
              <a:spcBef>
                <a:spcPts val="95"/>
              </a:spcBef>
            </a:pPr>
            <a:r>
              <a:rPr sz="3300" b="1" spc="-109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spc="-955" dirty="0">
                <a:solidFill>
                  <a:srgbClr val="1E1E1E"/>
                </a:solidFill>
                <a:latin typeface="Verdana"/>
                <a:cs typeface="Verdana"/>
              </a:rPr>
              <a:t>⁄</a:t>
            </a:r>
            <a:r>
              <a:rPr sz="3300" b="1" spc="-1205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3300">
              <a:latin typeface="Verdana"/>
              <a:cs typeface="Verdana"/>
            </a:endParaRPr>
          </a:p>
          <a:p>
            <a:pPr marL="1166495" marR="5080" indent="-1154430" algn="r">
              <a:lnSpc>
                <a:spcPts val="3960"/>
              </a:lnSpc>
              <a:spcBef>
                <a:spcPts val="130"/>
              </a:spcBef>
              <a:tabLst>
                <a:tab pos="1196340" algn="l"/>
              </a:tabLst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4</a:t>
            </a:r>
            <a:r>
              <a:rPr sz="3300" b="1" spc="-4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	</a:t>
            </a:r>
            <a:r>
              <a:rPr sz="3300" b="1" spc="-132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spc="-955" dirty="0">
                <a:solidFill>
                  <a:srgbClr val="1E1E1E"/>
                </a:solidFill>
                <a:latin typeface="Verdana"/>
                <a:cs typeface="Verdana"/>
              </a:rPr>
              <a:t>⁄</a:t>
            </a:r>
            <a:r>
              <a:rPr sz="3300" b="1" spc="-790" dirty="0">
                <a:solidFill>
                  <a:srgbClr val="1E1E1E"/>
                </a:solidFill>
                <a:latin typeface="Verdana"/>
                <a:cs typeface="Verdana"/>
              </a:rPr>
              <a:t>3  </a:t>
            </a:r>
            <a:r>
              <a:rPr sz="3300" b="1" spc="-109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spc="-955" dirty="0">
                <a:solidFill>
                  <a:srgbClr val="1E1E1E"/>
                </a:solidFill>
                <a:latin typeface="Verdana"/>
                <a:cs typeface="Verdana"/>
              </a:rPr>
              <a:t>⁄</a:t>
            </a:r>
            <a:r>
              <a:rPr sz="3300" b="1" spc="-1205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6209" y="5714874"/>
            <a:ext cx="3668395" cy="1282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5510">
              <a:lnSpc>
                <a:spcPts val="2970"/>
              </a:lnSpc>
              <a:spcBef>
                <a:spcPts val="95"/>
              </a:spcBef>
              <a:tabLst>
                <a:tab pos="1885314" algn="l"/>
                <a:tab pos="2460625" algn="l"/>
                <a:tab pos="3342004" algn="l"/>
              </a:tabLst>
            </a:pPr>
            <a:r>
              <a:rPr sz="4950" b="1" spc="-1987" baseline="336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4950" b="1" spc="-1432" baseline="33670" dirty="0">
                <a:solidFill>
                  <a:srgbClr val="1E1E1E"/>
                </a:solidFill>
                <a:latin typeface="Verdana"/>
                <a:cs typeface="Verdana"/>
              </a:rPr>
              <a:t>⁄</a:t>
            </a:r>
            <a:r>
              <a:rPr sz="4950" b="1" spc="-1807" baseline="33670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r>
              <a:rPr sz="4950" b="1" baseline="33670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1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2970"/>
              </a:lnSpc>
              <a:tabLst>
                <a:tab pos="875030" algn="l"/>
                <a:tab pos="1962785" algn="l"/>
              </a:tabLst>
            </a:pP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7</a:t>
            </a:r>
            <a:r>
              <a:rPr sz="3300" b="1" spc="-4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∙	</a:t>
            </a:r>
            <a:r>
              <a:rPr sz="3300" b="1" spc="-1085" dirty="0">
                <a:solidFill>
                  <a:srgbClr val="1E1E1E"/>
                </a:solidFill>
                <a:latin typeface="Verdana"/>
                <a:cs typeface="Verdana"/>
              </a:rPr>
              <a:t>2⁄3	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 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4950" baseline="-33670">
              <a:latin typeface="Verdana"/>
              <a:cs typeface="Verdana"/>
            </a:endParaRPr>
          </a:p>
          <a:p>
            <a:pPr marL="789940">
              <a:lnSpc>
                <a:spcPts val="3960"/>
              </a:lnSpc>
            </a:pPr>
            <a:r>
              <a:rPr sz="3300" b="1" spc="-1045" dirty="0">
                <a:solidFill>
                  <a:srgbClr val="1E1E1E"/>
                </a:solidFill>
                <a:latin typeface="Verdana"/>
                <a:cs typeface="Verdana"/>
              </a:rPr>
              <a:t>-2⁄3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85945" y="5714874"/>
            <a:ext cx="15125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7375" algn="l"/>
                <a:tab pos="1186180" algn="l"/>
              </a:tabLst>
            </a:pP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66329" y="6217477"/>
            <a:ext cx="143192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 </a:t>
            </a:r>
            <a:r>
              <a:rPr sz="4950" b="1" i="1" spc="-502" baseline="3367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 </a:t>
            </a:r>
            <a:r>
              <a:rPr sz="4950" b="1" i="1" spc="-502" baseline="33670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4950" b="1" i="1" spc="-1139" baseline="336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21904" y="5714874"/>
            <a:ext cx="15354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0235" algn="l"/>
                <a:tab pos="1209040" algn="l"/>
              </a:tabLst>
            </a:pP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97475" y="5463573"/>
            <a:ext cx="3959860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355725" algn="ctr">
              <a:lnSpc>
                <a:spcPts val="3960"/>
              </a:lnSpc>
              <a:spcBef>
                <a:spcPts val="95"/>
              </a:spcBef>
            </a:pPr>
            <a:r>
              <a:rPr sz="3300" b="1" spc="-1045" dirty="0">
                <a:solidFill>
                  <a:srgbClr val="1E1E1E"/>
                </a:solidFill>
                <a:latin typeface="Verdana"/>
                <a:cs typeface="Verdana"/>
              </a:rPr>
              <a:t>-2⁄3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54"/>
              </a:lnSpc>
              <a:tabLst>
                <a:tab pos="1155065" algn="l"/>
                <a:tab pos="2145665" algn="l"/>
              </a:tabLst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 </a:t>
            </a:r>
            <a:r>
              <a:rPr sz="3300" b="1" spc="-8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1</a:t>
            </a:r>
            <a:r>
              <a:rPr sz="3300" b="1" spc="-4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∙	</a:t>
            </a:r>
            <a:r>
              <a:rPr sz="3300" b="1" spc="-1085" dirty="0">
                <a:solidFill>
                  <a:srgbClr val="1E1E1E"/>
                </a:solidFill>
                <a:latin typeface="Verdana"/>
                <a:cs typeface="Verdana"/>
              </a:rPr>
              <a:t>2⁄3	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4950" baseline="-33670">
              <a:latin typeface="Verdana"/>
              <a:cs typeface="Verdana"/>
            </a:endParaRPr>
          </a:p>
          <a:p>
            <a:pPr marR="1242695" algn="ctr">
              <a:lnSpc>
                <a:spcPts val="3960"/>
              </a:lnSpc>
            </a:pPr>
            <a:r>
              <a:rPr sz="3300" b="1" spc="-1160" dirty="0">
                <a:solidFill>
                  <a:srgbClr val="1E1E1E"/>
                </a:solidFill>
                <a:latin typeface="Verdana"/>
                <a:cs typeface="Verdana"/>
              </a:rPr>
              <a:t>1⁄3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83706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5" h="1570990">
                <a:moveTo>
                  <a:pt x="217564" y="0"/>
                </a:moveTo>
                <a:lnTo>
                  <a:pt x="0" y="0"/>
                </a:lnTo>
                <a:lnTo>
                  <a:pt x="0" y="1570632"/>
                </a:lnTo>
                <a:lnTo>
                  <a:pt x="217564" y="1570632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89560" y="5805697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4" h="955675">
                <a:moveTo>
                  <a:pt x="217564" y="0"/>
                </a:moveTo>
                <a:lnTo>
                  <a:pt x="0" y="0"/>
                </a:lnTo>
                <a:lnTo>
                  <a:pt x="0" y="955384"/>
                </a:lnTo>
                <a:lnTo>
                  <a:pt x="217564" y="955384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96420" y="5805697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4" h="955675">
                <a:moveTo>
                  <a:pt x="217564" y="0"/>
                </a:moveTo>
                <a:lnTo>
                  <a:pt x="0" y="0"/>
                </a:lnTo>
                <a:lnTo>
                  <a:pt x="0" y="955384"/>
                </a:lnTo>
                <a:lnTo>
                  <a:pt x="217564" y="955384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704062" y="5805697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4" h="955675">
                <a:moveTo>
                  <a:pt x="217564" y="0"/>
                </a:moveTo>
                <a:lnTo>
                  <a:pt x="0" y="0"/>
                </a:lnTo>
                <a:lnTo>
                  <a:pt x="0" y="955384"/>
                </a:lnTo>
                <a:lnTo>
                  <a:pt x="217564" y="955384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65866" y="5805781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4" h="955675">
                <a:moveTo>
                  <a:pt x="0" y="955384"/>
                </a:moveTo>
                <a:lnTo>
                  <a:pt x="217564" y="955384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242367" y="5805781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4" h="955675">
                <a:moveTo>
                  <a:pt x="0" y="955384"/>
                </a:moveTo>
                <a:lnTo>
                  <a:pt x="217564" y="955384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722095" y="5805781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5" h="955675">
                <a:moveTo>
                  <a:pt x="0" y="955384"/>
                </a:moveTo>
                <a:lnTo>
                  <a:pt x="217564" y="955384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14161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5" h="1570990">
                <a:moveTo>
                  <a:pt x="0" y="1570632"/>
                </a:moveTo>
                <a:lnTo>
                  <a:pt x="217564" y="1570632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487791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4" h="1570990">
                <a:moveTo>
                  <a:pt x="217564" y="0"/>
                </a:moveTo>
                <a:lnTo>
                  <a:pt x="0" y="0"/>
                </a:lnTo>
                <a:lnTo>
                  <a:pt x="0" y="1570632"/>
                </a:lnTo>
                <a:lnTo>
                  <a:pt x="217564" y="1570632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18246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4" h="1570990">
                <a:moveTo>
                  <a:pt x="0" y="1570632"/>
                </a:moveTo>
                <a:lnTo>
                  <a:pt x="217564" y="1570632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655507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4" h="1570990">
                <a:moveTo>
                  <a:pt x="217564" y="0"/>
                </a:moveTo>
                <a:lnTo>
                  <a:pt x="0" y="0"/>
                </a:lnTo>
                <a:lnTo>
                  <a:pt x="0" y="1570632"/>
                </a:lnTo>
                <a:lnTo>
                  <a:pt x="217564" y="1570632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185942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4" h="1570990">
                <a:moveTo>
                  <a:pt x="0" y="1570632"/>
                </a:moveTo>
                <a:lnTo>
                  <a:pt x="217564" y="1570632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406104" y="2950560"/>
            <a:ext cx="4644390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93215">
              <a:lnSpc>
                <a:spcPts val="3960"/>
              </a:lnSpc>
              <a:spcBef>
                <a:spcPts val="95"/>
              </a:spcBef>
              <a:tabLst>
                <a:tab pos="2401570" algn="l"/>
                <a:tab pos="3324225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	2	0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  <a:tabLst>
                <a:tab pos="1593215" algn="l"/>
                <a:tab pos="2401570" algn="l"/>
                <a:tab pos="3096260" algn="l"/>
                <a:tab pos="4381500" algn="l"/>
              </a:tabLst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r>
              <a:rPr sz="3300" spc="-2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4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spc="-955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64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  <a:p>
            <a:pPr marL="1593215">
              <a:lnSpc>
                <a:spcPts val="3960"/>
              </a:lnSpc>
              <a:tabLst>
                <a:tab pos="2173605" algn="l"/>
                <a:tab pos="3324225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	</a:t>
            </a:r>
            <a:r>
              <a:rPr sz="3300" b="1" spc="-795" dirty="0">
                <a:solidFill>
                  <a:srgbClr val="1E1E1E"/>
                </a:solidFill>
                <a:latin typeface="Verdana"/>
                <a:cs typeface="Verdana"/>
              </a:rPr>
              <a:t>−2	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5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109457" y="2908298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143775" y="0"/>
                </a:moveTo>
                <a:lnTo>
                  <a:pt x="0" y="0"/>
                </a:lnTo>
                <a:lnTo>
                  <a:pt x="24334" y="35276"/>
                </a:lnTo>
                <a:lnTo>
                  <a:pt x="47968" y="71681"/>
                </a:lnTo>
                <a:lnTo>
                  <a:pt x="70817" y="109260"/>
                </a:lnTo>
                <a:lnTo>
                  <a:pt x="92797" y="148061"/>
                </a:lnTo>
                <a:lnTo>
                  <a:pt x="113826" y="188132"/>
                </a:lnTo>
                <a:lnTo>
                  <a:pt x="133820" y="229519"/>
                </a:lnTo>
                <a:lnTo>
                  <a:pt x="152694" y="272270"/>
                </a:lnTo>
                <a:lnTo>
                  <a:pt x="170366" y="316431"/>
                </a:lnTo>
                <a:lnTo>
                  <a:pt x="186752" y="362050"/>
                </a:lnTo>
                <a:lnTo>
                  <a:pt x="201767" y="409174"/>
                </a:lnTo>
                <a:lnTo>
                  <a:pt x="215330" y="457850"/>
                </a:lnTo>
                <a:lnTo>
                  <a:pt x="227355" y="508126"/>
                </a:lnTo>
                <a:lnTo>
                  <a:pt x="237760" y="560048"/>
                </a:lnTo>
                <a:lnTo>
                  <a:pt x="246460" y="613664"/>
                </a:lnTo>
                <a:lnTo>
                  <a:pt x="253372" y="669020"/>
                </a:lnTo>
                <a:lnTo>
                  <a:pt x="258413" y="726164"/>
                </a:lnTo>
                <a:lnTo>
                  <a:pt x="261499" y="785144"/>
                </a:lnTo>
                <a:lnTo>
                  <a:pt x="262546" y="846005"/>
                </a:lnTo>
                <a:lnTo>
                  <a:pt x="261536" y="907888"/>
                </a:lnTo>
                <a:lnTo>
                  <a:pt x="258551" y="967844"/>
                </a:lnTo>
                <a:lnTo>
                  <a:pt x="253662" y="1025913"/>
                </a:lnTo>
                <a:lnTo>
                  <a:pt x="246940" y="1082137"/>
                </a:lnTo>
                <a:lnTo>
                  <a:pt x="238456" y="1136555"/>
                </a:lnTo>
                <a:lnTo>
                  <a:pt x="228281" y="1189210"/>
                </a:lnTo>
                <a:lnTo>
                  <a:pt x="216485" y="1240140"/>
                </a:lnTo>
                <a:lnTo>
                  <a:pt x="203139" y="1289388"/>
                </a:lnTo>
                <a:lnTo>
                  <a:pt x="188314" y="1336994"/>
                </a:lnTo>
                <a:lnTo>
                  <a:pt x="172081" y="1382999"/>
                </a:lnTo>
                <a:lnTo>
                  <a:pt x="154510" y="1427442"/>
                </a:lnTo>
                <a:lnTo>
                  <a:pt x="135672" y="1470366"/>
                </a:lnTo>
                <a:lnTo>
                  <a:pt x="115638" y="1511811"/>
                </a:lnTo>
                <a:lnTo>
                  <a:pt x="94478" y="1551817"/>
                </a:lnTo>
                <a:lnTo>
                  <a:pt x="72264" y="1590426"/>
                </a:lnTo>
                <a:lnTo>
                  <a:pt x="49065" y="1627677"/>
                </a:lnTo>
                <a:lnTo>
                  <a:pt x="24954" y="1663613"/>
                </a:lnTo>
                <a:lnTo>
                  <a:pt x="0" y="1698272"/>
                </a:lnTo>
                <a:lnTo>
                  <a:pt x="143775" y="1698272"/>
                </a:lnTo>
                <a:lnTo>
                  <a:pt x="187642" y="1636458"/>
                </a:lnTo>
                <a:lnTo>
                  <a:pt x="209432" y="1602871"/>
                </a:lnTo>
                <a:lnTo>
                  <a:pt x="230926" y="1567425"/>
                </a:lnTo>
                <a:lnTo>
                  <a:pt x="251975" y="1530067"/>
                </a:lnTo>
                <a:lnTo>
                  <a:pt x="272428" y="1490743"/>
                </a:lnTo>
                <a:lnTo>
                  <a:pt x="292134" y="1449399"/>
                </a:lnTo>
                <a:lnTo>
                  <a:pt x="310945" y="1405983"/>
                </a:lnTo>
                <a:lnTo>
                  <a:pt x="328709" y="1360440"/>
                </a:lnTo>
                <a:lnTo>
                  <a:pt x="345278" y="1312716"/>
                </a:lnTo>
                <a:lnTo>
                  <a:pt x="360500" y="1262759"/>
                </a:lnTo>
                <a:lnTo>
                  <a:pt x="374225" y="1210515"/>
                </a:lnTo>
                <a:lnTo>
                  <a:pt x="386305" y="1155929"/>
                </a:lnTo>
                <a:lnTo>
                  <a:pt x="396587" y="1098948"/>
                </a:lnTo>
                <a:lnTo>
                  <a:pt x="404923" y="1039519"/>
                </a:lnTo>
                <a:lnTo>
                  <a:pt x="411163" y="977588"/>
                </a:lnTo>
                <a:lnTo>
                  <a:pt x="415155" y="913101"/>
                </a:lnTo>
                <a:lnTo>
                  <a:pt x="416751" y="846005"/>
                </a:lnTo>
                <a:lnTo>
                  <a:pt x="415465" y="779568"/>
                </a:lnTo>
                <a:lnTo>
                  <a:pt x="411712" y="715669"/>
                </a:lnTo>
                <a:lnTo>
                  <a:pt x="405647" y="654260"/>
                </a:lnTo>
                <a:lnTo>
                  <a:pt x="397428" y="595296"/>
                </a:lnTo>
                <a:lnTo>
                  <a:pt x="387210" y="538729"/>
                </a:lnTo>
                <a:lnTo>
                  <a:pt x="375152" y="484511"/>
                </a:lnTo>
                <a:lnTo>
                  <a:pt x="361408" y="432595"/>
                </a:lnTo>
                <a:lnTo>
                  <a:pt x="346135" y="382935"/>
                </a:lnTo>
                <a:lnTo>
                  <a:pt x="329491" y="335483"/>
                </a:lnTo>
                <a:lnTo>
                  <a:pt x="311631" y="290192"/>
                </a:lnTo>
                <a:lnTo>
                  <a:pt x="292712" y="247014"/>
                </a:lnTo>
                <a:lnTo>
                  <a:pt x="272891" y="205904"/>
                </a:lnTo>
                <a:lnTo>
                  <a:pt x="252323" y="166813"/>
                </a:lnTo>
                <a:lnTo>
                  <a:pt x="231166" y="129694"/>
                </a:lnTo>
                <a:lnTo>
                  <a:pt x="209577" y="94500"/>
                </a:lnTo>
                <a:lnTo>
                  <a:pt x="187711" y="61185"/>
                </a:lnTo>
                <a:lnTo>
                  <a:pt x="165725" y="29700"/>
                </a:lnTo>
                <a:lnTo>
                  <a:pt x="14377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09457" y="2908298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143775" y="1698272"/>
                </a:moveTo>
                <a:lnTo>
                  <a:pt x="187642" y="1636458"/>
                </a:lnTo>
                <a:lnTo>
                  <a:pt x="209432" y="1602871"/>
                </a:lnTo>
                <a:lnTo>
                  <a:pt x="230926" y="1567425"/>
                </a:lnTo>
                <a:lnTo>
                  <a:pt x="251975" y="1530067"/>
                </a:lnTo>
                <a:lnTo>
                  <a:pt x="272428" y="1490743"/>
                </a:lnTo>
                <a:lnTo>
                  <a:pt x="292134" y="1449399"/>
                </a:lnTo>
                <a:lnTo>
                  <a:pt x="310945" y="1405983"/>
                </a:lnTo>
                <a:lnTo>
                  <a:pt x="328709" y="1360440"/>
                </a:lnTo>
                <a:lnTo>
                  <a:pt x="345278" y="1312716"/>
                </a:lnTo>
                <a:lnTo>
                  <a:pt x="360500" y="1262759"/>
                </a:lnTo>
                <a:lnTo>
                  <a:pt x="374225" y="1210515"/>
                </a:lnTo>
                <a:lnTo>
                  <a:pt x="386305" y="1155929"/>
                </a:lnTo>
                <a:lnTo>
                  <a:pt x="396587" y="1098948"/>
                </a:lnTo>
                <a:lnTo>
                  <a:pt x="404923" y="1039519"/>
                </a:lnTo>
                <a:lnTo>
                  <a:pt x="411163" y="977588"/>
                </a:lnTo>
                <a:lnTo>
                  <a:pt x="415155" y="913101"/>
                </a:lnTo>
                <a:lnTo>
                  <a:pt x="416751" y="846005"/>
                </a:lnTo>
                <a:lnTo>
                  <a:pt x="415465" y="779568"/>
                </a:lnTo>
                <a:lnTo>
                  <a:pt x="411712" y="715669"/>
                </a:lnTo>
                <a:lnTo>
                  <a:pt x="405647" y="654260"/>
                </a:lnTo>
                <a:lnTo>
                  <a:pt x="397428" y="595296"/>
                </a:lnTo>
                <a:lnTo>
                  <a:pt x="387210" y="538729"/>
                </a:lnTo>
                <a:lnTo>
                  <a:pt x="375152" y="484511"/>
                </a:lnTo>
                <a:lnTo>
                  <a:pt x="361408" y="432595"/>
                </a:lnTo>
                <a:lnTo>
                  <a:pt x="346135" y="382935"/>
                </a:lnTo>
                <a:lnTo>
                  <a:pt x="329491" y="335483"/>
                </a:lnTo>
                <a:lnTo>
                  <a:pt x="311631" y="290192"/>
                </a:lnTo>
                <a:lnTo>
                  <a:pt x="292712" y="247014"/>
                </a:lnTo>
                <a:lnTo>
                  <a:pt x="272891" y="205904"/>
                </a:lnTo>
                <a:lnTo>
                  <a:pt x="252323" y="166813"/>
                </a:lnTo>
                <a:lnTo>
                  <a:pt x="231166" y="129694"/>
                </a:lnTo>
                <a:lnTo>
                  <a:pt x="209577" y="94500"/>
                </a:lnTo>
                <a:lnTo>
                  <a:pt x="187711" y="61185"/>
                </a:lnTo>
                <a:lnTo>
                  <a:pt x="165725" y="29700"/>
                </a:lnTo>
                <a:lnTo>
                  <a:pt x="143775" y="0"/>
                </a:lnTo>
                <a:lnTo>
                  <a:pt x="0" y="0"/>
                </a:lnTo>
                <a:lnTo>
                  <a:pt x="24334" y="35276"/>
                </a:lnTo>
                <a:lnTo>
                  <a:pt x="47968" y="71681"/>
                </a:lnTo>
                <a:lnTo>
                  <a:pt x="70817" y="109260"/>
                </a:lnTo>
                <a:lnTo>
                  <a:pt x="92797" y="148061"/>
                </a:lnTo>
                <a:lnTo>
                  <a:pt x="113826" y="188132"/>
                </a:lnTo>
                <a:lnTo>
                  <a:pt x="133820" y="229519"/>
                </a:lnTo>
                <a:lnTo>
                  <a:pt x="152694" y="272270"/>
                </a:lnTo>
                <a:lnTo>
                  <a:pt x="170366" y="316431"/>
                </a:lnTo>
                <a:lnTo>
                  <a:pt x="186752" y="362050"/>
                </a:lnTo>
                <a:lnTo>
                  <a:pt x="201767" y="409174"/>
                </a:lnTo>
                <a:lnTo>
                  <a:pt x="215330" y="457850"/>
                </a:lnTo>
                <a:lnTo>
                  <a:pt x="227355" y="508126"/>
                </a:lnTo>
                <a:lnTo>
                  <a:pt x="237760" y="560048"/>
                </a:lnTo>
                <a:lnTo>
                  <a:pt x="246460" y="613664"/>
                </a:lnTo>
                <a:lnTo>
                  <a:pt x="253372" y="669020"/>
                </a:lnTo>
                <a:lnTo>
                  <a:pt x="258413" y="726164"/>
                </a:lnTo>
                <a:lnTo>
                  <a:pt x="261499" y="785144"/>
                </a:lnTo>
                <a:lnTo>
                  <a:pt x="262546" y="846005"/>
                </a:lnTo>
                <a:lnTo>
                  <a:pt x="261536" y="907888"/>
                </a:lnTo>
                <a:lnTo>
                  <a:pt x="258551" y="967844"/>
                </a:lnTo>
                <a:lnTo>
                  <a:pt x="253662" y="1025913"/>
                </a:lnTo>
                <a:lnTo>
                  <a:pt x="246940" y="1082137"/>
                </a:lnTo>
                <a:lnTo>
                  <a:pt x="238456" y="1136555"/>
                </a:lnTo>
                <a:lnTo>
                  <a:pt x="228281" y="1189210"/>
                </a:lnTo>
                <a:lnTo>
                  <a:pt x="216485" y="1240140"/>
                </a:lnTo>
                <a:lnTo>
                  <a:pt x="203139" y="1289388"/>
                </a:lnTo>
                <a:lnTo>
                  <a:pt x="188314" y="1336994"/>
                </a:lnTo>
                <a:lnTo>
                  <a:pt x="172081" y="1382999"/>
                </a:lnTo>
                <a:lnTo>
                  <a:pt x="154510" y="1427442"/>
                </a:lnTo>
                <a:lnTo>
                  <a:pt x="135672" y="1470366"/>
                </a:lnTo>
                <a:lnTo>
                  <a:pt x="115638" y="1511811"/>
                </a:lnTo>
                <a:lnTo>
                  <a:pt x="94478" y="1551817"/>
                </a:lnTo>
                <a:lnTo>
                  <a:pt x="72264" y="1590426"/>
                </a:lnTo>
                <a:lnTo>
                  <a:pt x="49065" y="1627677"/>
                </a:lnTo>
                <a:lnTo>
                  <a:pt x="24954" y="1663613"/>
                </a:lnTo>
                <a:lnTo>
                  <a:pt x="0" y="1698272"/>
                </a:lnTo>
                <a:lnTo>
                  <a:pt x="143775" y="1698272"/>
                </a:lnTo>
                <a:close/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424009" y="2908288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4" h="1698625">
                <a:moveTo>
                  <a:pt x="416751" y="0"/>
                </a:moveTo>
                <a:lnTo>
                  <a:pt x="272975" y="0"/>
                </a:lnTo>
                <a:lnTo>
                  <a:pt x="251044" y="30031"/>
                </a:lnTo>
                <a:lnTo>
                  <a:pt x="229109" y="61814"/>
                </a:lnTo>
                <a:lnTo>
                  <a:pt x="207319" y="95401"/>
                </a:lnTo>
                <a:lnTo>
                  <a:pt x="185824" y="130847"/>
                </a:lnTo>
                <a:lnTo>
                  <a:pt x="164776" y="168205"/>
                </a:lnTo>
                <a:lnTo>
                  <a:pt x="144323" y="207529"/>
                </a:lnTo>
                <a:lnTo>
                  <a:pt x="124617" y="248873"/>
                </a:lnTo>
                <a:lnTo>
                  <a:pt x="105806" y="292289"/>
                </a:lnTo>
                <a:lnTo>
                  <a:pt x="88041" y="337832"/>
                </a:lnTo>
                <a:lnTo>
                  <a:pt x="71473" y="385555"/>
                </a:lnTo>
                <a:lnTo>
                  <a:pt x="56251" y="435513"/>
                </a:lnTo>
                <a:lnTo>
                  <a:pt x="42525" y="487757"/>
                </a:lnTo>
                <a:lnTo>
                  <a:pt x="30446" y="542343"/>
                </a:lnTo>
                <a:lnTo>
                  <a:pt x="20163" y="599324"/>
                </a:lnTo>
                <a:lnTo>
                  <a:pt x="11827" y="658753"/>
                </a:lnTo>
                <a:lnTo>
                  <a:pt x="5588" y="720684"/>
                </a:lnTo>
                <a:lnTo>
                  <a:pt x="1595" y="785171"/>
                </a:lnTo>
                <a:lnTo>
                  <a:pt x="0" y="852267"/>
                </a:lnTo>
                <a:lnTo>
                  <a:pt x="1285" y="918704"/>
                </a:lnTo>
                <a:lnTo>
                  <a:pt x="5039" y="982603"/>
                </a:lnTo>
                <a:lnTo>
                  <a:pt x="11104" y="1044011"/>
                </a:lnTo>
                <a:lnTo>
                  <a:pt x="19323" y="1102976"/>
                </a:lnTo>
                <a:lnTo>
                  <a:pt x="29540" y="1159543"/>
                </a:lnTo>
                <a:lnTo>
                  <a:pt x="41599" y="1213761"/>
                </a:lnTo>
                <a:lnTo>
                  <a:pt x="55343" y="1265677"/>
                </a:lnTo>
                <a:lnTo>
                  <a:pt x="70615" y="1315337"/>
                </a:lnTo>
                <a:lnTo>
                  <a:pt x="87260" y="1362789"/>
                </a:lnTo>
                <a:lnTo>
                  <a:pt x="105120" y="1408080"/>
                </a:lnTo>
                <a:lnTo>
                  <a:pt x="124039" y="1451258"/>
                </a:lnTo>
                <a:lnTo>
                  <a:pt x="143860" y="1492368"/>
                </a:lnTo>
                <a:lnTo>
                  <a:pt x="164427" y="1531459"/>
                </a:lnTo>
                <a:lnTo>
                  <a:pt x="185584" y="1568578"/>
                </a:lnTo>
                <a:lnTo>
                  <a:pt x="207174" y="1603772"/>
                </a:lnTo>
                <a:lnTo>
                  <a:pt x="229040" y="1637087"/>
                </a:lnTo>
                <a:lnTo>
                  <a:pt x="251026" y="1668572"/>
                </a:lnTo>
                <a:lnTo>
                  <a:pt x="272975" y="1698272"/>
                </a:lnTo>
                <a:lnTo>
                  <a:pt x="416751" y="1698272"/>
                </a:lnTo>
                <a:lnTo>
                  <a:pt x="392417" y="1662996"/>
                </a:lnTo>
                <a:lnTo>
                  <a:pt x="368783" y="1626591"/>
                </a:lnTo>
                <a:lnTo>
                  <a:pt x="345934" y="1589012"/>
                </a:lnTo>
                <a:lnTo>
                  <a:pt x="323953" y="1550211"/>
                </a:lnTo>
                <a:lnTo>
                  <a:pt x="302924" y="1510140"/>
                </a:lnTo>
                <a:lnTo>
                  <a:pt x="282931" y="1468753"/>
                </a:lnTo>
                <a:lnTo>
                  <a:pt x="264056" y="1426002"/>
                </a:lnTo>
                <a:lnTo>
                  <a:pt x="246385" y="1381841"/>
                </a:lnTo>
                <a:lnTo>
                  <a:pt x="229999" y="1336222"/>
                </a:lnTo>
                <a:lnTo>
                  <a:pt x="214983" y="1289098"/>
                </a:lnTo>
                <a:lnTo>
                  <a:pt x="201421" y="1240421"/>
                </a:lnTo>
                <a:lnTo>
                  <a:pt x="189396" y="1190146"/>
                </a:lnTo>
                <a:lnTo>
                  <a:pt x="178991" y="1138224"/>
                </a:lnTo>
                <a:lnTo>
                  <a:pt x="170291" y="1084608"/>
                </a:lnTo>
                <a:lnTo>
                  <a:pt x="163378" y="1029252"/>
                </a:lnTo>
                <a:lnTo>
                  <a:pt x="158337" y="972108"/>
                </a:lnTo>
                <a:lnTo>
                  <a:pt x="155251" y="913128"/>
                </a:lnTo>
                <a:lnTo>
                  <a:pt x="154204" y="852267"/>
                </a:lnTo>
                <a:lnTo>
                  <a:pt x="155215" y="790384"/>
                </a:lnTo>
                <a:lnTo>
                  <a:pt x="158200" y="730428"/>
                </a:lnTo>
                <a:lnTo>
                  <a:pt x="163089" y="672359"/>
                </a:lnTo>
                <a:lnTo>
                  <a:pt x="169811" y="616135"/>
                </a:lnTo>
                <a:lnTo>
                  <a:pt x="178294" y="561716"/>
                </a:lnTo>
                <a:lnTo>
                  <a:pt x="188470" y="509062"/>
                </a:lnTo>
                <a:lnTo>
                  <a:pt x="200265" y="458131"/>
                </a:lnTo>
                <a:lnTo>
                  <a:pt x="213611" y="408884"/>
                </a:lnTo>
                <a:lnTo>
                  <a:pt x="228436" y="361278"/>
                </a:lnTo>
                <a:lnTo>
                  <a:pt x="244670" y="315273"/>
                </a:lnTo>
                <a:lnTo>
                  <a:pt x="262241" y="270830"/>
                </a:lnTo>
                <a:lnTo>
                  <a:pt x="281079" y="227906"/>
                </a:lnTo>
                <a:lnTo>
                  <a:pt x="301113" y="186461"/>
                </a:lnTo>
                <a:lnTo>
                  <a:pt x="322273" y="146455"/>
                </a:lnTo>
                <a:lnTo>
                  <a:pt x="344487" y="107846"/>
                </a:lnTo>
                <a:lnTo>
                  <a:pt x="367686" y="70595"/>
                </a:lnTo>
                <a:lnTo>
                  <a:pt x="391797" y="34659"/>
                </a:lnTo>
                <a:lnTo>
                  <a:pt x="416751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424009" y="2908288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4" h="1698625">
                <a:moveTo>
                  <a:pt x="272975" y="0"/>
                </a:moveTo>
                <a:lnTo>
                  <a:pt x="229109" y="61814"/>
                </a:lnTo>
                <a:lnTo>
                  <a:pt x="207319" y="95401"/>
                </a:lnTo>
                <a:lnTo>
                  <a:pt x="185824" y="130847"/>
                </a:lnTo>
                <a:lnTo>
                  <a:pt x="164776" y="168205"/>
                </a:lnTo>
                <a:lnTo>
                  <a:pt x="144323" y="207529"/>
                </a:lnTo>
                <a:lnTo>
                  <a:pt x="124617" y="248873"/>
                </a:lnTo>
                <a:lnTo>
                  <a:pt x="105806" y="292289"/>
                </a:lnTo>
                <a:lnTo>
                  <a:pt x="88041" y="337832"/>
                </a:lnTo>
                <a:lnTo>
                  <a:pt x="71473" y="385555"/>
                </a:lnTo>
                <a:lnTo>
                  <a:pt x="56251" y="435513"/>
                </a:lnTo>
                <a:lnTo>
                  <a:pt x="42525" y="487757"/>
                </a:lnTo>
                <a:lnTo>
                  <a:pt x="30446" y="542343"/>
                </a:lnTo>
                <a:lnTo>
                  <a:pt x="20163" y="599324"/>
                </a:lnTo>
                <a:lnTo>
                  <a:pt x="11827" y="658753"/>
                </a:lnTo>
                <a:lnTo>
                  <a:pt x="5588" y="720684"/>
                </a:lnTo>
                <a:lnTo>
                  <a:pt x="1595" y="785171"/>
                </a:lnTo>
                <a:lnTo>
                  <a:pt x="0" y="852267"/>
                </a:lnTo>
                <a:lnTo>
                  <a:pt x="1285" y="918704"/>
                </a:lnTo>
                <a:lnTo>
                  <a:pt x="5039" y="982603"/>
                </a:lnTo>
                <a:lnTo>
                  <a:pt x="11104" y="1044011"/>
                </a:lnTo>
                <a:lnTo>
                  <a:pt x="19323" y="1102976"/>
                </a:lnTo>
                <a:lnTo>
                  <a:pt x="29540" y="1159543"/>
                </a:lnTo>
                <a:lnTo>
                  <a:pt x="41599" y="1213761"/>
                </a:lnTo>
                <a:lnTo>
                  <a:pt x="55343" y="1265677"/>
                </a:lnTo>
                <a:lnTo>
                  <a:pt x="70615" y="1315337"/>
                </a:lnTo>
                <a:lnTo>
                  <a:pt x="87260" y="1362789"/>
                </a:lnTo>
                <a:lnTo>
                  <a:pt x="105120" y="1408080"/>
                </a:lnTo>
                <a:lnTo>
                  <a:pt x="124039" y="1451258"/>
                </a:lnTo>
                <a:lnTo>
                  <a:pt x="143860" y="1492368"/>
                </a:lnTo>
                <a:lnTo>
                  <a:pt x="164427" y="1531459"/>
                </a:lnTo>
                <a:lnTo>
                  <a:pt x="185584" y="1568578"/>
                </a:lnTo>
                <a:lnTo>
                  <a:pt x="207174" y="1603772"/>
                </a:lnTo>
                <a:lnTo>
                  <a:pt x="229040" y="1637087"/>
                </a:lnTo>
                <a:lnTo>
                  <a:pt x="251026" y="1668572"/>
                </a:lnTo>
                <a:lnTo>
                  <a:pt x="272975" y="1698272"/>
                </a:lnTo>
                <a:lnTo>
                  <a:pt x="416751" y="1698272"/>
                </a:lnTo>
                <a:lnTo>
                  <a:pt x="392417" y="1662996"/>
                </a:lnTo>
                <a:lnTo>
                  <a:pt x="368783" y="1626591"/>
                </a:lnTo>
                <a:lnTo>
                  <a:pt x="345934" y="1589012"/>
                </a:lnTo>
                <a:lnTo>
                  <a:pt x="323953" y="1550211"/>
                </a:lnTo>
                <a:lnTo>
                  <a:pt x="302924" y="1510140"/>
                </a:lnTo>
                <a:lnTo>
                  <a:pt x="282931" y="1468753"/>
                </a:lnTo>
                <a:lnTo>
                  <a:pt x="264056" y="1426002"/>
                </a:lnTo>
                <a:lnTo>
                  <a:pt x="246385" y="1381841"/>
                </a:lnTo>
                <a:lnTo>
                  <a:pt x="229999" y="1336222"/>
                </a:lnTo>
                <a:lnTo>
                  <a:pt x="214983" y="1289098"/>
                </a:lnTo>
                <a:lnTo>
                  <a:pt x="201421" y="1240421"/>
                </a:lnTo>
                <a:lnTo>
                  <a:pt x="189396" y="1190146"/>
                </a:lnTo>
                <a:lnTo>
                  <a:pt x="178991" y="1138224"/>
                </a:lnTo>
                <a:lnTo>
                  <a:pt x="170291" y="1084608"/>
                </a:lnTo>
                <a:lnTo>
                  <a:pt x="163378" y="1029252"/>
                </a:lnTo>
                <a:lnTo>
                  <a:pt x="158337" y="972108"/>
                </a:lnTo>
                <a:lnTo>
                  <a:pt x="155251" y="913128"/>
                </a:lnTo>
                <a:lnTo>
                  <a:pt x="154204" y="852267"/>
                </a:lnTo>
                <a:lnTo>
                  <a:pt x="155215" y="790384"/>
                </a:lnTo>
                <a:lnTo>
                  <a:pt x="158200" y="730428"/>
                </a:lnTo>
                <a:lnTo>
                  <a:pt x="163089" y="672359"/>
                </a:lnTo>
                <a:lnTo>
                  <a:pt x="169811" y="616135"/>
                </a:lnTo>
                <a:lnTo>
                  <a:pt x="178294" y="561716"/>
                </a:lnTo>
                <a:lnTo>
                  <a:pt x="188470" y="509062"/>
                </a:lnTo>
                <a:lnTo>
                  <a:pt x="200265" y="458131"/>
                </a:lnTo>
                <a:lnTo>
                  <a:pt x="213611" y="408884"/>
                </a:lnTo>
                <a:lnTo>
                  <a:pt x="228436" y="361278"/>
                </a:lnTo>
                <a:lnTo>
                  <a:pt x="244670" y="315273"/>
                </a:lnTo>
                <a:lnTo>
                  <a:pt x="262241" y="270830"/>
                </a:lnTo>
                <a:lnTo>
                  <a:pt x="281079" y="227906"/>
                </a:lnTo>
                <a:lnTo>
                  <a:pt x="301113" y="186461"/>
                </a:lnTo>
                <a:lnTo>
                  <a:pt x="322273" y="146455"/>
                </a:lnTo>
                <a:lnTo>
                  <a:pt x="344487" y="107846"/>
                </a:lnTo>
                <a:lnTo>
                  <a:pt x="367686" y="70595"/>
                </a:lnTo>
                <a:lnTo>
                  <a:pt x="391797" y="34659"/>
                </a:lnTo>
                <a:lnTo>
                  <a:pt x="416751" y="0"/>
                </a:lnTo>
                <a:lnTo>
                  <a:pt x="272975" y="0"/>
                </a:lnTo>
                <a:close/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67</a:t>
            </a:fld>
            <a:endParaRPr spc="-37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269047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Экстремальное </a:t>
            </a:r>
            <a:r>
              <a:rPr spc="-405" dirty="0"/>
              <a:t>свойство </a:t>
            </a:r>
            <a:r>
              <a:rPr spc="-375" dirty="0"/>
              <a:t>собственных</a:t>
            </a:r>
            <a:r>
              <a:rPr spc="-515" dirty="0"/>
              <a:t> </a:t>
            </a:r>
            <a:r>
              <a:rPr spc="-395" dirty="0"/>
              <a:t>чисел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7725284"/>
            <a:ext cx="12755880" cy="153352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  <a:tabLst>
                <a:tab pos="6674484" algn="l"/>
              </a:tabLst>
            </a:pP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Можно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ли</a:t>
            </a:r>
            <a:r>
              <a:rPr sz="3300" spc="7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поместить</a:t>
            </a:r>
            <a:r>
              <a:rPr sz="3300" spc="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поверхность	</a:t>
            </a:r>
            <a:r>
              <a:rPr sz="3300" b="1" spc="-68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8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675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r>
              <a:rPr sz="3300" b="1" spc="-675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spc="-68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8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r>
              <a:rPr sz="3300" b="1" spc="-509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2850" b="1" i="1" spc="-765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75"/>
              </a:spcBef>
            </a:pP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внутрь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посылочного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ящика?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Каковы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минимальные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размеры</a:t>
            </a:r>
            <a:r>
              <a:rPr sz="3300" spc="69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ящика?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13309" y="5463573"/>
            <a:ext cx="1548765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3960"/>
              </a:lnSpc>
              <a:spcBef>
                <a:spcPts val="95"/>
              </a:spcBef>
            </a:pPr>
            <a:r>
              <a:rPr sz="3300" b="1" spc="-109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spc="-955" dirty="0">
                <a:solidFill>
                  <a:srgbClr val="1E1E1E"/>
                </a:solidFill>
                <a:latin typeface="Verdana"/>
                <a:cs typeface="Verdana"/>
              </a:rPr>
              <a:t>⁄</a:t>
            </a:r>
            <a:r>
              <a:rPr sz="3300" b="1" spc="-1205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3300">
              <a:latin typeface="Verdana"/>
              <a:cs typeface="Verdana"/>
            </a:endParaRPr>
          </a:p>
          <a:p>
            <a:pPr marL="1166495" marR="5080" indent="-1154430" algn="r">
              <a:lnSpc>
                <a:spcPts val="3960"/>
              </a:lnSpc>
              <a:spcBef>
                <a:spcPts val="130"/>
              </a:spcBef>
              <a:tabLst>
                <a:tab pos="1196340" algn="l"/>
              </a:tabLst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4</a:t>
            </a:r>
            <a:r>
              <a:rPr sz="3300" b="1" spc="-4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	</a:t>
            </a:r>
            <a:r>
              <a:rPr sz="3300" b="1" spc="-132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spc="-955" dirty="0">
                <a:solidFill>
                  <a:srgbClr val="1E1E1E"/>
                </a:solidFill>
                <a:latin typeface="Verdana"/>
                <a:cs typeface="Verdana"/>
              </a:rPr>
              <a:t>⁄</a:t>
            </a:r>
            <a:r>
              <a:rPr sz="3300" b="1" spc="-790" dirty="0">
                <a:solidFill>
                  <a:srgbClr val="1E1E1E"/>
                </a:solidFill>
                <a:latin typeface="Verdana"/>
                <a:cs typeface="Verdana"/>
              </a:rPr>
              <a:t>3  </a:t>
            </a:r>
            <a:r>
              <a:rPr sz="3300" b="1" spc="-109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spc="-955" dirty="0">
                <a:solidFill>
                  <a:srgbClr val="1E1E1E"/>
                </a:solidFill>
                <a:latin typeface="Verdana"/>
                <a:cs typeface="Verdana"/>
              </a:rPr>
              <a:t>⁄</a:t>
            </a:r>
            <a:r>
              <a:rPr sz="3300" b="1" spc="-1205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6209" y="5714874"/>
            <a:ext cx="3668395" cy="1282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5510">
              <a:lnSpc>
                <a:spcPts val="2970"/>
              </a:lnSpc>
              <a:spcBef>
                <a:spcPts val="95"/>
              </a:spcBef>
              <a:tabLst>
                <a:tab pos="1885314" algn="l"/>
                <a:tab pos="2460625" algn="l"/>
                <a:tab pos="3342004" algn="l"/>
              </a:tabLst>
            </a:pPr>
            <a:r>
              <a:rPr sz="4950" b="1" spc="-1987" baseline="336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4950" b="1" spc="-1432" baseline="33670" dirty="0">
                <a:solidFill>
                  <a:srgbClr val="1E1E1E"/>
                </a:solidFill>
                <a:latin typeface="Verdana"/>
                <a:cs typeface="Verdana"/>
              </a:rPr>
              <a:t>⁄</a:t>
            </a:r>
            <a:r>
              <a:rPr sz="4950" b="1" spc="-1807" baseline="33670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r>
              <a:rPr sz="4950" b="1" baseline="33670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1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2970"/>
              </a:lnSpc>
              <a:tabLst>
                <a:tab pos="875030" algn="l"/>
                <a:tab pos="1962785" algn="l"/>
              </a:tabLst>
            </a:pP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7</a:t>
            </a:r>
            <a:r>
              <a:rPr sz="3300" b="1" spc="-4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∙	</a:t>
            </a:r>
            <a:r>
              <a:rPr sz="3300" b="1" spc="-1085" dirty="0">
                <a:solidFill>
                  <a:srgbClr val="1E1E1E"/>
                </a:solidFill>
                <a:latin typeface="Verdana"/>
                <a:cs typeface="Verdana"/>
              </a:rPr>
              <a:t>2⁄3	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 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4950" baseline="-33670">
              <a:latin typeface="Verdana"/>
              <a:cs typeface="Verdana"/>
            </a:endParaRPr>
          </a:p>
          <a:p>
            <a:pPr marL="789940">
              <a:lnSpc>
                <a:spcPts val="3960"/>
              </a:lnSpc>
            </a:pPr>
            <a:r>
              <a:rPr sz="3300" b="1" spc="-1045" dirty="0">
                <a:solidFill>
                  <a:srgbClr val="1E1E1E"/>
                </a:solidFill>
                <a:latin typeface="Verdana"/>
                <a:cs typeface="Verdana"/>
              </a:rPr>
              <a:t>-2⁄3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85945" y="5714874"/>
            <a:ext cx="15125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7375" algn="l"/>
                <a:tab pos="1186180" algn="l"/>
              </a:tabLst>
            </a:pP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66329" y="6217477"/>
            <a:ext cx="143192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 </a:t>
            </a:r>
            <a:r>
              <a:rPr sz="4950" b="1" i="1" spc="-502" baseline="3367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 </a:t>
            </a:r>
            <a:r>
              <a:rPr sz="4950" b="1" i="1" spc="-502" baseline="33670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4950" b="1" i="1" spc="-1139" baseline="336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21904" y="5714874"/>
            <a:ext cx="15354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0235" algn="l"/>
                <a:tab pos="1209040" algn="l"/>
              </a:tabLst>
            </a:pP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97475" y="5463573"/>
            <a:ext cx="3959860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355725" algn="ctr">
              <a:lnSpc>
                <a:spcPts val="3960"/>
              </a:lnSpc>
              <a:spcBef>
                <a:spcPts val="95"/>
              </a:spcBef>
            </a:pPr>
            <a:r>
              <a:rPr sz="3300" b="1" spc="-1045" dirty="0">
                <a:solidFill>
                  <a:srgbClr val="1E1E1E"/>
                </a:solidFill>
                <a:latin typeface="Verdana"/>
                <a:cs typeface="Verdana"/>
              </a:rPr>
              <a:t>-2⁄3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54"/>
              </a:lnSpc>
              <a:tabLst>
                <a:tab pos="1155065" algn="l"/>
                <a:tab pos="2145665" algn="l"/>
              </a:tabLst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 </a:t>
            </a:r>
            <a:r>
              <a:rPr sz="3300" b="1" spc="-8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1</a:t>
            </a:r>
            <a:r>
              <a:rPr sz="3300" b="1" spc="-4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∙	</a:t>
            </a:r>
            <a:r>
              <a:rPr sz="3300" b="1" spc="-1085" dirty="0">
                <a:solidFill>
                  <a:srgbClr val="1E1E1E"/>
                </a:solidFill>
                <a:latin typeface="Verdana"/>
                <a:cs typeface="Verdana"/>
              </a:rPr>
              <a:t>2⁄3	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spc="-780" baseline="-33670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4950" baseline="-33670">
              <a:latin typeface="Verdana"/>
              <a:cs typeface="Verdana"/>
            </a:endParaRPr>
          </a:p>
          <a:p>
            <a:pPr marR="1242695" algn="ctr">
              <a:lnSpc>
                <a:spcPts val="3960"/>
              </a:lnSpc>
            </a:pPr>
            <a:r>
              <a:rPr sz="3300" b="1" spc="-1160" dirty="0">
                <a:solidFill>
                  <a:srgbClr val="1E1E1E"/>
                </a:solidFill>
                <a:latin typeface="Verdana"/>
                <a:cs typeface="Verdana"/>
              </a:rPr>
              <a:t>1⁄3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83706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5" h="1570990">
                <a:moveTo>
                  <a:pt x="217564" y="0"/>
                </a:moveTo>
                <a:lnTo>
                  <a:pt x="0" y="0"/>
                </a:lnTo>
                <a:lnTo>
                  <a:pt x="0" y="1570632"/>
                </a:lnTo>
                <a:lnTo>
                  <a:pt x="217564" y="1570632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89560" y="5805697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4" h="955675">
                <a:moveTo>
                  <a:pt x="217564" y="0"/>
                </a:moveTo>
                <a:lnTo>
                  <a:pt x="0" y="0"/>
                </a:lnTo>
                <a:lnTo>
                  <a:pt x="0" y="955384"/>
                </a:lnTo>
                <a:lnTo>
                  <a:pt x="217564" y="955384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96420" y="5805697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4" h="955675">
                <a:moveTo>
                  <a:pt x="217564" y="0"/>
                </a:moveTo>
                <a:lnTo>
                  <a:pt x="0" y="0"/>
                </a:lnTo>
                <a:lnTo>
                  <a:pt x="0" y="955384"/>
                </a:lnTo>
                <a:lnTo>
                  <a:pt x="217564" y="955384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704062" y="5805697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4" h="955675">
                <a:moveTo>
                  <a:pt x="217564" y="0"/>
                </a:moveTo>
                <a:lnTo>
                  <a:pt x="0" y="0"/>
                </a:lnTo>
                <a:lnTo>
                  <a:pt x="0" y="955384"/>
                </a:lnTo>
                <a:lnTo>
                  <a:pt x="217564" y="955384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65866" y="5805781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4" h="955675">
                <a:moveTo>
                  <a:pt x="0" y="955384"/>
                </a:moveTo>
                <a:lnTo>
                  <a:pt x="217564" y="955384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242367" y="5805781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4" h="955675">
                <a:moveTo>
                  <a:pt x="0" y="955384"/>
                </a:moveTo>
                <a:lnTo>
                  <a:pt x="217564" y="955384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722095" y="5805781"/>
            <a:ext cx="217804" cy="955675"/>
          </a:xfrm>
          <a:custGeom>
            <a:avLst/>
            <a:gdLst/>
            <a:ahLst/>
            <a:cxnLst/>
            <a:rect l="l" t="t" r="r" b="b"/>
            <a:pathLst>
              <a:path w="217805" h="955675">
                <a:moveTo>
                  <a:pt x="0" y="955384"/>
                </a:moveTo>
                <a:lnTo>
                  <a:pt x="217564" y="955384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14161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5" h="1570990">
                <a:moveTo>
                  <a:pt x="0" y="1570632"/>
                </a:moveTo>
                <a:lnTo>
                  <a:pt x="217564" y="1570632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487791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4" h="1570990">
                <a:moveTo>
                  <a:pt x="217564" y="0"/>
                </a:moveTo>
                <a:lnTo>
                  <a:pt x="0" y="0"/>
                </a:lnTo>
                <a:lnTo>
                  <a:pt x="0" y="1570632"/>
                </a:lnTo>
                <a:lnTo>
                  <a:pt x="217564" y="1570632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18246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4" h="1570990">
                <a:moveTo>
                  <a:pt x="0" y="1570632"/>
                </a:moveTo>
                <a:lnTo>
                  <a:pt x="217564" y="1570632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655507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4" h="1570990">
                <a:moveTo>
                  <a:pt x="217564" y="0"/>
                </a:moveTo>
                <a:lnTo>
                  <a:pt x="0" y="0"/>
                </a:lnTo>
                <a:lnTo>
                  <a:pt x="0" y="1570632"/>
                </a:lnTo>
                <a:lnTo>
                  <a:pt x="217564" y="1570632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185942" y="5450096"/>
            <a:ext cx="217804" cy="1570990"/>
          </a:xfrm>
          <a:custGeom>
            <a:avLst/>
            <a:gdLst/>
            <a:ahLst/>
            <a:cxnLst/>
            <a:rect l="l" t="t" r="r" b="b"/>
            <a:pathLst>
              <a:path w="217804" h="1570990">
                <a:moveTo>
                  <a:pt x="0" y="1570632"/>
                </a:moveTo>
                <a:lnTo>
                  <a:pt x="217564" y="1570632"/>
                </a:lnTo>
                <a:lnTo>
                  <a:pt x="217564" y="0"/>
                </a:lnTo>
                <a:lnTo>
                  <a:pt x="0" y="0"/>
                </a:lnTo>
              </a:path>
            </a:pathLst>
          </a:custGeom>
          <a:ln w="52354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406104" y="2950560"/>
            <a:ext cx="4644390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93215">
              <a:lnSpc>
                <a:spcPts val="3960"/>
              </a:lnSpc>
              <a:spcBef>
                <a:spcPts val="95"/>
              </a:spcBef>
              <a:tabLst>
                <a:tab pos="2401570" algn="l"/>
                <a:tab pos="3324225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	2	0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  <a:tabLst>
                <a:tab pos="1593215" algn="l"/>
                <a:tab pos="2401570" algn="l"/>
                <a:tab pos="3096260" algn="l"/>
                <a:tab pos="4381500" algn="l"/>
              </a:tabLst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r>
              <a:rPr sz="3300" spc="-2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4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spc="-955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64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  <a:p>
            <a:pPr marL="1593215">
              <a:lnSpc>
                <a:spcPts val="3960"/>
              </a:lnSpc>
              <a:tabLst>
                <a:tab pos="2173605" algn="l"/>
                <a:tab pos="3324225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	</a:t>
            </a:r>
            <a:r>
              <a:rPr sz="3300" b="1" spc="-795" dirty="0">
                <a:solidFill>
                  <a:srgbClr val="1E1E1E"/>
                </a:solidFill>
                <a:latin typeface="Verdana"/>
                <a:cs typeface="Verdana"/>
              </a:rPr>
              <a:t>−2	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5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109457" y="2908298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143775" y="0"/>
                </a:moveTo>
                <a:lnTo>
                  <a:pt x="0" y="0"/>
                </a:lnTo>
                <a:lnTo>
                  <a:pt x="24334" y="35276"/>
                </a:lnTo>
                <a:lnTo>
                  <a:pt x="47968" y="71681"/>
                </a:lnTo>
                <a:lnTo>
                  <a:pt x="70817" y="109260"/>
                </a:lnTo>
                <a:lnTo>
                  <a:pt x="92797" y="148061"/>
                </a:lnTo>
                <a:lnTo>
                  <a:pt x="113826" y="188132"/>
                </a:lnTo>
                <a:lnTo>
                  <a:pt x="133820" y="229519"/>
                </a:lnTo>
                <a:lnTo>
                  <a:pt x="152694" y="272270"/>
                </a:lnTo>
                <a:lnTo>
                  <a:pt x="170366" y="316431"/>
                </a:lnTo>
                <a:lnTo>
                  <a:pt x="186752" y="362050"/>
                </a:lnTo>
                <a:lnTo>
                  <a:pt x="201767" y="409174"/>
                </a:lnTo>
                <a:lnTo>
                  <a:pt x="215330" y="457850"/>
                </a:lnTo>
                <a:lnTo>
                  <a:pt x="227355" y="508126"/>
                </a:lnTo>
                <a:lnTo>
                  <a:pt x="237760" y="560048"/>
                </a:lnTo>
                <a:lnTo>
                  <a:pt x="246460" y="613664"/>
                </a:lnTo>
                <a:lnTo>
                  <a:pt x="253372" y="669020"/>
                </a:lnTo>
                <a:lnTo>
                  <a:pt x="258413" y="726164"/>
                </a:lnTo>
                <a:lnTo>
                  <a:pt x="261499" y="785144"/>
                </a:lnTo>
                <a:lnTo>
                  <a:pt x="262546" y="846005"/>
                </a:lnTo>
                <a:lnTo>
                  <a:pt x="261536" y="907888"/>
                </a:lnTo>
                <a:lnTo>
                  <a:pt x="258551" y="967844"/>
                </a:lnTo>
                <a:lnTo>
                  <a:pt x="253662" y="1025913"/>
                </a:lnTo>
                <a:lnTo>
                  <a:pt x="246940" y="1082137"/>
                </a:lnTo>
                <a:lnTo>
                  <a:pt x="238456" y="1136555"/>
                </a:lnTo>
                <a:lnTo>
                  <a:pt x="228281" y="1189210"/>
                </a:lnTo>
                <a:lnTo>
                  <a:pt x="216485" y="1240140"/>
                </a:lnTo>
                <a:lnTo>
                  <a:pt x="203139" y="1289388"/>
                </a:lnTo>
                <a:lnTo>
                  <a:pt x="188314" y="1336994"/>
                </a:lnTo>
                <a:lnTo>
                  <a:pt x="172081" y="1382999"/>
                </a:lnTo>
                <a:lnTo>
                  <a:pt x="154510" y="1427442"/>
                </a:lnTo>
                <a:lnTo>
                  <a:pt x="135672" y="1470366"/>
                </a:lnTo>
                <a:lnTo>
                  <a:pt x="115638" y="1511811"/>
                </a:lnTo>
                <a:lnTo>
                  <a:pt x="94478" y="1551817"/>
                </a:lnTo>
                <a:lnTo>
                  <a:pt x="72264" y="1590426"/>
                </a:lnTo>
                <a:lnTo>
                  <a:pt x="49065" y="1627677"/>
                </a:lnTo>
                <a:lnTo>
                  <a:pt x="24954" y="1663613"/>
                </a:lnTo>
                <a:lnTo>
                  <a:pt x="0" y="1698272"/>
                </a:lnTo>
                <a:lnTo>
                  <a:pt x="143775" y="1698272"/>
                </a:lnTo>
                <a:lnTo>
                  <a:pt x="187642" y="1636458"/>
                </a:lnTo>
                <a:lnTo>
                  <a:pt x="209432" y="1602871"/>
                </a:lnTo>
                <a:lnTo>
                  <a:pt x="230926" y="1567425"/>
                </a:lnTo>
                <a:lnTo>
                  <a:pt x="251975" y="1530067"/>
                </a:lnTo>
                <a:lnTo>
                  <a:pt x="272428" y="1490743"/>
                </a:lnTo>
                <a:lnTo>
                  <a:pt x="292134" y="1449399"/>
                </a:lnTo>
                <a:lnTo>
                  <a:pt x="310945" y="1405983"/>
                </a:lnTo>
                <a:lnTo>
                  <a:pt x="328709" y="1360440"/>
                </a:lnTo>
                <a:lnTo>
                  <a:pt x="345278" y="1312716"/>
                </a:lnTo>
                <a:lnTo>
                  <a:pt x="360500" y="1262759"/>
                </a:lnTo>
                <a:lnTo>
                  <a:pt x="374225" y="1210515"/>
                </a:lnTo>
                <a:lnTo>
                  <a:pt x="386305" y="1155929"/>
                </a:lnTo>
                <a:lnTo>
                  <a:pt x="396587" y="1098948"/>
                </a:lnTo>
                <a:lnTo>
                  <a:pt x="404923" y="1039519"/>
                </a:lnTo>
                <a:lnTo>
                  <a:pt x="411163" y="977588"/>
                </a:lnTo>
                <a:lnTo>
                  <a:pt x="415155" y="913101"/>
                </a:lnTo>
                <a:lnTo>
                  <a:pt x="416751" y="846005"/>
                </a:lnTo>
                <a:lnTo>
                  <a:pt x="415465" y="779568"/>
                </a:lnTo>
                <a:lnTo>
                  <a:pt x="411712" y="715669"/>
                </a:lnTo>
                <a:lnTo>
                  <a:pt x="405647" y="654260"/>
                </a:lnTo>
                <a:lnTo>
                  <a:pt x="397428" y="595296"/>
                </a:lnTo>
                <a:lnTo>
                  <a:pt x="387210" y="538729"/>
                </a:lnTo>
                <a:lnTo>
                  <a:pt x="375152" y="484511"/>
                </a:lnTo>
                <a:lnTo>
                  <a:pt x="361408" y="432595"/>
                </a:lnTo>
                <a:lnTo>
                  <a:pt x="346135" y="382935"/>
                </a:lnTo>
                <a:lnTo>
                  <a:pt x="329491" y="335483"/>
                </a:lnTo>
                <a:lnTo>
                  <a:pt x="311631" y="290192"/>
                </a:lnTo>
                <a:lnTo>
                  <a:pt x="292712" y="247014"/>
                </a:lnTo>
                <a:lnTo>
                  <a:pt x="272891" y="205904"/>
                </a:lnTo>
                <a:lnTo>
                  <a:pt x="252323" y="166813"/>
                </a:lnTo>
                <a:lnTo>
                  <a:pt x="231166" y="129694"/>
                </a:lnTo>
                <a:lnTo>
                  <a:pt x="209577" y="94500"/>
                </a:lnTo>
                <a:lnTo>
                  <a:pt x="187711" y="61185"/>
                </a:lnTo>
                <a:lnTo>
                  <a:pt x="165725" y="29700"/>
                </a:lnTo>
                <a:lnTo>
                  <a:pt x="14377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09457" y="2908298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143775" y="1698272"/>
                </a:moveTo>
                <a:lnTo>
                  <a:pt x="187642" y="1636458"/>
                </a:lnTo>
                <a:lnTo>
                  <a:pt x="209432" y="1602871"/>
                </a:lnTo>
                <a:lnTo>
                  <a:pt x="230926" y="1567425"/>
                </a:lnTo>
                <a:lnTo>
                  <a:pt x="251975" y="1530067"/>
                </a:lnTo>
                <a:lnTo>
                  <a:pt x="272428" y="1490743"/>
                </a:lnTo>
                <a:lnTo>
                  <a:pt x="292134" y="1449399"/>
                </a:lnTo>
                <a:lnTo>
                  <a:pt x="310945" y="1405983"/>
                </a:lnTo>
                <a:lnTo>
                  <a:pt x="328709" y="1360440"/>
                </a:lnTo>
                <a:lnTo>
                  <a:pt x="345278" y="1312716"/>
                </a:lnTo>
                <a:lnTo>
                  <a:pt x="360500" y="1262759"/>
                </a:lnTo>
                <a:lnTo>
                  <a:pt x="374225" y="1210515"/>
                </a:lnTo>
                <a:lnTo>
                  <a:pt x="386305" y="1155929"/>
                </a:lnTo>
                <a:lnTo>
                  <a:pt x="396587" y="1098948"/>
                </a:lnTo>
                <a:lnTo>
                  <a:pt x="404923" y="1039519"/>
                </a:lnTo>
                <a:lnTo>
                  <a:pt x="411163" y="977588"/>
                </a:lnTo>
                <a:lnTo>
                  <a:pt x="415155" y="913101"/>
                </a:lnTo>
                <a:lnTo>
                  <a:pt x="416751" y="846005"/>
                </a:lnTo>
                <a:lnTo>
                  <a:pt x="415465" y="779568"/>
                </a:lnTo>
                <a:lnTo>
                  <a:pt x="411712" y="715669"/>
                </a:lnTo>
                <a:lnTo>
                  <a:pt x="405647" y="654260"/>
                </a:lnTo>
                <a:lnTo>
                  <a:pt x="397428" y="595296"/>
                </a:lnTo>
                <a:lnTo>
                  <a:pt x="387210" y="538729"/>
                </a:lnTo>
                <a:lnTo>
                  <a:pt x="375152" y="484511"/>
                </a:lnTo>
                <a:lnTo>
                  <a:pt x="361408" y="432595"/>
                </a:lnTo>
                <a:lnTo>
                  <a:pt x="346135" y="382935"/>
                </a:lnTo>
                <a:lnTo>
                  <a:pt x="329491" y="335483"/>
                </a:lnTo>
                <a:lnTo>
                  <a:pt x="311631" y="290192"/>
                </a:lnTo>
                <a:lnTo>
                  <a:pt x="292712" y="247014"/>
                </a:lnTo>
                <a:lnTo>
                  <a:pt x="272891" y="205904"/>
                </a:lnTo>
                <a:lnTo>
                  <a:pt x="252323" y="166813"/>
                </a:lnTo>
                <a:lnTo>
                  <a:pt x="231166" y="129694"/>
                </a:lnTo>
                <a:lnTo>
                  <a:pt x="209577" y="94500"/>
                </a:lnTo>
                <a:lnTo>
                  <a:pt x="187711" y="61185"/>
                </a:lnTo>
                <a:lnTo>
                  <a:pt x="165725" y="29700"/>
                </a:lnTo>
                <a:lnTo>
                  <a:pt x="143775" y="0"/>
                </a:lnTo>
                <a:lnTo>
                  <a:pt x="0" y="0"/>
                </a:lnTo>
                <a:lnTo>
                  <a:pt x="24334" y="35276"/>
                </a:lnTo>
                <a:lnTo>
                  <a:pt x="47968" y="71681"/>
                </a:lnTo>
                <a:lnTo>
                  <a:pt x="70817" y="109260"/>
                </a:lnTo>
                <a:lnTo>
                  <a:pt x="92797" y="148061"/>
                </a:lnTo>
                <a:lnTo>
                  <a:pt x="113826" y="188132"/>
                </a:lnTo>
                <a:lnTo>
                  <a:pt x="133820" y="229519"/>
                </a:lnTo>
                <a:lnTo>
                  <a:pt x="152694" y="272270"/>
                </a:lnTo>
                <a:lnTo>
                  <a:pt x="170366" y="316431"/>
                </a:lnTo>
                <a:lnTo>
                  <a:pt x="186752" y="362050"/>
                </a:lnTo>
                <a:lnTo>
                  <a:pt x="201767" y="409174"/>
                </a:lnTo>
                <a:lnTo>
                  <a:pt x="215330" y="457850"/>
                </a:lnTo>
                <a:lnTo>
                  <a:pt x="227355" y="508126"/>
                </a:lnTo>
                <a:lnTo>
                  <a:pt x="237760" y="560048"/>
                </a:lnTo>
                <a:lnTo>
                  <a:pt x="246460" y="613664"/>
                </a:lnTo>
                <a:lnTo>
                  <a:pt x="253372" y="669020"/>
                </a:lnTo>
                <a:lnTo>
                  <a:pt x="258413" y="726164"/>
                </a:lnTo>
                <a:lnTo>
                  <a:pt x="261499" y="785144"/>
                </a:lnTo>
                <a:lnTo>
                  <a:pt x="262546" y="846005"/>
                </a:lnTo>
                <a:lnTo>
                  <a:pt x="261536" y="907888"/>
                </a:lnTo>
                <a:lnTo>
                  <a:pt x="258551" y="967844"/>
                </a:lnTo>
                <a:lnTo>
                  <a:pt x="253662" y="1025913"/>
                </a:lnTo>
                <a:lnTo>
                  <a:pt x="246940" y="1082137"/>
                </a:lnTo>
                <a:lnTo>
                  <a:pt x="238456" y="1136555"/>
                </a:lnTo>
                <a:lnTo>
                  <a:pt x="228281" y="1189210"/>
                </a:lnTo>
                <a:lnTo>
                  <a:pt x="216485" y="1240140"/>
                </a:lnTo>
                <a:lnTo>
                  <a:pt x="203139" y="1289388"/>
                </a:lnTo>
                <a:lnTo>
                  <a:pt x="188314" y="1336994"/>
                </a:lnTo>
                <a:lnTo>
                  <a:pt x="172081" y="1382999"/>
                </a:lnTo>
                <a:lnTo>
                  <a:pt x="154510" y="1427442"/>
                </a:lnTo>
                <a:lnTo>
                  <a:pt x="135672" y="1470366"/>
                </a:lnTo>
                <a:lnTo>
                  <a:pt x="115638" y="1511811"/>
                </a:lnTo>
                <a:lnTo>
                  <a:pt x="94478" y="1551817"/>
                </a:lnTo>
                <a:lnTo>
                  <a:pt x="72264" y="1590426"/>
                </a:lnTo>
                <a:lnTo>
                  <a:pt x="49065" y="1627677"/>
                </a:lnTo>
                <a:lnTo>
                  <a:pt x="24954" y="1663613"/>
                </a:lnTo>
                <a:lnTo>
                  <a:pt x="0" y="1698272"/>
                </a:lnTo>
                <a:lnTo>
                  <a:pt x="143775" y="1698272"/>
                </a:lnTo>
                <a:close/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424009" y="2908288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4" h="1698625">
                <a:moveTo>
                  <a:pt x="416751" y="0"/>
                </a:moveTo>
                <a:lnTo>
                  <a:pt x="272975" y="0"/>
                </a:lnTo>
                <a:lnTo>
                  <a:pt x="251044" y="30031"/>
                </a:lnTo>
                <a:lnTo>
                  <a:pt x="229109" y="61814"/>
                </a:lnTo>
                <a:lnTo>
                  <a:pt x="207319" y="95401"/>
                </a:lnTo>
                <a:lnTo>
                  <a:pt x="185824" y="130847"/>
                </a:lnTo>
                <a:lnTo>
                  <a:pt x="164776" y="168205"/>
                </a:lnTo>
                <a:lnTo>
                  <a:pt x="144323" y="207529"/>
                </a:lnTo>
                <a:lnTo>
                  <a:pt x="124617" y="248873"/>
                </a:lnTo>
                <a:lnTo>
                  <a:pt x="105806" y="292289"/>
                </a:lnTo>
                <a:lnTo>
                  <a:pt x="88041" y="337832"/>
                </a:lnTo>
                <a:lnTo>
                  <a:pt x="71473" y="385555"/>
                </a:lnTo>
                <a:lnTo>
                  <a:pt x="56251" y="435513"/>
                </a:lnTo>
                <a:lnTo>
                  <a:pt x="42525" y="487757"/>
                </a:lnTo>
                <a:lnTo>
                  <a:pt x="30446" y="542343"/>
                </a:lnTo>
                <a:lnTo>
                  <a:pt x="20163" y="599324"/>
                </a:lnTo>
                <a:lnTo>
                  <a:pt x="11827" y="658753"/>
                </a:lnTo>
                <a:lnTo>
                  <a:pt x="5588" y="720684"/>
                </a:lnTo>
                <a:lnTo>
                  <a:pt x="1595" y="785171"/>
                </a:lnTo>
                <a:lnTo>
                  <a:pt x="0" y="852267"/>
                </a:lnTo>
                <a:lnTo>
                  <a:pt x="1285" y="918704"/>
                </a:lnTo>
                <a:lnTo>
                  <a:pt x="5039" y="982603"/>
                </a:lnTo>
                <a:lnTo>
                  <a:pt x="11104" y="1044011"/>
                </a:lnTo>
                <a:lnTo>
                  <a:pt x="19323" y="1102976"/>
                </a:lnTo>
                <a:lnTo>
                  <a:pt x="29540" y="1159543"/>
                </a:lnTo>
                <a:lnTo>
                  <a:pt x="41599" y="1213761"/>
                </a:lnTo>
                <a:lnTo>
                  <a:pt x="55343" y="1265677"/>
                </a:lnTo>
                <a:lnTo>
                  <a:pt x="70615" y="1315337"/>
                </a:lnTo>
                <a:lnTo>
                  <a:pt x="87260" y="1362789"/>
                </a:lnTo>
                <a:lnTo>
                  <a:pt x="105120" y="1408080"/>
                </a:lnTo>
                <a:lnTo>
                  <a:pt x="124039" y="1451258"/>
                </a:lnTo>
                <a:lnTo>
                  <a:pt x="143860" y="1492368"/>
                </a:lnTo>
                <a:lnTo>
                  <a:pt x="164427" y="1531459"/>
                </a:lnTo>
                <a:lnTo>
                  <a:pt x="185584" y="1568578"/>
                </a:lnTo>
                <a:lnTo>
                  <a:pt x="207174" y="1603772"/>
                </a:lnTo>
                <a:lnTo>
                  <a:pt x="229040" y="1637087"/>
                </a:lnTo>
                <a:lnTo>
                  <a:pt x="251026" y="1668572"/>
                </a:lnTo>
                <a:lnTo>
                  <a:pt x="272975" y="1698272"/>
                </a:lnTo>
                <a:lnTo>
                  <a:pt x="416751" y="1698272"/>
                </a:lnTo>
                <a:lnTo>
                  <a:pt x="392417" y="1662996"/>
                </a:lnTo>
                <a:lnTo>
                  <a:pt x="368783" y="1626591"/>
                </a:lnTo>
                <a:lnTo>
                  <a:pt x="345934" y="1589012"/>
                </a:lnTo>
                <a:lnTo>
                  <a:pt x="323953" y="1550211"/>
                </a:lnTo>
                <a:lnTo>
                  <a:pt x="302924" y="1510140"/>
                </a:lnTo>
                <a:lnTo>
                  <a:pt x="282931" y="1468753"/>
                </a:lnTo>
                <a:lnTo>
                  <a:pt x="264056" y="1426002"/>
                </a:lnTo>
                <a:lnTo>
                  <a:pt x="246385" y="1381841"/>
                </a:lnTo>
                <a:lnTo>
                  <a:pt x="229999" y="1336222"/>
                </a:lnTo>
                <a:lnTo>
                  <a:pt x="214983" y="1289098"/>
                </a:lnTo>
                <a:lnTo>
                  <a:pt x="201421" y="1240421"/>
                </a:lnTo>
                <a:lnTo>
                  <a:pt x="189396" y="1190146"/>
                </a:lnTo>
                <a:lnTo>
                  <a:pt x="178991" y="1138224"/>
                </a:lnTo>
                <a:lnTo>
                  <a:pt x="170291" y="1084608"/>
                </a:lnTo>
                <a:lnTo>
                  <a:pt x="163378" y="1029252"/>
                </a:lnTo>
                <a:lnTo>
                  <a:pt x="158337" y="972108"/>
                </a:lnTo>
                <a:lnTo>
                  <a:pt x="155251" y="913128"/>
                </a:lnTo>
                <a:lnTo>
                  <a:pt x="154204" y="852267"/>
                </a:lnTo>
                <a:lnTo>
                  <a:pt x="155215" y="790384"/>
                </a:lnTo>
                <a:lnTo>
                  <a:pt x="158200" y="730428"/>
                </a:lnTo>
                <a:lnTo>
                  <a:pt x="163089" y="672359"/>
                </a:lnTo>
                <a:lnTo>
                  <a:pt x="169811" y="616135"/>
                </a:lnTo>
                <a:lnTo>
                  <a:pt x="178294" y="561716"/>
                </a:lnTo>
                <a:lnTo>
                  <a:pt x="188470" y="509062"/>
                </a:lnTo>
                <a:lnTo>
                  <a:pt x="200265" y="458131"/>
                </a:lnTo>
                <a:lnTo>
                  <a:pt x="213611" y="408884"/>
                </a:lnTo>
                <a:lnTo>
                  <a:pt x="228436" y="361278"/>
                </a:lnTo>
                <a:lnTo>
                  <a:pt x="244670" y="315273"/>
                </a:lnTo>
                <a:lnTo>
                  <a:pt x="262241" y="270830"/>
                </a:lnTo>
                <a:lnTo>
                  <a:pt x="281079" y="227906"/>
                </a:lnTo>
                <a:lnTo>
                  <a:pt x="301113" y="186461"/>
                </a:lnTo>
                <a:lnTo>
                  <a:pt x="322273" y="146455"/>
                </a:lnTo>
                <a:lnTo>
                  <a:pt x="344487" y="107846"/>
                </a:lnTo>
                <a:lnTo>
                  <a:pt x="367686" y="70595"/>
                </a:lnTo>
                <a:lnTo>
                  <a:pt x="391797" y="34659"/>
                </a:lnTo>
                <a:lnTo>
                  <a:pt x="416751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424009" y="2908288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4" h="1698625">
                <a:moveTo>
                  <a:pt x="272975" y="0"/>
                </a:moveTo>
                <a:lnTo>
                  <a:pt x="229109" y="61814"/>
                </a:lnTo>
                <a:lnTo>
                  <a:pt x="207319" y="95401"/>
                </a:lnTo>
                <a:lnTo>
                  <a:pt x="185824" y="130847"/>
                </a:lnTo>
                <a:lnTo>
                  <a:pt x="164776" y="168205"/>
                </a:lnTo>
                <a:lnTo>
                  <a:pt x="144323" y="207529"/>
                </a:lnTo>
                <a:lnTo>
                  <a:pt x="124617" y="248873"/>
                </a:lnTo>
                <a:lnTo>
                  <a:pt x="105806" y="292289"/>
                </a:lnTo>
                <a:lnTo>
                  <a:pt x="88041" y="337832"/>
                </a:lnTo>
                <a:lnTo>
                  <a:pt x="71473" y="385555"/>
                </a:lnTo>
                <a:lnTo>
                  <a:pt x="56251" y="435513"/>
                </a:lnTo>
                <a:lnTo>
                  <a:pt x="42525" y="487757"/>
                </a:lnTo>
                <a:lnTo>
                  <a:pt x="30446" y="542343"/>
                </a:lnTo>
                <a:lnTo>
                  <a:pt x="20163" y="599324"/>
                </a:lnTo>
                <a:lnTo>
                  <a:pt x="11827" y="658753"/>
                </a:lnTo>
                <a:lnTo>
                  <a:pt x="5588" y="720684"/>
                </a:lnTo>
                <a:lnTo>
                  <a:pt x="1595" y="785171"/>
                </a:lnTo>
                <a:lnTo>
                  <a:pt x="0" y="852267"/>
                </a:lnTo>
                <a:lnTo>
                  <a:pt x="1285" y="918704"/>
                </a:lnTo>
                <a:lnTo>
                  <a:pt x="5039" y="982603"/>
                </a:lnTo>
                <a:lnTo>
                  <a:pt x="11104" y="1044011"/>
                </a:lnTo>
                <a:lnTo>
                  <a:pt x="19323" y="1102976"/>
                </a:lnTo>
                <a:lnTo>
                  <a:pt x="29540" y="1159543"/>
                </a:lnTo>
                <a:lnTo>
                  <a:pt x="41599" y="1213761"/>
                </a:lnTo>
                <a:lnTo>
                  <a:pt x="55343" y="1265677"/>
                </a:lnTo>
                <a:lnTo>
                  <a:pt x="70615" y="1315337"/>
                </a:lnTo>
                <a:lnTo>
                  <a:pt x="87260" y="1362789"/>
                </a:lnTo>
                <a:lnTo>
                  <a:pt x="105120" y="1408080"/>
                </a:lnTo>
                <a:lnTo>
                  <a:pt x="124039" y="1451258"/>
                </a:lnTo>
                <a:lnTo>
                  <a:pt x="143860" y="1492368"/>
                </a:lnTo>
                <a:lnTo>
                  <a:pt x="164427" y="1531459"/>
                </a:lnTo>
                <a:lnTo>
                  <a:pt x="185584" y="1568578"/>
                </a:lnTo>
                <a:lnTo>
                  <a:pt x="207174" y="1603772"/>
                </a:lnTo>
                <a:lnTo>
                  <a:pt x="229040" y="1637087"/>
                </a:lnTo>
                <a:lnTo>
                  <a:pt x="251026" y="1668572"/>
                </a:lnTo>
                <a:lnTo>
                  <a:pt x="272975" y="1698272"/>
                </a:lnTo>
                <a:lnTo>
                  <a:pt x="416751" y="1698272"/>
                </a:lnTo>
                <a:lnTo>
                  <a:pt x="392417" y="1662996"/>
                </a:lnTo>
                <a:lnTo>
                  <a:pt x="368783" y="1626591"/>
                </a:lnTo>
                <a:lnTo>
                  <a:pt x="345934" y="1589012"/>
                </a:lnTo>
                <a:lnTo>
                  <a:pt x="323953" y="1550211"/>
                </a:lnTo>
                <a:lnTo>
                  <a:pt x="302924" y="1510140"/>
                </a:lnTo>
                <a:lnTo>
                  <a:pt x="282931" y="1468753"/>
                </a:lnTo>
                <a:lnTo>
                  <a:pt x="264056" y="1426002"/>
                </a:lnTo>
                <a:lnTo>
                  <a:pt x="246385" y="1381841"/>
                </a:lnTo>
                <a:lnTo>
                  <a:pt x="229999" y="1336222"/>
                </a:lnTo>
                <a:lnTo>
                  <a:pt x="214983" y="1289098"/>
                </a:lnTo>
                <a:lnTo>
                  <a:pt x="201421" y="1240421"/>
                </a:lnTo>
                <a:lnTo>
                  <a:pt x="189396" y="1190146"/>
                </a:lnTo>
                <a:lnTo>
                  <a:pt x="178991" y="1138224"/>
                </a:lnTo>
                <a:lnTo>
                  <a:pt x="170291" y="1084608"/>
                </a:lnTo>
                <a:lnTo>
                  <a:pt x="163378" y="1029252"/>
                </a:lnTo>
                <a:lnTo>
                  <a:pt x="158337" y="972108"/>
                </a:lnTo>
                <a:lnTo>
                  <a:pt x="155251" y="913128"/>
                </a:lnTo>
                <a:lnTo>
                  <a:pt x="154204" y="852267"/>
                </a:lnTo>
                <a:lnTo>
                  <a:pt x="155215" y="790384"/>
                </a:lnTo>
                <a:lnTo>
                  <a:pt x="158200" y="730428"/>
                </a:lnTo>
                <a:lnTo>
                  <a:pt x="163089" y="672359"/>
                </a:lnTo>
                <a:lnTo>
                  <a:pt x="169811" y="616135"/>
                </a:lnTo>
                <a:lnTo>
                  <a:pt x="178294" y="561716"/>
                </a:lnTo>
                <a:lnTo>
                  <a:pt x="188470" y="509062"/>
                </a:lnTo>
                <a:lnTo>
                  <a:pt x="200265" y="458131"/>
                </a:lnTo>
                <a:lnTo>
                  <a:pt x="213611" y="408884"/>
                </a:lnTo>
                <a:lnTo>
                  <a:pt x="228436" y="361278"/>
                </a:lnTo>
                <a:lnTo>
                  <a:pt x="244670" y="315273"/>
                </a:lnTo>
                <a:lnTo>
                  <a:pt x="262241" y="270830"/>
                </a:lnTo>
                <a:lnTo>
                  <a:pt x="281079" y="227906"/>
                </a:lnTo>
                <a:lnTo>
                  <a:pt x="301113" y="186461"/>
                </a:lnTo>
                <a:lnTo>
                  <a:pt x="322273" y="146455"/>
                </a:lnTo>
                <a:lnTo>
                  <a:pt x="344487" y="107846"/>
                </a:lnTo>
                <a:lnTo>
                  <a:pt x="367686" y="70595"/>
                </a:lnTo>
                <a:lnTo>
                  <a:pt x="391797" y="34659"/>
                </a:lnTo>
                <a:lnTo>
                  <a:pt x="416751" y="0"/>
                </a:lnTo>
                <a:lnTo>
                  <a:pt x="272975" y="0"/>
                </a:lnTo>
                <a:close/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68</a:t>
            </a:fld>
            <a:endParaRPr spc="-37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269047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Экстремальное </a:t>
            </a:r>
            <a:r>
              <a:rPr spc="-405" dirty="0"/>
              <a:t>свойство </a:t>
            </a:r>
            <a:r>
              <a:rPr spc="-375" dirty="0"/>
              <a:t>собственных</a:t>
            </a:r>
            <a:r>
              <a:rPr spc="-515" dirty="0"/>
              <a:t> </a:t>
            </a:r>
            <a:r>
              <a:rPr spc="-395" dirty="0"/>
              <a:t>чисел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523" y="5463573"/>
            <a:ext cx="25844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7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89997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89997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69013" y="2892927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416751" y="0"/>
                </a:moveTo>
                <a:lnTo>
                  <a:pt x="272975" y="0"/>
                </a:lnTo>
                <a:lnTo>
                  <a:pt x="251044" y="30031"/>
                </a:lnTo>
                <a:lnTo>
                  <a:pt x="229109" y="61814"/>
                </a:lnTo>
                <a:lnTo>
                  <a:pt x="207319" y="95401"/>
                </a:lnTo>
                <a:lnTo>
                  <a:pt x="185824" y="130847"/>
                </a:lnTo>
                <a:lnTo>
                  <a:pt x="164776" y="168205"/>
                </a:lnTo>
                <a:lnTo>
                  <a:pt x="144323" y="207529"/>
                </a:lnTo>
                <a:lnTo>
                  <a:pt x="124617" y="248873"/>
                </a:lnTo>
                <a:lnTo>
                  <a:pt x="105806" y="292289"/>
                </a:lnTo>
                <a:lnTo>
                  <a:pt x="88041" y="337832"/>
                </a:lnTo>
                <a:lnTo>
                  <a:pt x="71473" y="385555"/>
                </a:lnTo>
                <a:lnTo>
                  <a:pt x="56251" y="435513"/>
                </a:lnTo>
                <a:lnTo>
                  <a:pt x="42525" y="487757"/>
                </a:lnTo>
                <a:lnTo>
                  <a:pt x="30446" y="542343"/>
                </a:lnTo>
                <a:lnTo>
                  <a:pt x="20163" y="599324"/>
                </a:lnTo>
                <a:lnTo>
                  <a:pt x="11827" y="658753"/>
                </a:lnTo>
                <a:lnTo>
                  <a:pt x="5588" y="720684"/>
                </a:lnTo>
                <a:lnTo>
                  <a:pt x="1595" y="785171"/>
                </a:lnTo>
                <a:lnTo>
                  <a:pt x="0" y="852267"/>
                </a:lnTo>
                <a:lnTo>
                  <a:pt x="1285" y="918704"/>
                </a:lnTo>
                <a:lnTo>
                  <a:pt x="5039" y="982603"/>
                </a:lnTo>
                <a:lnTo>
                  <a:pt x="11104" y="1044011"/>
                </a:lnTo>
                <a:lnTo>
                  <a:pt x="19323" y="1102976"/>
                </a:lnTo>
                <a:lnTo>
                  <a:pt x="29540" y="1159543"/>
                </a:lnTo>
                <a:lnTo>
                  <a:pt x="41599" y="1213761"/>
                </a:lnTo>
                <a:lnTo>
                  <a:pt x="55343" y="1265677"/>
                </a:lnTo>
                <a:lnTo>
                  <a:pt x="70615" y="1315337"/>
                </a:lnTo>
                <a:lnTo>
                  <a:pt x="87260" y="1362789"/>
                </a:lnTo>
                <a:lnTo>
                  <a:pt x="105120" y="1408080"/>
                </a:lnTo>
                <a:lnTo>
                  <a:pt x="124039" y="1451258"/>
                </a:lnTo>
                <a:lnTo>
                  <a:pt x="143860" y="1492368"/>
                </a:lnTo>
                <a:lnTo>
                  <a:pt x="164427" y="1531459"/>
                </a:lnTo>
                <a:lnTo>
                  <a:pt x="185584" y="1568578"/>
                </a:lnTo>
                <a:lnTo>
                  <a:pt x="207174" y="1603772"/>
                </a:lnTo>
                <a:lnTo>
                  <a:pt x="229040" y="1637087"/>
                </a:lnTo>
                <a:lnTo>
                  <a:pt x="251026" y="1668572"/>
                </a:lnTo>
                <a:lnTo>
                  <a:pt x="272975" y="1698272"/>
                </a:lnTo>
                <a:lnTo>
                  <a:pt x="416751" y="1698272"/>
                </a:lnTo>
                <a:lnTo>
                  <a:pt x="392417" y="1662996"/>
                </a:lnTo>
                <a:lnTo>
                  <a:pt x="368783" y="1626591"/>
                </a:lnTo>
                <a:lnTo>
                  <a:pt x="345934" y="1589012"/>
                </a:lnTo>
                <a:lnTo>
                  <a:pt x="323953" y="1550211"/>
                </a:lnTo>
                <a:lnTo>
                  <a:pt x="302924" y="1510140"/>
                </a:lnTo>
                <a:lnTo>
                  <a:pt x="282931" y="1468753"/>
                </a:lnTo>
                <a:lnTo>
                  <a:pt x="264056" y="1426002"/>
                </a:lnTo>
                <a:lnTo>
                  <a:pt x="246385" y="1381841"/>
                </a:lnTo>
                <a:lnTo>
                  <a:pt x="229999" y="1336222"/>
                </a:lnTo>
                <a:lnTo>
                  <a:pt x="214983" y="1289098"/>
                </a:lnTo>
                <a:lnTo>
                  <a:pt x="201421" y="1240421"/>
                </a:lnTo>
                <a:lnTo>
                  <a:pt x="189396" y="1190146"/>
                </a:lnTo>
                <a:lnTo>
                  <a:pt x="178991" y="1138224"/>
                </a:lnTo>
                <a:lnTo>
                  <a:pt x="170291" y="1084608"/>
                </a:lnTo>
                <a:lnTo>
                  <a:pt x="163378" y="1029252"/>
                </a:lnTo>
                <a:lnTo>
                  <a:pt x="158337" y="972108"/>
                </a:lnTo>
                <a:lnTo>
                  <a:pt x="155251" y="913128"/>
                </a:lnTo>
                <a:lnTo>
                  <a:pt x="154204" y="852267"/>
                </a:lnTo>
                <a:lnTo>
                  <a:pt x="155215" y="790384"/>
                </a:lnTo>
                <a:lnTo>
                  <a:pt x="158200" y="730428"/>
                </a:lnTo>
                <a:lnTo>
                  <a:pt x="163089" y="672359"/>
                </a:lnTo>
                <a:lnTo>
                  <a:pt x="169811" y="616135"/>
                </a:lnTo>
                <a:lnTo>
                  <a:pt x="178294" y="561716"/>
                </a:lnTo>
                <a:lnTo>
                  <a:pt x="188470" y="509062"/>
                </a:lnTo>
                <a:lnTo>
                  <a:pt x="200265" y="458131"/>
                </a:lnTo>
                <a:lnTo>
                  <a:pt x="213611" y="408884"/>
                </a:lnTo>
                <a:lnTo>
                  <a:pt x="228436" y="361278"/>
                </a:lnTo>
                <a:lnTo>
                  <a:pt x="244670" y="315273"/>
                </a:lnTo>
                <a:lnTo>
                  <a:pt x="262241" y="270830"/>
                </a:lnTo>
                <a:lnTo>
                  <a:pt x="281079" y="227906"/>
                </a:lnTo>
                <a:lnTo>
                  <a:pt x="301113" y="186461"/>
                </a:lnTo>
                <a:lnTo>
                  <a:pt x="322273" y="146455"/>
                </a:lnTo>
                <a:lnTo>
                  <a:pt x="344487" y="107846"/>
                </a:lnTo>
                <a:lnTo>
                  <a:pt x="367686" y="70595"/>
                </a:lnTo>
                <a:lnTo>
                  <a:pt x="391797" y="34659"/>
                </a:lnTo>
                <a:lnTo>
                  <a:pt x="416751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69013" y="2892927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272975" y="0"/>
                </a:moveTo>
                <a:lnTo>
                  <a:pt x="229109" y="61814"/>
                </a:lnTo>
                <a:lnTo>
                  <a:pt x="207319" y="95401"/>
                </a:lnTo>
                <a:lnTo>
                  <a:pt x="185824" y="130847"/>
                </a:lnTo>
                <a:lnTo>
                  <a:pt x="164776" y="168205"/>
                </a:lnTo>
                <a:lnTo>
                  <a:pt x="144323" y="207529"/>
                </a:lnTo>
                <a:lnTo>
                  <a:pt x="124617" y="248873"/>
                </a:lnTo>
                <a:lnTo>
                  <a:pt x="105806" y="292289"/>
                </a:lnTo>
                <a:lnTo>
                  <a:pt x="88041" y="337832"/>
                </a:lnTo>
                <a:lnTo>
                  <a:pt x="71473" y="385555"/>
                </a:lnTo>
                <a:lnTo>
                  <a:pt x="56251" y="435513"/>
                </a:lnTo>
                <a:lnTo>
                  <a:pt x="42525" y="487757"/>
                </a:lnTo>
                <a:lnTo>
                  <a:pt x="30446" y="542343"/>
                </a:lnTo>
                <a:lnTo>
                  <a:pt x="20163" y="599324"/>
                </a:lnTo>
                <a:lnTo>
                  <a:pt x="11827" y="658753"/>
                </a:lnTo>
                <a:lnTo>
                  <a:pt x="5588" y="720684"/>
                </a:lnTo>
                <a:lnTo>
                  <a:pt x="1595" y="785171"/>
                </a:lnTo>
                <a:lnTo>
                  <a:pt x="0" y="852267"/>
                </a:lnTo>
                <a:lnTo>
                  <a:pt x="1285" y="918704"/>
                </a:lnTo>
                <a:lnTo>
                  <a:pt x="5039" y="982603"/>
                </a:lnTo>
                <a:lnTo>
                  <a:pt x="11104" y="1044011"/>
                </a:lnTo>
                <a:lnTo>
                  <a:pt x="19323" y="1102976"/>
                </a:lnTo>
                <a:lnTo>
                  <a:pt x="29540" y="1159543"/>
                </a:lnTo>
                <a:lnTo>
                  <a:pt x="41599" y="1213761"/>
                </a:lnTo>
                <a:lnTo>
                  <a:pt x="55343" y="1265677"/>
                </a:lnTo>
                <a:lnTo>
                  <a:pt x="70615" y="1315337"/>
                </a:lnTo>
                <a:lnTo>
                  <a:pt x="87260" y="1362789"/>
                </a:lnTo>
                <a:lnTo>
                  <a:pt x="105120" y="1408080"/>
                </a:lnTo>
                <a:lnTo>
                  <a:pt x="124039" y="1451258"/>
                </a:lnTo>
                <a:lnTo>
                  <a:pt x="143860" y="1492368"/>
                </a:lnTo>
                <a:lnTo>
                  <a:pt x="164427" y="1531459"/>
                </a:lnTo>
                <a:lnTo>
                  <a:pt x="185584" y="1568578"/>
                </a:lnTo>
                <a:lnTo>
                  <a:pt x="207174" y="1603772"/>
                </a:lnTo>
                <a:lnTo>
                  <a:pt x="229040" y="1637087"/>
                </a:lnTo>
                <a:lnTo>
                  <a:pt x="251026" y="1668572"/>
                </a:lnTo>
                <a:lnTo>
                  <a:pt x="272975" y="1698272"/>
                </a:lnTo>
                <a:lnTo>
                  <a:pt x="416751" y="1698272"/>
                </a:lnTo>
                <a:lnTo>
                  <a:pt x="392417" y="1662996"/>
                </a:lnTo>
                <a:lnTo>
                  <a:pt x="368783" y="1626591"/>
                </a:lnTo>
                <a:lnTo>
                  <a:pt x="345934" y="1589012"/>
                </a:lnTo>
                <a:lnTo>
                  <a:pt x="323953" y="1550211"/>
                </a:lnTo>
                <a:lnTo>
                  <a:pt x="302924" y="1510140"/>
                </a:lnTo>
                <a:lnTo>
                  <a:pt x="282931" y="1468753"/>
                </a:lnTo>
                <a:lnTo>
                  <a:pt x="264056" y="1426002"/>
                </a:lnTo>
                <a:lnTo>
                  <a:pt x="246385" y="1381841"/>
                </a:lnTo>
                <a:lnTo>
                  <a:pt x="229999" y="1336222"/>
                </a:lnTo>
                <a:lnTo>
                  <a:pt x="214983" y="1289098"/>
                </a:lnTo>
                <a:lnTo>
                  <a:pt x="201421" y="1240421"/>
                </a:lnTo>
                <a:lnTo>
                  <a:pt x="189396" y="1190146"/>
                </a:lnTo>
                <a:lnTo>
                  <a:pt x="178991" y="1138224"/>
                </a:lnTo>
                <a:lnTo>
                  <a:pt x="170291" y="1084608"/>
                </a:lnTo>
                <a:lnTo>
                  <a:pt x="163378" y="1029252"/>
                </a:lnTo>
                <a:lnTo>
                  <a:pt x="158337" y="972108"/>
                </a:lnTo>
                <a:lnTo>
                  <a:pt x="155251" y="913128"/>
                </a:lnTo>
                <a:lnTo>
                  <a:pt x="154204" y="852267"/>
                </a:lnTo>
                <a:lnTo>
                  <a:pt x="155215" y="790384"/>
                </a:lnTo>
                <a:lnTo>
                  <a:pt x="158200" y="730428"/>
                </a:lnTo>
                <a:lnTo>
                  <a:pt x="163089" y="672359"/>
                </a:lnTo>
                <a:lnTo>
                  <a:pt x="169811" y="616135"/>
                </a:lnTo>
                <a:lnTo>
                  <a:pt x="178294" y="561716"/>
                </a:lnTo>
                <a:lnTo>
                  <a:pt x="188470" y="509062"/>
                </a:lnTo>
                <a:lnTo>
                  <a:pt x="200265" y="458131"/>
                </a:lnTo>
                <a:lnTo>
                  <a:pt x="213611" y="408884"/>
                </a:lnTo>
                <a:lnTo>
                  <a:pt x="228436" y="361278"/>
                </a:lnTo>
                <a:lnTo>
                  <a:pt x="244670" y="315273"/>
                </a:lnTo>
                <a:lnTo>
                  <a:pt x="262241" y="270830"/>
                </a:lnTo>
                <a:lnTo>
                  <a:pt x="281079" y="227906"/>
                </a:lnTo>
                <a:lnTo>
                  <a:pt x="301113" y="186461"/>
                </a:lnTo>
                <a:lnTo>
                  <a:pt x="322273" y="146455"/>
                </a:lnTo>
                <a:lnTo>
                  <a:pt x="344487" y="107846"/>
                </a:lnTo>
                <a:lnTo>
                  <a:pt x="367686" y="70595"/>
                </a:lnTo>
                <a:lnTo>
                  <a:pt x="391797" y="34659"/>
                </a:lnTo>
                <a:lnTo>
                  <a:pt x="416751" y="0"/>
                </a:lnTo>
                <a:lnTo>
                  <a:pt x="272975" y="0"/>
                </a:lnTo>
                <a:close/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84596" y="2892927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143775" y="0"/>
                </a:moveTo>
                <a:lnTo>
                  <a:pt x="0" y="0"/>
                </a:lnTo>
                <a:lnTo>
                  <a:pt x="24334" y="35276"/>
                </a:lnTo>
                <a:lnTo>
                  <a:pt x="47968" y="71681"/>
                </a:lnTo>
                <a:lnTo>
                  <a:pt x="70817" y="109260"/>
                </a:lnTo>
                <a:lnTo>
                  <a:pt x="92797" y="148061"/>
                </a:lnTo>
                <a:lnTo>
                  <a:pt x="113826" y="188132"/>
                </a:lnTo>
                <a:lnTo>
                  <a:pt x="133820" y="229519"/>
                </a:lnTo>
                <a:lnTo>
                  <a:pt x="152694" y="272270"/>
                </a:lnTo>
                <a:lnTo>
                  <a:pt x="170366" y="316431"/>
                </a:lnTo>
                <a:lnTo>
                  <a:pt x="186752" y="362050"/>
                </a:lnTo>
                <a:lnTo>
                  <a:pt x="201767" y="409174"/>
                </a:lnTo>
                <a:lnTo>
                  <a:pt x="215330" y="457850"/>
                </a:lnTo>
                <a:lnTo>
                  <a:pt x="227355" y="508126"/>
                </a:lnTo>
                <a:lnTo>
                  <a:pt x="237760" y="560048"/>
                </a:lnTo>
                <a:lnTo>
                  <a:pt x="246460" y="613664"/>
                </a:lnTo>
                <a:lnTo>
                  <a:pt x="253372" y="669020"/>
                </a:lnTo>
                <a:lnTo>
                  <a:pt x="258413" y="726164"/>
                </a:lnTo>
                <a:lnTo>
                  <a:pt x="261499" y="785144"/>
                </a:lnTo>
                <a:lnTo>
                  <a:pt x="262546" y="846005"/>
                </a:lnTo>
                <a:lnTo>
                  <a:pt x="261536" y="907888"/>
                </a:lnTo>
                <a:lnTo>
                  <a:pt x="258551" y="967844"/>
                </a:lnTo>
                <a:lnTo>
                  <a:pt x="253662" y="1025913"/>
                </a:lnTo>
                <a:lnTo>
                  <a:pt x="246940" y="1082137"/>
                </a:lnTo>
                <a:lnTo>
                  <a:pt x="238456" y="1136555"/>
                </a:lnTo>
                <a:lnTo>
                  <a:pt x="228281" y="1189210"/>
                </a:lnTo>
                <a:lnTo>
                  <a:pt x="216485" y="1240140"/>
                </a:lnTo>
                <a:lnTo>
                  <a:pt x="203139" y="1289388"/>
                </a:lnTo>
                <a:lnTo>
                  <a:pt x="188314" y="1336994"/>
                </a:lnTo>
                <a:lnTo>
                  <a:pt x="172081" y="1382999"/>
                </a:lnTo>
                <a:lnTo>
                  <a:pt x="154510" y="1427442"/>
                </a:lnTo>
                <a:lnTo>
                  <a:pt x="135672" y="1470366"/>
                </a:lnTo>
                <a:lnTo>
                  <a:pt x="115638" y="1511811"/>
                </a:lnTo>
                <a:lnTo>
                  <a:pt x="94478" y="1551817"/>
                </a:lnTo>
                <a:lnTo>
                  <a:pt x="72264" y="1590426"/>
                </a:lnTo>
                <a:lnTo>
                  <a:pt x="49065" y="1627677"/>
                </a:lnTo>
                <a:lnTo>
                  <a:pt x="24954" y="1663613"/>
                </a:lnTo>
                <a:lnTo>
                  <a:pt x="0" y="1698272"/>
                </a:lnTo>
                <a:lnTo>
                  <a:pt x="143775" y="1698272"/>
                </a:lnTo>
                <a:lnTo>
                  <a:pt x="187642" y="1636458"/>
                </a:lnTo>
                <a:lnTo>
                  <a:pt x="209432" y="1602871"/>
                </a:lnTo>
                <a:lnTo>
                  <a:pt x="230926" y="1567425"/>
                </a:lnTo>
                <a:lnTo>
                  <a:pt x="251975" y="1530067"/>
                </a:lnTo>
                <a:lnTo>
                  <a:pt x="272428" y="1490743"/>
                </a:lnTo>
                <a:lnTo>
                  <a:pt x="292134" y="1449399"/>
                </a:lnTo>
                <a:lnTo>
                  <a:pt x="310945" y="1405983"/>
                </a:lnTo>
                <a:lnTo>
                  <a:pt x="328709" y="1360440"/>
                </a:lnTo>
                <a:lnTo>
                  <a:pt x="345278" y="1312716"/>
                </a:lnTo>
                <a:lnTo>
                  <a:pt x="360500" y="1262759"/>
                </a:lnTo>
                <a:lnTo>
                  <a:pt x="374225" y="1210515"/>
                </a:lnTo>
                <a:lnTo>
                  <a:pt x="386305" y="1155929"/>
                </a:lnTo>
                <a:lnTo>
                  <a:pt x="396587" y="1098948"/>
                </a:lnTo>
                <a:lnTo>
                  <a:pt x="404923" y="1039519"/>
                </a:lnTo>
                <a:lnTo>
                  <a:pt x="411163" y="977588"/>
                </a:lnTo>
                <a:lnTo>
                  <a:pt x="415155" y="913101"/>
                </a:lnTo>
                <a:lnTo>
                  <a:pt x="416751" y="846005"/>
                </a:lnTo>
                <a:lnTo>
                  <a:pt x="415465" y="779568"/>
                </a:lnTo>
                <a:lnTo>
                  <a:pt x="411712" y="715669"/>
                </a:lnTo>
                <a:lnTo>
                  <a:pt x="405647" y="654260"/>
                </a:lnTo>
                <a:lnTo>
                  <a:pt x="397428" y="595296"/>
                </a:lnTo>
                <a:lnTo>
                  <a:pt x="387210" y="538729"/>
                </a:lnTo>
                <a:lnTo>
                  <a:pt x="375152" y="484511"/>
                </a:lnTo>
                <a:lnTo>
                  <a:pt x="361408" y="432595"/>
                </a:lnTo>
                <a:lnTo>
                  <a:pt x="346135" y="382935"/>
                </a:lnTo>
                <a:lnTo>
                  <a:pt x="329491" y="335483"/>
                </a:lnTo>
                <a:lnTo>
                  <a:pt x="311631" y="290192"/>
                </a:lnTo>
                <a:lnTo>
                  <a:pt x="292712" y="247014"/>
                </a:lnTo>
                <a:lnTo>
                  <a:pt x="272891" y="205904"/>
                </a:lnTo>
                <a:lnTo>
                  <a:pt x="252323" y="166813"/>
                </a:lnTo>
                <a:lnTo>
                  <a:pt x="231166" y="129694"/>
                </a:lnTo>
                <a:lnTo>
                  <a:pt x="209577" y="94500"/>
                </a:lnTo>
                <a:lnTo>
                  <a:pt x="187711" y="61185"/>
                </a:lnTo>
                <a:lnTo>
                  <a:pt x="165725" y="29700"/>
                </a:lnTo>
                <a:lnTo>
                  <a:pt x="14377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84596" y="2892927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143775" y="1698272"/>
                </a:moveTo>
                <a:lnTo>
                  <a:pt x="187642" y="1636458"/>
                </a:lnTo>
                <a:lnTo>
                  <a:pt x="209432" y="1602871"/>
                </a:lnTo>
                <a:lnTo>
                  <a:pt x="230926" y="1567425"/>
                </a:lnTo>
                <a:lnTo>
                  <a:pt x="251975" y="1530067"/>
                </a:lnTo>
                <a:lnTo>
                  <a:pt x="272428" y="1490743"/>
                </a:lnTo>
                <a:lnTo>
                  <a:pt x="292134" y="1449399"/>
                </a:lnTo>
                <a:lnTo>
                  <a:pt x="310945" y="1405983"/>
                </a:lnTo>
                <a:lnTo>
                  <a:pt x="328709" y="1360440"/>
                </a:lnTo>
                <a:lnTo>
                  <a:pt x="345278" y="1312716"/>
                </a:lnTo>
                <a:lnTo>
                  <a:pt x="360500" y="1262759"/>
                </a:lnTo>
                <a:lnTo>
                  <a:pt x="374225" y="1210515"/>
                </a:lnTo>
                <a:lnTo>
                  <a:pt x="386305" y="1155929"/>
                </a:lnTo>
                <a:lnTo>
                  <a:pt x="396587" y="1098948"/>
                </a:lnTo>
                <a:lnTo>
                  <a:pt x="404923" y="1039519"/>
                </a:lnTo>
                <a:lnTo>
                  <a:pt x="411163" y="977588"/>
                </a:lnTo>
                <a:lnTo>
                  <a:pt x="415155" y="913101"/>
                </a:lnTo>
                <a:lnTo>
                  <a:pt x="416751" y="846005"/>
                </a:lnTo>
                <a:lnTo>
                  <a:pt x="415465" y="779568"/>
                </a:lnTo>
                <a:lnTo>
                  <a:pt x="411712" y="715669"/>
                </a:lnTo>
                <a:lnTo>
                  <a:pt x="405647" y="654260"/>
                </a:lnTo>
                <a:lnTo>
                  <a:pt x="397428" y="595296"/>
                </a:lnTo>
                <a:lnTo>
                  <a:pt x="387210" y="538729"/>
                </a:lnTo>
                <a:lnTo>
                  <a:pt x="375152" y="484511"/>
                </a:lnTo>
                <a:lnTo>
                  <a:pt x="361408" y="432595"/>
                </a:lnTo>
                <a:lnTo>
                  <a:pt x="346135" y="382935"/>
                </a:lnTo>
                <a:lnTo>
                  <a:pt x="329491" y="335483"/>
                </a:lnTo>
                <a:lnTo>
                  <a:pt x="311631" y="290192"/>
                </a:lnTo>
                <a:lnTo>
                  <a:pt x="292712" y="247014"/>
                </a:lnTo>
                <a:lnTo>
                  <a:pt x="272891" y="205904"/>
                </a:lnTo>
                <a:lnTo>
                  <a:pt x="252323" y="166813"/>
                </a:lnTo>
                <a:lnTo>
                  <a:pt x="231166" y="129694"/>
                </a:lnTo>
                <a:lnTo>
                  <a:pt x="209577" y="94500"/>
                </a:lnTo>
                <a:lnTo>
                  <a:pt x="187711" y="61185"/>
                </a:lnTo>
                <a:lnTo>
                  <a:pt x="165725" y="29700"/>
                </a:lnTo>
                <a:lnTo>
                  <a:pt x="143775" y="0"/>
                </a:lnTo>
                <a:lnTo>
                  <a:pt x="0" y="0"/>
                </a:lnTo>
                <a:lnTo>
                  <a:pt x="24334" y="35276"/>
                </a:lnTo>
                <a:lnTo>
                  <a:pt x="47968" y="71681"/>
                </a:lnTo>
                <a:lnTo>
                  <a:pt x="70817" y="109260"/>
                </a:lnTo>
                <a:lnTo>
                  <a:pt x="92797" y="148061"/>
                </a:lnTo>
                <a:lnTo>
                  <a:pt x="113826" y="188132"/>
                </a:lnTo>
                <a:lnTo>
                  <a:pt x="133820" y="229519"/>
                </a:lnTo>
                <a:lnTo>
                  <a:pt x="152694" y="272270"/>
                </a:lnTo>
                <a:lnTo>
                  <a:pt x="170366" y="316431"/>
                </a:lnTo>
                <a:lnTo>
                  <a:pt x="186752" y="362050"/>
                </a:lnTo>
                <a:lnTo>
                  <a:pt x="201767" y="409174"/>
                </a:lnTo>
                <a:lnTo>
                  <a:pt x="215330" y="457850"/>
                </a:lnTo>
                <a:lnTo>
                  <a:pt x="227355" y="508126"/>
                </a:lnTo>
                <a:lnTo>
                  <a:pt x="237760" y="560048"/>
                </a:lnTo>
                <a:lnTo>
                  <a:pt x="246460" y="613664"/>
                </a:lnTo>
                <a:lnTo>
                  <a:pt x="253372" y="669020"/>
                </a:lnTo>
                <a:lnTo>
                  <a:pt x="258413" y="726164"/>
                </a:lnTo>
                <a:lnTo>
                  <a:pt x="261499" y="785144"/>
                </a:lnTo>
                <a:lnTo>
                  <a:pt x="262546" y="846005"/>
                </a:lnTo>
                <a:lnTo>
                  <a:pt x="261536" y="907888"/>
                </a:lnTo>
                <a:lnTo>
                  <a:pt x="258551" y="967844"/>
                </a:lnTo>
                <a:lnTo>
                  <a:pt x="253662" y="1025913"/>
                </a:lnTo>
                <a:lnTo>
                  <a:pt x="246940" y="1082137"/>
                </a:lnTo>
                <a:lnTo>
                  <a:pt x="238456" y="1136555"/>
                </a:lnTo>
                <a:lnTo>
                  <a:pt x="228281" y="1189210"/>
                </a:lnTo>
                <a:lnTo>
                  <a:pt x="216485" y="1240140"/>
                </a:lnTo>
                <a:lnTo>
                  <a:pt x="203139" y="1289388"/>
                </a:lnTo>
                <a:lnTo>
                  <a:pt x="188314" y="1336994"/>
                </a:lnTo>
                <a:lnTo>
                  <a:pt x="172081" y="1382999"/>
                </a:lnTo>
                <a:lnTo>
                  <a:pt x="154510" y="1427442"/>
                </a:lnTo>
                <a:lnTo>
                  <a:pt x="135672" y="1470366"/>
                </a:lnTo>
                <a:lnTo>
                  <a:pt x="115638" y="1511811"/>
                </a:lnTo>
                <a:lnTo>
                  <a:pt x="94478" y="1551817"/>
                </a:lnTo>
                <a:lnTo>
                  <a:pt x="72264" y="1590426"/>
                </a:lnTo>
                <a:lnTo>
                  <a:pt x="49065" y="1627677"/>
                </a:lnTo>
                <a:lnTo>
                  <a:pt x="24954" y="1663613"/>
                </a:lnTo>
                <a:lnTo>
                  <a:pt x="0" y="1698272"/>
                </a:lnTo>
                <a:lnTo>
                  <a:pt x="143775" y="1698272"/>
                </a:lnTo>
                <a:close/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64504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64504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39841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039841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82630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82630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757137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757137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541923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541923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618165" y="5463573"/>
            <a:ext cx="6007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4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69</a:t>
            </a:fld>
            <a:endParaRPr spc="-370" dirty="0"/>
          </a:p>
        </p:txBody>
      </p:sp>
      <p:sp>
        <p:nvSpPr>
          <p:cNvPr id="25" name="object 25"/>
          <p:cNvSpPr txBox="1"/>
          <p:nvPr/>
        </p:nvSpPr>
        <p:spPr>
          <a:xfrm>
            <a:off x="10265981" y="5463573"/>
            <a:ext cx="6007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096828" y="5463573"/>
            <a:ext cx="6007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86496" y="4814378"/>
            <a:ext cx="20002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070751" y="4814378"/>
            <a:ext cx="20002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835109" y="4814378"/>
            <a:ext cx="20002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06104" y="2950560"/>
            <a:ext cx="3525520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80590">
              <a:lnSpc>
                <a:spcPts val="3960"/>
              </a:lnSpc>
              <a:spcBef>
                <a:spcPts val="95"/>
              </a:spcBef>
            </a:pP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  <a:tabLst>
                <a:tab pos="2180590" algn="l"/>
                <a:tab pos="2936875" algn="l"/>
              </a:tabLst>
            </a:pP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x; </a:t>
            </a:r>
            <a:r>
              <a:rPr sz="3300" b="1" i="1" spc="-505" dirty="0">
                <a:solidFill>
                  <a:srgbClr val="1E1E1E"/>
                </a:solidFill>
                <a:latin typeface="Verdana"/>
                <a:cs typeface="Verdana"/>
              </a:rPr>
              <a:t>y;</a:t>
            </a:r>
            <a:r>
              <a:rPr sz="3300" b="1" i="1" spc="-3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50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r>
              <a:rPr sz="3300" b="1" spc="-65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	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	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  <a:p>
            <a:pPr marL="2200275">
              <a:lnSpc>
                <a:spcPts val="3960"/>
              </a:lnSpc>
            </a:pP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75948" y="5212271"/>
            <a:ext cx="307784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855" baseline="-336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4950" b="1" i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65" baseline="-33670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4950" b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27" baseline="-33670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endParaRPr sz="4950" baseline="-33670">
              <a:latin typeface="Verdana"/>
              <a:cs typeface="Verdana"/>
            </a:endParaRPr>
          </a:p>
          <a:p>
            <a:pPr marL="92710">
              <a:lnSpc>
                <a:spcPts val="3960"/>
              </a:lnSpc>
              <a:tabLst>
                <a:tab pos="1254125" algn="l"/>
                <a:tab pos="2458085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	3	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45816" y="5212271"/>
            <a:ext cx="307848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855" baseline="-336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4950" b="1" i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65" baseline="-33670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4950" b="1" i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spc="-4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27" baseline="-33670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endParaRPr sz="4950" baseline="-33670">
              <a:latin typeface="Verdana"/>
              <a:cs typeface="Verdana"/>
            </a:endParaRPr>
          </a:p>
          <a:p>
            <a:pPr marL="92710">
              <a:lnSpc>
                <a:spcPts val="3960"/>
              </a:lnSpc>
              <a:tabLst>
                <a:tab pos="1254760" algn="l"/>
                <a:tab pos="2458085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	3	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238266" y="5212271"/>
            <a:ext cx="338137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960"/>
              </a:lnSpc>
              <a:spcBef>
                <a:spcPts val="95"/>
              </a:spcBef>
            </a:pPr>
            <a:r>
              <a:rPr sz="4950" b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855" baseline="-336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4950" b="1" i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65" baseline="-33670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4950" b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spc="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27" baseline="-33670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endParaRPr sz="4950" baseline="-33670">
              <a:latin typeface="Verdana"/>
              <a:cs typeface="Verdana"/>
            </a:endParaRPr>
          </a:p>
          <a:p>
            <a:pPr marL="9525" algn="ctr">
              <a:lnSpc>
                <a:spcPts val="3960"/>
              </a:lnSpc>
              <a:tabLst>
                <a:tab pos="1170940" algn="l"/>
                <a:tab pos="2374265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	3	3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269047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Экстремальное </a:t>
            </a:r>
            <a:r>
              <a:rPr spc="-405" dirty="0"/>
              <a:t>свойство </a:t>
            </a:r>
            <a:r>
              <a:rPr spc="-375" dirty="0"/>
              <a:t>собственных</a:t>
            </a:r>
            <a:r>
              <a:rPr spc="-515" dirty="0"/>
              <a:t> </a:t>
            </a:r>
            <a:r>
              <a:rPr spc="-395" dirty="0"/>
              <a:t>чисел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523" y="5463573"/>
            <a:ext cx="25844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7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89997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89997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69013" y="2892927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416751" y="0"/>
                </a:moveTo>
                <a:lnTo>
                  <a:pt x="272975" y="0"/>
                </a:lnTo>
                <a:lnTo>
                  <a:pt x="251044" y="30031"/>
                </a:lnTo>
                <a:lnTo>
                  <a:pt x="229109" y="61814"/>
                </a:lnTo>
                <a:lnTo>
                  <a:pt x="207319" y="95401"/>
                </a:lnTo>
                <a:lnTo>
                  <a:pt x="185824" y="130847"/>
                </a:lnTo>
                <a:lnTo>
                  <a:pt x="164776" y="168205"/>
                </a:lnTo>
                <a:lnTo>
                  <a:pt x="144323" y="207529"/>
                </a:lnTo>
                <a:lnTo>
                  <a:pt x="124617" y="248873"/>
                </a:lnTo>
                <a:lnTo>
                  <a:pt x="105806" y="292289"/>
                </a:lnTo>
                <a:lnTo>
                  <a:pt x="88041" y="337832"/>
                </a:lnTo>
                <a:lnTo>
                  <a:pt x="71473" y="385555"/>
                </a:lnTo>
                <a:lnTo>
                  <a:pt x="56251" y="435513"/>
                </a:lnTo>
                <a:lnTo>
                  <a:pt x="42525" y="487757"/>
                </a:lnTo>
                <a:lnTo>
                  <a:pt x="30446" y="542343"/>
                </a:lnTo>
                <a:lnTo>
                  <a:pt x="20163" y="599324"/>
                </a:lnTo>
                <a:lnTo>
                  <a:pt x="11827" y="658753"/>
                </a:lnTo>
                <a:lnTo>
                  <a:pt x="5588" y="720684"/>
                </a:lnTo>
                <a:lnTo>
                  <a:pt x="1595" y="785171"/>
                </a:lnTo>
                <a:lnTo>
                  <a:pt x="0" y="852267"/>
                </a:lnTo>
                <a:lnTo>
                  <a:pt x="1285" y="918704"/>
                </a:lnTo>
                <a:lnTo>
                  <a:pt x="5039" y="982603"/>
                </a:lnTo>
                <a:lnTo>
                  <a:pt x="11104" y="1044011"/>
                </a:lnTo>
                <a:lnTo>
                  <a:pt x="19323" y="1102976"/>
                </a:lnTo>
                <a:lnTo>
                  <a:pt x="29540" y="1159543"/>
                </a:lnTo>
                <a:lnTo>
                  <a:pt x="41599" y="1213761"/>
                </a:lnTo>
                <a:lnTo>
                  <a:pt x="55343" y="1265677"/>
                </a:lnTo>
                <a:lnTo>
                  <a:pt x="70615" y="1315337"/>
                </a:lnTo>
                <a:lnTo>
                  <a:pt x="87260" y="1362789"/>
                </a:lnTo>
                <a:lnTo>
                  <a:pt x="105120" y="1408080"/>
                </a:lnTo>
                <a:lnTo>
                  <a:pt x="124039" y="1451258"/>
                </a:lnTo>
                <a:lnTo>
                  <a:pt x="143860" y="1492368"/>
                </a:lnTo>
                <a:lnTo>
                  <a:pt x="164427" y="1531459"/>
                </a:lnTo>
                <a:lnTo>
                  <a:pt x="185584" y="1568578"/>
                </a:lnTo>
                <a:lnTo>
                  <a:pt x="207174" y="1603772"/>
                </a:lnTo>
                <a:lnTo>
                  <a:pt x="229040" y="1637087"/>
                </a:lnTo>
                <a:lnTo>
                  <a:pt x="251026" y="1668572"/>
                </a:lnTo>
                <a:lnTo>
                  <a:pt x="272975" y="1698272"/>
                </a:lnTo>
                <a:lnTo>
                  <a:pt x="416751" y="1698272"/>
                </a:lnTo>
                <a:lnTo>
                  <a:pt x="392417" y="1662996"/>
                </a:lnTo>
                <a:lnTo>
                  <a:pt x="368783" y="1626591"/>
                </a:lnTo>
                <a:lnTo>
                  <a:pt x="345934" y="1589012"/>
                </a:lnTo>
                <a:lnTo>
                  <a:pt x="323953" y="1550211"/>
                </a:lnTo>
                <a:lnTo>
                  <a:pt x="302924" y="1510140"/>
                </a:lnTo>
                <a:lnTo>
                  <a:pt x="282931" y="1468753"/>
                </a:lnTo>
                <a:lnTo>
                  <a:pt x="264056" y="1426002"/>
                </a:lnTo>
                <a:lnTo>
                  <a:pt x="246385" y="1381841"/>
                </a:lnTo>
                <a:lnTo>
                  <a:pt x="229999" y="1336222"/>
                </a:lnTo>
                <a:lnTo>
                  <a:pt x="214983" y="1289098"/>
                </a:lnTo>
                <a:lnTo>
                  <a:pt x="201421" y="1240421"/>
                </a:lnTo>
                <a:lnTo>
                  <a:pt x="189396" y="1190146"/>
                </a:lnTo>
                <a:lnTo>
                  <a:pt x="178991" y="1138224"/>
                </a:lnTo>
                <a:lnTo>
                  <a:pt x="170291" y="1084608"/>
                </a:lnTo>
                <a:lnTo>
                  <a:pt x="163378" y="1029252"/>
                </a:lnTo>
                <a:lnTo>
                  <a:pt x="158337" y="972108"/>
                </a:lnTo>
                <a:lnTo>
                  <a:pt x="155251" y="913128"/>
                </a:lnTo>
                <a:lnTo>
                  <a:pt x="154204" y="852267"/>
                </a:lnTo>
                <a:lnTo>
                  <a:pt x="155215" y="790384"/>
                </a:lnTo>
                <a:lnTo>
                  <a:pt x="158200" y="730428"/>
                </a:lnTo>
                <a:lnTo>
                  <a:pt x="163089" y="672359"/>
                </a:lnTo>
                <a:lnTo>
                  <a:pt x="169811" y="616135"/>
                </a:lnTo>
                <a:lnTo>
                  <a:pt x="178294" y="561716"/>
                </a:lnTo>
                <a:lnTo>
                  <a:pt x="188470" y="509062"/>
                </a:lnTo>
                <a:lnTo>
                  <a:pt x="200265" y="458131"/>
                </a:lnTo>
                <a:lnTo>
                  <a:pt x="213611" y="408884"/>
                </a:lnTo>
                <a:lnTo>
                  <a:pt x="228436" y="361278"/>
                </a:lnTo>
                <a:lnTo>
                  <a:pt x="244670" y="315273"/>
                </a:lnTo>
                <a:lnTo>
                  <a:pt x="262241" y="270830"/>
                </a:lnTo>
                <a:lnTo>
                  <a:pt x="281079" y="227906"/>
                </a:lnTo>
                <a:lnTo>
                  <a:pt x="301113" y="186461"/>
                </a:lnTo>
                <a:lnTo>
                  <a:pt x="322273" y="146455"/>
                </a:lnTo>
                <a:lnTo>
                  <a:pt x="344487" y="107846"/>
                </a:lnTo>
                <a:lnTo>
                  <a:pt x="367686" y="70595"/>
                </a:lnTo>
                <a:lnTo>
                  <a:pt x="391797" y="34659"/>
                </a:lnTo>
                <a:lnTo>
                  <a:pt x="416751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69013" y="2892927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272975" y="0"/>
                </a:moveTo>
                <a:lnTo>
                  <a:pt x="229109" y="61814"/>
                </a:lnTo>
                <a:lnTo>
                  <a:pt x="207319" y="95401"/>
                </a:lnTo>
                <a:lnTo>
                  <a:pt x="185824" y="130847"/>
                </a:lnTo>
                <a:lnTo>
                  <a:pt x="164776" y="168205"/>
                </a:lnTo>
                <a:lnTo>
                  <a:pt x="144323" y="207529"/>
                </a:lnTo>
                <a:lnTo>
                  <a:pt x="124617" y="248873"/>
                </a:lnTo>
                <a:lnTo>
                  <a:pt x="105806" y="292289"/>
                </a:lnTo>
                <a:lnTo>
                  <a:pt x="88041" y="337832"/>
                </a:lnTo>
                <a:lnTo>
                  <a:pt x="71473" y="385555"/>
                </a:lnTo>
                <a:lnTo>
                  <a:pt x="56251" y="435513"/>
                </a:lnTo>
                <a:lnTo>
                  <a:pt x="42525" y="487757"/>
                </a:lnTo>
                <a:lnTo>
                  <a:pt x="30446" y="542343"/>
                </a:lnTo>
                <a:lnTo>
                  <a:pt x="20163" y="599324"/>
                </a:lnTo>
                <a:lnTo>
                  <a:pt x="11827" y="658753"/>
                </a:lnTo>
                <a:lnTo>
                  <a:pt x="5588" y="720684"/>
                </a:lnTo>
                <a:lnTo>
                  <a:pt x="1595" y="785171"/>
                </a:lnTo>
                <a:lnTo>
                  <a:pt x="0" y="852267"/>
                </a:lnTo>
                <a:lnTo>
                  <a:pt x="1285" y="918704"/>
                </a:lnTo>
                <a:lnTo>
                  <a:pt x="5039" y="982603"/>
                </a:lnTo>
                <a:lnTo>
                  <a:pt x="11104" y="1044011"/>
                </a:lnTo>
                <a:lnTo>
                  <a:pt x="19323" y="1102976"/>
                </a:lnTo>
                <a:lnTo>
                  <a:pt x="29540" y="1159543"/>
                </a:lnTo>
                <a:lnTo>
                  <a:pt x="41599" y="1213761"/>
                </a:lnTo>
                <a:lnTo>
                  <a:pt x="55343" y="1265677"/>
                </a:lnTo>
                <a:lnTo>
                  <a:pt x="70615" y="1315337"/>
                </a:lnTo>
                <a:lnTo>
                  <a:pt x="87260" y="1362789"/>
                </a:lnTo>
                <a:lnTo>
                  <a:pt x="105120" y="1408080"/>
                </a:lnTo>
                <a:lnTo>
                  <a:pt x="124039" y="1451258"/>
                </a:lnTo>
                <a:lnTo>
                  <a:pt x="143860" y="1492368"/>
                </a:lnTo>
                <a:lnTo>
                  <a:pt x="164427" y="1531459"/>
                </a:lnTo>
                <a:lnTo>
                  <a:pt x="185584" y="1568578"/>
                </a:lnTo>
                <a:lnTo>
                  <a:pt x="207174" y="1603772"/>
                </a:lnTo>
                <a:lnTo>
                  <a:pt x="229040" y="1637087"/>
                </a:lnTo>
                <a:lnTo>
                  <a:pt x="251026" y="1668572"/>
                </a:lnTo>
                <a:lnTo>
                  <a:pt x="272975" y="1698272"/>
                </a:lnTo>
                <a:lnTo>
                  <a:pt x="416751" y="1698272"/>
                </a:lnTo>
                <a:lnTo>
                  <a:pt x="392417" y="1662996"/>
                </a:lnTo>
                <a:lnTo>
                  <a:pt x="368783" y="1626591"/>
                </a:lnTo>
                <a:lnTo>
                  <a:pt x="345934" y="1589012"/>
                </a:lnTo>
                <a:lnTo>
                  <a:pt x="323953" y="1550211"/>
                </a:lnTo>
                <a:lnTo>
                  <a:pt x="302924" y="1510140"/>
                </a:lnTo>
                <a:lnTo>
                  <a:pt x="282931" y="1468753"/>
                </a:lnTo>
                <a:lnTo>
                  <a:pt x="264056" y="1426002"/>
                </a:lnTo>
                <a:lnTo>
                  <a:pt x="246385" y="1381841"/>
                </a:lnTo>
                <a:lnTo>
                  <a:pt x="229999" y="1336222"/>
                </a:lnTo>
                <a:lnTo>
                  <a:pt x="214983" y="1289098"/>
                </a:lnTo>
                <a:lnTo>
                  <a:pt x="201421" y="1240421"/>
                </a:lnTo>
                <a:lnTo>
                  <a:pt x="189396" y="1190146"/>
                </a:lnTo>
                <a:lnTo>
                  <a:pt x="178991" y="1138224"/>
                </a:lnTo>
                <a:lnTo>
                  <a:pt x="170291" y="1084608"/>
                </a:lnTo>
                <a:lnTo>
                  <a:pt x="163378" y="1029252"/>
                </a:lnTo>
                <a:lnTo>
                  <a:pt x="158337" y="972108"/>
                </a:lnTo>
                <a:lnTo>
                  <a:pt x="155251" y="913128"/>
                </a:lnTo>
                <a:lnTo>
                  <a:pt x="154204" y="852267"/>
                </a:lnTo>
                <a:lnTo>
                  <a:pt x="155215" y="790384"/>
                </a:lnTo>
                <a:lnTo>
                  <a:pt x="158200" y="730428"/>
                </a:lnTo>
                <a:lnTo>
                  <a:pt x="163089" y="672359"/>
                </a:lnTo>
                <a:lnTo>
                  <a:pt x="169811" y="616135"/>
                </a:lnTo>
                <a:lnTo>
                  <a:pt x="178294" y="561716"/>
                </a:lnTo>
                <a:lnTo>
                  <a:pt x="188470" y="509062"/>
                </a:lnTo>
                <a:lnTo>
                  <a:pt x="200265" y="458131"/>
                </a:lnTo>
                <a:lnTo>
                  <a:pt x="213611" y="408884"/>
                </a:lnTo>
                <a:lnTo>
                  <a:pt x="228436" y="361278"/>
                </a:lnTo>
                <a:lnTo>
                  <a:pt x="244670" y="315273"/>
                </a:lnTo>
                <a:lnTo>
                  <a:pt x="262241" y="270830"/>
                </a:lnTo>
                <a:lnTo>
                  <a:pt x="281079" y="227906"/>
                </a:lnTo>
                <a:lnTo>
                  <a:pt x="301113" y="186461"/>
                </a:lnTo>
                <a:lnTo>
                  <a:pt x="322273" y="146455"/>
                </a:lnTo>
                <a:lnTo>
                  <a:pt x="344487" y="107846"/>
                </a:lnTo>
                <a:lnTo>
                  <a:pt x="367686" y="70595"/>
                </a:lnTo>
                <a:lnTo>
                  <a:pt x="391797" y="34659"/>
                </a:lnTo>
                <a:lnTo>
                  <a:pt x="416751" y="0"/>
                </a:lnTo>
                <a:lnTo>
                  <a:pt x="272975" y="0"/>
                </a:lnTo>
                <a:close/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84596" y="2892927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143775" y="0"/>
                </a:moveTo>
                <a:lnTo>
                  <a:pt x="0" y="0"/>
                </a:lnTo>
                <a:lnTo>
                  <a:pt x="24334" y="35276"/>
                </a:lnTo>
                <a:lnTo>
                  <a:pt x="47968" y="71681"/>
                </a:lnTo>
                <a:lnTo>
                  <a:pt x="70817" y="109260"/>
                </a:lnTo>
                <a:lnTo>
                  <a:pt x="92797" y="148061"/>
                </a:lnTo>
                <a:lnTo>
                  <a:pt x="113826" y="188132"/>
                </a:lnTo>
                <a:lnTo>
                  <a:pt x="133820" y="229519"/>
                </a:lnTo>
                <a:lnTo>
                  <a:pt x="152694" y="272270"/>
                </a:lnTo>
                <a:lnTo>
                  <a:pt x="170366" y="316431"/>
                </a:lnTo>
                <a:lnTo>
                  <a:pt x="186752" y="362050"/>
                </a:lnTo>
                <a:lnTo>
                  <a:pt x="201767" y="409174"/>
                </a:lnTo>
                <a:lnTo>
                  <a:pt x="215330" y="457850"/>
                </a:lnTo>
                <a:lnTo>
                  <a:pt x="227355" y="508126"/>
                </a:lnTo>
                <a:lnTo>
                  <a:pt x="237760" y="560048"/>
                </a:lnTo>
                <a:lnTo>
                  <a:pt x="246460" y="613664"/>
                </a:lnTo>
                <a:lnTo>
                  <a:pt x="253372" y="669020"/>
                </a:lnTo>
                <a:lnTo>
                  <a:pt x="258413" y="726164"/>
                </a:lnTo>
                <a:lnTo>
                  <a:pt x="261499" y="785144"/>
                </a:lnTo>
                <a:lnTo>
                  <a:pt x="262546" y="846005"/>
                </a:lnTo>
                <a:lnTo>
                  <a:pt x="261536" y="907888"/>
                </a:lnTo>
                <a:lnTo>
                  <a:pt x="258551" y="967844"/>
                </a:lnTo>
                <a:lnTo>
                  <a:pt x="253662" y="1025913"/>
                </a:lnTo>
                <a:lnTo>
                  <a:pt x="246940" y="1082137"/>
                </a:lnTo>
                <a:lnTo>
                  <a:pt x="238456" y="1136555"/>
                </a:lnTo>
                <a:lnTo>
                  <a:pt x="228281" y="1189210"/>
                </a:lnTo>
                <a:lnTo>
                  <a:pt x="216485" y="1240140"/>
                </a:lnTo>
                <a:lnTo>
                  <a:pt x="203139" y="1289388"/>
                </a:lnTo>
                <a:lnTo>
                  <a:pt x="188314" y="1336994"/>
                </a:lnTo>
                <a:lnTo>
                  <a:pt x="172081" y="1382999"/>
                </a:lnTo>
                <a:lnTo>
                  <a:pt x="154510" y="1427442"/>
                </a:lnTo>
                <a:lnTo>
                  <a:pt x="135672" y="1470366"/>
                </a:lnTo>
                <a:lnTo>
                  <a:pt x="115638" y="1511811"/>
                </a:lnTo>
                <a:lnTo>
                  <a:pt x="94478" y="1551817"/>
                </a:lnTo>
                <a:lnTo>
                  <a:pt x="72264" y="1590426"/>
                </a:lnTo>
                <a:lnTo>
                  <a:pt x="49065" y="1627677"/>
                </a:lnTo>
                <a:lnTo>
                  <a:pt x="24954" y="1663613"/>
                </a:lnTo>
                <a:lnTo>
                  <a:pt x="0" y="1698272"/>
                </a:lnTo>
                <a:lnTo>
                  <a:pt x="143775" y="1698272"/>
                </a:lnTo>
                <a:lnTo>
                  <a:pt x="187642" y="1636458"/>
                </a:lnTo>
                <a:lnTo>
                  <a:pt x="209432" y="1602871"/>
                </a:lnTo>
                <a:lnTo>
                  <a:pt x="230926" y="1567425"/>
                </a:lnTo>
                <a:lnTo>
                  <a:pt x="251975" y="1530067"/>
                </a:lnTo>
                <a:lnTo>
                  <a:pt x="272428" y="1490743"/>
                </a:lnTo>
                <a:lnTo>
                  <a:pt x="292134" y="1449399"/>
                </a:lnTo>
                <a:lnTo>
                  <a:pt x="310945" y="1405983"/>
                </a:lnTo>
                <a:lnTo>
                  <a:pt x="328709" y="1360440"/>
                </a:lnTo>
                <a:lnTo>
                  <a:pt x="345278" y="1312716"/>
                </a:lnTo>
                <a:lnTo>
                  <a:pt x="360500" y="1262759"/>
                </a:lnTo>
                <a:lnTo>
                  <a:pt x="374225" y="1210515"/>
                </a:lnTo>
                <a:lnTo>
                  <a:pt x="386305" y="1155929"/>
                </a:lnTo>
                <a:lnTo>
                  <a:pt x="396587" y="1098948"/>
                </a:lnTo>
                <a:lnTo>
                  <a:pt x="404923" y="1039519"/>
                </a:lnTo>
                <a:lnTo>
                  <a:pt x="411163" y="977588"/>
                </a:lnTo>
                <a:lnTo>
                  <a:pt x="415155" y="913101"/>
                </a:lnTo>
                <a:lnTo>
                  <a:pt x="416751" y="846005"/>
                </a:lnTo>
                <a:lnTo>
                  <a:pt x="415465" y="779568"/>
                </a:lnTo>
                <a:lnTo>
                  <a:pt x="411712" y="715669"/>
                </a:lnTo>
                <a:lnTo>
                  <a:pt x="405647" y="654260"/>
                </a:lnTo>
                <a:lnTo>
                  <a:pt x="397428" y="595296"/>
                </a:lnTo>
                <a:lnTo>
                  <a:pt x="387210" y="538729"/>
                </a:lnTo>
                <a:lnTo>
                  <a:pt x="375152" y="484511"/>
                </a:lnTo>
                <a:lnTo>
                  <a:pt x="361408" y="432595"/>
                </a:lnTo>
                <a:lnTo>
                  <a:pt x="346135" y="382935"/>
                </a:lnTo>
                <a:lnTo>
                  <a:pt x="329491" y="335483"/>
                </a:lnTo>
                <a:lnTo>
                  <a:pt x="311631" y="290192"/>
                </a:lnTo>
                <a:lnTo>
                  <a:pt x="292712" y="247014"/>
                </a:lnTo>
                <a:lnTo>
                  <a:pt x="272891" y="205904"/>
                </a:lnTo>
                <a:lnTo>
                  <a:pt x="252323" y="166813"/>
                </a:lnTo>
                <a:lnTo>
                  <a:pt x="231166" y="129694"/>
                </a:lnTo>
                <a:lnTo>
                  <a:pt x="209577" y="94500"/>
                </a:lnTo>
                <a:lnTo>
                  <a:pt x="187711" y="61185"/>
                </a:lnTo>
                <a:lnTo>
                  <a:pt x="165725" y="29700"/>
                </a:lnTo>
                <a:lnTo>
                  <a:pt x="14377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84596" y="2892927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143775" y="1698272"/>
                </a:moveTo>
                <a:lnTo>
                  <a:pt x="187642" y="1636458"/>
                </a:lnTo>
                <a:lnTo>
                  <a:pt x="209432" y="1602871"/>
                </a:lnTo>
                <a:lnTo>
                  <a:pt x="230926" y="1567425"/>
                </a:lnTo>
                <a:lnTo>
                  <a:pt x="251975" y="1530067"/>
                </a:lnTo>
                <a:lnTo>
                  <a:pt x="272428" y="1490743"/>
                </a:lnTo>
                <a:lnTo>
                  <a:pt x="292134" y="1449399"/>
                </a:lnTo>
                <a:lnTo>
                  <a:pt x="310945" y="1405983"/>
                </a:lnTo>
                <a:lnTo>
                  <a:pt x="328709" y="1360440"/>
                </a:lnTo>
                <a:lnTo>
                  <a:pt x="345278" y="1312716"/>
                </a:lnTo>
                <a:lnTo>
                  <a:pt x="360500" y="1262759"/>
                </a:lnTo>
                <a:lnTo>
                  <a:pt x="374225" y="1210515"/>
                </a:lnTo>
                <a:lnTo>
                  <a:pt x="386305" y="1155929"/>
                </a:lnTo>
                <a:lnTo>
                  <a:pt x="396587" y="1098948"/>
                </a:lnTo>
                <a:lnTo>
                  <a:pt x="404923" y="1039519"/>
                </a:lnTo>
                <a:lnTo>
                  <a:pt x="411163" y="977588"/>
                </a:lnTo>
                <a:lnTo>
                  <a:pt x="415155" y="913101"/>
                </a:lnTo>
                <a:lnTo>
                  <a:pt x="416751" y="846005"/>
                </a:lnTo>
                <a:lnTo>
                  <a:pt x="415465" y="779568"/>
                </a:lnTo>
                <a:lnTo>
                  <a:pt x="411712" y="715669"/>
                </a:lnTo>
                <a:lnTo>
                  <a:pt x="405647" y="654260"/>
                </a:lnTo>
                <a:lnTo>
                  <a:pt x="397428" y="595296"/>
                </a:lnTo>
                <a:lnTo>
                  <a:pt x="387210" y="538729"/>
                </a:lnTo>
                <a:lnTo>
                  <a:pt x="375152" y="484511"/>
                </a:lnTo>
                <a:lnTo>
                  <a:pt x="361408" y="432595"/>
                </a:lnTo>
                <a:lnTo>
                  <a:pt x="346135" y="382935"/>
                </a:lnTo>
                <a:lnTo>
                  <a:pt x="329491" y="335483"/>
                </a:lnTo>
                <a:lnTo>
                  <a:pt x="311631" y="290192"/>
                </a:lnTo>
                <a:lnTo>
                  <a:pt x="292712" y="247014"/>
                </a:lnTo>
                <a:lnTo>
                  <a:pt x="272891" y="205904"/>
                </a:lnTo>
                <a:lnTo>
                  <a:pt x="252323" y="166813"/>
                </a:lnTo>
                <a:lnTo>
                  <a:pt x="231166" y="129694"/>
                </a:lnTo>
                <a:lnTo>
                  <a:pt x="209577" y="94500"/>
                </a:lnTo>
                <a:lnTo>
                  <a:pt x="187711" y="61185"/>
                </a:lnTo>
                <a:lnTo>
                  <a:pt x="165725" y="29700"/>
                </a:lnTo>
                <a:lnTo>
                  <a:pt x="143775" y="0"/>
                </a:lnTo>
                <a:lnTo>
                  <a:pt x="0" y="0"/>
                </a:lnTo>
                <a:lnTo>
                  <a:pt x="24334" y="35276"/>
                </a:lnTo>
                <a:lnTo>
                  <a:pt x="47968" y="71681"/>
                </a:lnTo>
                <a:lnTo>
                  <a:pt x="70817" y="109260"/>
                </a:lnTo>
                <a:lnTo>
                  <a:pt x="92797" y="148061"/>
                </a:lnTo>
                <a:lnTo>
                  <a:pt x="113826" y="188132"/>
                </a:lnTo>
                <a:lnTo>
                  <a:pt x="133820" y="229519"/>
                </a:lnTo>
                <a:lnTo>
                  <a:pt x="152694" y="272270"/>
                </a:lnTo>
                <a:lnTo>
                  <a:pt x="170366" y="316431"/>
                </a:lnTo>
                <a:lnTo>
                  <a:pt x="186752" y="362050"/>
                </a:lnTo>
                <a:lnTo>
                  <a:pt x="201767" y="409174"/>
                </a:lnTo>
                <a:lnTo>
                  <a:pt x="215330" y="457850"/>
                </a:lnTo>
                <a:lnTo>
                  <a:pt x="227355" y="508126"/>
                </a:lnTo>
                <a:lnTo>
                  <a:pt x="237760" y="560048"/>
                </a:lnTo>
                <a:lnTo>
                  <a:pt x="246460" y="613664"/>
                </a:lnTo>
                <a:lnTo>
                  <a:pt x="253372" y="669020"/>
                </a:lnTo>
                <a:lnTo>
                  <a:pt x="258413" y="726164"/>
                </a:lnTo>
                <a:lnTo>
                  <a:pt x="261499" y="785144"/>
                </a:lnTo>
                <a:lnTo>
                  <a:pt x="262546" y="846005"/>
                </a:lnTo>
                <a:lnTo>
                  <a:pt x="261536" y="907888"/>
                </a:lnTo>
                <a:lnTo>
                  <a:pt x="258551" y="967844"/>
                </a:lnTo>
                <a:lnTo>
                  <a:pt x="253662" y="1025913"/>
                </a:lnTo>
                <a:lnTo>
                  <a:pt x="246940" y="1082137"/>
                </a:lnTo>
                <a:lnTo>
                  <a:pt x="238456" y="1136555"/>
                </a:lnTo>
                <a:lnTo>
                  <a:pt x="228281" y="1189210"/>
                </a:lnTo>
                <a:lnTo>
                  <a:pt x="216485" y="1240140"/>
                </a:lnTo>
                <a:lnTo>
                  <a:pt x="203139" y="1289388"/>
                </a:lnTo>
                <a:lnTo>
                  <a:pt x="188314" y="1336994"/>
                </a:lnTo>
                <a:lnTo>
                  <a:pt x="172081" y="1382999"/>
                </a:lnTo>
                <a:lnTo>
                  <a:pt x="154510" y="1427442"/>
                </a:lnTo>
                <a:lnTo>
                  <a:pt x="135672" y="1470366"/>
                </a:lnTo>
                <a:lnTo>
                  <a:pt x="115638" y="1511811"/>
                </a:lnTo>
                <a:lnTo>
                  <a:pt x="94478" y="1551817"/>
                </a:lnTo>
                <a:lnTo>
                  <a:pt x="72264" y="1590426"/>
                </a:lnTo>
                <a:lnTo>
                  <a:pt x="49065" y="1627677"/>
                </a:lnTo>
                <a:lnTo>
                  <a:pt x="24954" y="1663613"/>
                </a:lnTo>
                <a:lnTo>
                  <a:pt x="0" y="1698272"/>
                </a:lnTo>
                <a:lnTo>
                  <a:pt x="143775" y="1698272"/>
                </a:lnTo>
                <a:close/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64504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64504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39841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039841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82630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82630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757137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757137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541923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541923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618165" y="5463573"/>
            <a:ext cx="6007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4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70</a:t>
            </a:fld>
            <a:endParaRPr spc="-370" dirty="0"/>
          </a:p>
        </p:txBody>
      </p:sp>
      <p:sp>
        <p:nvSpPr>
          <p:cNvPr id="25" name="object 25"/>
          <p:cNvSpPr txBox="1"/>
          <p:nvPr/>
        </p:nvSpPr>
        <p:spPr>
          <a:xfrm>
            <a:off x="10265981" y="5463573"/>
            <a:ext cx="6007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096828" y="5463573"/>
            <a:ext cx="6007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86496" y="4814378"/>
            <a:ext cx="20002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070751" y="4814378"/>
            <a:ext cx="20002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835109" y="4814378"/>
            <a:ext cx="20002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06104" y="2950560"/>
            <a:ext cx="3525520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80590">
              <a:lnSpc>
                <a:spcPts val="3960"/>
              </a:lnSpc>
              <a:spcBef>
                <a:spcPts val="95"/>
              </a:spcBef>
            </a:pP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  <a:tabLst>
                <a:tab pos="2180590" algn="l"/>
                <a:tab pos="2936875" algn="l"/>
              </a:tabLst>
            </a:pP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x; </a:t>
            </a:r>
            <a:r>
              <a:rPr sz="3300" b="1" i="1" spc="-505" dirty="0">
                <a:solidFill>
                  <a:srgbClr val="1E1E1E"/>
                </a:solidFill>
                <a:latin typeface="Verdana"/>
                <a:cs typeface="Verdana"/>
              </a:rPr>
              <a:t>y;</a:t>
            </a:r>
            <a:r>
              <a:rPr sz="3300" b="1" i="1" spc="-3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50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r>
              <a:rPr sz="3300" b="1" spc="-65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	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	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  <a:p>
            <a:pPr marL="2200275">
              <a:lnSpc>
                <a:spcPts val="3960"/>
              </a:lnSpc>
            </a:pP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75948" y="5212271"/>
            <a:ext cx="307784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855" baseline="-336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4950" b="1" i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65" baseline="-33670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4950" b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27" baseline="-33670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endParaRPr sz="4950" baseline="-33670">
              <a:latin typeface="Verdana"/>
              <a:cs typeface="Verdana"/>
            </a:endParaRPr>
          </a:p>
          <a:p>
            <a:pPr marL="92710">
              <a:lnSpc>
                <a:spcPts val="3960"/>
              </a:lnSpc>
              <a:tabLst>
                <a:tab pos="1254125" algn="l"/>
                <a:tab pos="2458085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	3	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45816" y="5212271"/>
            <a:ext cx="307848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855" baseline="-336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4950" b="1" i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65" baseline="-33670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4950" b="1" i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spc="-4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27" baseline="-33670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endParaRPr sz="4950" baseline="-33670">
              <a:latin typeface="Verdana"/>
              <a:cs typeface="Verdana"/>
            </a:endParaRPr>
          </a:p>
          <a:p>
            <a:pPr marL="92710">
              <a:lnSpc>
                <a:spcPts val="3960"/>
              </a:lnSpc>
              <a:tabLst>
                <a:tab pos="1254760" algn="l"/>
                <a:tab pos="2458085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	3	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238266" y="5212271"/>
            <a:ext cx="338137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960"/>
              </a:lnSpc>
              <a:spcBef>
                <a:spcPts val="95"/>
              </a:spcBef>
            </a:pPr>
            <a:r>
              <a:rPr sz="4950" b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855" baseline="-336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4950" b="1" i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65" baseline="-33670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4950" b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spc="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27" baseline="-33670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endParaRPr sz="4950" baseline="-33670">
              <a:latin typeface="Verdana"/>
              <a:cs typeface="Verdana"/>
            </a:endParaRPr>
          </a:p>
          <a:p>
            <a:pPr marL="9525" algn="ctr">
              <a:lnSpc>
                <a:spcPts val="3960"/>
              </a:lnSpc>
              <a:tabLst>
                <a:tab pos="1170940" algn="l"/>
                <a:tab pos="2374265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	3	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06104" y="7473983"/>
            <a:ext cx="35788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325" dirty="0">
                <a:solidFill>
                  <a:srgbClr val="CB3757"/>
                </a:solidFill>
                <a:latin typeface="Verdana"/>
                <a:cs typeface="Verdana"/>
              </a:rPr>
              <a:t>7</a:t>
            </a:r>
            <a:r>
              <a:rPr sz="3300" b="1" i="1" spc="-325" dirty="0">
                <a:solidFill>
                  <a:srgbClr val="1E1E1E"/>
                </a:solidFill>
                <a:latin typeface="Times New Roman"/>
                <a:cs typeface="Times New Roman"/>
              </a:rPr>
              <a:t>X </a:t>
            </a:r>
            <a:r>
              <a:rPr sz="2850" b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spc="-365" dirty="0">
                <a:solidFill>
                  <a:srgbClr val="CB3757"/>
                </a:solidFill>
                <a:latin typeface="Verdana"/>
                <a:cs typeface="Verdana"/>
              </a:rPr>
              <a:t>4</a:t>
            </a:r>
            <a:r>
              <a:rPr sz="3300" b="1" i="1" spc="-365" dirty="0">
                <a:solidFill>
                  <a:srgbClr val="1E1E1E"/>
                </a:solidFill>
                <a:latin typeface="Times New Roman"/>
                <a:cs typeface="Times New Roman"/>
              </a:rPr>
              <a:t>Y </a:t>
            </a:r>
            <a:r>
              <a:rPr sz="2850" b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spc="-325" dirty="0">
                <a:solidFill>
                  <a:srgbClr val="CB3757"/>
                </a:solidFill>
                <a:latin typeface="Verdana"/>
                <a:cs typeface="Verdana"/>
              </a:rPr>
              <a:t>1</a:t>
            </a:r>
            <a:r>
              <a:rPr sz="3300" b="1" i="1" spc="-325" dirty="0">
                <a:solidFill>
                  <a:srgbClr val="1E1E1E"/>
                </a:solidFill>
                <a:latin typeface="Times New Roman"/>
                <a:cs typeface="Times New Roman"/>
              </a:rPr>
              <a:t>Z </a:t>
            </a:r>
            <a:r>
              <a:rPr sz="2850" b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269047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Экстремальное </a:t>
            </a:r>
            <a:r>
              <a:rPr spc="-405" dirty="0"/>
              <a:t>свойство </a:t>
            </a:r>
            <a:r>
              <a:rPr spc="-375" dirty="0"/>
              <a:t>собственных</a:t>
            </a:r>
            <a:r>
              <a:rPr spc="-515" dirty="0"/>
              <a:t> </a:t>
            </a:r>
            <a:r>
              <a:rPr spc="-395" dirty="0"/>
              <a:t>чисел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7473983"/>
            <a:ext cx="13952219" cy="1784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325" dirty="0">
                <a:solidFill>
                  <a:srgbClr val="CB3757"/>
                </a:solidFill>
                <a:latin typeface="Verdana"/>
                <a:cs typeface="Verdana"/>
              </a:rPr>
              <a:t>7</a:t>
            </a:r>
            <a:r>
              <a:rPr sz="3300" b="1" i="1" spc="-325" dirty="0">
                <a:solidFill>
                  <a:srgbClr val="1E1E1E"/>
                </a:solidFill>
                <a:latin typeface="Times New Roman"/>
                <a:cs typeface="Times New Roman"/>
              </a:rPr>
              <a:t>X </a:t>
            </a:r>
            <a:r>
              <a:rPr sz="2850" b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spc="-365" dirty="0">
                <a:solidFill>
                  <a:srgbClr val="CB3757"/>
                </a:solidFill>
                <a:latin typeface="Verdana"/>
                <a:cs typeface="Verdana"/>
              </a:rPr>
              <a:t>4</a:t>
            </a:r>
            <a:r>
              <a:rPr sz="3300" b="1" i="1" spc="-365" dirty="0">
                <a:solidFill>
                  <a:srgbClr val="1E1E1E"/>
                </a:solidFill>
                <a:latin typeface="Times New Roman"/>
                <a:cs typeface="Times New Roman"/>
              </a:rPr>
              <a:t>Y </a:t>
            </a:r>
            <a:r>
              <a:rPr sz="2850" b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spc="-325" dirty="0">
                <a:solidFill>
                  <a:srgbClr val="CB3757"/>
                </a:solidFill>
                <a:latin typeface="Verdana"/>
                <a:cs typeface="Verdana"/>
              </a:rPr>
              <a:t>1</a:t>
            </a:r>
            <a:r>
              <a:rPr sz="3300" b="1" i="1" spc="-325" dirty="0">
                <a:solidFill>
                  <a:srgbClr val="1E1E1E"/>
                </a:solidFill>
                <a:latin typeface="Times New Roman"/>
                <a:cs typeface="Times New Roman"/>
              </a:rPr>
              <a:t>Z </a:t>
            </a:r>
            <a:r>
              <a:rPr sz="2850" b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2850" b="1" spc="-67" baseline="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300" b="1" i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переход </a:t>
            </a:r>
            <a:r>
              <a:rPr sz="3300" spc="130" dirty="0">
                <a:solidFill>
                  <a:srgbClr val="1E1E1E"/>
                </a:solidFill>
                <a:latin typeface="Arial"/>
                <a:cs typeface="Arial"/>
              </a:rPr>
              <a:t>к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новым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переменным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меняет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расстояний между</a:t>
            </a:r>
            <a:r>
              <a:rPr sz="3300" spc="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точками!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021" y="5463573"/>
            <a:ext cx="25844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7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89997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89997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464504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64504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039841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039841" y="515718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82630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82630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57137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757137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541923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541923" y="5157193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618165" y="5463573"/>
            <a:ext cx="6007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4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265981" y="5463573"/>
            <a:ext cx="6007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CB3757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096828" y="5463573"/>
            <a:ext cx="6007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86496" y="4814378"/>
            <a:ext cx="20002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070751" y="4814378"/>
            <a:ext cx="20002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835109" y="4814378"/>
            <a:ext cx="20002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75948" y="5212271"/>
            <a:ext cx="307784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855" baseline="-336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4950" b="1" i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65" baseline="-33670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4950" b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27" baseline="-33670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endParaRPr sz="4950" baseline="-33670">
              <a:latin typeface="Verdana"/>
              <a:cs typeface="Verdana"/>
            </a:endParaRPr>
          </a:p>
          <a:p>
            <a:pPr marL="92710">
              <a:lnSpc>
                <a:spcPts val="3960"/>
              </a:lnSpc>
              <a:tabLst>
                <a:tab pos="1254125" algn="l"/>
                <a:tab pos="2458085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	3	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45816" y="5212271"/>
            <a:ext cx="307848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b="1" u="heavy" spc="-5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855" baseline="-336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4950" b="1" i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65" baseline="-33670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4950" b="1" i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spc="-4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27" baseline="-33670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endParaRPr sz="4950" baseline="-33670">
              <a:latin typeface="Verdana"/>
              <a:cs typeface="Verdana"/>
            </a:endParaRPr>
          </a:p>
          <a:p>
            <a:pPr marL="92710">
              <a:lnSpc>
                <a:spcPts val="3960"/>
              </a:lnSpc>
              <a:tabLst>
                <a:tab pos="1254760" algn="l"/>
                <a:tab pos="2458085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	3	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238266" y="5212271"/>
            <a:ext cx="338137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960"/>
              </a:lnSpc>
              <a:spcBef>
                <a:spcPts val="95"/>
              </a:spcBef>
            </a:pPr>
            <a:r>
              <a:rPr sz="4950" b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855" baseline="-336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4950" b="1" i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65" baseline="-33670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4950" b="1" spc="-1350" baseline="-3367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u="heavy" spc="-90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3300" b="1" spc="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727" baseline="-33670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endParaRPr sz="4950" baseline="-33670">
              <a:latin typeface="Verdana"/>
              <a:cs typeface="Verdana"/>
            </a:endParaRPr>
          </a:p>
          <a:p>
            <a:pPr marL="9525" algn="ctr">
              <a:lnSpc>
                <a:spcPts val="3960"/>
              </a:lnSpc>
              <a:tabLst>
                <a:tab pos="1170940" algn="l"/>
                <a:tab pos="2374265" algn="l"/>
              </a:tabLst>
            </a:pP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3	3	3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169013" y="2892927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416751" y="0"/>
                </a:moveTo>
                <a:lnTo>
                  <a:pt x="272975" y="0"/>
                </a:lnTo>
                <a:lnTo>
                  <a:pt x="251044" y="30031"/>
                </a:lnTo>
                <a:lnTo>
                  <a:pt x="229109" y="61814"/>
                </a:lnTo>
                <a:lnTo>
                  <a:pt x="207319" y="95401"/>
                </a:lnTo>
                <a:lnTo>
                  <a:pt x="185824" y="130847"/>
                </a:lnTo>
                <a:lnTo>
                  <a:pt x="164776" y="168205"/>
                </a:lnTo>
                <a:lnTo>
                  <a:pt x="144323" y="207529"/>
                </a:lnTo>
                <a:lnTo>
                  <a:pt x="124617" y="248873"/>
                </a:lnTo>
                <a:lnTo>
                  <a:pt x="105806" y="292289"/>
                </a:lnTo>
                <a:lnTo>
                  <a:pt x="88041" y="337832"/>
                </a:lnTo>
                <a:lnTo>
                  <a:pt x="71473" y="385555"/>
                </a:lnTo>
                <a:lnTo>
                  <a:pt x="56251" y="435513"/>
                </a:lnTo>
                <a:lnTo>
                  <a:pt x="42525" y="487757"/>
                </a:lnTo>
                <a:lnTo>
                  <a:pt x="30446" y="542343"/>
                </a:lnTo>
                <a:lnTo>
                  <a:pt x="20163" y="599324"/>
                </a:lnTo>
                <a:lnTo>
                  <a:pt x="11827" y="658753"/>
                </a:lnTo>
                <a:lnTo>
                  <a:pt x="5588" y="720684"/>
                </a:lnTo>
                <a:lnTo>
                  <a:pt x="1595" y="785171"/>
                </a:lnTo>
                <a:lnTo>
                  <a:pt x="0" y="852267"/>
                </a:lnTo>
                <a:lnTo>
                  <a:pt x="1285" y="918704"/>
                </a:lnTo>
                <a:lnTo>
                  <a:pt x="5039" y="982603"/>
                </a:lnTo>
                <a:lnTo>
                  <a:pt x="11104" y="1044011"/>
                </a:lnTo>
                <a:lnTo>
                  <a:pt x="19323" y="1102976"/>
                </a:lnTo>
                <a:lnTo>
                  <a:pt x="29540" y="1159543"/>
                </a:lnTo>
                <a:lnTo>
                  <a:pt x="41599" y="1213761"/>
                </a:lnTo>
                <a:lnTo>
                  <a:pt x="55343" y="1265677"/>
                </a:lnTo>
                <a:lnTo>
                  <a:pt x="70615" y="1315337"/>
                </a:lnTo>
                <a:lnTo>
                  <a:pt x="87260" y="1362789"/>
                </a:lnTo>
                <a:lnTo>
                  <a:pt x="105120" y="1408080"/>
                </a:lnTo>
                <a:lnTo>
                  <a:pt x="124039" y="1451258"/>
                </a:lnTo>
                <a:lnTo>
                  <a:pt x="143860" y="1492368"/>
                </a:lnTo>
                <a:lnTo>
                  <a:pt x="164427" y="1531459"/>
                </a:lnTo>
                <a:lnTo>
                  <a:pt x="185584" y="1568578"/>
                </a:lnTo>
                <a:lnTo>
                  <a:pt x="207174" y="1603772"/>
                </a:lnTo>
                <a:lnTo>
                  <a:pt x="229040" y="1637087"/>
                </a:lnTo>
                <a:lnTo>
                  <a:pt x="251026" y="1668572"/>
                </a:lnTo>
                <a:lnTo>
                  <a:pt x="272975" y="1698272"/>
                </a:lnTo>
                <a:lnTo>
                  <a:pt x="416751" y="1698272"/>
                </a:lnTo>
                <a:lnTo>
                  <a:pt x="392417" y="1662996"/>
                </a:lnTo>
                <a:lnTo>
                  <a:pt x="368783" y="1626591"/>
                </a:lnTo>
                <a:lnTo>
                  <a:pt x="345934" y="1589012"/>
                </a:lnTo>
                <a:lnTo>
                  <a:pt x="323953" y="1550211"/>
                </a:lnTo>
                <a:lnTo>
                  <a:pt x="302924" y="1510140"/>
                </a:lnTo>
                <a:lnTo>
                  <a:pt x="282931" y="1468753"/>
                </a:lnTo>
                <a:lnTo>
                  <a:pt x="264056" y="1426002"/>
                </a:lnTo>
                <a:lnTo>
                  <a:pt x="246385" y="1381841"/>
                </a:lnTo>
                <a:lnTo>
                  <a:pt x="229999" y="1336222"/>
                </a:lnTo>
                <a:lnTo>
                  <a:pt x="214983" y="1289098"/>
                </a:lnTo>
                <a:lnTo>
                  <a:pt x="201421" y="1240421"/>
                </a:lnTo>
                <a:lnTo>
                  <a:pt x="189396" y="1190146"/>
                </a:lnTo>
                <a:lnTo>
                  <a:pt x="178991" y="1138224"/>
                </a:lnTo>
                <a:lnTo>
                  <a:pt x="170291" y="1084608"/>
                </a:lnTo>
                <a:lnTo>
                  <a:pt x="163378" y="1029252"/>
                </a:lnTo>
                <a:lnTo>
                  <a:pt x="158337" y="972108"/>
                </a:lnTo>
                <a:lnTo>
                  <a:pt x="155251" y="913128"/>
                </a:lnTo>
                <a:lnTo>
                  <a:pt x="154204" y="852267"/>
                </a:lnTo>
                <a:lnTo>
                  <a:pt x="155215" y="790384"/>
                </a:lnTo>
                <a:lnTo>
                  <a:pt x="158200" y="730428"/>
                </a:lnTo>
                <a:lnTo>
                  <a:pt x="163089" y="672359"/>
                </a:lnTo>
                <a:lnTo>
                  <a:pt x="169811" y="616135"/>
                </a:lnTo>
                <a:lnTo>
                  <a:pt x="178294" y="561716"/>
                </a:lnTo>
                <a:lnTo>
                  <a:pt x="188470" y="509062"/>
                </a:lnTo>
                <a:lnTo>
                  <a:pt x="200265" y="458131"/>
                </a:lnTo>
                <a:lnTo>
                  <a:pt x="213611" y="408884"/>
                </a:lnTo>
                <a:lnTo>
                  <a:pt x="228436" y="361278"/>
                </a:lnTo>
                <a:lnTo>
                  <a:pt x="244670" y="315273"/>
                </a:lnTo>
                <a:lnTo>
                  <a:pt x="262241" y="270830"/>
                </a:lnTo>
                <a:lnTo>
                  <a:pt x="281079" y="227906"/>
                </a:lnTo>
                <a:lnTo>
                  <a:pt x="301113" y="186461"/>
                </a:lnTo>
                <a:lnTo>
                  <a:pt x="322273" y="146455"/>
                </a:lnTo>
                <a:lnTo>
                  <a:pt x="344487" y="107846"/>
                </a:lnTo>
                <a:lnTo>
                  <a:pt x="367686" y="70595"/>
                </a:lnTo>
                <a:lnTo>
                  <a:pt x="391797" y="34659"/>
                </a:lnTo>
                <a:lnTo>
                  <a:pt x="416751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169013" y="2892927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272975" y="0"/>
                </a:moveTo>
                <a:lnTo>
                  <a:pt x="229109" y="61814"/>
                </a:lnTo>
                <a:lnTo>
                  <a:pt x="207319" y="95401"/>
                </a:lnTo>
                <a:lnTo>
                  <a:pt x="185824" y="130847"/>
                </a:lnTo>
                <a:lnTo>
                  <a:pt x="164776" y="168205"/>
                </a:lnTo>
                <a:lnTo>
                  <a:pt x="144323" y="207529"/>
                </a:lnTo>
                <a:lnTo>
                  <a:pt x="124617" y="248873"/>
                </a:lnTo>
                <a:lnTo>
                  <a:pt x="105806" y="292289"/>
                </a:lnTo>
                <a:lnTo>
                  <a:pt x="88041" y="337832"/>
                </a:lnTo>
                <a:lnTo>
                  <a:pt x="71473" y="385555"/>
                </a:lnTo>
                <a:lnTo>
                  <a:pt x="56251" y="435513"/>
                </a:lnTo>
                <a:lnTo>
                  <a:pt x="42525" y="487757"/>
                </a:lnTo>
                <a:lnTo>
                  <a:pt x="30446" y="542343"/>
                </a:lnTo>
                <a:lnTo>
                  <a:pt x="20163" y="599324"/>
                </a:lnTo>
                <a:lnTo>
                  <a:pt x="11827" y="658753"/>
                </a:lnTo>
                <a:lnTo>
                  <a:pt x="5588" y="720684"/>
                </a:lnTo>
                <a:lnTo>
                  <a:pt x="1595" y="785171"/>
                </a:lnTo>
                <a:lnTo>
                  <a:pt x="0" y="852267"/>
                </a:lnTo>
                <a:lnTo>
                  <a:pt x="1285" y="918704"/>
                </a:lnTo>
                <a:lnTo>
                  <a:pt x="5039" y="982603"/>
                </a:lnTo>
                <a:lnTo>
                  <a:pt x="11104" y="1044011"/>
                </a:lnTo>
                <a:lnTo>
                  <a:pt x="19323" y="1102976"/>
                </a:lnTo>
                <a:lnTo>
                  <a:pt x="29540" y="1159543"/>
                </a:lnTo>
                <a:lnTo>
                  <a:pt x="41599" y="1213761"/>
                </a:lnTo>
                <a:lnTo>
                  <a:pt x="55343" y="1265677"/>
                </a:lnTo>
                <a:lnTo>
                  <a:pt x="70615" y="1315337"/>
                </a:lnTo>
                <a:lnTo>
                  <a:pt x="87260" y="1362789"/>
                </a:lnTo>
                <a:lnTo>
                  <a:pt x="105120" y="1408080"/>
                </a:lnTo>
                <a:lnTo>
                  <a:pt x="124039" y="1451258"/>
                </a:lnTo>
                <a:lnTo>
                  <a:pt x="143860" y="1492368"/>
                </a:lnTo>
                <a:lnTo>
                  <a:pt x="164427" y="1531459"/>
                </a:lnTo>
                <a:lnTo>
                  <a:pt x="185584" y="1568578"/>
                </a:lnTo>
                <a:lnTo>
                  <a:pt x="207174" y="1603772"/>
                </a:lnTo>
                <a:lnTo>
                  <a:pt x="229040" y="1637087"/>
                </a:lnTo>
                <a:lnTo>
                  <a:pt x="251026" y="1668572"/>
                </a:lnTo>
                <a:lnTo>
                  <a:pt x="272975" y="1698272"/>
                </a:lnTo>
                <a:lnTo>
                  <a:pt x="416751" y="1698272"/>
                </a:lnTo>
                <a:lnTo>
                  <a:pt x="392417" y="1662996"/>
                </a:lnTo>
                <a:lnTo>
                  <a:pt x="368783" y="1626591"/>
                </a:lnTo>
                <a:lnTo>
                  <a:pt x="345934" y="1589012"/>
                </a:lnTo>
                <a:lnTo>
                  <a:pt x="323953" y="1550211"/>
                </a:lnTo>
                <a:lnTo>
                  <a:pt x="302924" y="1510140"/>
                </a:lnTo>
                <a:lnTo>
                  <a:pt x="282931" y="1468753"/>
                </a:lnTo>
                <a:lnTo>
                  <a:pt x="264056" y="1426002"/>
                </a:lnTo>
                <a:lnTo>
                  <a:pt x="246385" y="1381841"/>
                </a:lnTo>
                <a:lnTo>
                  <a:pt x="229999" y="1336222"/>
                </a:lnTo>
                <a:lnTo>
                  <a:pt x="214983" y="1289098"/>
                </a:lnTo>
                <a:lnTo>
                  <a:pt x="201421" y="1240421"/>
                </a:lnTo>
                <a:lnTo>
                  <a:pt x="189396" y="1190146"/>
                </a:lnTo>
                <a:lnTo>
                  <a:pt x="178991" y="1138224"/>
                </a:lnTo>
                <a:lnTo>
                  <a:pt x="170291" y="1084608"/>
                </a:lnTo>
                <a:lnTo>
                  <a:pt x="163378" y="1029252"/>
                </a:lnTo>
                <a:lnTo>
                  <a:pt x="158337" y="972108"/>
                </a:lnTo>
                <a:lnTo>
                  <a:pt x="155251" y="913128"/>
                </a:lnTo>
                <a:lnTo>
                  <a:pt x="154204" y="852267"/>
                </a:lnTo>
                <a:lnTo>
                  <a:pt x="155215" y="790384"/>
                </a:lnTo>
                <a:lnTo>
                  <a:pt x="158200" y="730428"/>
                </a:lnTo>
                <a:lnTo>
                  <a:pt x="163089" y="672359"/>
                </a:lnTo>
                <a:lnTo>
                  <a:pt x="169811" y="616135"/>
                </a:lnTo>
                <a:lnTo>
                  <a:pt x="178294" y="561716"/>
                </a:lnTo>
                <a:lnTo>
                  <a:pt x="188470" y="509062"/>
                </a:lnTo>
                <a:lnTo>
                  <a:pt x="200265" y="458131"/>
                </a:lnTo>
                <a:lnTo>
                  <a:pt x="213611" y="408884"/>
                </a:lnTo>
                <a:lnTo>
                  <a:pt x="228436" y="361278"/>
                </a:lnTo>
                <a:lnTo>
                  <a:pt x="244670" y="315273"/>
                </a:lnTo>
                <a:lnTo>
                  <a:pt x="262241" y="270830"/>
                </a:lnTo>
                <a:lnTo>
                  <a:pt x="281079" y="227906"/>
                </a:lnTo>
                <a:lnTo>
                  <a:pt x="301113" y="186461"/>
                </a:lnTo>
                <a:lnTo>
                  <a:pt x="322273" y="146455"/>
                </a:lnTo>
                <a:lnTo>
                  <a:pt x="344487" y="107846"/>
                </a:lnTo>
                <a:lnTo>
                  <a:pt x="367686" y="70595"/>
                </a:lnTo>
                <a:lnTo>
                  <a:pt x="391797" y="34659"/>
                </a:lnTo>
                <a:lnTo>
                  <a:pt x="416751" y="0"/>
                </a:lnTo>
                <a:lnTo>
                  <a:pt x="272975" y="0"/>
                </a:lnTo>
                <a:close/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784596" y="2892927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143775" y="0"/>
                </a:moveTo>
                <a:lnTo>
                  <a:pt x="0" y="0"/>
                </a:lnTo>
                <a:lnTo>
                  <a:pt x="24334" y="35276"/>
                </a:lnTo>
                <a:lnTo>
                  <a:pt x="47968" y="71681"/>
                </a:lnTo>
                <a:lnTo>
                  <a:pt x="70817" y="109260"/>
                </a:lnTo>
                <a:lnTo>
                  <a:pt x="92797" y="148061"/>
                </a:lnTo>
                <a:lnTo>
                  <a:pt x="113826" y="188132"/>
                </a:lnTo>
                <a:lnTo>
                  <a:pt x="133820" y="229519"/>
                </a:lnTo>
                <a:lnTo>
                  <a:pt x="152694" y="272270"/>
                </a:lnTo>
                <a:lnTo>
                  <a:pt x="170366" y="316431"/>
                </a:lnTo>
                <a:lnTo>
                  <a:pt x="186752" y="362050"/>
                </a:lnTo>
                <a:lnTo>
                  <a:pt x="201767" y="409174"/>
                </a:lnTo>
                <a:lnTo>
                  <a:pt x="215330" y="457850"/>
                </a:lnTo>
                <a:lnTo>
                  <a:pt x="227355" y="508126"/>
                </a:lnTo>
                <a:lnTo>
                  <a:pt x="237760" y="560048"/>
                </a:lnTo>
                <a:lnTo>
                  <a:pt x="246460" y="613664"/>
                </a:lnTo>
                <a:lnTo>
                  <a:pt x="253372" y="669020"/>
                </a:lnTo>
                <a:lnTo>
                  <a:pt x="258413" y="726164"/>
                </a:lnTo>
                <a:lnTo>
                  <a:pt x="261499" y="785144"/>
                </a:lnTo>
                <a:lnTo>
                  <a:pt x="262546" y="846005"/>
                </a:lnTo>
                <a:lnTo>
                  <a:pt x="261536" y="907888"/>
                </a:lnTo>
                <a:lnTo>
                  <a:pt x="258551" y="967844"/>
                </a:lnTo>
                <a:lnTo>
                  <a:pt x="253662" y="1025913"/>
                </a:lnTo>
                <a:lnTo>
                  <a:pt x="246940" y="1082137"/>
                </a:lnTo>
                <a:lnTo>
                  <a:pt x="238456" y="1136555"/>
                </a:lnTo>
                <a:lnTo>
                  <a:pt x="228281" y="1189210"/>
                </a:lnTo>
                <a:lnTo>
                  <a:pt x="216485" y="1240140"/>
                </a:lnTo>
                <a:lnTo>
                  <a:pt x="203139" y="1289388"/>
                </a:lnTo>
                <a:lnTo>
                  <a:pt x="188314" y="1336994"/>
                </a:lnTo>
                <a:lnTo>
                  <a:pt x="172081" y="1382999"/>
                </a:lnTo>
                <a:lnTo>
                  <a:pt x="154510" y="1427442"/>
                </a:lnTo>
                <a:lnTo>
                  <a:pt x="135672" y="1470366"/>
                </a:lnTo>
                <a:lnTo>
                  <a:pt x="115638" y="1511811"/>
                </a:lnTo>
                <a:lnTo>
                  <a:pt x="94478" y="1551817"/>
                </a:lnTo>
                <a:lnTo>
                  <a:pt x="72264" y="1590426"/>
                </a:lnTo>
                <a:lnTo>
                  <a:pt x="49065" y="1627677"/>
                </a:lnTo>
                <a:lnTo>
                  <a:pt x="24954" y="1663613"/>
                </a:lnTo>
                <a:lnTo>
                  <a:pt x="0" y="1698272"/>
                </a:lnTo>
                <a:lnTo>
                  <a:pt x="143775" y="1698272"/>
                </a:lnTo>
                <a:lnTo>
                  <a:pt x="187642" y="1636458"/>
                </a:lnTo>
                <a:lnTo>
                  <a:pt x="209432" y="1602871"/>
                </a:lnTo>
                <a:lnTo>
                  <a:pt x="230926" y="1567425"/>
                </a:lnTo>
                <a:lnTo>
                  <a:pt x="251975" y="1530067"/>
                </a:lnTo>
                <a:lnTo>
                  <a:pt x="272428" y="1490743"/>
                </a:lnTo>
                <a:lnTo>
                  <a:pt x="292134" y="1449399"/>
                </a:lnTo>
                <a:lnTo>
                  <a:pt x="310945" y="1405983"/>
                </a:lnTo>
                <a:lnTo>
                  <a:pt x="328709" y="1360440"/>
                </a:lnTo>
                <a:lnTo>
                  <a:pt x="345278" y="1312716"/>
                </a:lnTo>
                <a:lnTo>
                  <a:pt x="360500" y="1262759"/>
                </a:lnTo>
                <a:lnTo>
                  <a:pt x="374225" y="1210515"/>
                </a:lnTo>
                <a:lnTo>
                  <a:pt x="386305" y="1155929"/>
                </a:lnTo>
                <a:lnTo>
                  <a:pt x="396587" y="1098948"/>
                </a:lnTo>
                <a:lnTo>
                  <a:pt x="404923" y="1039519"/>
                </a:lnTo>
                <a:lnTo>
                  <a:pt x="411163" y="977588"/>
                </a:lnTo>
                <a:lnTo>
                  <a:pt x="415155" y="913101"/>
                </a:lnTo>
                <a:lnTo>
                  <a:pt x="416751" y="846005"/>
                </a:lnTo>
                <a:lnTo>
                  <a:pt x="415465" y="779568"/>
                </a:lnTo>
                <a:lnTo>
                  <a:pt x="411712" y="715669"/>
                </a:lnTo>
                <a:lnTo>
                  <a:pt x="405647" y="654260"/>
                </a:lnTo>
                <a:lnTo>
                  <a:pt x="397428" y="595296"/>
                </a:lnTo>
                <a:lnTo>
                  <a:pt x="387210" y="538729"/>
                </a:lnTo>
                <a:lnTo>
                  <a:pt x="375152" y="484511"/>
                </a:lnTo>
                <a:lnTo>
                  <a:pt x="361408" y="432595"/>
                </a:lnTo>
                <a:lnTo>
                  <a:pt x="346135" y="382935"/>
                </a:lnTo>
                <a:lnTo>
                  <a:pt x="329491" y="335483"/>
                </a:lnTo>
                <a:lnTo>
                  <a:pt x="311631" y="290192"/>
                </a:lnTo>
                <a:lnTo>
                  <a:pt x="292712" y="247014"/>
                </a:lnTo>
                <a:lnTo>
                  <a:pt x="272891" y="205904"/>
                </a:lnTo>
                <a:lnTo>
                  <a:pt x="252323" y="166813"/>
                </a:lnTo>
                <a:lnTo>
                  <a:pt x="231166" y="129694"/>
                </a:lnTo>
                <a:lnTo>
                  <a:pt x="209577" y="94500"/>
                </a:lnTo>
                <a:lnTo>
                  <a:pt x="187711" y="61185"/>
                </a:lnTo>
                <a:lnTo>
                  <a:pt x="165725" y="29700"/>
                </a:lnTo>
                <a:lnTo>
                  <a:pt x="14377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784596" y="2892927"/>
            <a:ext cx="417195" cy="1698625"/>
          </a:xfrm>
          <a:custGeom>
            <a:avLst/>
            <a:gdLst/>
            <a:ahLst/>
            <a:cxnLst/>
            <a:rect l="l" t="t" r="r" b="b"/>
            <a:pathLst>
              <a:path w="417195" h="1698625">
                <a:moveTo>
                  <a:pt x="143775" y="1698272"/>
                </a:moveTo>
                <a:lnTo>
                  <a:pt x="187642" y="1636458"/>
                </a:lnTo>
                <a:lnTo>
                  <a:pt x="209432" y="1602871"/>
                </a:lnTo>
                <a:lnTo>
                  <a:pt x="230926" y="1567425"/>
                </a:lnTo>
                <a:lnTo>
                  <a:pt x="251975" y="1530067"/>
                </a:lnTo>
                <a:lnTo>
                  <a:pt x="272428" y="1490743"/>
                </a:lnTo>
                <a:lnTo>
                  <a:pt x="292134" y="1449399"/>
                </a:lnTo>
                <a:lnTo>
                  <a:pt x="310945" y="1405983"/>
                </a:lnTo>
                <a:lnTo>
                  <a:pt x="328709" y="1360440"/>
                </a:lnTo>
                <a:lnTo>
                  <a:pt x="345278" y="1312716"/>
                </a:lnTo>
                <a:lnTo>
                  <a:pt x="360500" y="1262759"/>
                </a:lnTo>
                <a:lnTo>
                  <a:pt x="374225" y="1210515"/>
                </a:lnTo>
                <a:lnTo>
                  <a:pt x="386305" y="1155929"/>
                </a:lnTo>
                <a:lnTo>
                  <a:pt x="396587" y="1098948"/>
                </a:lnTo>
                <a:lnTo>
                  <a:pt x="404923" y="1039519"/>
                </a:lnTo>
                <a:lnTo>
                  <a:pt x="411163" y="977588"/>
                </a:lnTo>
                <a:lnTo>
                  <a:pt x="415155" y="913101"/>
                </a:lnTo>
                <a:lnTo>
                  <a:pt x="416751" y="846005"/>
                </a:lnTo>
                <a:lnTo>
                  <a:pt x="415465" y="779568"/>
                </a:lnTo>
                <a:lnTo>
                  <a:pt x="411712" y="715669"/>
                </a:lnTo>
                <a:lnTo>
                  <a:pt x="405647" y="654260"/>
                </a:lnTo>
                <a:lnTo>
                  <a:pt x="397428" y="595296"/>
                </a:lnTo>
                <a:lnTo>
                  <a:pt x="387210" y="538729"/>
                </a:lnTo>
                <a:lnTo>
                  <a:pt x="375152" y="484511"/>
                </a:lnTo>
                <a:lnTo>
                  <a:pt x="361408" y="432595"/>
                </a:lnTo>
                <a:lnTo>
                  <a:pt x="346135" y="382935"/>
                </a:lnTo>
                <a:lnTo>
                  <a:pt x="329491" y="335483"/>
                </a:lnTo>
                <a:lnTo>
                  <a:pt x="311631" y="290192"/>
                </a:lnTo>
                <a:lnTo>
                  <a:pt x="292712" y="247014"/>
                </a:lnTo>
                <a:lnTo>
                  <a:pt x="272891" y="205904"/>
                </a:lnTo>
                <a:lnTo>
                  <a:pt x="252323" y="166813"/>
                </a:lnTo>
                <a:lnTo>
                  <a:pt x="231166" y="129694"/>
                </a:lnTo>
                <a:lnTo>
                  <a:pt x="209577" y="94500"/>
                </a:lnTo>
                <a:lnTo>
                  <a:pt x="187711" y="61185"/>
                </a:lnTo>
                <a:lnTo>
                  <a:pt x="165725" y="29700"/>
                </a:lnTo>
                <a:lnTo>
                  <a:pt x="143775" y="0"/>
                </a:lnTo>
                <a:lnTo>
                  <a:pt x="0" y="0"/>
                </a:lnTo>
                <a:lnTo>
                  <a:pt x="24334" y="35276"/>
                </a:lnTo>
                <a:lnTo>
                  <a:pt x="47968" y="71681"/>
                </a:lnTo>
                <a:lnTo>
                  <a:pt x="70817" y="109260"/>
                </a:lnTo>
                <a:lnTo>
                  <a:pt x="92797" y="148061"/>
                </a:lnTo>
                <a:lnTo>
                  <a:pt x="113826" y="188132"/>
                </a:lnTo>
                <a:lnTo>
                  <a:pt x="133820" y="229519"/>
                </a:lnTo>
                <a:lnTo>
                  <a:pt x="152694" y="272270"/>
                </a:lnTo>
                <a:lnTo>
                  <a:pt x="170366" y="316431"/>
                </a:lnTo>
                <a:lnTo>
                  <a:pt x="186752" y="362050"/>
                </a:lnTo>
                <a:lnTo>
                  <a:pt x="201767" y="409174"/>
                </a:lnTo>
                <a:lnTo>
                  <a:pt x="215330" y="457850"/>
                </a:lnTo>
                <a:lnTo>
                  <a:pt x="227355" y="508126"/>
                </a:lnTo>
                <a:lnTo>
                  <a:pt x="237760" y="560048"/>
                </a:lnTo>
                <a:lnTo>
                  <a:pt x="246460" y="613664"/>
                </a:lnTo>
                <a:lnTo>
                  <a:pt x="253372" y="669020"/>
                </a:lnTo>
                <a:lnTo>
                  <a:pt x="258413" y="726164"/>
                </a:lnTo>
                <a:lnTo>
                  <a:pt x="261499" y="785144"/>
                </a:lnTo>
                <a:lnTo>
                  <a:pt x="262546" y="846005"/>
                </a:lnTo>
                <a:lnTo>
                  <a:pt x="261536" y="907888"/>
                </a:lnTo>
                <a:lnTo>
                  <a:pt x="258551" y="967844"/>
                </a:lnTo>
                <a:lnTo>
                  <a:pt x="253662" y="1025913"/>
                </a:lnTo>
                <a:lnTo>
                  <a:pt x="246940" y="1082137"/>
                </a:lnTo>
                <a:lnTo>
                  <a:pt x="238456" y="1136555"/>
                </a:lnTo>
                <a:lnTo>
                  <a:pt x="228281" y="1189210"/>
                </a:lnTo>
                <a:lnTo>
                  <a:pt x="216485" y="1240140"/>
                </a:lnTo>
                <a:lnTo>
                  <a:pt x="203139" y="1289388"/>
                </a:lnTo>
                <a:lnTo>
                  <a:pt x="188314" y="1336994"/>
                </a:lnTo>
                <a:lnTo>
                  <a:pt x="172081" y="1382999"/>
                </a:lnTo>
                <a:lnTo>
                  <a:pt x="154510" y="1427442"/>
                </a:lnTo>
                <a:lnTo>
                  <a:pt x="135672" y="1470366"/>
                </a:lnTo>
                <a:lnTo>
                  <a:pt x="115638" y="1511811"/>
                </a:lnTo>
                <a:lnTo>
                  <a:pt x="94478" y="1551817"/>
                </a:lnTo>
                <a:lnTo>
                  <a:pt x="72264" y="1590426"/>
                </a:lnTo>
                <a:lnTo>
                  <a:pt x="49065" y="1627677"/>
                </a:lnTo>
                <a:lnTo>
                  <a:pt x="24954" y="1663613"/>
                </a:lnTo>
                <a:lnTo>
                  <a:pt x="0" y="1698272"/>
                </a:lnTo>
                <a:lnTo>
                  <a:pt x="143775" y="1698272"/>
                </a:lnTo>
                <a:close/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406104" y="2950560"/>
            <a:ext cx="3525520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80590">
              <a:lnSpc>
                <a:spcPts val="3960"/>
              </a:lnSpc>
              <a:spcBef>
                <a:spcPts val="95"/>
              </a:spcBef>
            </a:pP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  <a:tabLst>
                <a:tab pos="2180590" algn="l"/>
                <a:tab pos="2936875" algn="l"/>
              </a:tabLst>
            </a:pPr>
            <a:r>
              <a:rPr sz="3300" b="1" spc="-565" dirty="0">
                <a:solidFill>
                  <a:srgbClr val="1E1E1E"/>
                </a:solidFill>
                <a:latin typeface="Verdana"/>
                <a:cs typeface="Verdana"/>
              </a:rPr>
              <a:t>(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x; </a:t>
            </a:r>
            <a:r>
              <a:rPr sz="3300" b="1" i="1" spc="-505" dirty="0">
                <a:solidFill>
                  <a:srgbClr val="1E1E1E"/>
                </a:solidFill>
                <a:latin typeface="Verdana"/>
                <a:cs typeface="Verdana"/>
              </a:rPr>
              <a:t>y;</a:t>
            </a:r>
            <a:r>
              <a:rPr sz="3300" b="1" i="1" spc="-3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650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r>
              <a:rPr sz="3300" b="1" spc="-65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	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	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  <a:p>
            <a:pPr marL="2200910">
              <a:lnSpc>
                <a:spcPts val="3960"/>
              </a:lnSpc>
            </a:pP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z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71</a:t>
            </a:fld>
            <a:endParaRPr spc="-37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269047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Экстремальное </a:t>
            </a:r>
            <a:r>
              <a:rPr spc="-405" dirty="0"/>
              <a:t>свойство </a:t>
            </a:r>
            <a:r>
              <a:rPr spc="-375" dirty="0"/>
              <a:t>собственных</a:t>
            </a:r>
            <a:r>
              <a:rPr spc="-515" dirty="0"/>
              <a:t> </a:t>
            </a:r>
            <a:r>
              <a:rPr spc="-395" dirty="0"/>
              <a:t>чисел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23710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Эллипсоид</a:t>
            </a: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85703" y="3595691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4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4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4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4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35" y="16365"/>
                </a:lnTo>
                <a:lnTo>
                  <a:pt x="128446" y="14743"/>
                </a:lnTo>
                <a:close/>
              </a:path>
              <a:path w="304164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4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4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5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80847" y="3488345"/>
            <a:ext cx="1631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72</a:t>
            </a:fld>
            <a:endParaRPr spc="-370" dirty="0"/>
          </a:p>
        </p:txBody>
      </p:sp>
      <p:sp>
        <p:nvSpPr>
          <p:cNvPr id="10" name="object 10"/>
          <p:cNvSpPr txBox="1"/>
          <p:nvPr/>
        </p:nvSpPr>
        <p:spPr>
          <a:xfrm>
            <a:off x="1406272" y="3955765"/>
            <a:ext cx="10451465" cy="203581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5638165">
              <a:lnSpc>
                <a:spcPct val="100000"/>
              </a:lnSpc>
              <a:spcBef>
                <a:spcPts val="2075"/>
              </a:spcBef>
            </a:pPr>
            <a:r>
              <a:rPr sz="3300" b="1" i="1" spc="-43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644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r>
              <a:rPr sz="3300" b="1" i="1" spc="-430" dirty="0">
                <a:solidFill>
                  <a:srgbClr val="1E1E1E"/>
                </a:solidFill>
                <a:latin typeface="Verdana"/>
                <a:cs typeface="Verdana"/>
              </a:rPr>
              <a:t>AX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7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975"/>
              </a:spcBef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«шире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всего»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направлении 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его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оси,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соответствующей 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минимальному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собственному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числу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4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1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315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269047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Экстремальное </a:t>
            </a:r>
            <a:r>
              <a:rPr spc="-405" dirty="0"/>
              <a:t>свойство </a:t>
            </a:r>
            <a:r>
              <a:rPr spc="-375" dirty="0"/>
              <a:t>собственных</a:t>
            </a:r>
            <a:r>
              <a:rPr spc="-515" dirty="0"/>
              <a:t> </a:t>
            </a:r>
            <a:r>
              <a:rPr spc="-395" dirty="0"/>
              <a:t>чисел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23710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Эллипсоид</a:t>
            </a: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85703" y="3595691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4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4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4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4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35" y="16365"/>
                </a:lnTo>
                <a:lnTo>
                  <a:pt x="128446" y="14743"/>
                </a:lnTo>
                <a:close/>
              </a:path>
              <a:path w="304164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4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4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5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80847" y="3488345"/>
            <a:ext cx="1631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25467" y="7318081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0" y="0"/>
                </a:moveTo>
                <a:lnTo>
                  <a:pt x="319362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347367" y="7318081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0" y="0"/>
                </a:moveTo>
                <a:lnTo>
                  <a:pt x="319362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318501" y="7318081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0" y="0"/>
                </a:moveTo>
                <a:lnTo>
                  <a:pt x="319362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06272" y="3955765"/>
            <a:ext cx="11451590" cy="379539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386840" algn="ctr">
              <a:lnSpc>
                <a:spcPct val="100000"/>
              </a:lnSpc>
              <a:spcBef>
                <a:spcPts val="2075"/>
              </a:spcBef>
            </a:pPr>
            <a:r>
              <a:rPr sz="3300" b="1" i="1" spc="-43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644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r>
              <a:rPr sz="3300" b="1" i="1" spc="-430" dirty="0">
                <a:solidFill>
                  <a:srgbClr val="1E1E1E"/>
                </a:solidFill>
                <a:latin typeface="Verdana"/>
                <a:cs typeface="Verdana"/>
              </a:rPr>
              <a:t>AX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7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  <a:p>
            <a:pPr marL="12700" marR="1005205">
              <a:lnSpc>
                <a:spcPct val="100000"/>
              </a:lnSpc>
              <a:spcBef>
                <a:spcPts val="1975"/>
              </a:spcBef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«шире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всего»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направлении 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его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оси,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соответствующей 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минимальному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собственному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числу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4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1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315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ts val="3954"/>
              </a:lnSpc>
            </a:pP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размеры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минимального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ящика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(длина,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ширина,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высота </a:t>
            </a:r>
            <a:r>
              <a:rPr sz="3300" b="1" spc="-220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spc="-220" dirty="0">
                <a:solidFill>
                  <a:srgbClr val="1E1E1E"/>
                </a:solidFill>
                <a:latin typeface="Arial"/>
                <a:cs typeface="Arial"/>
              </a:rPr>
              <a:t>)</a:t>
            </a:r>
            <a:r>
              <a:rPr sz="3300" spc="-204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</a:t>
            </a:r>
            <a:endParaRPr sz="3300">
              <a:latin typeface="Arial"/>
              <a:cs typeface="Arial"/>
            </a:endParaRPr>
          </a:p>
          <a:p>
            <a:pPr marL="4483100">
              <a:lnSpc>
                <a:spcPts val="3960"/>
              </a:lnSpc>
              <a:spcBef>
                <a:spcPts val="1980"/>
              </a:spcBef>
              <a:tabLst>
                <a:tab pos="5692775" algn="l"/>
                <a:tab pos="6807200" algn="l"/>
                <a:tab pos="7692390" algn="l"/>
              </a:tabLst>
            </a:pPr>
            <a:r>
              <a:rPr sz="3300" b="1" u="heavy" spc="-46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6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spc="-502" baseline="-33670" dirty="0">
                <a:solidFill>
                  <a:srgbClr val="1E1E1E"/>
                </a:solidFill>
                <a:latin typeface="Verdana"/>
                <a:cs typeface="Verdana"/>
              </a:rPr>
              <a:t>,	</a:t>
            </a:r>
            <a:r>
              <a:rPr sz="3300" b="1" u="heavy" spc="-33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spc="-502" baseline="-33670" dirty="0">
                <a:solidFill>
                  <a:srgbClr val="1E1E1E"/>
                </a:solidFill>
                <a:latin typeface="Verdana"/>
                <a:cs typeface="Verdana"/>
              </a:rPr>
              <a:t>,	</a:t>
            </a:r>
            <a:r>
              <a:rPr sz="4950" b="1" spc="-247" baseline="-33670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4950" b="1" spc="-569" baseline="-336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spc="-502" baseline="-33670" dirty="0">
                <a:solidFill>
                  <a:srgbClr val="1E1E1E"/>
                </a:solidFill>
                <a:latin typeface="Verdana"/>
                <a:cs typeface="Verdana"/>
              </a:rPr>
              <a:t>,	</a:t>
            </a:r>
            <a:r>
              <a:rPr sz="3300" b="1" u="heavy" spc="-335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b="1" u="heavy" spc="-52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b="1" spc="-3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spc="-502" baseline="-33670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endParaRPr sz="4950" baseline="-33670">
              <a:latin typeface="Verdana"/>
              <a:cs typeface="Verdana"/>
            </a:endParaRPr>
          </a:p>
          <a:p>
            <a:pPr marL="1259840" algn="ctr">
              <a:lnSpc>
                <a:spcPts val="3960"/>
              </a:lnSpc>
              <a:tabLst>
                <a:tab pos="2475865" algn="l"/>
                <a:tab pos="4446270" algn="l"/>
              </a:tabLst>
            </a:pPr>
            <a:r>
              <a:rPr sz="3300" b="1" i="1" spc="-630" dirty="0">
                <a:solidFill>
                  <a:srgbClr val="1E1E1E"/>
                </a:solidFill>
                <a:latin typeface="Verdana"/>
                <a:cs typeface="Verdana"/>
              </a:rPr>
              <a:t>√λ</a:t>
            </a:r>
            <a:r>
              <a:rPr sz="2850" b="1" spc="-944" baseline="-32163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√λ</a:t>
            </a:r>
            <a:r>
              <a:rPr sz="2850" b="1" spc="-900" baseline="-32163" dirty="0">
                <a:solidFill>
                  <a:srgbClr val="1E1E1E"/>
                </a:solidFill>
                <a:latin typeface="Verdana"/>
                <a:cs typeface="Verdana"/>
              </a:rPr>
              <a:t>2	</a:t>
            </a:r>
            <a:r>
              <a:rPr sz="3300" b="1" i="1" spc="-595" dirty="0">
                <a:solidFill>
                  <a:srgbClr val="1E1E1E"/>
                </a:solidFill>
                <a:latin typeface="Verdana"/>
                <a:cs typeface="Verdana"/>
              </a:rPr>
              <a:t>√λ</a:t>
            </a:r>
            <a:r>
              <a:rPr sz="2850" b="1" i="1" spc="-892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850" baseline="-32163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73</a:t>
            </a:fld>
            <a:endParaRPr spc="-37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269047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Экстремальное </a:t>
            </a:r>
            <a:r>
              <a:rPr spc="-405" dirty="0"/>
              <a:t>свойство </a:t>
            </a:r>
            <a:r>
              <a:rPr spc="-375" dirty="0"/>
              <a:t>собственных</a:t>
            </a:r>
            <a:r>
              <a:rPr spc="-515" dirty="0"/>
              <a:t> </a:t>
            </a:r>
            <a:r>
              <a:rPr spc="-395" dirty="0"/>
              <a:t>чисел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23710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Эллипсоид</a:t>
            </a: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85703" y="3595691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4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4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4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4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35" y="16365"/>
                </a:lnTo>
                <a:lnTo>
                  <a:pt x="128446" y="14743"/>
                </a:lnTo>
                <a:close/>
              </a:path>
              <a:path w="304164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4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4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5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80847" y="3488345"/>
            <a:ext cx="1631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25467" y="7318081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0" y="0"/>
                </a:moveTo>
                <a:lnTo>
                  <a:pt x="319362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347367" y="7318081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0" y="0"/>
                </a:moveTo>
                <a:lnTo>
                  <a:pt x="319362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318501" y="7318081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0" y="0"/>
                </a:moveTo>
                <a:lnTo>
                  <a:pt x="319362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941705" algn="ctr">
              <a:lnSpc>
                <a:spcPct val="100000"/>
              </a:lnSpc>
              <a:spcBef>
                <a:spcPts val="2075"/>
              </a:spcBef>
            </a:pPr>
            <a:r>
              <a:rPr spc="-430" dirty="0"/>
              <a:t>X</a:t>
            </a:r>
            <a:r>
              <a:rPr sz="2850" spc="-644" baseline="32163" dirty="0"/>
              <a:t>Т</a:t>
            </a:r>
            <a:r>
              <a:rPr sz="3300" spc="-430" dirty="0"/>
              <a:t>AX </a:t>
            </a:r>
            <a:r>
              <a:rPr sz="3300" i="0" spc="-900" dirty="0">
                <a:latin typeface="Verdana"/>
                <a:cs typeface="Verdana"/>
              </a:rPr>
              <a:t>= </a:t>
            </a:r>
            <a:r>
              <a:rPr sz="3300" i="0" spc="-730" dirty="0">
                <a:latin typeface="Verdana"/>
                <a:cs typeface="Verdana"/>
              </a:rPr>
              <a:t> </a:t>
            </a:r>
            <a:r>
              <a:rPr sz="3300" i="0" spc="-520" dirty="0">
                <a:latin typeface="Verdana"/>
                <a:cs typeface="Verdana"/>
              </a:rPr>
              <a:t>1</a:t>
            </a:r>
            <a:endParaRPr sz="3300">
              <a:latin typeface="Verdana"/>
              <a:cs typeface="Verdana"/>
            </a:endParaRPr>
          </a:p>
          <a:p>
            <a:pPr marL="12700" marR="1450340">
              <a:lnSpc>
                <a:spcPct val="100000"/>
              </a:lnSpc>
              <a:spcBef>
                <a:spcPts val="1975"/>
              </a:spcBef>
            </a:pPr>
            <a:r>
              <a:rPr b="0" i="0" spc="-125" dirty="0">
                <a:latin typeface="Arial"/>
                <a:cs typeface="Arial"/>
              </a:rPr>
              <a:t>«шире </a:t>
            </a:r>
            <a:r>
              <a:rPr b="0" i="0" spc="-135" dirty="0">
                <a:latin typeface="Arial"/>
                <a:cs typeface="Arial"/>
              </a:rPr>
              <a:t>всего» </a:t>
            </a:r>
            <a:r>
              <a:rPr b="0" i="0" spc="-105" dirty="0">
                <a:latin typeface="Arial"/>
                <a:cs typeface="Arial"/>
              </a:rPr>
              <a:t>в </a:t>
            </a:r>
            <a:r>
              <a:rPr b="0" i="0" spc="-65" dirty="0">
                <a:latin typeface="Arial"/>
                <a:cs typeface="Arial"/>
              </a:rPr>
              <a:t>направлении </a:t>
            </a:r>
            <a:r>
              <a:rPr b="0" i="0" spc="-50" dirty="0">
                <a:latin typeface="Arial"/>
                <a:cs typeface="Arial"/>
              </a:rPr>
              <a:t>его </a:t>
            </a:r>
            <a:r>
              <a:rPr b="0" i="0" spc="-105" dirty="0">
                <a:latin typeface="Arial"/>
                <a:cs typeface="Arial"/>
              </a:rPr>
              <a:t>оси, </a:t>
            </a:r>
            <a:r>
              <a:rPr b="0" i="0" spc="-100" dirty="0">
                <a:latin typeface="Arial"/>
                <a:cs typeface="Arial"/>
              </a:rPr>
              <a:t>соответствующей  </a:t>
            </a:r>
            <a:r>
              <a:rPr b="0" i="0" spc="-105" dirty="0">
                <a:latin typeface="Arial"/>
                <a:cs typeface="Arial"/>
              </a:rPr>
              <a:t>минимальному </a:t>
            </a:r>
            <a:r>
              <a:rPr b="0" i="0" spc="-90" dirty="0">
                <a:latin typeface="Arial"/>
                <a:cs typeface="Arial"/>
              </a:rPr>
              <a:t>собственному </a:t>
            </a:r>
            <a:r>
              <a:rPr b="0" i="0" spc="-135" dirty="0">
                <a:latin typeface="Arial"/>
                <a:cs typeface="Arial"/>
              </a:rPr>
              <a:t>числу </a:t>
            </a:r>
            <a:r>
              <a:rPr b="0" i="0" spc="-100" dirty="0">
                <a:latin typeface="Arial"/>
                <a:cs typeface="Arial"/>
              </a:rPr>
              <a:t>матрицы</a:t>
            </a:r>
            <a:r>
              <a:rPr b="0" i="0" spc="465" dirty="0">
                <a:latin typeface="Arial"/>
                <a:cs typeface="Arial"/>
              </a:rPr>
              <a:t> </a:t>
            </a:r>
            <a:r>
              <a:rPr spc="-315" dirty="0"/>
              <a:t>A</a:t>
            </a:r>
            <a:r>
              <a:rPr b="0" i="0" spc="-315" dirty="0">
                <a:latin typeface="Arial"/>
                <a:cs typeface="Arial"/>
              </a:rPr>
              <a:t>,</a:t>
            </a:r>
          </a:p>
          <a:p>
            <a:pPr marL="12700">
              <a:lnSpc>
                <a:spcPts val="3954"/>
              </a:lnSpc>
            </a:pPr>
            <a:r>
              <a:rPr b="0" i="0" spc="-75" dirty="0">
                <a:latin typeface="Arial"/>
                <a:cs typeface="Arial"/>
              </a:rPr>
              <a:t>размеры </a:t>
            </a:r>
            <a:r>
              <a:rPr b="0" i="0" spc="-80" dirty="0">
                <a:latin typeface="Arial"/>
                <a:cs typeface="Arial"/>
              </a:rPr>
              <a:t>минимального </a:t>
            </a:r>
            <a:r>
              <a:rPr b="0" i="0" spc="-65" dirty="0">
                <a:latin typeface="Arial"/>
                <a:cs typeface="Arial"/>
              </a:rPr>
              <a:t>ящика </a:t>
            </a:r>
            <a:r>
              <a:rPr b="0" i="0" spc="-105" dirty="0">
                <a:latin typeface="Arial"/>
                <a:cs typeface="Arial"/>
              </a:rPr>
              <a:t>(длина, </a:t>
            </a:r>
            <a:r>
              <a:rPr b="0" i="0" spc="-60" dirty="0">
                <a:latin typeface="Arial"/>
                <a:cs typeface="Arial"/>
              </a:rPr>
              <a:t>ширина, </a:t>
            </a:r>
            <a:r>
              <a:rPr b="0" i="0" spc="-114" dirty="0">
                <a:latin typeface="Arial"/>
                <a:cs typeface="Arial"/>
              </a:rPr>
              <a:t>высота </a:t>
            </a:r>
            <a:r>
              <a:rPr i="0" spc="-220" dirty="0">
                <a:latin typeface="Verdana"/>
                <a:cs typeface="Verdana"/>
              </a:rPr>
              <a:t>…</a:t>
            </a:r>
            <a:r>
              <a:rPr b="0" i="0" spc="-220" dirty="0">
                <a:latin typeface="Arial"/>
                <a:cs typeface="Arial"/>
              </a:rPr>
              <a:t>)</a:t>
            </a:r>
            <a:r>
              <a:rPr b="0" i="0" spc="-204" dirty="0">
                <a:latin typeface="Arial"/>
                <a:cs typeface="Arial"/>
              </a:rPr>
              <a:t> </a:t>
            </a:r>
            <a:r>
              <a:rPr b="0" i="0" spc="640" dirty="0">
                <a:latin typeface="Arial"/>
                <a:cs typeface="Arial"/>
              </a:rPr>
              <a:t>–</a:t>
            </a:r>
          </a:p>
          <a:p>
            <a:pPr marL="4483100">
              <a:lnSpc>
                <a:spcPts val="3960"/>
              </a:lnSpc>
              <a:spcBef>
                <a:spcPts val="1980"/>
              </a:spcBef>
              <a:tabLst>
                <a:tab pos="5692775" algn="l"/>
                <a:tab pos="6807200" algn="l"/>
                <a:tab pos="7692390" algn="l"/>
              </a:tabLst>
            </a:pPr>
            <a:r>
              <a:rPr i="0" u="heavy" spc="-465" dirty="0"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i="0" u="heavy" spc="-70" dirty="0"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i="0" u="heavy" spc="-520" dirty="0"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 </a:t>
            </a:r>
            <a:r>
              <a:rPr i="0" spc="-520" dirty="0">
                <a:latin typeface="Verdana"/>
                <a:cs typeface="Verdana"/>
              </a:rPr>
              <a:t> </a:t>
            </a:r>
            <a:r>
              <a:rPr i="0" spc="-335" dirty="0">
                <a:latin typeface="Verdana"/>
                <a:cs typeface="Verdana"/>
              </a:rPr>
              <a:t> </a:t>
            </a:r>
            <a:r>
              <a:rPr sz="4950" i="0" spc="-502" baseline="-33670" dirty="0">
                <a:latin typeface="Verdana"/>
                <a:cs typeface="Verdana"/>
              </a:rPr>
              <a:t>,	</a:t>
            </a:r>
            <a:r>
              <a:rPr sz="3300" i="0" u="heavy" spc="-335" dirty="0"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i="0" u="heavy" spc="-520" dirty="0"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 </a:t>
            </a:r>
            <a:r>
              <a:rPr sz="3300" i="0" spc="-520" dirty="0">
                <a:latin typeface="Verdana"/>
                <a:cs typeface="Verdana"/>
              </a:rPr>
              <a:t> </a:t>
            </a:r>
            <a:r>
              <a:rPr sz="3300" i="0" spc="-330" dirty="0">
                <a:latin typeface="Verdana"/>
                <a:cs typeface="Verdana"/>
              </a:rPr>
              <a:t> </a:t>
            </a:r>
            <a:r>
              <a:rPr sz="4950" i="0" spc="-502" baseline="-33670" dirty="0">
                <a:latin typeface="Verdana"/>
                <a:cs typeface="Verdana"/>
              </a:rPr>
              <a:t>,	</a:t>
            </a:r>
            <a:r>
              <a:rPr sz="4950" i="0" spc="-247" baseline="-33670" dirty="0">
                <a:latin typeface="Verdana"/>
                <a:cs typeface="Verdana"/>
              </a:rPr>
              <a:t>…</a:t>
            </a:r>
            <a:r>
              <a:rPr sz="4950" i="0" spc="-562" baseline="-33670" dirty="0">
                <a:latin typeface="Verdana"/>
                <a:cs typeface="Verdana"/>
              </a:rPr>
              <a:t> </a:t>
            </a:r>
            <a:r>
              <a:rPr sz="4950" i="0" spc="-502" baseline="-33670" dirty="0">
                <a:latin typeface="Verdana"/>
                <a:cs typeface="Verdana"/>
              </a:rPr>
              <a:t>,	</a:t>
            </a:r>
            <a:r>
              <a:rPr sz="3300" i="0" u="heavy" spc="-335" dirty="0"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3300" i="0" u="heavy" spc="-520" dirty="0"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2</a:t>
            </a:r>
            <a:r>
              <a:rPr sz="3300" i="0" spc="-340" dirty="0">
                <a:latin typeface="Verdana"/>
                <a:cs typeface="Verdana"/>
              </a:rPr>
              <a:t> </a:t>
            </a:r>
            <a:r>
              <a:rPr sz="4950" i="0" spc="-502" baseline="-33670" dirty="0">
                <a:latin typeface="Verdana"/>
                <a:cs typeface="Verdana"/>
              </a:rPr>
              <a:t>,</a:t>
            </a:r>
            <a:endParaRPr sz="4950" baseline="-33670">
              <a:latin typeface="Verdana"/>
              <a:cs typeface="Verdana"/>
            </a:endParaRPr>
          </a:p>
          <a:p>
            <a:pPr marL="4471035">
              <a:lnSpc>
                <a:spcPts val="3960"/>
              </a:lnSpc>
              <a:tabLst>
                <a:tab pos="5687060" algn="l"/>
                <a:tab pos="7657465" algn="l"/>
              </a:tabLst>
            </a:pPr>
            <a:r>
              <a:rPr spc="-630" dirty="0"/>
              <a:t>√λ</a:t>
            </a:r>
            <a:r>
              <a:rPr sz="2850" i="0" spc="-944" baseline="-32163" dirty="0">
                <a:latin typeface="Verdana"/>
                <a:cs typeface="Verdana"/>
              </a:rPr>
              <a:t>1	</a:t>
            </a:r>
            <a:r>
              <a:rPr sz="3300" spc="-600" dirty="0"/>
              <a:t>√λ</a:t>
            </a:r>
            <a:r>
              <a:rPr sz="2850" i="0" spc="-900" baseline="-32163" dirty="0">
                <a:latin typeface="Verdana"/>
                <a:cs typeface="Verdana"/>
              </a:rPr>
              <a:t>2	</a:t>
            </a:r>
            <a:r>
              <a:rPr sz="3300" spc="-595" dirty="0"/>
              <a:t>√λ</a:t>
            </a:r>
            <a:r>
              <a:rPr sz="2850" spc="-892" baseline="-32163" dirty="0"/>
              <a:t>n</a:t>
            </a:r>
            <a:endParaRPr sz="2850" baseline="-32163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75"/>
              </a:spcBef>
            </a:pPr>
            <a:r>
              <a:rPr b="0" i="0" spc="45" dirty="0">
                <a:latin typeface="Arial"/>
                <a:cs typeface="Arial"/>
              </a:rPr>
              <a:t>а </a:t>
            </a:r>
            <a:r>
              <a:rPr b="0" i="0" spc="-65" dirty="0">
                <a:latin typeface="Arial"/>
                <a:cs typeface="Arial"/>
              </a:rPr>
              <a:t>ориентировать </a:t>
            </a:r>
            <a:r>
              <a:rPr b="0" i="0" spc="-15" dirty="0">
                <a:latin typeface="Arial"/>
                <a:cs typeface="Arial"/>
              </a:rPr>
              <a:t>ребра </a:t>
            </a:r>
            <a:r>
              <a:rPr b="0" i="0" spc="-65" dirty="0">
                <a:latin typeface="Arial"/>
                <a:cs typeface="Arial"/>
              </a:rPr>
              <a:t>ящика </a:t>
            </a:r>
            <a:r>
              <a:rPr b="0" i="0" spc="-55" dirty="0">
                <a:latin typeface="Arial"/>
                <a:cs typeface="Arial"/>
              </a:rPr>
              <a:t>надо </a:t>
            </a:r>
            <a:r>
              <a:rPr b="0" i="0" spc="-20" dirty="0">
                <a:latin typeface="Arial"/>
                <a:cs typeface="Arial"/>
              </a:rPr>
              <a:t>по </a:t>
            </a:r>
            <a:r>
              <a:rPr b="0" i="0" spc="-105" dirty="0">
                <a:latin typeface="Arial"/>
                <a:cs typeface="Arial"/>
              </a:rPr>
              <a:t>собственным</a:t>
            </a:r>
            <a:r>
              <a:rPr b="0" i="0" spc="420" dirty="0">
                <a:latin typeface="Arial"/>
                <a:cs typeface="Arial"/>
              </a:rPr>
              <a:t> </a:t>
            </a:r>
            <a:r>
              <a:rPr b="0" i="0" spc="-35" dirty="0">
                <a:latin typeface="Arial"/>
                <a:cs typeface="Arial"/>
              </a:rPr>
              <a:t>векторам</a:t>
            </a:r>
          </a:p>
          <a:p>
            <a:pPr marL="828675" algn="ctr">
              <a:lnSpc>
                <a:spcPct val="100000"/>
              </a:lnSpc>
              <a:spcBef>
                <a:spcPts val="1975"/>
              </a:spcBef>
              <a:tabLst>
                <a:tab pos="1936114" algn="l"/>
                <a:tab pos="2965450" algn="l"/>
                <a:tab pos="3977004" algn="l"/>
              </a:tabLst>
            </a:pPr>
            <a:r>
              <a:rPr spc="-290" dirty="0">
                <a:latin typeface="Arial"/>
                <a:cs typeface="Arial"/>
              </a:rPr>
              <a:t>Ӿ</a:t>
            </a:r>
            <a:r>
              <a:rPr sz="2850" i="0" spc="-434" baseline="-32163" dirty="0">
                <a:latin typeface="Verdana"/>
                <a:cs typeface="Verdana"/>
              </a:rPr>
              <a:t>1</a:t>
            </a:r>
            <a:r>
              <a:rPr sz="3300" b="0" i="0" spc="-290" dirty="0">
                <a:latin typeface="Arial"/>
                <a:cs typeface="Arial"/>
              </a:rPr>
              <a:t>,	</a:t>
            </a:r>
            <a:r>
              <a:rPr sz="3300" spc="-250" dirty="0">
                <a:latin typeface="Arial"/>
                <a:cs typeface="Arial"/>
              </a:rPr>
              <a:t>Ӿ</a:t>
            </a:r>
            <a:r>
              <a:rPr sz="2850" i="0" spc="-375" baseline="-32163" dirty="0">
                <a:latin typeface="Verdana"/>
                <a:cs typeface="Verdana"/>
              </a:rPr>
              <a:t>2</a:t>
            </a:r>
            <a:r>
              <a:rPr sz="3300" b="0" i="0" spc="-250" dirty="0">
                <a:latin typeface="Arial"/>
                <a:cs typeface="Arial"/>
              </a:rPr>
              <a:t>,	</a:t>
            </a:r>
            <a:r>
              <a:rPr sz="3300" i="0" spc="-204" dirty="0">
                <a:latin typeface="Verdana"/>
                <a:cs typeface="Verdana"/>
              </a:rPr>
              <a:t>…</a:t>
            </a:r>
            <a:r>
              <a:rPr sz="3300" b="0" i="0" spc="-204" dirty="0">
                <a:latin typeface="Arial"/>
                <a:cs typeface="Arial"/>
              </a:rPr>
              <a:t>,	</a:t>
            </a:r>
            <a:r>
              <a:rPr sz="3300" spc="-265" dirty="0">
                <a:latin typeface="Arial"/>
                <a:cs typeface="Arial"/>
              </a:rPr>
              <a:t>Ӿ</a:t>
            </a:r>
            <a:r>
              <a:rPr sz="2850" spc="-397" baseline="-32163" dirty="0"/>
              <a:t>n</a:t>
            </a:r>
            <a:endParaRPr sz="2850" baseline="-32163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74</a:t>
            </a:fld>
            <a:endParaRPr spc="-37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0250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0" dirty="0"/>
              <a:t>Неквадратные</a:t>
            </a:r>
            <a:r>
              <a:rPr spc="-12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5212271"/>
            <a:ext cx="1400175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Можно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ли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построить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аналогичное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представление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b="1" spc="-200" dirty="0">
                <a:solidFill>
                  <a:srgbClr val="1E1E1E"/>
                </a:solidFill>
                <a:latin typeface="Arial"/>
                <a:cs typeface="Arial"/>
              </a:rPr>
              <a:t>любой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2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spc="-1065" dirty="0">
                <a:solidFill>
                  <a:srgbClr val="1E1E1E"/>
                </a:solidFill>
                <a:latin typeface="DejaVu Sans"/>
                <a:cs typeface="DejaVu Sans"/>
              </a:rPr>
              <a:t>∈</a:t>
            </a:r>
            <a:endParaRPr sz="3300">
              <a:latin typeface="DejaVu Sans"/>
              <a:cs typeface="DejaVu San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480355" y="5354800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5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5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5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5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45" y="16365"/>
                </a:lnTo>
                <a:lnTo>
                  <a:pt x="128446" y="14743"/>
                </a:lnTo>
                <a:close/>
              </a:path>
              <a:path w="304165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1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5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5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9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806923" y="5072799"/>
            <a:ext cx="842644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i="1" spc="-415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1900" b="1" i="1" spc="-505" dirty="0">
                <a:solidFill>
                  <a:srgbClr val="1E1E1E"/>
                </a:solidFill>
                <a:latin typeface="Verdana"/>
                <a:cs typeface="Verdana"/>
              </a:rPr>
              <a:t>× 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i="1" spc="-4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spc="-382" baseline="-18518" dirty="0">
                <a:solidFill>
                  <a:srgbClr val="1E1E1E"/>
                </a:solidFill>
                <a:latin typeface="Arial"/>
                <a:cs typeface="Arial"/>
              </a:rPr>
              <a:t>?</a:t>
            </a:r>
            <a:endParaRPr sz="4950" baseline="-1851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94467" y="3453163"/>
            <a:ext cx="169862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" marR="5080" indent="-40640">
              <a:lnSpc>
                <a:spcPct val="100000"/>
              </a:lnSpc>
              <a:spcBef>
                <a:spcPts val="95"/>
              </a:spcBef>
            </a:pP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е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р. 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матрица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74708" y="3704464"/>
            <a:ext cx="2705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61513" y="3704464"/>
            <a:ext cx="1720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•</a:t>
            </a:r>
            <a:endParaRPr sz="3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93169" y="3704464"/>
            <a:ext cx="1720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•</a:t>
            </a:r>
            <a:endParaRPr sz="3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346369" y="3237043"/>
            <a:ext cx="17462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1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endParaRPr sz="1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73366" y="3453163"/>
            <a:ext cx="162687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985">
              <a:lnSpc>
                <a:spcPct val="100000"/>
              </a:lnSpc>
              <a:spcBef>
                <a:spcPts val="95"/>
              </a:spcBef>
            </a:pP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г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он. 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190" dirty="0">
                <a:solidFill>
                  <a:srgbClr val="1E1E1E"/>
                </a:solidFill>
                <a:latin typeface="Arial"/>
                <a:cs typeface="Arial"/>
              </a:rPr>
              <a:t>ц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60415" y="3453163"/>
            <a:ext cx="162687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985">
              <a:lnSpc>
                <a:spcPct val="100000"/>
              </a:lnSpc>
              <a:spcBef>
                <a:spcPts val="95"/>
              </a:spcBef>
            </a:pP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г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он. 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190" dirty="0">
                <a:solidFill>
                  <a:srgbClr val="1E1E1E"/>
                </a:solidFill>
                <a:latin typeface="Arial"/>
                <a:cs typeface="Arial"/>
              </a:rPr>
              <a:t>ц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37351" y="3924353"/>
            <a:ext cx="94106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spc="-202" baseline="62289" dirty="0">
                <a:solidFill>
                  <a:srgbClr val="1E1E1E"/>
                </a:solidFill>
                <a:latin typeface="Arial"/>
                <a:cs typeface="Arial"/>
              </a:rPr>
              <a:t>д</a:t>
            </a:r>
            <a:r>
              <a:rPr sz="4950" spc="-202" baseline="4124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4950" spc="-202" baseline="21043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г.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44982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44982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53644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53644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84668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84668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671685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671685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252848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252848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212272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212272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2999248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2999248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578692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578692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75</a:t>
            </a:fld>
            <a:endParaRPr spc="-37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0250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0" dirty="0"/>
              <a:t>Неквадратные</a:t>
            </a:r>
            <a:r>
              <a:rPr spc="-12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5212271"/>
            <a:ext cx="1400175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Можно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ли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построить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аналогичное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представление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b="1" spc="-200" dirty="0">
                <a:solidFill>
                  <a:srgbClr val="1E1E1E"/>
                </a:solidFill>
                <a:latin typeface="Arial"/>
                <a:cs typeface="Arial"/>
              </a:rPr>
              <a:t>любой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2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spc="-1065" dirty="0">
                <a:solidFill>
                  <a:srgbClr val="1E1E1E"/>
                </a:solidFill>
                <a:latin typeface="DejaVu Sans"/>
                <a:cs typeface="DejaVu Sans"/>
              </a:rPr>
              <a:t>∈</a:t>
            </a:r>
            <a:endParaRPr sz="3300">
              <a:latin typeface="DejaVu Sans"/>
              <a:cs typeface="DejaVu San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480355" y="5354800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5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5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5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5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45" y="16365"/>
                </a:lnTo>
                <a:lnTo>
                  <a:pt x="128446" y="14743"/>
                </a:lnTo>
                <a:close/>
              </a:path>
              <a:path w="304165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1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5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5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9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806923" y="5072799"/>
            <a:ext cx="842644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i="1" spc="-415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1900" b="1" i="1" spc="-505" dirty="0">
                <a:solidFill>
                  <a:srgbClr val="1E1E1E"/>
                </a:solidFill>
                <a:latin typeface="Verdana"/>
                <a:cs typeface="Verdana"/>
              </a:rPr>
              <a:t>× 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i="1" spc="-4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spc="-382" baseline="-18518" dirty="0">
                <a:solidFill>
                  <a:srgbClr val="1E1E1E"/>
                </a:solidFill>
                <a:latin typeface="Arial"/>
                <a:cs typeface="Arial"/>
              </a:rPr>
              <a:t>?</a:t>
            </a:r>
            <a:endParaRPr sz="4950" baseline="-1851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3857" y="6217477"/>
            <a:ext cx="240220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50" dirty="0">
                <a:solidFill>
                  <a:srgbClr val="1E1E1E"/>
                </a:solidFill>
                <a:latin typeface="Verdana"/>
                <a:cs typeface="Verdana"/>
              </a:rPr>
              <a:t>Σ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spc="-7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89346" y="3453163"/>
            <a:ext cx="169862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" marR="5080" indent="-40640">
              <a:lnSpc>
                <a:spcPct val="100000"/>
              </a:lnSpc>
              <a:spcBef>
                <a:spcPts val="95"/>
              </a:spcBef>
            </a:pP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е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р. 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матрица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69588" y="3704464"/>
            <a:ext cx="2705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56393" y="3704464"/>
            <a:ext cx="1720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•</a:t>
            </a:r>
            <a:endParaRPr sz="3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88050" y="3704464"/>
            <a:ext cx="1720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•</a:t>
            </a:r>
            <a:endParaRPr sz="3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341134" y="3237043"/>
            <a:ext cx="17462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1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endParaRPr sz="1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68130" y="3453163"/>
            <a:ext cx="162687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985">
              <a:lnSpc>
                <a:spcPct val="100000"/>
              </a:lnSpc>
              <a:spcBef>
                <a:spcPts val="95"/>
              </a:spcBef>
            </a:pP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г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он. 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190" dirty="0">
                <a:solidFill>
                  <a:srgbClr val="1E1E1E"/>
                </a:solidFill>
                <a:latin typeface="Arial"/>
                <a:cs typeface="Arial"/>
              </a:rPr>
              <a:t>ц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55179" y="3453163"/>
            <a:ext cx="162687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985">
              <a:lnSpc>
                <a:spcPct val="100000"/>
              </a:lnSpc>
              <a:spcBef>
                <a:spcPts val="95"/>
              </a:spcBef>
            </a:pP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г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он. 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190" dirty="0">
                <a:solidFill>
                  <a:srgbClr val="1E1E1E"/>
                </a:solidFill>
                <a:latin typeface="Arial"/>
                <a:cs typeface="Arial"/>
              </a:rPr>
              <a:t>ц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32115" y="3924353"/>
            <a:ext cx="94106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spc="-202" baseline="62289" dirty="0">
                <a:solidFill>
                  <a:srgbClr val="1E1E1E"/>
                </a:solidFill>
                <a:latin typeface="Arial"/>
                <a:cs typeface="Arial"/>
              </a:rPr>
              <a:t>д</a:t>
            </a:r>
            <a:r>
              <a:rPr sz="4950" spc="-202" baseline="4124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4950" spc="-202" baseline="21043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г.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39746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39746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48409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48409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79432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879432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666450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666450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247612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247612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207036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207036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2994013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2994013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573457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573457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76</a:t>
            </a:fld>
            <a:endParaRPr spc="-37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0250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0" dirty="0"/>
              <a:t>Неквадратные</a:t>
            </a:r>
            <a:r>
              <a:rPr spc="-12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5212271"/>
            <a:ext cx="1400175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Можно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ли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построить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аналогичное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представление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b="1" spc="-200" dirty="0">
                <a:solidFill>
                  <a:srgbClr val="1E1E1E"/>
                </a:solidFill>
                <a:latin typeface="Arial"/>
                <a:cs typeface="Arial"/>
              </a:rPr>
              <a:t>любой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2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spc="-1065" dirty="0">
                <a:solidFill>
                  <a:srgbClr val="1E1E1E"/>
                </a:solidFill>
                <a:latin typeface="DejaVu Sans"/>
                <a:cs typeface="DejaVu Sans"/>
              </a:rPr>
              <a:t>∈</a:t>
            </a:r>
            <a:endParaRPr sz="3300">
              <a:latin typeface="DejaVu Sans"/>
              <a:cs typeface="DejaVu San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480355" y="5354800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5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5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5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5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45" y="16365"/>
                </a:lnTo>
                <a:lnTo>
                  <a:pt x="128446" y="14743"/>
                </a:lnTo>
                <a:close/>
              </a:path>
              <a:path w="304165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1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5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5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9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806923" y="5072799"/>
            <a:ext cx="842644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i="1" spc="-415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1900" b="1" i="1" spc="-505" dirty="0">
                <a:solidFill>
                  <a:srgbClr val="1E1E1E"/>
                </a:solidFill>
                <a:latin typeface="Verdana"/>
                <a:cs typeface="Verdana"/>
              </a:rPr>
              <a:t>× 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i="1" spc="-4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spc="-382" baseline="-18518" dirty="0">
                <a:solidFill>
                  <a:srgbClr val="1E1E1E"/>
                </a:solidFill>
                <a:latin typeface="Arial"/>
                <a:cs typeface="Arial"/>
              </a:rPr>
              <a:t>?</a:t>
            </a:r>
            <a:endParaRPr sz="4950" baseline="-1851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3857" y="6217477"/>
            <a:ext cx="240220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50" dirty="0">
                <a:solidFill>
                  <a:srgbClr val="1E1E1E"/>
                </a:solidFill>
                <a:latin typeface="Verdana"/>
                <a:cs typeface="Verdana"/>
              </a:rPr>
              <a:t>Σ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spc="-7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57135" y="7365220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4" h="289559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4" h="289559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4" h="289559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4" h="289559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35" y="16365"/>
                </a:lnTo>
                <a:lnTo>
                  <a:pt x="128446" y="14743"/>
                </a:lnTo>
                <a:close/>
              </a:path>
              <a:path w="304164" h="289559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4" h="289559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4" h="289559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5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83703" y="7083209"/>
            <a:ext cx="1796414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i="1" spc="-415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1900" b="1" i="1" spc="-505" dirty="0">
                <a:solidFill>
                  <a:srgbClr val="1E1E1E"/>
                </a:solidFill>
                <a:latin typeface="Verdana"/>
                <a:cs typeface="Verdana"/>
              </a:rPr>
              <a:t>× </a:t>
            </a:r>
            <a:r>
              <a:rPr sz="1900" b="1" i="1" spc="-415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4950" spc="-97" baseline="-18518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4950" b="1" i="1" spc="-1312" baseline="-18518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4950" b="1" i="1" spc="-1207" baseline="-18518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spc="-1597" baseline="-18518" dirty="0">
                <a:solidFill>
                  <a:srgbClr val="1E1E1E"/>
                </a:solidFill>
                <a:latin typeface="DejaVu Sans"/>
                <a:cs typeface="DejaVu Sans"/>
              </a:rPr>
              <a:t>∈</a:t>
            </a:r>
            <a:endParaRPr sz="4950" baseline="-18518">
              <a:latin typeface="DejaVu Sans"/>
              <a:cs typeface="DejaVu San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52713" y="7365220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4" h="289559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4" h="289559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4" h="289559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4" h="289559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45" y="16365"/>
                </a:lnTo>
                <a:lnTo>
                  <a:pt x="128446" y="14743"/>
                </a:lnTo>
                <a:close/>
              </a:path>
              <a:path w="304164" h="289559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4" h="289559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4" h="289559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5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06104" y="7222681"/>
            <a:ext cx="90855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85715" algn="l"/>
              </a:tabLst>
            </a:pP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spc="-1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spc="-1065" dirty="0">
                <a:solidFill>
                  <a:srgbClr val="1E1E1E"/>
                </a:solidFill>
                <a:latin typeface="DejaVu Sans"/>
                <a:cs typeface="DejaVu Sans"/>
              </a:rPr>
              <a:t>∈	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2850" b="1" i="1" spc="-757" baseline="32163" dirty="0">
                <a:solidFill>
                  <a:srgbClr val="1E1E1E"/>
                </a:solidFill>
                <a:latin typeface="Verdana"/>
                <a:cs typeface="Verdana"/>
              </a:rPr>
              <a:t>× 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</a:t>
            </a:r>
            <a:r>
              <a:rPr sz="3300" spc="-29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ортогональные.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5843" y="8227886"/>
            <a:ext cx="76085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Элементы </a:t>
            </a:r>
            <a:r>
              <a:rPr sz="3300" b="1" spc="-350" dirty="0">
                <a:solidFill>
                  <a:srgbClr val="1E1E1E"/>
                </a:solidFill>
                <a:latin typeface="Verdana"/>
                <a:cs typeface="Verdana"/>
              </a:rPr>
              <a:t>Σ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43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644" baseline="-32163" dirty="0">
                <a:solidFill>
                  <a:srgbClr val="1E1E1E"/>
                </a:solidFill>
                <a:latin typeface="Verdana"/>
                <a:cs typeface="Verdana"/>
              </a:rPr>
              <a:t>ij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все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равны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если </a:t>
            </a:r>
            <a:r>
              <a:rPr sz="3300" b="1" i="1" spc="-254" dirty="0">
                <a:solidFill>
                  <a:srgbClr val="1E1E1E"/>
                </a:solidFill>
                <a:latin typeface="Verdana"/>
                <a:cs typeface="Verdana"/>
              </a:rPr>
              <a:t>i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≠</a:t>
            </a:r>
            <a:r>
              <a:rPr sz="3300" b="1" i="1" spc="-7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75" dirty="0">
                <a:solidFill>
                  <a:srgbClr val="1E1E1E"/>
                </a:solidFill>
                <a:latin typeface="Verdana"/>
                <a:cs typeface="Verdana"/>
              </a:rPr>
              <a:t>j.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89116" y="3453163"/>
            <a:ext cx="169862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" marR="5080" indent="-40640">
              <a:lnSpc>
                <a:spcPct val="100000"/>
              </a:lnSpc>
              <a:spcBef>
                <a:spcPts val="95"/>
              </a:spcBef>
            </a:pP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е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р. 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матрица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69358" y="3704464"/>
            <a:ext cx="2705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56163" y="3704464"/>
            <a:ext cx="1720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•</a:t>
            </a:r>
            <a:endParaRPr sz="33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87819" y="3704464"/>
            <a:ext cx="1720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" dirty="0">
                <a:solidFill>
                  <a:srgbClr val="1E1E1E"/>
                </a:solidFill>
                <a:latin typeface="Arial"/>
                <a:cs typeface="Arial"/>
              </a:rPr>
              <a:t>•</a:t>
            </a:r>
            <a:endParaRPr sz="3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341134" y="3237043"/>
            <a:ext cx="17462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1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endParaRPr sz="1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68130" y="3453163"/>
            <a:ext cx="162687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985">
              <a:lnSpc>
                <a:spcPct val="100000"/>
              </a:lnSpc>
              <a:spcBef>
                <a:spcPts val="95"/>
              </a:spcBef>
            </a:pP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г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он. 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190" dirty="0">
                <a:solidFill>
                  <a:srgbClr val="1E1E1E"/>
                </a:solidFill>
                <a:latin typeface="Arial"/>
                <a:cs typeface="Arial"/>
              </a:rPr>
              <a:t>ц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155179" y="3453163"/>
            <a:ext cx="162687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985">
              <a:lnSpc>
                <a:spcPct val="100000"/>
              </a:lnSpc>
              <a:spcBef>
                <a:spcPts val="95"/>
              </a:spcBef>
            </a:pP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г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он. 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190" dirty="0">
                <a:solidFill>
                  <a:srgbClr val="1E1E1E"/>
                </a:solidFill>
                <a:latin typeface="Arial"/>
                <a:cs typeface="Arial"/>
              </a:rPr>
              <a:t>ц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32115" y="3924353"/>
            <a:ext cx="94106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spc="-202" baseline="62289" dirty="0">
                <a:solidFill>
                  <a:srgbClr val="1E1E1E"/>
                </a:solidFill>
                <a:latin typeface="Arial"/>
                <a:cs typeface="Arial"/>
              </a:rPr>
              <a:t>д</a:t>
            </a:r>
            <a:r>
              <a:rPr sz="4950" spc="-202" baseline="4124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4950" spc="-202" baseline="21043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г.</a:t>
            </a:r>
            <a:endParaRPr sz="33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39746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439746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48409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748409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79432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79432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89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666450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666450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247612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300587" y="0"/>
                </a:moveTo>
                <a:lnTo>
                  <a:pt x="196884" y="0"/>
                </a:lnTo>
                <a:lnTo>
                  <a:pt x="174974" y="30324"/>
                </a:ln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247612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96884" y="0"/>
                </a:moveTo>
                <a:lnTo>
                  <a:pt x="153138" y="63100"/>
                </a:lnTo>
                <a:lnTo>
                  <a:pt x="131664" y="98428"/>
                </a:lnTo>
                <a:lnTo>
                  <a:pt x="110839" y="136411"/>
                </a:lnTo>
                <a:lnTo>
                  <a:pt x="90950" y="177153"/>
                </a:lnTo>
                <a:lnTo>
                  <a:pt x="72283" y="220756"/>
                </a:lnTo>
                <a:lnTo>
                  <a:pt x="55128" y="267322"/>
                </a:lnTo>
                <a:lnTo>
                  <a:pt x="39770" y="316955"/>
                </a:lnTo>
                <a:lnTo>
                  <a:pt x="26497" y="369756"/>
                </a:lnTo>
                <a:lnTo>
                  <a:pt x="15596" y="425829"/>
                </a:lnTo>
                <a:lnTo>
                  <a:pt x="7355" y="485276"/>
                </a:lnTo>
                <a:lnTo>
                  <a:pt x="2060" y="548200"/>
                </a:lnTo>
                <a:lnTo>
                  <a:pt x="0" y="614703"/>
                </a:lnTo>
                <a:lnTo>
                  <a:pt x="1764" y="680562"/>
                </a:lnTo>
                <a:lnTo>
                  <a:pt x="6857" y="742936"/>
                </a:lnTo>
                <a:lnTo>
                  <a:pt x="14978" y="801916"/>
                </a:lnTo>
                <a:lnTo>
                  <a:pt x="25830" y="857592"/>
                </a:lnTo>
                <a:lnTo>
                  <a:pt x="39111" y="910053"/>
                </a:lnTo>
                <a:lnTo>
                  <a:pt x="54522" y="959391"/>
                </a:lnTo>
                <a:lnTo>
                  <a:pt x="71765" y="1005696"/>
                </a:lnTo>
                <a:lnTo>
                  <a:pt x="90538" y="1049058"/>
                </a:lnTo>
                <a:lnTo>
                  <a:pt x="110542" y="1089567"/>
                </a:lnTo>
                <a:lnTo>
                  <a:pt x="131479" y="1127314"/>
                </a:lnTo>
                <a:lnTo>
                  <a:pt x="153048" y="1162389"/>
                </a:lnTo>
                <a:lnTo>
                  <a:pt x="174949" y="1194882"/>
                </a:lnTo>
                <a:lnTo>
                  <a:pt x="196884" y="1224884"/>
                </a:lnTo>
                <a:lnTo>
                  <a:pt x="300587" y="1224884"/>
                </a:lnTo>
                <a:lnTo>
                  <a:pt x="276416" y="1189440"/>
                </a:lnTo>
                <a:lnTo>
                  <a:pt x="253258" y="1152411"/>
                </a:lnTo>
                <a:lnTo>
                  <a:pt x="231275" y="1113708"/>
                </a:lnTo>
                <a:lnTo>
                  <a:pt x="210625" y="1073240"/>
                </a:lnTo>
                <a:lnTo>
                  <a:pt x="191470" y="1030917"/>
                </a:lnTo>
                <a:lnTo>
                  <a:pt x="173969" y="986648"/>
                </a:lnTo>
                <a:lnTo>
                  <a:pt x="158282" y="940343"/>
                </a:lnTo>
                <a:lnTo>
                  <a:pt x="144569" y="891912"/>
                </a:lnTo>
                <a:lnTo>
                  <a:pt x="132991" y="841264"/>
                </a:lnTo>
                <a:lnTo>
                  <a:pt x="123707" y="788310"/>
                </a:lnTo>
                <a:lnTo>
                  <a:pt x="116877" y="732959"/>
                </a:lnTo>
                <a:lnTo>
                  <a:pt x="112662" y="675120"/>
                </a:lnTo>
                <a:lnTo>
                  <a:pt x="111221" y="614703"/>
                </a:lnTo>
                <a:lnTo>
                  <a:pt x="112613" y="553274"/>
                </a:lnTo>
                <a:lnTo>
                  <a:pt x="116696" y="494488"/>
                </a:lnTo>
                <a:lnTo>
                  <a:pt x="123337" y="438267"/>
                </a:lnTo>
                <a:lnTo>
                  <a:pt x="132400" y="384533"/>
                </a:lnTo>
                <a:lnTo>
                  <a:pt x="143748" y="333209"/>
                </a:lnTo>
                <a:lnTo>
                  <a:pt x="157248" y="284217"/>
                </a:lnTo>
                <a:lnTo>
                  <a:pt x="172762" y="237477"/>
                </a:lnTo>
                <a:lnTo>
                  <a:pt x="190157" y="192914"/>
                </a:lnTo>
                <a:lnTo>
                  <a:pt x="209296" y="150447"/>
                </a:lnTo>
                <a:lnTo>
                  <a:pt x="230044" y="110001"/>
                </a:lnTo>
                <a:lnTo>
                  <a:pt x="252265" y="71496"/>
                </a:lnTo>
                <a:lnTo>
                  <a:pt x="275825" y="34855"/>
                </a:lnTo>
                <a:lnTo>
                  <a:pt x="300587" y="0"/>
                </a:lnTo>
                <a:lnTo>
                  <a:pt x="196884" y="0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207036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207036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994013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994013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573457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0"/>
                </a:move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573457" y="3431937"/>
            <a:ext cx="300990" cy="1224915"/>
          </a:xfrm>
          <a:custGeom>
            <a:avLst/>
            <a:gdLst/>
            <a:ahLst/>
            <a:cxnLst/>
            <a:rect l="l" t="t" r="r" b="b"/>
            <a:pathLst>
              <a:path w="300990" h="1224914">
                <a:moveTo>
                  <a:pt x="103703" y="1224884"/>
                </a:moveTo>
                <a:lnTo>
                  <a:pt x="147448" y="1161784"/>
                </a:lnTo>
                <a:lnTo>
                  <a:pt x="168922" y="1126455"/>
                </a:lnTo>
                <a:lnTo>
                  <a:pt x="189748" y="1088472"/>
                </a:lnTo>
                <a:lnTo>
                  <a:pt x="209637" y="1047730"/>
                </a:lnTo>
                <a:lnTo>
                  <a:pt x="228303" y="1004127"/>
                </a:lnTo>
                <a:lnTo>
                  <a:pt x="245459" y="957561"/>
                </a:lnTo>
                <a:lnTo>
                  <a:pt x="260817" y="907928"/>
                </a:lnTo>
                <a:lnTo>
                  <a:pt x="274090" y="855127"/>
                </a:lnTo>
                <a:lnTo>
                  <a:pt x="284991" y="799054"/>
                </a:lnTo>
                <a:lnTo>
                  <a:pt x="293232" y="739607"/>
                </a:lnTo>
                <a:lnTo>
                  <a:pt x="298527" y="676683"/>
                </a:lnTo>
                <a:lnTo>
                  <a:pt x="300587" y="610180"/>
                </a:lnTo>
                <a:lnTo>
                  <a:pt x="298823" y="544321"/>
                </a:lnTo>
                <a:lnTo>
                  <a:pt x="293730" y="481947"/>
                </a:lnTo>
                <a:lnTo>
                  <a:pt x="285608" y="422967"/>
                </a:lnTo>
                <a:lnTo>
                  <a:pt x="274757" y="367292"/>
                </a:lnTo>
                <a:lnTo>
                  <a:pt x="261476" y="314830"/>
                </a:lnTo>
                <a:lnTo>
                  <a:pt x="246064" y="265492"/>
                </a:lnTo>
                <a:lnTo>
                  <a:pt x="228822" y="219187"/>
                </a:lnTo>
                <a:lnTo>
                  <a:pt x="210049" y="175825"/>
                </a:lnTo>
                <a:lnTo>
                  <a:pt x="190044" y="135316"/>
                </a:lnTo>
                <a:lnTo>
                  <a:pt x="169108" y="97569"/>
                </a:lnTo>
                <a:lnTo>
                  <a:pt x="147539" y="62494"/>
                </a:lnTo>
                <a:lnTo>
                  <a:pt x="125638" y="30001"/>
                </a:lnTo>
                <a:lnTo>
                  <a:pt x="103703" y="0"/>
                </a:lnTo>
                <a:lnTo>
                  <a:pt x="0" y="0"/>
                </a:lnTo>
                <a:lnTo>
                  <a:pt x="24171" y="35444"/>
                </a:lnTo>
                <a:lnTo>
                  <a:pt x="47329" y="72472"/>
                </a:lnTo>
                <a:lnTo>
                  <a:pt x="69312" y="111175"/>
                </a:lnTo>
                <a:lnTo>
                  <a:pt x="89961" y="151643"/>
                </a:lnTo>
                <a:lnTo>
                  <a:pt x="109117" y="193966"/>
                </a:lnTo>
                <a:lnTo>
                  <a:pt x="126618" y="238235"/>
                </a:lnTo>
                <a:lnTo>
                  <a:pt x="142305" y="284540"/>
                </a:lnTo>
                <a:lnTo>
                  <a:pt x="156018" y="332971"/>
                </a:lnTo>
                <a:lnTo>
                  <a:pt x="167596" y="383619"/>
                </a:lnTo>
                <a:lnTo>
                  <a:pt x="176880" y="436573"/>
                </a:lnTo>
                <a:lnTo>
                  <a:pt x="183710" y="491924"/>
                </a:lnTo>
                <a:lnTo>
                  <a:pt x="187925" y="549763"/>
                </a:lnTo>
                <a:lnTo>
                  <a:pt x="189365" y="610180"/>
                </a:lnTo>
                <a:lnTo>
                  <a:pt x="187974" y="671609"/>
                </a:lnTo>
                <a:lnTo>
                  <a:pt x="183890" y="730395"/>
                </a:lnTo>
                <a:lnTo>
                  <a:pt x="177249" y="786616"/>
                </a:lnTo>
                <a:lnTo>
                  <a:pt x="168187" y="840350"/>
                </a:lnTo>
                <a:lnTo>
                  <a:pt x="156838" y="891674"/>
                </a:lnTo>
                <a:lnTo>
                  <a:pt x="143339" y="940667"/>
                </a:lnTo>
                <a:lnTo>
                  <a:pt x="127824" y="987406"/>
                </a:lnTo>
                <a:lnTo>
                  <a:pt x="110430" y="1031970"/>
                </a:lnTo>
                <a:lnTo>
                  <a:pt x="91291" y="1074436"/>
                </a:lnTo>
                <a:lnTo>
                  <a:pt x="70543" y="1114882"/>
                </a:lnTo>
                <a:lnTo>
                  <a:pt x="48322" y="1153387"/>
                </a:lnTo>
                <a:lnTo>
                  <a:pt x="24762" y="1190028"/>
                </a:lnTo>
                <a:lnTo>
                  <a:pt x="0" y="1224884"/>
                </a:lnTo>
                <a:lnTo>
                  <a:pt x="103703" y="1224884"/>
                </a:lnTo>
                <a:close/>
              </a:path>
            </a:pathLst>
          </a:custGeom>
          <a:ln w="418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77</a:t>
            </a:fld>
            <a:endParaRPr spc="-37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913066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Сингулярное </a:t>
            </a:r>
            <a:r>
              <a:rPr spc="-185" dirty="0"/>
              <a:t>разложение</a:t>
            </a:r>
            <a:r>
              <a:rPr spc="110" dirty="0"/>
              <a:t> </a:t>
            </a:r>
            <a:r>
              <a:rPr spc="-280" dirty="0"/>
              <a:t>(SVD)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55453" y="4727604"/>
            <a:ext cx="2827655" cy="1607820"/>
          </a:xfrm>
          <a:prstGeom prst="rect">
            <a:avLst/>
          </a:prstGeom>
          <a:ln w="73296">
            <a:solidFill>
              <a:srgbClr val="1E1E1E"/>
            </a:solidFill>
          </a:ln>
        </p:spPr>
        <p:txBody>
          <a:bodyPr vert="horz" wrap="square" lIns="0" tIns="392430" rIns="0" bIns="0" rtlCol="0">
            <a:spAutoFit/>
          </a:bodyPr>
          <a:lstStyle/>
          <a:p>
            <a:pPr marR="68580" algn="ctr">
              <a:lnSpc>
                <a:spcPct val="100000"/>
              </a:lnSpc>
              <a:spcBef>
                <a:spcPts val="3090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77852" y="4727604"/>
            <a:ext cx="1641475" cy="1607820"/>
          </a:xfrm>
          <a:prstGeom prst="rect">
            <a:avLst/>
          </a:prstGeom>
          <a:ln w="73296">
            <a:solidFill>
              <a:srgbClr val="A8CFA6"/>
            </a:solidFill>
          </a:ln>
        </p:spPr>
        <p:txBody>
          <a:bodyPr vert="horz" wrap="square" lIns="0" tIns="392430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3090"/>
              </a:spcBef>
            </a:pP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31092" y="4727604"/>
            <a:ext cx="2827655" cy="2604770"/>
          </a:xfrm>
          <a:prstGeom prst="rect">
            <a:avLst/>
          </a:prstGeom>
          <a:ln w="73296">
            <a:solidFill>
              <a:srgbClr val="627AEB"/>
            </a:solidFill>
          </a:ln>
        </p:spPr>
        <p:txBody>
          <a:bodyPr vert="horz" wrap="square" lIns="0" tIns="252729" rIns="0" bIns="0" rtlCol="0">
            <a:spAutoFit/>
          </a:bodyPr>
          <a:lstStyle/>
          <a:p>
            <a:pPr marL="93345" algn="ctr">
              <a:lnSpc>
                <a:spcPct val="100000"/>
              </a:lnSpc>
              <a:spcBef>
                <a:spcPts val="1989"/>
              </a:spcBef>
            </a:pPr>
            <a:r>
              <a:rPr sz="4950" b="1" i="1" spc="-592" baseline="-18518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1900" b="1" i="1" spc="-395" dirty="0">
                <a:solidFill>
                  <a:srgbClr val="1E1E1E"/>
                </a:solidFill>
                <a:latin typeface="Verdana"/>
                <a:cs typeface="Verdana"/>
              </a:rPr>
              <a:t>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94489" y="5120651"/>
            <a:ext cx="2755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29497" y="5120651"/>
            <a:ext cx="1663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09396" y="5120651"/>
            <a:ext cx="1663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27782" y="4269892"/>
            <a:ext cx="77724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6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94367" y="6337892"/>
            <a:ext cx="2609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61559" y="4727604"/>
            <a:ext cx="2827655" cy="1607820"/>
          </a:xfrm>
          <a:prstGeom prst="rect">
            <a:avLst/>
          </a:prstGeom>
          <a:ln w="73296">
            <a:solidFill>
              <a:srgbClr val="CB375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2410"/>
              </a:lnSpc>
            </a:pPr>
            <a:r>
              <a:rPr sz="2450" b="1" i="1" spc="-33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502" baseline="-24904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175" baseline="-24904">
              <a:latin typeface="Verdana"/>
              <a:cs typeface="Verdana"/>
            </a:endParaRPr>
          </a:p>
          <a:p>
            <a:pPr marL="309880">
              <a:lnSpc>
                <a:spcPts val="2695"/>
              </a:lnSpc>
            </a:pPr>
            <a:r>
              <a:rPr sz="2450" b="1" i="1" spc="-31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472" baseline="-24904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175" baseline="-24904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00">
              <a:latin typeface="Times New Roman"/>
              <a:cs typeface="Times New Roman"/>
            </a:endParaRPr>
          </a:p>
          <a:p>
            <a:pPr marL="902969">
              <a:lnSpc>
                <a:spcPct val="100000"/>
              </a:lnSpc>
            </a:pPr>
            <a:r>
              <a:rPr sz="2450" b="1" i="1" spc="-30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450" baseline="-30651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endParaRPr sz="2175" baseline="-30651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609982" y="4269892"/>
            <a:ext cx="69088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59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70899" y="4269892"/>
            <a:ext cx="86296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6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35622" y="5592761"/>
            <a:ext cx="180340" cy="245745"/>
          </a:xfrm>
          <a:custGeom>
            <a:avLst/>
            <a:gdLst/>
            <a:ahLst/>
            <a:cxnLst/>
            <a:rect l="l" t="t" r="r" b="b"/>
            <a:pathLst>
              <a:path w="180340" h="245745">
                <a:moveTo>
                  <a:pt x="0" y="0"/>
                </a:moveTo>
                <a:lnTo>
                  <a:pt x="179963" y="245406"/>
                </a:lnTo>
              </a:path>
            </a:pathLst>
          </a:custGeom>
          <a:ln w="62825">
            <a:solidFill>
              <a:srgbClr val="1E1E1E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63634" y="54945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1412"/>
                </a:moveTo>
                <a:lnTo>
                  <a:pt x="0" y="31412"/>
                </a:lnTo>
              </a:path>
            </a:pathLst>
          </a:custGeom>
          <a:ln w="62825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151584" y="588725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1412"/>
                </a:moveTo>
                <a:lnTo>
                  <a:pt x="0" y="31412"/>
                </a:lnTo>
              </a:path>
            </a:pathLst>
          </a:custGeom>
          <a:ln w="62825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406104" y="3453163"/>
            <a:ext cx="2402205" cy="121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50" dirty="0">
                <a:solidFill>
                  <a:srgbClr val="1E1E1E"/>
                </a:solidFill>
                <a:latin typeface="Verdana"/>
                <a:cs typeface="Verdana"/>
              </a:rPr>
              <a:t>Σ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spc="-7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1028065">
              <a:lnSpc>
                <a:spcPct val="100000"/>
              </a:lnSpc>
              <a:spcBef>
                <a:spcPts val="250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54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78</a:t>
            </a:fld>
            <a:endParaRPr spc="-37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913066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Сингулярное </a:t>
            </a:r>
            <a:r>
              <a:rPr spc="-185" dirty="0"/>
              <a:t>разложение</a:t>
            </a:r>
            <a:r>
              <a:rPr spc="110" dirty="0"/>
              <a:t> </a:t>
            </a:r>
            <a:r>
              <a:rPr spc="-280" dirty="0"/>
              <a:t>(SVD)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7105408"/>
            <a:ext cx="8014970" cy="142049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3300" b="1" spc="-195" dirty="0">
                <a:solidFill>
                  <a:srgbClr val="1E1E1E"/>
                </a:solidFill>
                <a:latin typeface="Arial"/>
                <a:cs typeface="Arial"/>
              </a:rPr>
              <a:t>Сингулярные </a:t>
            </a:r>
            <a:r>
              <a:rPr sz="3300" b="1" spc="-185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39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345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1064" baseline="-32163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2850" b="1" i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</a:t>
            </a:r>
            <a:r>
              <a:rPr sz="3300" b="1" spc="-4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4100" b="1" i="1" spc="-1215" dirty="0">
                <a:solidFill>
                  <a:srgbClr val="1E1E1E"/>
                </a:solidFill>
                <a:latin typeface="Verdana"/>
                <a:cs typeface="Verdana"/>
              </a:rPr>
              <a:t>√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собственные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3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18762" y="7984049"/>
            <a:ext cx="6751955" cy="0"/>
          </a:xfrm>
          <a:custGeom>
            <a:avLst/>
            <a:gdLst/>
            <a:ahLst/>
            <a:cxnLst/>
            <a:rect l="l" t="t" r="r" b="b"/>
            <a:pathLst>
              <a:path w="6751955">
                <a:moveTo>
                  <a:pt x="0" y="0"/>
                </a:moveTo>
                <a:lnTo>
                  <a:pt x="6751626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55453" y="4727604"/>
            <a:ext cx="2827655" cy="1607820"/>
          </a:xfrm>
          <a:prstGeom prst="rect">
            <a:avLst/>
          </a:prstGeom>
          <a:ln w="73296">
            <a:solidFill>
              <a:srgbClr val="1E1E1E"/>
            </a:solidFill>
          </a:ln>
        </p:spPr>
        <p:txBody>
          <a:bodyPr vert="horz" wrap="square" lIns="0" tIns="392430" rIns="0" bIns="0" rtlCol="0">
            <a:spAutoFit/>
          </a:bodyPr>
          <a:lstStyle/>
          <a:p>
            <a:pPr marR="68580" algn="ctr">
              <a:lnSpc>
                <a:spcPct val="100000"/>
              </a:lnSpc>
              <a:spcBef>
                <a:spcPts val="3090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77852" y="4727604"/>
            <a:ext cx="1641475" cy="1607820"/>
          </a:xfrm>
          <a:prstGeom prst="rect">
            <a:avLst/>
          </a:prstGeom>
          <a:ln w="73296">
            <a:solidFill>
              <a:srgbClr val="A8CFA6"/>
            </a:solidFill>
          </a:ln>
        </p:spPr>
        <p:txBody>
          <a:bodyPr vert="horz" wrap="square" lIns="0" tIns="392430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3090"/>
              </a:spcBef>
            </a:pP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31092" y="4727604"/>
            <a:ext cx="2827655" cy="2604770"/>
          </a:xfrm>
          <a:prstGeom prst="rect">
            <a:avLst/>
          </a:prstGeom>
          <a:ln w="73296">
            <a:solidFill>
              <a:srgbClr val="627AEB"/>
            </a:solidFill>
          </a:ln>
        </p:spPr>
        <p:txBody>
          <a:bodyPr vert="horz" wrap="square" lIns="0" tIns="252729" rIns="0" bIns="0" rtlCol="0">
            <a:spAutoFit/>
          </a:bodyPr>
          <a:lstStyle/>
          <a:p>
            <a:pPr marL="93345" algn="ctr">
              <a:lnSpc>
                <a:spcPct val="100000"/>
              </a:lnSpc>
              <a:spcBef>
                <a:spcPts val="1989"/>
              </a:spcBef>
            </a:pPr>
            <a:r>
              <a:rPr sz="4950" b="1" i="1" spc="-592" baseline="-18518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1900" b="1" i="1" spc="-395" dirty="0">
                <a:solidFill>
                  <a:srgbClr val="1E1E1E"/>
                </a:solidFill>
                <a:latin typeface="Verdana"/>
                <a:cs typeface="Verdana"/>
              </a:rPr>
              <a:t>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94489" y="5120651"/>
            <a:ext cx="2755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29497" y="5120651"/>
            <a:ext cx="1663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09396" y="5120651"/>
            <a:ext cx="1663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27782" y="4269892"/>
            <a:ext cx="77724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6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94367" y="6337892"/>
            <a:ext cx="2609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61559" y="4727604"/>
            <a:ext cx="2827655" cy="1607820"/>
          </a:xfrm>
          <a:prstGeom prst="rect">
            <a:avLst/>
          </a:prstGeom>
          <a:ln w="73296">
            <a:solidFill>
              <a:srgbClr val="CB375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2410"/>
              </a:lnSpc>
            </a:pPr>
            <a:r>
              <a:rPr sz="2450" b="1" i="1" spc="-33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502" baseline="-24904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175" baseline="-24904">
              <a:latin typeface="Verdana"/>
              <a:cs typeface="Verdana"/>
            </a:endParaRPr>
          </a:p>
          <a:p>
            <a:pPr marL="309880">
              <a:lnSpc>
                <a:spcPts val="2695"/>
              </a:lnSpc>
            </a:pPr>
            <a:r>
              <a:rPr sz="2450" b="1" i="1" spc="-31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472" baseline="-24904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175" baseline="-24904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00">
              <a:latin typeface="Times New Roman"/>
              <a:cs typeface="Times New Roman"/>
            </a:endParaRPr>
          </a:p>
          <a:p>
            <a:pPr marL="902969">
              <a:lnSpc>
                <a:spcPct val="100000"/>
              </a:lnSpc>
            </a:pPr>
            <a:r>
              <a:rPr sz="2450" b="1" i="1" spc="-30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450" baseline="-30651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endParaRPr sz="2175" baseline="-30651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609982" y="4269892"/>
            <a:ext cx="69088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59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70899" y="4269892"/>
            <a:ext cx="86296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6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935622" y="5592761"/>
            <a:ext cx="180340" cy="245745"/>
          </a:xfrm>
          <a:custGeom>
            <a:avLst/>
            <a:gdLst/>
            <a:ahLst/>
            <a:cxnLst/>
            <a:rect l="l" t="t" r="r" b="b"/>
            <a:pathLst>
              <a:path w="180340" h="245745">
                <a:moveTo>
                  <a:pt x="0" y="0"/>
                </a:moveTo>
                <a:lnTo>
                  <a:pt x="179963" y="245406"/>
                </a:lnTo>
              </a:path>
            </a:pathLst>
          </a:custGeom>
          <a:ln w="62825">
            <a:solidFill>
              <a:srgbClr val="1E1E1E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863634" y="54945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1412"/>
                </a:moveTo>
                <a:lnTo>
                  <a:pt x="0" y="31412"/>
                </a:lnTo>
              </a:path>
            </a:pathLst>
          </a:custGeom>
          <a:ln w="62825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151584" y="588725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1412"/>
                </a:moveTo>
                <a:lnTo>
                  <a:pt x="0" y="31412"/>
                </a:lnTo>
              </a:path>
            </a:pathLst>
          </a:custGeom>
          <a:ln w="62825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406104" y="3453163"/>
            <a:ext cx="2402205" cy="121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50" dirty="0">
                <a:solidFill>
                  <a:srgbClr val="1E1E1E"/>
                </a:solidFill>
                <a:latin typeface="Verdana"/>
                <a:cs typeface="Verdana"/>
              </a:rPr>
              <a:t>Σ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spc="-7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1028065">
              <a:lnSpc>
                <a:spcPct val="100000"/>
              </a:lnSpc>
              <a:spcBef>
                <a:spcPts val="250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54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79</a:t>
            </a:fld>
            <a:endParaRPr spc="-37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913066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Сингулярное </a:t>
            </a:r>
            <a:r>
              <a:rPr spc="-185" dirty="0"/>
              <a:t>разложение</a:t>
            </a:r>
            <a:r>
              <a:rPr spc="110" dirty="0"/>
              <a:t> </a:t>
            </a:r>
            <a:r>
              <a:rPr spc="-280" dirty="0"/>
              <a:t>(SVD)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7105408"/>
            <a:ext cx="8014970" cy="142049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3300" b="1" spc="-195" dirty="0">
                <a:solidFill>
                  <a:srgbClr val="1E1E1E"/>
                </a:solidFill>
                <a:latin typeface="Arial"/>
                <a:cs typeface="Arial"/>
              </a:rPr>
              <a:t>Сингулярные </a:t>
            </a:r>
            <a:r>
              <a:rPr sz="3300" b="1" spc="-185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39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spc="-345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71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1064" baseline="-32163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2850" b="1" i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</a:t>
            </a:r>
            <a:r>
              <a:rPr sz="3300" b="1" spc="-4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4100" b="1" i="1" spc="-1215" dirty="0">
                <a:solidFill>
                  <a:srgbClr val="1E1E1E"/>
                </a:solidFill>
                <a:latin typeface="Verdana"/>
                <a:cs typeface="Verdana"/>
              </a:rPr>
              <a:t>√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собственные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3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18762" y="7984049"/>
            <a:ext cx="6751955" cy="0"/>
          </a:xfrm>
          <a:custGeom>
            <a:avLst/>
            <a:gdLst/>
            <a:ahLst/>
            <a:cxnLst/>
            <a:rect l="l" t="t" r="r" b="b"/>
            <a:pathLst>
              <a:path w="6751955">
                <a:moveTo>
                  <a:pt x="0" y="0"/>
                </a:moveTo>
                <a:lnTo>
                  <a:pt x="6751626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77111" y="9295827"/>
            <a:ext cx="9271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6104" y="8981790"/>
            <a:ext cx="375221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det(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2850" b="1" i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28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419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550" dirty="0">
                <a:solidFill>
                  <a:srgbClr val="1E1E1E"/>
                </a:solidFill>
                <a:latin typeface="Verdana"/>
                <a:cs typeface="Verdana"/>
              </a:rPr>
              <a:t>E </a:t>
            </a:r>
            <a:r>
              <a:rPr sz="3300" b="1" spc="-76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84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5453" y="4727604"/>
            <a:ext cx="2827655" cy="1607820"/>
          </a:xfrm>
          <a:prstGeom prst="rect">
            <a:avLst/>
          </a:prstGeom>
          <a:ln w="73296">
            <a:solidFill>
              <a:srgbClr val="1E1E1E"/>
            </a:solidFill>
          </a:ln>
        </p:spPr>
        <p:txBody>
          <a:bodyPr vert="horz" wrap="square" lIns="0" tIns="392430" rIns="0" bIns="0" rtlCol="0">
            <a:spAutoFit/>
          </a:bodyPr>
          <a:lstStyle/>
          <a:p>
            <a:pPr marR="68580" algn="ctr">
              <a:lnSpc>
                <a:spcPct val="100000"/>
              </a:lnSpc>
              <a:spcBef>
                <a:spcPts val="3090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77852" y="4727604"/>
            <a:ext cx="1641475" cy="1607820"/>
          </a:xfrm>
          <a:prstGeom prst="rect">
            <a:avLst/>
          </a:prstGeom>
          <a:ln w="73296">
            <a:solidFill>
              <a:srgbClr val="A8CFA6"/>
            </a:solidFill>
          </a:ln>
        </p:spPr>
        <p:txBody>
          <a:bodyPr vert="horz" wrap="square" lIns="0" tIns="392430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3090"/>
              </a:spcBef>
            </a:pP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31092" y="4727604"/>
            <a:ext cx="2827655" cy="2604770"/>
          </a:xfrm>
          <a:prstGeom prst="rect">
            <a:avLst/>
          </a:prstGeom>
          <a:ln w="73296">
            <a:solidFill>
              <a:srgbClr val="627AEB"/>
            </a:solidFill>
          </a:ln>
        </p:spPr>
        <p:txBody>
          <a:bodyPr vert="horz" wrap="square" lIns="0" tIns="252729" rIns="0" bIns="0" rtlCol="0">
            <a:spAutoFit/>
          </a:bodyPr>
          <a:lstStyle/>
          <a:p>
            <a:pPr marL="93345" algn="ctr">
              <a:lnSpc>
                <a:spcPct val="100000"/>
              </a:lnSpc>
              <a:spcBef>
                <a:spcPts val="1989"/>
              </a:spcBef>
            </a:pPr>
            <a:r>
              <a:rPr sz="4950" b="1" i="1" spc="-592" baseline="-18518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1900" b="1" i="1" spc="-395" dirty="0">
                <a:solidFill>
                  <a:srgbClr val="1E1E1E"/>
                </a:solidFill>
                <a:latin typeface="Verdana"/>
                <a:cs typeface="Verdana"/>
              </a:rPr>
              <a:t>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94489" y="5120651"/>
            <a:ext cx="2755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29497" y="5120651"/>
            <a:ext cx="1663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209396" y="5120651"/>
            <a:ext cx="1663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6167" y="3453163"/>
            <a:ext cx="2402205" cy="121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50" dirty="0">
                <a:solidFill>
                  <a:srgbClr val="1E1E1E"/>
                </a:solidFill>
                <a:latin typeface="Verdana"/>
                <a:cs typeface="Verdana"/>
              </a:rPr>
              <a:t>Σ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spc="-7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427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1028065">
              <a:lnSpc>
                <a:spcPct val="100000"/>
              </a:lnSpc>
              <a:spcBef>
                <a:spcPts val="250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54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27782" y="4269892"/>
            <a:ext cx="77724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6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94367" y="6337892"/>
            <a:ext cx="2609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61559" y="4727604"/>
            <a:ext cx="2827655" cy="1607820"/>
          </a:xfrm>
          <a:prstGeom prst="rect">
            <a:avLst/>
          </a:prstGeom>
          <a:ln w="73296">
            <a:solidFill>
              <a:srgbClr val="CB375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2410"/>
              </a:lnSpc>
            </a:pPr>
            <a:r>
              <a:rPr sz="2450" b="1" i="1" spc="-33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502" baseline="-24904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175" baseline="-24904">
              <a:latin typeface="Verdana"/>
              <a:cs typeface="Verdana"/>
            </a:endParaRPr>
          </a:p>
          <a:p>
            <a:pPr marL="309880">
              <a:lnSpc>
                <a:spcPts val="2695"/>
              </a:lnSpc>
            </a:pPr>
            <a:r>
              <a:rPr sz="2450" b="1" i="1" spc="-31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472" baseline="-24904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175" baseline="-24904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00">
              <a:latin typeface="Times New Roman"/>
              <a:cs typeface="Times New Roman"/>
            </a:endParaRPr>
          </a:p>
          <a:p>
            <a:pPr marL="902969">
              <a:lnSpc>
                <a:spcPct val="100000"/>
              </a:lnSpc>
            </a:pPr>
            <a:r>
              <a:rPr sz="2450" b="1" i="1" spc="-30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175" b="1" spc="-450" baseline="-30651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endParaRPr sz="2175" baseline="-30651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609982" y="4269892"/>
            <a:ext cx="69088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59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30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70899" y="4269892"/>
            <a:ext cx="86296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2450" b="1" spc="-655" dirty="0">
                <a:solidFill>
                  <a:srgbClr val="CB3757"/>
                </a:solidFill>
                <a:latin typeface="Verdana"/>
                <a:cs typeface="Verdana"/>
              </a:rPr>
              <a:t>×</a:t>
            </a:r>
            <a:r>
              <a:rPr sz="2450" b="1" spc="-600" dirty="0">
                <a:solidFill>
                  <a:srgbClr val="CB3757"/>
                </a:solidFill>
                <a:latin typeface="Verdana"/>
                <a:cs typeface="Verdana"/>
              </a:rPr>
              <a:t> </a:t>
            </a:r>
            <a:r>
              <a:rPr sz="2450" b="1" spc="-470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935622" y="5592761"/>
            <a:ext cx="180340" cy="245745"/>
          </a:xfrm>
          <a:custGeom>
            <a:avLst/>
            <a:gdLst/>
            <a:ahLst/>
            <a:cxnLst/>
            <a:rect l="l" t="t" r="r" b="b"/>
            <a:pathLst>
              <a:path w="180340" h="245745">
                <a:moveTo>
                  <a:pt x="0" y="0"/>
                </a:moveTo>
                <a:lnTo>
                  <a:pt x="179963" y="245406"/>
                </a:lnTo>
              </a:path>
            </a:pathLst>
          </a:custGeom>
          <a:ln w="62825">
            <a:solidFill>
              <a:srgbClr val="1E1E1E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863634" y="54945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1412"/>
                </a:moveTo>
                <a:lnTo>
                  <a:pt x="0" y="31412"/>
                </a:lnTo>
              </a:path>
            </a:pathLst>
          </a:custGeom>
          <a:ln w="62825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151584" y="588725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1412"/>
                </a:moveTo>
                <a:lnTo>
                  <a:pt x="0" y="31412"/>
                </a:lnTo>
              </a:path>
            </a:pathLst>
          </a:custGeom>
          <a:ln w="62825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80</a:t>
            </a:fld>
            <a:endParaRPr spc="-37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877887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10" dirty="0"/>
              <a:t>Сингулярные </a:t>
            </a:r>
            <a:r>
              <a:rPr spc="-295" dirty="0"/>
              <a:t>числа </a:t>
            </a:r>
            <a:r>
              <a:rPr spc="-200" dirty="0"/>
              <a:t>и</a:t>
            </a:r>
            <a:r>
              <a:rPr spc="340" dirty="0"/>
              <a:t> </a:t>
            </a:r>
            <a:r>
              <a:rPr spc="-290" dirty="0"/>
              <a:t>векторы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81</a:t>
            </a:fld>
            <a:endParaRPr spc="-370" dirty="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418804" y="5706632"/>
          <a:ext cx="9617075" cy="1988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59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7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345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3300" b="1" i="1" spc="-509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2850" b="1" spc="-765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 </a:t>
                      </a:r>
                      <a:r>
                        <a:rPr sz="3300" spc="64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sz="3300" spc="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6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левый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46050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3229"/>
                        </a:lnSpc>
                        <a:spcBef>
                          <a:spcPts val="1150"/>
                        </a:spcBef>
                      </a:pPr>
                      <a:r>
                        <a:rPr sz="3300" b="1" i="1" spc="-52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A </a:t>
                      </a:r>
                      <a:r>
                        <a:rPr sz="3300" b="1" i="1" spc="-124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•</a:t>
                      </a:r>
                      <a:r>
                        <a:rPr sz="3300" b="1" i="1" spc="-46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3300" b="1" i="1" spc="-33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850" b="1" i="1" spc="-494" baseline="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Т</a:t>
                      </a:r>
                      <a:r>
                        <a:rPr sz="3300" b="1" i="1" spc="-33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2850" b="1" spc="-49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 </a:t>
                      </a:r>
                      <a:r>
                        <a:rPr sz="3300" b="1" i="1" spc="-90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= </a:t>
                      </a:r>
                      <a:r>
                        <a:rPr sz="3300" b="1" i="1" spc="-47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σ </a:t>
                      </a:r>
                      <a:r>
                        <a:rPr sz="2850" b="1" spc="-652" baseline="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sz="3300" b="1" i="1" spc="-434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2850" b="1" spc="-652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</a:t>
                      </a:r>
                      <a:r>
                        <a:rPr sz="2850" b="1" i="1" spc="-56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</a:t>
                      </a:r>
                      <a:endParaRPr sz="2850" baseline="-32163">
                        <a:latin typeface="Verdana"/>
                        <a:cs typeface="Verdana"/>
                      </a:endParaRPr>
                    </a:p>
                    <a:p>
                      <a:pPr marR="194945" algn="ctr">
                        <a:lnSpc>
                          <a:spcPts val="1550"/>
                        </a:lnSpc>
                      </a:pPr>
                      <a:r>
                        <a:rPr sz="1900" b="1" i="1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</a:t>
                      </a:r>
                      <a:endParaRPr sz="1900">
                        <a:latin typeface="Verdana"/>
                        <a:cs typeface="Verdana"/>
                      </a:endParaRPr>
                    </a:p>
                  </a:txBody>
                  <a:tcPr marL="0" marR="0" marT="146050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536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3300" b="1" i="1" spc="-67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W</a:t>
                      </a:r>
                      <a:r>
                        <a:rPr sz="2850" b="1" spc="-1012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</a:t>
                      </a:r>
                      <a:r>
                        <a:rPr sz="2850" b="1" spc="-56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 </a:t>
                      </a:r>
                      <a:r>
                        <a:rPr sz="3300" spc="64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sz="3300" spc="3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8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правый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7716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3229"/>
                        </a:lnSpc>
                        <a:spcBef>
                          <a:spcPts val="1395"/>
                        </a:spcBef>
                      </a:pPr>
                      <a:r>
                        <a:rPr sz="3300" b="1" i="1" spc="-26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850" b="1" i="1" spc="-390" baseline="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Т </a:t>
                      </a:r>
                      <a:r>
                        <a:rPr sz="3300" b="1" i="1" spc="-65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AW</a:t>
                      </a:r>
                      <a:r>
                        <a:rPr sz="2850" b="1" spc="-982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</a:t>
                      </a:r>
                      <a:r>
                        <a:rPr sz="2850" b="1" spc="-56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 </a:t>
                      </a:r>
                      <a:r>
                        <a:rPr sz="3300" b="1" i="1" spc="-90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= </a:t>
                      </a:r>
                      <a:r>
                        <a:rPr sz="3300" b="1" i="1" spc="-47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σ </a:t>
                      </a:r>
                      <a:r>
                        <a:rPr sz="2850" b="1" spc="-817" baseline="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sz="3300" b="1" i="1" spc="-54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W</a:t>
                      </a:r>
                      <a:r>
                        <a:rPr sz="2850" b="1" spc="-817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</a:t>
                      </a:r>
                      <a:r>
                        <a:rPr sz="2850" b="1" i="1" spc="-49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</a:t>
                      </a:r>
                      <a:endParaRPr sz="2850" baseline="-32163">
                        <a:latin typeface="Verdana"/>
                        <a:cs typeface="Verdana"/>
                      </a:endParaRPr>
                    </a:p>
                    <a:p>
                      <a:pPr marR="618490" algn="ctr">
                        <a:lnSpc>
                          <a:spcPts val="1550"/>
                        </a:lnSpc>
                      </a:pPr>
                      <a:r>
                        <a:rPr sz="1900" b="1" i="1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</a:t>
                      </a:r>
                      <a:endParaRPr sz="1900">
                        <a:latin typeface="Verdana"/>
                        <a:cs typeface="Verdana"/>
                      </a:endParaRPr>
                    </a:p>
                  </a:txBody>
                  <a:tcPr marL="0" marR="0" marT="17716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406104" y="3453163"/>
            <a:ext cx="7270115" cy="1784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 </a:t>
            </a:r>
            <a:r>
              <a:rPr sz="3300" b="1" spc="-450" dirty="0">
                <a:solidFill>
                  <a:srgbClr val="1E1E1E"/>
                </a:solidFill>
                <a:latin typeface="Verdana"/>
                <a:cs typeface="Verdana"/>
              </a:rPr>
              <a:t>0, 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07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 </a:t>
            </a:r>
            <a:r>
              <a:rPr sz="3300" b="1" spc="-450" dirty="0">
                <a:solidFill>
                  <a:srgbClr val="1E1E1E"/>
                </a:solidFill>
                <a:latin typeface="Verdana"/>
                <a:cs typeface="Verdana"/>
              </a:rPr>
              <a:t>0, </a:t>
            </a:r>
            <a:r>
              <a:rPr sz="3300" b="1" spc="-345" dirty="0">
                <a:solidFill>
                  <a:srgbClr val="1E1E1E"/>
                </a:solidFill>
                <a:latin typeface="Verdana"/>
                <a:cs typeface="Verdana"/>
              </a:rPr>
              <a:t>. . . ,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r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 </a:t>
            </a:r>
            <a:r>
              <a:rPr sz="3300" b="1" spc="-535" dirty="0">
                <a:solidFill>
                  <a:srgbClr val="1E1E1E"/>
                </a:solidFill>
                <a:latin typeface="Verdana"/>
                <a:cs typeface="Verdana"/>
              </a:rPr>
              <a:t>0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b="1" spc="-440" dirty="0">
                <a:solidFill>
                  <a:srgbClr val="1E1E1E"/>
                </a:solidFill>
                <a:latin typeface="Verdana"/>
                <a:cs typeface="Verdana"/>
              </a:rPr>
              <a:t>r:</a:t>
            </a:r>
            <a:r>
              <a:rPr sz="3300" b="1" spc="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rank(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Сингулярные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векторы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26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877887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10" dirty="0"/>
              <a:t>Сингулярные </a:t>
            </a:r>
            <a:r>
              <a:rPr spc="-295" dirty="0"/>
              <a:t>числа </a:t>
            </a:r>
            <a:r>
              <a:rPr spc="-200" dirty="0"/>
              <a:t>и</a:t>
            </a:r>
            <a:r>
              <a:rPr spc="340" dirty="0"/>
              <a:t> </a:t>
            </a:r>
            <a:r>
              <a:rPr spc="-290" dirty="0"/>
              <a:t>векторы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82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3945294" y="8618659"/>
            <a:ext cx="512000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b="1" i="1" spc="-787" baseline="18518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4950" b="1" i="1" spc="-1860" baseline="18518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4950" b="1" i="1" spc="-697" baseline="18518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4950" b="1" i="1" spc="-1012" baseline="18518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1900" b="1" spc="-6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4950" b="1" i="1" spc="-1350" baseline="18518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4950" b="1" i="1" spc="-660" baseline="18518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1900" b="1" i="1" spc="-4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4950" b="1" i="1" spc="-660" baseline="18518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1900" b="1" spc="-44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spc="-35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4950" b="1" i="1" spc="-525" baseline="18518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4950" b="1" i="1" spc="-727" baseline="18518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27" baseline="64327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r>
              <a:rPr sz="4950" b="1" i="1" spc="-727" baseline="18518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4950" b="1" i="1" spc="-1350" baseline="18518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4950" b="1" i="1" spc="-547" baseline="18518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1900" b="1" i="1" spc="-365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4950" b="1" i="1" spc="-1012" baseline="18518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1900" b="1" spc="-6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3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18804" y="5706632"/>
          <a:ext cx="9617075" cy="1988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59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7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345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3300" b="1" i="1" spc="-509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2850" b="1" spc="-765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 </a:t>
                      </a:r>
                      <a:r>
                        <a:rPr sz="3300" spc="64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sz="3300" spc="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6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левый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46050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3229"/>
                        </a:lnSpc>
                        <a:spcBef>
                          <a:spcPts val="1150"/>
                        </a:spcBef>
                      </a:pPr>
                      <a:r>
                        <a:rPr sz="3300" b="1" i="1" spc="-52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A </a:t>
                      </a:r>
                      <a:r>
                        <a:rPr sz="3300" b="1" i="1" spc="-124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•</a:t>
                      </a:r>
                      <a:r>
                        <a:rPr sz="3300" b="1" i="1" spc="-46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3300" b="1" i="1" spc="-33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850" b="1" i="1" spc="-494" baseline="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Т</a:t>
                      </a:r>
                      <a:r>
                        <a:rPr sz="3300" b="1" i="1" spc="-33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2850" b="1" spc="-49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 </a:t>
                      </a:r>
                      <a:r>
                        <a:rPr sz="3300" b="1" i="1" spc="-90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= </a:t>
                      </a:r>
                      <a:r>
                        <a:rPr sz="3300" b="1" i="1" spc="-47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σ </a:t>
                      </a:r>
                      <a:r>
                        <a:rPr sz="2850" b="1" spc="-652" baseline="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sz="3300" b="1" i="1" spc="-434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sz="2850" b="1" spc="-652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</a:t>
                      </a:r>
                      <a:r>
                        <a:rPr sz="2850" b="1" i="1" spc="-56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</a:t>
                      </a:r>
                      <a:endParaRPr sz="2850" baseline="-32163">
                        <a:latin typeface="Verdana"/>
                        <a:cs typeface="Verdana"/>
                      </a:endParaRPr>
                    </a:p>
                    <a:p>
                      <a:pPr marR="194945" algn="ctr">
                        <a:lnSpc>
                          <a:spcPts val="1550"/>
                        </a:lnSpc>
                      </a:pPr>
                      <a:r>
                        <a:rPr sz="1900" b="1" i="1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</a:t>
                      </a:r>
                      <a:endParaRPr sz="1900">
                        <a:latin typeface="Verdana"/>
                        <a:cs typeface="Verdana"/>
                      </a:endParaRPr>
                    </a:p>
                  </a:txBody>
                  <a:tcPr marL="0" marR="0" marT="146050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536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3300" b="1" i="1" spc="-67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W</a:t>
                      </a:r>
                      <a:r>
                        <a:rPr sz="2850" b="1" spc="-1012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</a:t>
                      </a:r>
                      <a:r>
                        <a:rPr sz="2850" b="1" spc="-56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 </a:t>
                      </a:r>
                      <a:r>
                        <a:rPr sz="3300" spc="64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sz="3300" spc="3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8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правый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7716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3229"/>
                        </a:lnSpc>
                        <a:spcBef>
                          <a:spcPts val="1395"/>
                        </a:spcBef>
                      </a:pPr>
                      <a:r>
                        <a:rPr sz="3300" b="1" i="1" spc="-26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850" b="1" i="1" spc="-390" baseline="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Т </a:t>
                      </a:r>
                      <a:r>
                        <a:rPr sz="3300" b="1" i="1" spc="-65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AW</a:t>
                      </a:r>
                      <a:r>
                        <a:rPr sz="2850" b="1" spc="-982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</a:t>
                      </a:r>
                      <a:r>
                        <a:rPr sz="2850" b="1" spc="-56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 </a:t>
                      </a:r>
                      <a:r>
                        <a:rPr sz="3300" b="1" i="1" spc="-90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= </a:t>
                      </a:r>
                      <a:r>
                        <a:rPr sz="3300" b="1" i="1" spc="-470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σ </a:t>
                      </a:r>
                      <a:r>
                        <a:rPr sz="2850" b="1" spc="-817" baseline="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2</a:t>
                      </a:r>
                      <a:r>
                        <a:rPr sz="3300" b="1" i="1" spc="-545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W</a:t>
                      </a:r>
                      <a:r>
                        <a:rPr sz="2850" b="1" spc="-817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[ </a:t>
                      </a:r>
                      <a:r>
                        <a:rPr sz="2850" b="1" i="1" spc="-359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</a:t>
                      </a:r>
                      <a:r>
                        <a:rPr sz="2850" b="1" i="1" spc="-49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850" b="1" spc="-644" baseline="-32163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]</a:t>
                      </a:r>
                      <a:endParaRPr sz="2850" baseline="-32163">
                        <a:latin typeface="Verdana"/>
                        <a:cs typeface="Verdana"/>
                      </a:endParaRPr>
                    </a:p>
                    <a:p>
                      <a:pPr marR="618490" algn="ctr">
                        <a:lnSpc>
                          <a:spcPts val="1550"/>
                        </a:lnSpc>
                      </a:pPr>
                      <a:r>
                        <a:rPr sz="1900" b="1" i="1" dirty="0">
                          <a:solidFill>
                            <a:srgbClr val="1E1E1E"/>
                          </a:solidFill>
                          <a:latin typeface="Verdana"/>
                          <a:cs typeface="Verdana"/>
                        </a:rPr>
                        <a:t>j</a:t>
                      </a:r>
                      <a:endParaRPr sz="1900">
                        <a:latin typeface="Verdana"/>
                        <a:cs typeface="Verdana"/>
                      </a:endParaRPr>
                    </a:p>
                  </a:txBody>
                  <a:tcPr marL="0" marR="0" marT="17716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406104" y="3453163"/>
            <a:ext cx="7262495" cy="1784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 </a:t>
            </a:r>
            <a:r>
              <a:rPr sz="3300" b="1" spc="-450" dirty="0">
                <a:solidFill>
                  <a:srgbClr val="1E1E1E"/>
                </a:solidFill>
                <a:latin typeface="Verdana"/>
                <a:cs typeface="Verdana"/>
              </a:rPr>
              <a:t>0, 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07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 </a:t>
            </a:r>
            <a:r>
              <a:rPr sz="3300" b="1" spc="-450" dirty="0">
                <a:solidFill>
                  <a:srgbClr val="1E1E1E"/>
                </a:solidFill>
                <a:latin typeface="Verdana"/>
                <a:cs typeface="Verdana"/>
              </a:rPr>
              <a:t>0, </a:t>
            </a:r>
            <a:r>
              <a:rPr sz="3300" b="1" spc="-345" dirty="0">
                <a:solidFill>
                  <a:srgbClr val="1E1E1E"/>
                </a:solidFill>
                <a:latin typeface="Verdana"/>
                <a:cs typeface="Verdana"/>
              </a:rPr>
              <a:t>. . . ,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r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 </a:t>
            </a:r>
            <a:r>
              <a:rPr sz="3300" b="1" spc="-535" dirty="0">
                <a:solidFill>
                  <a:srgbClr val="1E1E1E"/>
                </a:solidFill>
                <a:latin typeface="Verdana"/>
                <a:cs typeface="Verdana"/>
              </a:rPr>
              <a:t>0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b="1" spc="-440" dirty="0">
                <a:solidFill>
                  <a:srgbClr val="1E1E1E"/>
                </a:solidFill>
                <a:latin typeface="Verdana"/>
                <a:cs typeface="Verdana"/>
              </a:rPr>
              <a:t>r:</a:t>
            </a:r>
            <a:r>
              <a:rPr sz="3300" b="1" spc="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rank(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spc="-570" dirty="0">
                <a:solidFill>
                  <a:srgbClr val="1E1E1E"/>
                </a:solidFill>
                <a:latin typeface="Verdana"/>
                <a:cs typeface="Verdana"/>
              </a:rPr>
              <a:t>)</a:t>
            </a:r>
            <a:endParaRPr sz="3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Сингулярные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векторы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26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4444344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</a:t>
            </a:r>
            <a:r>
              <a:rPr spc="-204" dirty="0"/>
              <a:t>приближение</a:t>
            </a:r>
            <a:r>
              <a:rPr spc="28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83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47040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Пусть </a:t>
            </a: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07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spc="-200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r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</a:t>
            </a:r>
            <a:r>
              <a:rPr sz="3300" b="1" spc="-7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0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spc="-30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87428" y="4207066"/>
            <a:ext cx="19157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0510" algn="l"/>
              </a:tabLst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3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52501" y="4242248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01411" y="4521193"/>
            <a:ext cx="125730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8935" algn="l"/>
                <a:tab pos="995044" algn="l"/>
              </a:tabLst>
            </a:pPr>
            <a:r>
              <a:rPr sz="1900" b="1" spc="-29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455" dirty="0">
                <a:solidFill>
                  <a:srgbClr val="1E1E1E"/>
                </a:solidFill>
                <a:latin typeface="Verdana"/>
                <a:cs typeface="Verdana"/>
              </a:rPr>
              <a:t>[1]	</a:t>
            </a: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[1]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29580" y="4207066"/>
            <a:ext cx="160464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2936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2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83301" y="4242248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06044" y="4521193"/>
            <a:ext cx="1304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79730" algn="l"/>
                <a:tab pos="1021715" algn="l"/>
              </a:tabLst>
            </a:pPr>
            <a:r>
              <a:rPr sz="1900" b="1" spc="-295" dirty="0">
                <a:solidFill>
                  <a:srgbClr val="1E1E1E"/>
                </a:solidFill>
                <a:latin typeface="Verdana"/>
                <a:cs typeface="Verdana"/>
              </a:rPr>
              <a:t>2	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7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25" dirty="0">
                <a:solidFill>
                  <a:srgbClr val="1E1E1E"/>
                </a:solidFill>
                <a:latin typeface="Verdana"/>
                <a:cs typeface="Verdana"/>
              </a:rPr>
              <a:t>2]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966602" y="4242248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66546" y="4521193"/>
            <a:ext cx="118935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47980" algn="l"/>
                <a:tab pos="944244" algn="l"/>
              </a:tabLst>
            </a:pP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	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45856" y="4207066"/>
            <a:ext cx="27901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96439" algn="l"/>
                <a:tab pos="2680335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4444344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</a:t>
            </a:r>
            <a:r>
              <a:rPr spc="-204" dirty="0"/>
              <a:t>приближение</a:t>
            </a:r>
            <a:r>
              <a:rPr spc="28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84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47040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Пусть </a:t>
            </a: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07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spc="-200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r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</a:t>
            </a:r>
            <a:r>
              <a:rPr sz="3300" b="1" spc="-7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0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spc="-30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87428" y="4207066"/>
            <a:ext cx="384682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0510" algn="l"/>
                <a:tab pos="2254250" algn="l"/>
                <a:tab pos="3471545" algn="l"/>
              </a:tabLst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3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2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52501" y="4242248"/>
            <a:ext cx="208533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943100" algn="l"/>
              </a:tabLst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	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66602" y="4242248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1411" y="4521193"/>
            <a:ext cx="58540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8935" algn="l"/>
                <a:tab pos="995044" algn="l"/>
                <a:tab pos="1917064" algn="l"/>
                <a:tab pos="2284730" algn="l"/>
                <a:tab pos="2926080" algn="l"/>
                <a:tab pos="4677410" algn="l"/>
                <a:tab pos="5013325" algn="l"/>
                <a:tab pos="5609590" algn="l"/>
              </a:tabLst>
            </a:pPr>
            <a:r>
              <a:rPr sz="1900" b="1" spc="-29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29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7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7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45856" y="4207066"/>
            <a:ext cx="27901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96439" algn="l"/>
                <a:tab pos="2680335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6104" y="5212271"/>
            <a:ext cx="40335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16910" algn="l"/>
                <a:tab pos="3888740" algn="l"/>
              </a:tabLst>
            </a:pPr>
            <a:r>
              <a:rPr sz="3300" spc="-19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r>
              <a:rPr sz="3300" spc="-204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е</a:t>
            </a:r>
            <a:r>
              <a:rPr sz="3300" spc="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ц</a:t>
            </a:r>
            <a:r>
              <a:rPr sz="3300" spc="-240" dirty="0">
                <a:solidFill>
                  <a:srgbClr val="1E1E1E"/>
                </a:solidFill>
                <a:latin typeface="Arial"/>
                <a:cs typeface="Arial"/>
              </a:rPr>
              <a:t>ы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1390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47221" y="5247453"/>
            <a:ext cx="52451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21005" algn="l"/>
              </a:tabLst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	</a:t>
            </a: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08885" y="5526398"/>
            <a:ext cx="16148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82625" algn="l"/>
                <a:tab pos="1149350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spc="-50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1900" b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21985" y="5212271"/>
            <a:ext cx="62464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очень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большие: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|элемент|</a:t>
            </a:r>
            <a:r>
              <a:rPr sz="3300" b="1" spc="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≤ </a:t>
            </a:r>
            <a:r>
              <a:rPr sz="3300" b="1" spc="-30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spc="-305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4444344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</a:t>
            </a:r>
            <a:r>
              <a:rPr spc="-204" dirty="0"/>
              <a:t>приближение</a:t>
            </a:r>
            <a:r>
              <a:rPr spc="28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47040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Пусть </a:t>
            </a: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07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spc="-200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r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</a:t>
            </a:r>
            <a:r>
              <a:rPr sz="3300" b="1" spc="-7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0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spc="-30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87428" y="4207066"/>
            <a:ext cx="384682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0510" algn="l"/>
                <a:tab pos="2254250" algn="l"/>
                <a:tab pos="3471545" algn="l"/>
              </a:tabLst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3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2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52501" y="4242248"/>
            <a:ext cx="208533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943100" algn="l"/>
              </a:tabLst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	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66602" y="4242248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1411" y="4521193"/>
            <a:ext cx="58540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8935" algn="l"/>
                <a:tab pos="995044" algn="l"/>
                <a:tab pos="1917064" algn="l"/>
                <a:tab pos="2284730" algn="l"/>
                <a:tab pos="2926080" algn="l"/>
                <a:tab pos="4677410" algn="l"/>
                <a:tab pos="5013325" algn="l"/>
                <a:tab pos="5609590" algn="l"/>
              </a:tabLst>
            </a:pPr>
            <a:r>
              <a:rPr sz="1900" b="1" spc="-29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29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7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7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45856" y="4207066"/>
            <a:ext cx="27901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96439" algn="l"/>
                <a:tab pos="2680335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47221" y="5247453"/>
            <a:ext cx="52451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21005" algn="l"/>
              </a:tabLst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	</a:t>
            </a: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08885" y="5526398"/>
            <a:ext cx="16148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82625" algn="l"/>
                <a:tab pos="1149350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spc="-50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1900" b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6104" y="5212271"/>
            <a:ext cx="108623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16910" algn="l"/>
                <a:tab pos="3888740" algn="l"/>
                <a:tab pos="4628515" algn="l"/>
              </a:tabLst>
            </a:pP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Все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950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950" dirty="0">
                <a:solidFill>
                  <a:srgbClr val="1E1E1E"/>
                </a:solidFill>
                <a:latin typeface="Verdana"/>
                <a:cs typeface="Verdana"/>
              </a:rPr>
              <a:t>V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	</a:t>
            </a: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	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очень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большие: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|элемент|</a:t>
            </a:r>
            <a:r>
              <a:rPr sz="3300" b="1" spc="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≤ </a:t>
            </a:r>
            <a:r>
              <a:rPr sz="3300" b="1" spc="-30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spc="-305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6000" y="5725345"/>
            <a:ext cx="12186285" cy="3075940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Основной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«взнос»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сумму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производится 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за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счет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множителей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6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7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 marL="381000" algn="ctr">
              <a:lnSpc>
                <a:spcPct val="100000"/>
              </a:lnSpc>
              <a:spcBef>
                <a:spcPts val="1889"/>
              </a:spcBef>
            </a:pPr>
            <a:r>
              <a:rPr sz="3300" spc="-114" dirty="0">
                <a:solidFill>
                  <a:srgbClr val="CB3757"/>
                </a:solidFill>
                <a:latin typeface="Arial"/>
                <a:cs typeface="Arial"/>
              </a:rPr>
              <a:t>большие</a:t>
            </a:r>
            <a:endParaRPr sz="3300">
              <a:latin typeface="Arial"/>
              <a:cs typeface="Arial"/>
            </a:endParaRPr>
          </a:p>
          <a:p>
            <a:pPr marL="5373370">
              <a:lnSpc>
                <a:spcPct val="100000"/>
              </a:lnSpc>
              <a:spcBef>
                <a:spcPts val="1925"/>
              </a:spcBef>
            </a:pPr>
            <a:r>
              <a:rPr sz="3300" b="1" i="1" spc="-34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509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340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2850" b="1" i="1" spc="-509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2850" b="1" i="1" spc="-390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757" baseline="-32163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2850" b="1" i="1" spc="-607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spc="-359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240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17" baseline="-32163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endParaRPr sz="2850" baseline="-32163">
              <a:latin typeface="Verdana"/>
              <a:cs typeface="Verdana"/>
            </a:endParaRPr>
          </a:p>
          <a:p>
            <a:pPr marL="7561580">
              <a:lnSpc>
                <a:spcPct val="100000"/>
              </a:lnSpc>
              <a:spcBef>
                <a:spcPts val="2470"/>
              </a:spcBef>
            </a:pPr>
            <a:r>
              <a:rPr sz="3300" spc="-145" dirty="0">
                <a:solidFill>
                  <a:srgbClr val="627AEB"/>
                </a:solidFill>
                <a:latin typeface="Arial"/>
                <a:cs typeface="Arial"/>
              </a:rPr>
              <a:t>малые</a:t>
            </a:r>
            <a:endParaRPr sz="33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717072" y="7270312"/>
            <a:ext cx="1726564" cy="347345"/>
          </a:xfrm>
          <a:custGeom>
            <a:avLst/>
            <a:gdLst/>
            <a:ahLst/>
            <a:cxnLst/>
            <a:rect l="l" t="t" r="r" b="b"/>
            <a:pathLst>
              <a:path w="1726565" h="347345">
                <a:moveTo>
                  <a:pt x="887480" y="0"/>
                </a:moveTo>
                <a:lnTo>
                  <a:pt x="840874" y="0"/>
                </a:lnTo>
                <a:lnTo>
                  <a:pt x="837339" y="36191"/>
                </a:lnTo>
                <a:lnTo>
                  <a:pt x="830235" y="66704"/>
                </a:lnTo>
                <a:lnTo>
                  <a:pt x="805326" y="110698"/>
                </a:lnTo>
                <a:lnTo>
                  <a:pt x="764683" y="135167"/>
                </a:lnTo>
                <a:lnTo>
                  <a:pt x="706858" y="143325"/>
                </a:lnTo>
                <a:lnTo>
                  <a:pt x="193439" y="143325"/>
                </a:lnTo>
                <a:lnTo>
                  <a:pt x="146685" y="146058"/>
                </a:lnTo>
                <a:lnTo>
                  <a:pt x="106628" y="154254"/>
                </a:lnTo>
                <a:lnTo>
                  <a:pt x="46605" y="187030"/>
                </a:lnTo>
                <a:lnTo>
                  <a:pt x="11656" y="243105"/>
                </a:lnTo>
                <a:lnTo>
                  <a:pt x="2914" y="280429"/>
                </a:lnTo>
                <a:lnTo>
                  <a:pt x="0" y="323948"/>
                </a:lnTo>
                <a:lnTo>
                  <a:pt x="0" y="347256"/>
                </a:lnTo>
                <a:lnTo>
                  <a:pt x="43108" y="347256"/>
                </a:lnTo>
                <a:lnTo>
                  <a:pt x="43108" y="321623"/>
                </a:lnTo>
                <a:lnTo>
                  <a:pt x="45330" y="289974"/>
                </a:lnTo>
                <a:lnTo>
                  <a:pt x="63106" y="239576"/>
                </a:lnTo>
                <a:lnTo>
                  <a:pt x="99017" y="206292"/>
                </a:lnTo>
                <a:lnTo>
                  <a:pt x="155235" y="189683"/>
                </a:lnTo>
                <a:lnTo>
                  <a:pt x="191104" y="187606"/>
                </a:lnTo>
                <a:lnTo>
                  <a:pt x="709193" y="187606"/>
                </a:lnTo>
                <a:lnTo>
                  <a:pt x="742036" y="186077"/>
                </a:lnTo>
                <a:lnTo>
                  <a:pt x="795057" y="173842"/>
                </a:lnTo>
                <a:lnTo>
                  <a:pt x="831758" y="148788"/>
                </a:lnTo>
                <a:lnTo>
                  <a:pt x="855648" y="107422"/>
                </a:lnTo>
                <a:lnTo>
                  <a:pt x="863010" y="80405"/>
                </a:lnTo>
                <a:lnTo>
                  <a:pt x="903996" y="80405"/>
                </a:lnTo>
                <a:lnTo>
                  <a:pt x="898111" y="66704"/>
                </a:lnTo>
                <a:lnTo>
                  <a:pt x="891013" y="36191"/>
                </a:lnTo>
                <a:lnTo>
                  <a:pt x="887480" y="0"/>
                </a:lnTo>
                <a:close/>
              </a:path>
              <a:path w="1726565" h="347345">
                <a:moveTo>
                  <a:pt x="903996" y="80405"/>
                </a:moveTo>
                <a:lnTo>
                  <a:pt x="865345" y="80405"/>
                </a:lnTo>
                <a:lnTo>
                  <a:pt x="872691" y="107422"/>
                </a:lnTo>
                <a:lnTo>
                  <a:pt x="896579" y="148788"/>
                </a:lnTo>
                <a:lnTo>
                  <a:pt x="933283" y="173842"/>
                </a:lnTo>
                <a:lnTo>
                  <a:pt x="986311" y="186077"/>
                </a:lnTo>
                <a:lnTo>
                  <a:pt x="1019162" y="187606"/>
                </a:lnTo>
                <a:lnTo>
                  <a:pt x="1534885" y="187606"/>
                </a:lnTo>
                <a:lnTo>
                  <a:pt x="1570748" y="189683"/>
                </a:lnTo>
                <a:lnTo>
                  <a:pt x="1626970" y="206292"/>
                </a:lnTo>
                <a:lnTo>
                  <a:pt x="1662877" y="239576"/>
                </a:lnTo>
                <a:lnTo>
                  <a:pt x="1680648" y="289974"/>
                </a:lnTo>
                <a:lnTo>
                  <a:pt x="1682870" y="321623"/>
                </a:lnTo>
                <a:lnTo>
                  <a:pt x="1682870" y="347256"/>
                </a:lnTo>
                <a:lnTo>
                  <a:pt x="1725989" y="347256"/>
                </a:lnTo>
                <a:lnTo>
                  <a:pt x="1725989" y="323948"/>
                </a:lnTo>
                <a:lnTo>
                  <a:pt x="1723074" y="280429"/>
                </a:lnTo>
                <a:lnTo>
                  <a:pt x="1714331" y="243105"/>
                </a:lnTo>
                <a:lnTo>
                  <a:pt x="1679372" y="187030"/>
                </a:lnTo>
                <a:lnTo>
                  <a:pt x="1619359" y="154254"/>
                </a:lnTo>
                <a:lnTo>
                  <a:pt x="1579304" y="146058"/>
                </a:lnTo>
                <a:lnTo>
                  <a:pt x="1532550" y="143325"/>
                </a:lnTo>
                <a:lnTo>
                  <a:pt x="1021487" y="143325"/>
                </a:lnTo>
                <a:lnTo>
                  <a:pt x="990424" y="141285"/>
                </a:lnTo>
                <a:lnTo>
                  <a:pt x="963657" y="135167"/>
                </a:lnTo>
                <a:lnTo>
                  <a:pt x="941189" y="124971"/>
                </a:lnTo>
                <a:lnTo>
                  <a:pt x="923019" y="110698"/>
                </a:lnTo>
                <a:lnTo>
                  <a:pt x="908778" y="91540"/>
                </a:lnTo>
                <a:lnTo>
                  <a:pt x="903996" y="80405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22774" y="8076570"/>
            <a:ext cx="1956435" cy="347345"/>
          </a:xfrm>
          <a:custGeom>
            <a:avLst/>
            <a:gdLst/>
            <a:ahLst/>
            <a:cxnLst/>
            <a:rect l="l" t="t" r="r" b="b"/>
            <a:pathLst>
              <a:path w="1956434" h="347345">
                <a:moveTo>
                  <a:pt x="43119" y="0"/>
                </a:moveTo>
                <a:lnTo>
                  <a:pt x="0" y="0"/>
                </a:lnTo>
                <a:lnTo>
                  <a:pt x="0" y="23308"/>
                </a:lnTo>
                <a:lnTo>
                  <a:pt x="2914" y="66826"/>
                </a:lnTo>
                <a:lnTo>
                  <a:pt x="11658" y="104151"/>
                </a:lnTo>
                <a:lnTo>
                  <a:pt x="46616" y="160225"/>
                </a:lnTo>
                <a:lnTo>
                  <a:pt x="106630" y="193001"/>
                </a:lnTo>
                <a:lnTo>
                  <a:pt x="146685" y="201198"/>
                </a:lnTo>
                <a:lnTo>
                  <a:pt x="193439" y="203930"/>
                </a:lnTo>
                <a:lnTo>
                  <a:pt x="819681" y="203930"/>
                </a:lnTo>
                <a:lnTo>
                  <a:pt x="850744" y="205970"/>
                </a:lnTo>
                <a:lnTo>
                  <a:pt x="899979" y="222285"/>
                </a:lnTo>
                <a:lnTo>
                  <a:pt x="932390" y="255716"/>
                </a:lnTo>
                <a:lnTo>
                  <a:pt x="950155" y="311065"/>
                </a:lnTo>
                <a:lnTo>
                  <a:pt x="953688" y="347256"/>
                </a:lnTo>
                <a:lnTo>
                  <a:pt x="1000294" y="347256"/>
                </a:lnTo>
                <a:lnTo>
                  <a:pt x="1003829" y="311065"/>
                </a:lnTo>
                <a:lnTo>
                  <a:pt x="1010933" y="280551"/>
                </a:lnTo>
                <a:lnTo>
                  <a:pt x="1016820" y="266850"/>
                </a:lnTo>
                <a:lnTo>
                  <a:pt x="975823" y="266850"/>
                </a:lnTo>
                <a:lnTo>
                  <a:pt x="958065" y="217039"/>
                </a:lnTo>
                <a:lnTo>
                  <a:pt x="928055" y="184120"/>
                </a:lnTo>
                <a:lnTo>
                  <a:pt x="883484" y="165767"/>
                </a:lnTo>
                <a:lnTo>
                  <a:pt x="822006" y="159649"/>
                </a:lnTo>
                <a:lnTo>
                  <a:pt x="191104" y="159649"/>
                </a:lnTo>
                <a:lnTo>
                  <a:pt x="155240" y="157572"/>
                </a:lnTo>
                <a:lnTo>
                  <a:pt x="99018" y="140963"/>
                </a:lnTo>
                <a:lnTo>
                  <a:pt x="63112" y="107680"/>
                </a:lnTo>
                <a:lnTo>
                  <a:pt x="45341" y="57281"/>
                </a:lnTo>
                <a:lnTo>
                  <a:pt x="43119" y="25632"/>
                </a:lnTo>
                <a:lnTo>
                  <a:pt x="43119" y="0"/>
                </a:lnTo>
                <a:close/>
              </a:path>
              <a:path w="1956434" h="347345">
                <a:moveTo>
                  <a:pt x="1956348" y="0"/>
                </a:moveTo>
                <a:lnTo>
                  <a:pt x="1913240" y="0"/>
                </a:lnTo>
                <a:lnTo>
                  <a:pt x="1913240" y="25632"/>
                </a:lnTo>
                <a:lnTo>
                  <a:pt x="1911017" y="57281"/>
                </a:lnTo>
                <a:lnTo>
                  <a:pt x="1893242" y="107680"/>
                </a:lnTo>
                <a:lnTo>
                  <a:pt x="1857331" y="140963"/>
                </a:lnTo>
                <a:lnTo>
                  <a:pt x="1801112" y="157572"/>
                </a:lnTo>
                <a:lnTo>
                  <a:pt x="1765244" y="159649"/>
                </a:lnTo>
                <a:lnTo>
                  <a:pt x="1131976" y="159649"/>
                </a:lnTo>
                <a:lnTo>
                  <a:pt x="1099132" y="161178"/>
                </a:lnTo>
                <a:lnTo>
                  <a:pt x="1046111" y="173414"/>
                </a:lnTo>
                <a:lnTo>
                  <a:pt x="1009410" y="198467"/>
                </a:lnTo>
                <a:lnTo>
                  <a:pt x="985521" y="239833"/>
                </a:lnTo>
                <a:lnTo>
                  <a:pt x="978158" y="266850"/>
                </a:lnTo>
                <a:lnTo>
                  <a:pt x="1016820" y="266850"/>
                </a:lnTo>
                <a:lnTo>
                  <a:pt x="1021605" y="255716"/>
                </a:lnTo>
                <a:lnTo>
                  <a:pt x="1035842" y="236558"/>
                </a:lnTo>
                <a:lnTo>
                  <a:pt x="1054017" y="222285"/>
                </a:lnTo>
                <a:lnTo>
                  <a:pt x="1076485" y="212089"/>
                </a:lnTo>
                <a:lnTo>
                  <a:pt x="1103249" y="205970"/>
                </a:lnTo>
                <a:lnTo>
                  <a:pt x="1134311" y="203930"/>
                </a:lnTo>
                <a:lnTo>
                  <a:pt x="1762909" y="203930"/>
                </a:lnTo>
                <a:lnTo>
                  <a:pt x="1809663" y="201198"/>
                </a:lnTo>
                <a:lnTo>
                  <a:pt x="1849719" y="193001"/>
                </a:lnTo>
                <a:lnTo>
                  <a:pt x="1909742" y="160225"/>
                </a:lnTo>
                <a:lnTo>
                  <a:pt x="1944692" y="104151"/>
                </a:lnTo>
                <a:lnTo>
                  <a:pt x="1953433" y="66826"/>
                </a:lnTo>
                <a:lnTo>
                  <a:pt x="1956348" y="23308"/>
                </a:lnTo>
                <a:lnTo>
                  <a:pt x="1956348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85</a:t>
            </a:fld>
            <a:endParaRPr spc="-37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4444344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</a:t>
            </a:r>
            <a:r>
              <a:rPr spc="-204" dirty="0"/>
              <a:t>приближение</a:t>
            </a:r>
            <a:r>
              <a:rPr spc="28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93932" y="8981790"/>
            <a:ext cx="289496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≈ </a:t>
            </a:r>
            <a:r>
              <a:rPr sz="3300" b="1" i="1" spc="-32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480" baseline="-32163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b="1" i="1" spc="-320" dirty="0">
                <a:solidFill>
                  <a:srgbClr val="1E1E1E"/>
                </a:solidFill>
                <a:latin typeface="Verdana"/>
                <a:cs typeface="Verdana"/>
              </a:rPr>
              <a:t>: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83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847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2850" b="1" spc="-847" baseline="-32163" dirty="0">
                <a:solidFill>
                  <a:srgbClr val="1E1E1E"/>
                </a:solidFill>
                <a:latin typeface="Verdana"/>
                <a:cs typeface="Verdana"/>
              </a:rPr>
              <a:t>[1]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83733" y="9016972"/>
            <a:ext cx="27432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9209">
              <a:lnSpc>
                <a:spcPts val="224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40"/>
              </a:lnSpc>
            </a:pP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1]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28933" y="8981790"/>
            <a:ext cx="25304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5519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1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1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71119" y="9016972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30468" y="9295917"/>
            <a:ext cx="126873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7985" algn="l"/>
                <a:tab pos="984885" algn="l"/>
              </a:tabLst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	</a:t>
            </a:r>
            <a:r>
              <a:rPr sz="1900" b="1" spc="-49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9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9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9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17072" y="7270312"/>
            <a:ext cx="1726564" cy="347345"/>
          </a:xfrm>
          <a:custGeom>
            <a:avLst/>
            <a:gdLst/>
            <a:ahLst/>
            <a:cxnLst/>
            <a:rect l="l" t="t" r="r" b="b"/>
            <a:pathLst>
              <a:path w="1726565" h="347345">
                <a:moveTo>
                  <a:pt x="887480" y="0"/>
                </a:moveTo>
                <a:lnTo>
                  <a:pt x="840874" y="0"/>
                </a:lnTo>
                <a:lnTo>
                  <a:pt x="837339" y="36191"/>
                </a:lnTo>
                <a:lnTo>
                  <a:pt x="830235" y="66704"/>
                </a:lnTo>
                <a:lnTo>
                  <a:pt x="805326" y="110698"/>
                </a:lnTo>
                <a:lnTo>
                  <a:pt x="764683" y="135167"/>
                </a:lnTo>
                <a:lnTo>
                  <a:pt x="706858" y="143325"/>
                </a:lnTo>
                <a:lnTo>
                  <a:pt x="193439" y="143325"/>
                </a:lnTo>
                <a:lnTo>
                  <a:pt x="146685" y="146058"/>
                </a:lnTo>
                <a:lnTo>
                  <a:pt x="106628" y="154254"/>
                </a:lnTo>
                <a:lnTo>
                  <a:pt x="46605" y="187030"/>
                </a:lnTo>
                <a:lnTo>
                  <a:pt x="11656" y="243105"/>
                </a:lnTo>
                <a:lnTo>
                  <a:pt x="2914" y="280429"/>
                </a:lnTo>
                <a:lnTo>
                  <a:pt x="0" y="323948"/>
                </a:lnTo>
                <a:lnTo>
                  <a:pt x="0" y="347256"/>
                </a:lnTo>
                <a:lnTo>
                  <a:pt x="43108" y="347256"/>
                </a:lnTo>
                <a:lnTo>
                  <a:pt x="43108" y="321623"/>
                </a:lnTo>
                <a:lnTo>
                  <a:pt x="45330" y="289974"/>
                </a:lnTo>
                <a:lnTo>
                  <a:pt x="63106" y="239576"/>
                </a:lnTo>
                <a:lnTo>
                  <a:pt x="99017" y="206292"/>
                </a:lnTo>
                <a:lnTo>
                  <a:pt x="155235" y="189683"/>
                </a:lnTo>
                <a:lnTo>
                  <a:pt x="191104" y="187606"/>
                </a:lnTo>
                <a:lnTo>
                  <a:pt x="709193" y="187606"/>
                </a:lnTo>
                <a:lnTo>
                  <a:pt x="742036" y="186077"/>
                </a:lnTo>
                <a:lnTo>
                  <a:pt x="795057" y="173842"/>
                </a:lnTo>
                <a:lnTo>
                  <a:pt x="831758" y="148788"/>
                </a:lnTo>
                <a:lnTo>
                  <a:pt x="855648" y="107422"/>
                </a:lnTo>
                <a:lnTo>
                  <a:pt x="863010" y="80405"/>
                </a:lnTo>
                <a:lnTo>
                  <a:pt x="903996" y="80405"/>
                </a:lnTo>
                <a:lnTo>
                  <a:pt x="898111" y="66704"/>
                </a:lnTo>
                <a:lnTo>
                  <a:pt x="891013" y="36191"/>
                </a:lnTo>
                <a:lnTo>
                  <a:pt x="887480" y="0"/>
                </a:lnTo>
                <a:close/>
              </a:path>
              <a:path w="1726565" h="347345">
                <a:moveTo>
                  <a:pt x="903996" y="80405"/>
                </a:moveTo>
                <a:lnTo>
                  <a:pt x="865345" y="80405"/>
                </a:lnTo>
                <a:lnTo>
                  <a:pt x="872691" y="107422"/>
                </a:lnTo>
                <a:lnTo>
                  <a:pt x="896579" y="148788"/>
                </a:lnTo>
                <a:lnTo>
                  <a:pt x="933283" y="173842"/>
                </a:lnTo>
                <a:lnTo>
                  <a:pt x="986311" y="186077"/>
                </a:lnTo>
                <a:lnTo>
                  <a:pt x="1019162" y="187606"/>
                </a:lnTo>
                <a:lnTo>
                  <a:pt x="1534885" y="187606"/>
                </a:lnTo>
                <a:lnTo>
                  <a:pt x="1570748" y="189683"/>
                </a:lnTo>
                <a:lnTo>
                  <a:pt x="1626970" y="206292"/>
                </a:lnTo>
                <a:lnTo>
                  <a:pt x="1662877" y="239576"/>
                </a:lnTo>
                <a:lnTo>
                  <a:pt x="1680648" y="289974"/>
                </a:lnTo>
                <a:lnTo>
                  <a:pt x="1682870" y="321623"/>
                </a:lnTo>
                <a:lnTo>
                  <a:pt x="1682870" y="347256"/>
                </a:lnTo>
                <a:lnTo>
                  <a:pt x="1725989" y="347256"/>
                </a:lnTo>
                <a:lnTo>
                  <a:pt x="1725989" y="323948"/>
                </a:lnTo>
                <a:lnTo>
                  <a:pt x="1723074" y="280429"/>
                </a:lnTo>
                <a:lnTo>
                  <a:pt x="1714331" y="243105"/>
                </a:lnTo>
                <a:lnTo>
                  <a:pt x="1679372" y="187030"/>
                </a:lnTo>
                <a:lnTo>
                  <a:pt x="1619359" y="154254"/>
                </a:lnTo>
                <a:lnTo>
                  <a:pt x="1579304" y="146058"/>
                </a:lnTo>
                <a:lnTo>
                  <a:pt x="1532550" y="143325"/>
                </a:lnTo>
                <a:lnTo>
                  <a:pt x="1021487" y="143325"/>
                </a:lnTo>
                <a:lnTo>
                  <a:pt x="990424" y="141285"/>
                </a:lnTo>
                <a:lnTo>
                  <a:pt x="963657" y="135167"/>
                </a:lnTo>
                <a:lnTo>
                  <a:pt x="941189" y="124971"/>
                </a:lnTo>
                <a:lnTo>
                  <a:pt x="923019" y="110698"/>
                </a:lnTo>
                <a:lnTo>
                  <a:pt x="908778" y="91540"/>
                </a:lnTo>
                <a:lnTo>
                  <a:pt x="903996" y="80405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622774" y="8076570"/>
            <a:ext cx="1956435" cy="347345"/>
          </a:xfrm>
          <a:custGeom>
            <a:avLst/>
            <a:gdLst/>
            <a:ahLst/>
            <a:cxnLst/>
            <a:rect l="l" t="t" r="r" b="b"/>
            <a:pathLst>
              <a:path w="1956434" h="347345">
                <a:moveTo>
                  <a:pt x="43119" y="0"/>
                </a:moveTo>
                <a:lnTo>
                  <a:pt x="0" y="0"/>
                </a:lnTo>
                <a:lnTo>
                  <a:pt x="0" y="23308"/>
                </a:lnTo>
                <a:lnTo>
                  <a:pt x="2914" y="66826"/>
                </a:lnTo>
                <a:lnTo>
                  <a:pt x="11658" y="104151"/>
                </a:lnTo>
                <a:lnTo>
                  <a:pt x="46616" y="160225"/>
                </a:lnTo>
                <a:lnTo>
                  <a:pt x="106630" y="193001"/>
                </a:lnTo>
                <a:lnTo>
                  <a:pt x="146685" y="201198"/>
                </a:lnTo>
                <a:lnTo>
                  <a:pt x="193439" y="203930"/>
                </a:lnTo>
                <a:lnTo>
                  <a:pt x="819681" y="203930"/>
                </a:lnTo>
                <a:lnTo>
                  <a:pt x="850744" y="205970"/>
                </a:lnTo>
                <a:lnTo>
                  <a:pt x="899979" y="222285"/>
                </a:lnTo>
                <a:lnTo>
                  <a:pt x="932390" y="255716"/>
                </a:lnTo>
                <a:lnTo>
                  <a:pt x="950155" y="311065"/>
                </a:lnTo>
                <a:lnTo>
                  <a:pt x="953688" y="347256"/>
                </a:lnTo>
                <a:lnTo>
                  <a:pt x="1000294" y="347256"/>
                </a:lnTo>
                <a:lnTo>
                  <a:pt x="1003829" y="311065"/>
                </a:lnTo>
                <a:lnTo>
                  <a:pt x="1010933" y="280551"/>
                </a:lnTo>
                <a:lnTo>
                  <a:pt x="1016820" y="266850"/>
                </a:lnTo>
                <a:lnTo>
                  <a:pt x="975823" y="266850"/>
                </a:lnTo>
                <a:lnTo>
                  <a:pt x="958065" y="217039"/>
                </a:lnTo>
                <a:lnTo>
                  <a:pt x="928055" y="184120"/>
                </a:lnTo>
                <a:lnTo>
                  <a:pt x="883484" y="165767"/>
                </a:lnTo>
                <a:lnTo>
                  <a:pt x="822006" y="159649"/>
                </a:lnTo>
                <a:lnTo>
                  <a:pt x="191104" y="159649"/>
                </a:lnTo>
                <a:lnTo>
                  <a:pt x="155240" y="157572"/>
                </a:lnTo>
                <a:lnTo>
                  <a:pt x="99018" y="140963"/>
                </a:lnTo>
                <a:lnTo>
                  <a:pt x="63112" y="107680"/>
                </a:lnTo>
                <a:lnTo>
                  <a:pt x="45341" y="57281"/>
                </a:lnTo>
                <a:lnTo>
                  <a:pt x="43119" y="25632"/>
                </a:lnTo>
                <a:lnTo>
                  <a:pt x="43119" y="0"/>
                </a:lnTo>
                <a:close/>
              </a:path>
              <a:path w="1956434" h="347345">
                <a:moveTo>
                  <a:pt x="1956348" y="0"/>
                </a:moveTo>
                <a:lnTo>
                  <a:pt x="1913240" y="0"/>
                </a:lnTo>
                <a:lnTo>
                  <a:pt x="1913240" y="25632"/>
                </a:lnTo>
                <a:lnTo>
                  <a:pt x="1911017" y="57281"/>
                </a:lnTo>
                <a:lnTo>
                  <a:pt x="1893242" y="107680"/>
                </a:lnTo>
                <a:lnTo>
                  <a:pt x="1857331" y="140963"/>
                </a:lnTo>
                <a:lnTo>
                  <a:pt x="1801112" y="157572"/>
                </a:lnTo>
                <a:lnTo>
                  <a:pt x="1765244" y="159649"/>
                </a:lnTo>
                <a:lnTo>
                  <a:pt x="1131976" y="159649"/>
                </a:lnTo>
                <a:lnTo>
                  <a:pt x="1099132" y="161178"/>
                </a:lnTo>
                <a:lnTo>
                  <a:pt x="1046111" y="173414"/>
                </a:lnTo>
                <a:lnTo>
                  <a:pt x="1009410" y="198467"/>
                </a:lnTo>
                <a:lnTo>
                  <a:pt x="985521" y="239833"/>
                </a:lnTo>
                <a:lnTo>
                  <a:pt x="978158" y="266850"/>
                </a:lnTo>
                <a:lnTo>
                  <a:pt x="1016820" y="266850"/>
                </a:lnTo>
                <a:lnTo>
                  <a:pt x="1021605" y="255716"/>
                </a:lnTo>
                <a:lnTo>
                  <a:pt x="1035842" y="236558"/>
                </a:lnTo>
                <a:lnTo>
                  <a:pt x="1054017" y="222285"/>
                </a:lnTo>
                <a:lnTo>
                  <a:pt x="1076485" y="212089"/>
                </a:lnTo>
                <a:lnTo>
                  <a:pt x="1103249" y="205970"/>
                </a:lnTo>
                <a:lnTo>
                  <a:pt x="1134311" y="203930"/>
                </a:lnTo>
                <a:lnTo>
                  <a:pt x="1762909" y="203930"/>
                </a:lnTo>
                <a:lnTo>
                  <a:pt x="1809663" y="201198"/>
                </a:lnTo>
                <a:lnTo>
                  <a:pt x="1849719" y="193001"/>
                </a:lnTo>
                <a:lnTo>
                  <a:pt x="1909742" y="160225"/>
                </a:lnTo>
                <a:lnTo>
                  <a:pt x="1944692" y="104151"/>
                </a:lnTo>
                <a:lnTo>
                  <a:pt x="1953433" y="66826"/>
                </a:lnTo>
                <a:lnTo>
                  <a:pt x="1956348" y="23308"/>
                </a:lnTo>
                <a:lnTo>
                  <a:pt x="1956348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06104" y="3453163"/>
            <a:ext cx="47040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Пусть </a:t>
            </a: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40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607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spc="-200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r </a:t>
            </a:r>
            <a:r>
              <a:rPr sz="3300" b="1" spc="-919" dirty="0">
                <a:solidFill>
                  <a:srgbClr val="1E1E1E"/>
                </a:solidFill>
                <a:latin typeface="Verdana"/>
                <a:cs typeface="Verdana"/>
              </a:rPr>
              <a:t>&gt;</a:t>
            </a:r>
            <a:r>
              <a:rPr sz="3300" b="1" spc="-72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30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r>
              <a:rPr sz="3300" spc="-30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86</a:t>
            </a:fld>
            <a:endParaRPr spc="-370" dirty="0"/>
          </a:p>
        </p:txBody>
      </p:sp>
      <p:sp>
        <p:nvSpPr>
          <p:cNvPr id="15" name="object 15"/>
          <p:cNvSpPr txBox="1"/>
          <p:nvPr/>
        </p:nvSpPr>
        <p:spPr>
          <a:xfrm>
            <a:off x="5387428" y="4207066"/>
            <a:ext cx="384682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0510" algn="l"/>
                <a:tab pos="2254250" algn="l"/>
                <a:tab pos="3471545" algn="l"/>
              </a:tabLst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3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2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52501" y="4242248"/>
            <a:ext cx="208533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943100" algn="l"/>
              </a:tabLst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	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966602" y="4242248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01411" y="4521193"/>
            <a:ext cx="58540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8935" algn="l"/>
                <a:tab pos="995044" algn="l"/>
                <a:tab pos="1917064" algn="l"/>
                <a:tab pos="2284730" algn="l"/>
                <a:tab pos="2926080" algn="l"/>
                <a:tab pos="4677410" algn="l"/>
                <a:tab pos="5013325" algn="l"/>
                <a:tab pos="5609590" algn="l"/>
              </a:tabLst>
            </a:pPr>
            <a:r>
              <a:rPr sz="1900" b="1" spc="-29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29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7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7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spc="-3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45856" y="4207066"/>
            <a:ext cx="27901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96439" algn="l"/>
                <a:tab pos="2680335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47221" y="5247453"/>
            <a:ext cx="52451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21005" algn="l"/>
              </a:tabLst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	</a:t>
            </a: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08885" y="5526398"/>
            <a:ext cx="16148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82625" algn="l"/>
                <a:tab pos="1149350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spc="-50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1900" b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06104" y="5212271"/>
            <a:ext cx="108623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16910" algn="l"/>
                <a:tab pos="3888740" algn="l"/>
                <a:tab pos="4628515" algn="l"/>
              </a:tabLst>
            </a:pP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Все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950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950" dirty="0">
                <a:solidFill>
                  <a:srgbClr val="1E1E1E"/>
                </a:solidFill>
                <a:latin typeface="Verdana"/>
                <a:cs typeface="Verdana"/>
              </a:rPr>
              <a:t>V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	</a:t>
            </a: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	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очень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большие: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|элемент|</a:t>
            </a:r>
            <a:r>
              <a:rPr sz="3300" b="1" spc="6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≤ </a:t>
            </a:r>
            <a:r>
              <a:rPr sz="3300" b="1" spc="-30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spc="-305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06000" y="5725345"/>
            <a:ext cx="12186285" cy="3075940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Основной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«взнос»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сумму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производится 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за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счет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множителей</a:t>
            </a:r>
            <a:r>
              <a:rPr sz="3300" spc="2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6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7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 marL="381000" algn="ctr">
              <a:lnSpc>
                <a:spcPct val="100000"/>
              </a:lnSpc>
              <a:spcBef>
                <a:spcPts val="1889"/>
              </a:spcBef>
            </a:pPr>
            <a:r>
              <a:rPr sz="3300" spc="-114" dirty="0">
                <a:solidFill>
                  <a:srgbClr val="CB3757"/>
                </a:solidFill>
                <a:latin typeface="Arial"/>
                <a:cs typeface="Arial"/>
              </a:rPr>
              <a:t>большие</a:t>
            </a:r>
            <a:endParaRPr sz="3300">
              <a:latin typeface="Arial"/>
              <a:cs typeface="Arial"/>
            </a:endParaRPr>
          </a:p>
          <a:p>
            <a:pPr marL="5373370">
              <a:lnSpc>
                <a:spcPct val="100000"/>
              </a:lnSpc>
              <a:spcBef>
                <a:spcPts val="1925"/>
              </a:spcBef>
            </a:pP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517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2850" b="1" i="1" spc="-509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6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40" baseline="-32163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2850" b="1" i="1" spc="-390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i="1" spc="-757" baseline="-32163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2850" b="1" i="1" spc="-607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spc="-359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240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4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i="1" spc="-517" baseline="-32163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endParaRPr sz="2850" baseline="-32163">
              <a:latin typeface="Verdana"/>
              <a:cs typeface="Verdana"/>
            </a:endParaRPr>
          </a:p>
          <a:p>
            <a:pPr marL="7561580">
              <a:lnSpc>
                <a:spcPct val="100000"/>
              </a:lnSpc>
              <a:spcBef>
                <a:spcPts val="2470"/>
              </a:spcBef>
            </a:pPr>
            <a:r>
              <a:rPr sz="3300" spc="-145" dirty="0">
                <a:solidFill>
                  <a:srgbClr val="627AEB"/>
                </a:solidFill>
                <a:latin typeface="Arial"/>
                <a:cs typeface="Arial"/>
              </a:rPr>
              <a:t>малые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573009" cy="1512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5770"/>
              </a:lnSpc>
              <a:spcBef>
                <a:spcPts val="430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 </a:t>
            </a:r>
            <a:r>
              <a:rPr spc="-204" dirty="0"/>
              <a:t>приближение</a:t>
            </a:r>
            <a:r>
              <a:rPr spc="-8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4709669"/>
            <a:ext cx="83546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Ошибка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приближения (норма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</a:t>
            </a:r>
            <a:r>
              <a:rPr sz="3300" spc="31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евклидова):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3545" y="6029000"/>
            <a:ext cx="15494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5350" y="5610165"/>
            <a:ext cx="261112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300" b="1" spc="-775" dirty="0">
                <a:solidFill>
                  <a:srgbClr val="1E1E1E"/>
                </a:solidFill>
                <a:latin typeface="Verdana"/>
                <a:cs typeface="Verdana"/>
              </a:rPr>
              <a:t>||</a:t>
            </a:r>
            <a:r>
              <a:rPr sz="3300" b="1" i="1" spc="-77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spc="-910" dirty="0">
                <a:solidFill>
                  <a:srgbClr val="1E1E1E"/>
                </a:solidFill>
                <a:latin typeface="Verdana"/>
                <a:cs typeface="Verdana"/>
              </a:rPr>
              <a:t>||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4100" b="1" spc="-1130" dirty="0">
                <a:solidFill>
                  <a:srgbClr val="1E1E1E"/>
                </a:solidFill>
                <a:latin typeface="Verdana"/>
                <a:cs typeface="Verdana"/>
              </a:rPr>
              <a:t>√</a:t>
            </a:r>
            <a:r>
              <a:rPr sz="4100" b="1" spc="-11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54747" y="5750056"/>
            <a:ext cx="54102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4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  <a:p>
            <a:pPr marL="13335">
              <a:lnSpc>
                <a:spcPts val="2240"/>
              </a:lnSpc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1900" b="1" spc="-505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61493" y="5714874"/>
            <a:ext cx="1637664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24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367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850" baseline="32163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38591" y="6028911"/>
            <a:ext cx="1162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71019" y="5719721"/>
            <a:ext cx="2672715" cy="0"/>
          </a:xfrm>
          <a:custGeom>
            <a:avLst/>
            <a:gdLst/>
            <a:ahLst/>
            <a:cxnLst/>
            <a:rect l="l" t="t" r="r" b="b"/>
            <a:pathLst>
              <a:path w="2672715">
                <a:moveTo>
                  <a:pt x="0" y="0"/>
                </a:moveTo>
                <a:lnTo>
                  <a:pt x="2672169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21750" y="3453163"/>
            <a:ext cx="29025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≈ </a:t>
            </a:r>
            <a:r>
              <a:rPr sz="3300" b="1" i="1" spc="-3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569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b="1" spc="-475" dirty="0">
                <a:solidFill>
                  <a:srgbClr val="1E1E1E"/>
                </a:solidFill>
                <a:latin typeface="Verdana"/>
                <a:cs typeface="Verdana"/>
              </a:rPr>
              <a:t>: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8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847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2850" b="1" spc="-847" baseline="-32163" dirty="0">
                <a:solidFill>
                  <a:srgbClr val="1E1E1E"/>
                </a:solidFill>
                <a:latin typeface="Verdana"/>
                <a:cs typeface="Verdana"/>
              </a:rPr>
              <a:t>[1]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87</a:t>
            </a:fld>
            <a:endParaRPr spc="-370" dirty="0"/>
          </a:p>
        </p:txBody>
      </p:sp>
      <p:sp>
        <p:nvSpPr>
          <p:cNvPr id="15" name="object 15"/>
          <p:cNvSpPr txBox="1"/>
          <p:nvPr/>
        </p:nvSpPr>
        <p:spPr>
          <a:xfrm>
            <a:off x="6319090" y="3488345"/>
            <a:ext cx="27432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9209">
              <a:lnSpc>
                <a:spcPts val="224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40"/>
              </a:lnSpc>
            </a:pP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1]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64290" y="3453163"/>
            <a:ext cx="25304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5519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1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1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06455" y="3488345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65836" y="3767289"/>
            <a:ext cx="12680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7985" algn="l"/>
                <a:tab pos="984885" algn="l"/>
              </a:tabLst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	</a:t>
            </a:r>
            <a:r>
              <a:rPr sz="1900" b="1" spc="-49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9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9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9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573009" cy="1512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5770"/>
              </a:lnSpc>
              <a:spcBef>
                <a:spcPts val="430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 </a:t>
            </a:r>
            <a:r>
              <a:rPr spc="-204" dirty="0"/>
              <a:t>приближение</a:t>
            </a:r>
            <a:r>
              <a:rPr spc="-85" dirty="0"/>
              <a:t> </a:t>
            </a:r>
            <a:r>
              <a:rPr spc="-265" dirty="0"/>
              <a:t>матрицы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4709669"/>
            <a:ext cx="83546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Ошибка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приближения (норма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</a:t>
            </a:r>
            <a:r>
              <a:rPr sz="3300" spc="31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евклидова):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5874" y="6971380"/>
            <a:ext cx="964120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Матрица </a:t>
            </a:r>
            <a:r>
              <a:rPr sz="3300" b="1" i="1" spc="-3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569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наилучшее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приближение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</a:t>
            </a:r>
            <a:r>
              <a:rPr sz="3300" spc="-254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</a:pP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во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множестве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матриц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ранга</a:t>
            </a:r>
            <a:r>
              <a:rPr sz="3300" spc="3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2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spc="-32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03545" y="6029000"/>
            <a:ext cx="15494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35120" y="5610165"/>
            <a:ext cx="261112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300" b="1" spc="-775" dirty="0">
                <a:solidFill>
                  <a:srgbClr val="1E1E1E"/>
                </a:solidFill>
                <a:latin typeface="Verdana"/>
                <a:cs typeface="Verdana"/>
              </a:rPr>
              <a:t>||</a:t>
            </a:r>
            <a:r>
              <a:rPr sz="3300" b="1" i="1" spc="-77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spc="-910" dirty="0">
                <a:solidFill>
                  <a:srgbClr val="1E1E1E"/>
                </a:solidFill>
                <a:latin typeface="Verdana"/>
                <a:cs typeface="Verdana"/>
              </a:rPr>
              <a:t>||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4100" b="1" spc="-1130" dirty="0">
                <a:solidFill>
                  <a:srgbClr val="1E1E1E"/>
                </a:solidFill>
                <a:latin typeface="Verdana"/>
                <a:cs typeface="Verdana"/>
              </a:rPr>
              <a:t>√</a:t>
            </a:r>
            <a:r>
              <a:rPr sz="4100" b="1" spc="-11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54747" y="5750056"/>
            <a:ext cx="54102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4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  <a:p>
            <a:pPr marL="13335">
              <a:lnSpc>
                <a:spcPts val="2240"/>
              </a:lnSpc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1900" b="1" spc="-505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1900" b="1" spc="-45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61493" y="5714874"/>
            <a:ext cx="1637664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24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367" baseline="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2850" baseline="32163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38591" y="6028911"/>
            <a:ext cx="1162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35" dirty="0">
                <a:solidFill>
                  <a:srgbClr val="1E1E1E"/>
                </a:solidFill>
                <a:latin typeface="Verdana"/>
                <a:cs typeface="Verdana"/>
              </a:rPr>
              <a:t>r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71019" y="5719721"/>
            <a:ext cx="2672715" cy="0"/>
          </a:xfrm>
          <a:custGeom>
            <a:avLst/>
            <a:gdLst/>
            <a:ahLst/>
            <a:cxnLst/>
            <a:rect l="l" t="t" r="r" b="b"/>
            <a:pathLst>
              <a:path w="2672715">
                <a:moveTo>
                  <a:pt x="0" y="0"/>
                </a:moveTo>
                <a:lnTo>
                  <a:pt x="2672169" y="0"/>
                </a:lnTo>
              </a:path>
            </a:pathLst>
          </a:custGeom>
          <a:ln w="31412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421750" y="3453163"/>
            <a:ext cx="290258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≈ </a:t>
            </a:r>
            <a:r>
              <a:rPr sz="3300" b="1" i="1" spc="-3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569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b="1" spc="-475" dirty="0">
                <a:solidFill>
                  <a:srgbClr val="1E1E1E"/>
                </a:solidFill>
                <a:latin typeface="Verdana"/>
                <a:cs typeface="Verdana"/>
              </a:rPr>
              <a:t>: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8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2850" b="1" spc="-847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2850" b="1" spc="-847" baseline="-32163" dirty="0">
                <a:solidFill>
                  <a:srgbClr val="1E1E1E"/>
                </a:solidFill>
                <a:latin typeface="Verdana"/>
                <a:cs typeface="Verdana"/>
              </a:rPr>
              <a:t>[1]</a:t>
            </a:r>
            <a:r>
              <a:rPr sz="3300" b="1" i="1" spc="-56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88</a:t>
            </a:fld>
            <a:endParaRPr spc="-370" dirty="0"/>
          </a:p>
        </p:txBody>
      </p:sp>
      <p:sp>
        <p:nvSpPr>
          <p:cNvPr id="16" name="object 16"/>
          <p:cNvSpPr txBox="1"/>
          <p:nvPr/>
        </p:nvSpPr>
        <p:spPr>
          <a:xfrm>
            <a:off x="6319090" y="3488345"/>
            <a:ext cx="27432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9209">
              <a:lnSpc>
                <a:spcPts val="224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40"/>
              </a:lnSpc>
            </a:pPr>
            <a:r>
              <a:rPr sz="1900" b="1" spc="-50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1]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64290" y="3453163"/>
            <a:ext cx="25304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5519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1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1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06455" y="3488345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65836" y="3767289"/>
            <a:ext cx="12680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7985" algn="l"/>
                <a:tab pos="984885" algn="l"/>
              </a:tabLst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	</a:t>
            </a:r>
            <a:r>
              <a:rPr sz="1900" b="1" spc="-49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9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9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29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1900" b="1" spc="-434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06104" y="1233335"/>
            <a:ext cx="7573009" cy="1512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5770"/>
              </a:lnSpc>
              <a:spcBef>
                <a:spcPts val="430"/>
              </a:spcBef>
            </a:pPr>
            <a:r>
              <a:rPr sz="4950" b="1" spc="-270" dirty="0">
                <a:solidFill>
                  <a:srgbClr val="1E1E1E"/>
                </a:solidFill>
                <a:latin typeface="Arial"/>
                <a:cs typeface="Arial"/>
              </a:rPr>
              <a:t>Сингулярное </a:t>
            </a:r>
            <a:r>
              <a:rPr sz="4950" b="1" spc="-215" dirty="0">
                <a:solidFill>
                  <a:srgbClr val="1E1E1E"/>
                </a:solidFill>
                <a:latin typeface="Arial"/>
                <a:cs typeface="Arial"/>
              </a:rPr>
              <a:t>разложение:  </a:t>
            </a:r>
            <a:r>
              <a:rPr sz="4950" b="1" spc="-300" dirty="0">
                <a:solidFill>
                  <a:srgbClr val="1E1E1E"/>
                </a:solidFill>
                <a:latin typeface="Arial"/>
                <a:cs typeface="Arial"/>
              </a:rPr>
              <a:t>основная</a:t>
            </a:r>
            <a:r>
              <a:rPr sz="4950" b="1" spc="-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4950" b="1" spc="-285" dirty="0">
                <a:solidFill>
                  <a:srgbClr val="1E1E1E"/>
                </a:solidFill>
                <a:latin typeface="Arial"/>
                <a:cs typeface="Arial"/>
              </a:rPr>
              <a:t>идея</a:t>
            </a:r>
            <a:endParaRPr sz="49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89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704464"/>
            <a:ext cx="900430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больших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размерах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заменять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ее 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приближением 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малых величин</a:t>
            </a:r>
            <a:r>
              <a:rPr sz="3300" spc="5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2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spc="-32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573009" cy="1512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5770"/>
              </a:lnSpc>
              <a:spcBef>
                <a:spcPts val="430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 </a:t>
            </a:r>
            <a:r>
              <a:rPr spc="-300" dirty="0"/>
              <a:t>основная</a:t>
            </a:r>
            <a:r>
              <a:rPr spc="-80" dirty="0"/>
              <a:t> </a:t>
            </a:r>
            <a:r>
              <a:rPr spc="-285" dirty="0"/>
              <a:t>идея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90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5947" y="3704464"/>
            <a:ext cx="9004300" cy="2287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больших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размерах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заменять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ее 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приближением 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малых величин</a:t>
            </a:r>
            <a:r>
              <a:rPr sz="3300" spc="5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2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spc="-32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Почему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это</a:t>
            </a:r>
            <a:r>
              <a:rPr sz="3300" spc="18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работает?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573009" cy="1512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5770"/>
              </a:lnSpc>
              <a:spcBef>
                <a:spcPts val="430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 </a:t>
            </a:r>
            <a:r>
              <a:rPr spc="-300" dirty="0"/>
              <a:t>основная</a:t>
            </a:r>
            <a:r>
              <a:rPr spc="-80" dirty="0"/>
              <a:t> </a:t>
            </a:r>
            <a:r>
              <a:rPr spc="-285" dirty="0"/>
              <a:t>идея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91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5947" y="3704464"/>
            <a:ext cx="9004300" cy="3041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больших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размерах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заменять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ее 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приближением 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малых величин</a:t>
            </a:r>
            <a:r>
              <a:rPr sz="3300" spc="5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2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spc="-32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Почему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это</a:t>
            </a:r>
            <a:r>
              <a:rPr sz="3300" spc="18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работает?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Всегда ли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это</a:t>
            </a:r>
            <a:r>
              <a:rPr sz="3300" spc="3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работает?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573009" cy="15125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5770"/>
              </a:lnSpc>
              <a:spcBef>
                <a:spcPts val="430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 </a:t>
            </a:r>
            <a:r>
              <a:rPr spc="-300" dirty="0"/>
              <a:t>основная</a:t>
            </a:r>
            <a:r>
              <a:rPr spc="-80" dirty="0"/>
              <a:t> </a:t>
            </a:r>
            <a:r>
              <a:rPr spc="-285" dirty="0"/>
              <a:t>идея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pc="-370" dirty="0"/>
              <a:pPr marL="25400">
                <a:lnSpc>
                  <a:spcPts val="3729"/>
                </a:lnSpc>
              </a:pPr>
              <a:t>92</a:t>
            </a:fld>
            <a:endParaRPr spc="-370" dirty="0"/>
          </a:p>
        </p:txBody>
      </p:sp>
      <p:sp>
        <p:nvSpPr>
          <p:cNvPr id="7" name="object 7"/>
          <p:cNvSpPr txBox="1"/>
          <p:nvPr/>
        </p:nvSpPr>
        <p:spPr>
          <a:xfrm>
            <a:off x="1405947" y="3704464"/>
            <a:ext cx="9004300" cy="3795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больших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размерах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заменять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ее 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приближением </a:t>
            </a:r>
            <a:r>
              <a:rPr sz="3300" b="1" i="1" spc="-38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577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для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малых величин</a:t>
            </a:r>
            <a:r>
              <a:rPr sz="3300" spc="55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i="1" spc="-32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r>
              <a:rPr sz="3300" spc="-32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Почему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это</a:t>
            </a:r>
            <a:r>
              <a:rPr sz="3300" spc="18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работает?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75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Всегда ли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это</a:t>
            </a:r>
            <a:r>
              <a:rPr sz="3300" spc="3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работает?</a:t>
            </a:r>
            <a:endParaRPr sz="330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1980"/>
              </a:spcBef>
              <a:buClr>
                <a:srgbClr val="BDD9DE"/>
              </a:buClr>
              <a:buFont typeface="Arial"/>
              <a:buChar char="•"/>
              <a:tabLst>
                <a:tab pos="514984" algn="l"/>
                <a:tab pos="515620" algn="l"/>
              </a:tabLst>
            </a:pP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Откуда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взялась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матрица </a:t>
            </a: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3300" b="1" i="1" spc="-2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19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spc="-220" dirty="0">
                <a:solidFill>
                  <a:srgbClr val="1E1E1E"/>
                </a:solidFill>
                <a:latin typeface="Arial"/>
                <a:cs typeface="Arial"/>
              </a:rPr>
              <a:t>?!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71335" y="1233335"/>
            <a:ext cx="6457315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/>
              <a:t>Диаграмма </a:t>
            </a:r>
            <a:r>
              <a:rPr spc="-204"/>
              <a:t>рас</a:t>
            </a:r>
            <a:r>
              <a:rPr lang="ru-RU" dirty="0"/>
              <a:t>сеяния</a:t>
            </a:r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76314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Пример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(Ф. </a:t>
            </a:r>
            <a:r>
              <a:rPr sz="3300" spc="-200" dirty="0">
                <a:solidFill>
                  <a:srgbClr val="1E1E1E"/>
                </a:solidFill>
                <a:latin typeface="Arial"/>
                <a:cs typeface="Arial"/>
              </a:rPr>
              <a:t>Гальтон,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1886): </a:t>
            </a:r>
            <a:r>
              <a:rPr sz="3300" b="1" i="1" spc="-495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405" dirty="0">
                <a:solidFill>
                  <a:srgbClr val="1E1E1E"/>
                </a:solidFill>
                <a:latin typeface="Verdana"/>
                <a:cs typeface="Verdana"/>
              </a:rPr>
              <a:t>2, </a:t>
            </a:r>
            <a:r>
              <a:rPr sz="3300" b="1" i="1" spc="-755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81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5" dirty="0">
                <a:solidFill>
                  <a:srgbClr val="1E1E1E"/>
                </a:solidFill>
                <a:latin typeface="Verdana"/>
                <a:cs typeface="Verdana"/>
              </a:rPr>
              <a:t>898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8985" y="5046810"/>
            <a:ext cx="389890" cy="30314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15"/>
              </a:lnSpc>
            </a:pPr>
            <a:r>
              <a:rPr sz="2450" b="1" spc="-175" dirty="0">
                <a:solidFill>
                  <a:srgbClr val="1E1E1E"/>
                </a:solidFill>
                <a:latin typeface="Arial"/>
                <a:cs typeface="Arial"/>
              </a:rPr>
              <a:t>Рост </a:t>
            </a:r>
            <a:r>
              <a:rPr sz="2450" b="1" spc="-155" dirty="0">
                <a:solidFill>
                  <a:srgbClr val="1E1E1E"/>
                </a:solidFill>
                <a:latin typeface="Arial"/>
                <a:cs typeface="Arial"/>
              </a:rPr>
              <a:t>взрослых</a:t>
            </a:r>
            <a:r>
              <a:rPr sz="2450" b="1" spc="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2450" b="1" spc="-105" dirty="0">
                <a:solidFill>
                  <a:srgbClr val="1E1E1E"/>
                </a:solidFill>
                <a:latin typeface="Arial"/>
                <a:cs typeface="Arial"/>
              </a:rPr>
              <a:t>детей</a:t>
            </a:r>
            <a:endParaRPr sz="2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20778" y="4138617"/>
            <a:ext cx="2383349" cy="4624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77417" y="4259032"/>
            <a:ext cx="0" cy="4513580"/>
          </a:xfrm>
          <a:custGeom>
            <a:avLst/>
            <a:gdLst/>
            <a:ahLst/>
            <a:cxnLst/>
            <a:rect l="l" t="t" r="r" b="b"/>
            <a:pathLst>
              <a:path h="4513580">
                <a:moveTo>
                  <a:pt x="0" y="0"/>
                </a:moveTo>
                <a:lnTo>
                  <a:pt x="0" y="4512951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82328" y="8766748"/>
            <a:ext cx="4216400" cy="0"/>
          </a:xfrm>
          <a:custGeom>
            <a:avLst/>
            <a:gdLst/>
            <a:ahLst/>
            <a:cxnLst/>
            <a:rect l="l" t="t" r="r" b="b"/>
            <a:pathLst>
              <a:path w="4216400">
                <a:moveTo>
                  <a:pt x="4215923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13542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00179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86817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73454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60091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46729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33366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20004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406641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51144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98079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84716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671354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5799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444629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831266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17903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0454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891430" y="4885580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75</a:t>
            </a:r>
            <a:endParaRPr sz="16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91430" y="5878219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70</a:t>
            </a:r>
            <a:endParaRPr sz="16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91430" y="6824788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65</a:t>
            </a:r>
            <a:endParaRPr sz="16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91430" y="7798580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60</a:t>
            </a:r>
            <a:endParaRPr sz="16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207231" y="5442766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207231" y="5829183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207231" y="6215611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207231" y="6602029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207231" y="6988457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207231" y="7374874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207231" y="7761303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207231" y="8147720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207231" y="8534148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235534" y="5640561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235534" y="6026978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235534" y="6413396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235534" y="6799824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235534" y="7186241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235534" y="7572670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235534" y="7959087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235534" y="8345515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235534" y="8731932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207231" y="4264812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207231" y="4651230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207231" y="5037647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235534" y="4462596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235534" y="4849025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235534" y="5235442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2177913" y="8779353"/>
            <a:ext cx="4332605" cy="861694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  <a:tabLst>
                <a:tab pos="400050" algn="l"/>
                <a:tab pos="788035" algn="l"/>
                <a:tab pos="1176020" algn="l"/>
                <a:tab pos="1564005" algn="l"/>
                <a:tab pos="1951355" algn="l"/>
                <a:tab pos="2339340" algn="l"/>
                <a:tab pos="2727325" algn="l"/>
                <a:tab pos="3115310" algn="l"/>
              </a:tabLst>
            </a:pPr>
            <a:r>
              <a:rPr sz="1650" spc="5" dirty="0">
                <a:solidFill>
                  <a:srgbClr val="1E1E1E"/>
                </a:solidFill>
                <a:latin typeface="Arial"/>
                <a:cs typeface="Arial"/>
              </a:rPr>
              <a:t>58	60	62	64	66	68	70	72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74</a:t>
            </a:r>
            <a:endParaRPr sz="165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1005"/>
              </a:spcBef>
            </a:pPr>
            <a:r>
              <a:rPr sz="2450" b="1" spc="-130" dirty="0">
                <a:solidFill>
                  <a:srgbClr val="1E1E1E"/>
                </a:solidFill>
                <a:latin typeface="Arial"/>
                <a:cs typeface="Arial"/>
              </a:rPr>
              <a:t>Усредненный </a:t>
            </a:r>
            <a:r>
              <a:rPr sz="2450" b="1" spc="-120" dirty="0">
                <a:solidFill>
                  <a:srgbClr val="1E1E1E"/>
                </a:solidFill>
                <a:latin typeface="Arial"/>
                <a:cs typeface="Arial"/>
              </a:rPr>
              <a:t>рост</a:t>
            </a:r>
            <a:r>
              <a:rPr sz="2450" b="1" spc="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2450" b="1" spc="-110" dirty="0">
                <a:solidFill>
                  <a:srgbClr val="1E1E1E"/>
                </a:solidFill>
                <a:latin typeface="Arial"/>
                <a:cs typeface="Arial"/>
              </a:rPr>
              <a:t>родителей</a:t>
            </a:r>
            <a:endParaRPr sz="24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93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71335" y="1233335"/>
            <a:ext cx="6457315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/>
              <a:t>Диаграмма </a:t>
            </a:r>
            <a:r>
              <a:rPr spc="-204"/>
              <a:t>рас</a:t>
            </a:r>
            <a:r>
              <a:rPr lang="ru-RU" spc="-204" dirty="0"/>
              <a:t>с</a:t>
            </a:r>
            <a:r>
              <a:rPr spc="-280"/>
              <a:t>еяния</a:t>
            </a:r>
            <a:endParaRPr spc="-280" dirty="0"/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76314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Пример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(Ф. </a:t>
            </a:r>
            <a:r>
              <a:rPr sz="3300" spc="-200" dirty="0">
                <a:solidFill>
                  <a:srgbClr val="1E1E1E"/>
                </a:solidFill>
                <a:latin typeface="Arial"/>
                <a:cs typeface="Arial"/>
              </a:rPr>
              <a:t>Гальтон,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1886): </a:t>
            </a:r>
            <a:r>
              <a:rPr sz="3300" b="1" i="1" spc="-495" dirty="0">
                <a:solidFill>
                  <a:srgbClr val="1E1E1E"/>
                </a:solidFill>
                <a:latin typeface="Verdana"/>
                <a:cs typeface="Verdana"/>
              </a:rPr>
              <a:t>n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3300" b="1" spc="-405" dirty="0">
                <a:solidFill>
                  <a:srgbClr val="1E1E1E"/>
                </a:solidFill>
                <a:latin typeface="Verdana"/>
                <a:cs typeface="Verdana"/>
              </a:rPr>
              <a:t>2, </a:t>
            </a:r>
            <a:r>
              <a:rPr sz="3300" b="1" i="1" spc="-755" dirty="0">
                <a:solidFill>
                  <a:srgbClr val="1E1E1E"/>
                </a:solidFill>
                <a:latin typeface="Verdana"/>
                <a:cs typeface="Verdana"/>
              </a:rPr>
              <a:t>m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81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5" dirty="0">
                <a:solidFill>
                  <a:srgbClr val="1E1E1E"/>
                </a:solidFill>
                <a:latin typeface="Verdana"/>
                <a:cs typeface="Verdana"/>
              </a:rPr>
              <a:t>898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5836" y="8730489"/>
            <a:ext cx="39331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Напоминает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80" dirty="0">
                <a:solidFill>
                  <a:srgbClr val="1E1E1E"/>
                </a:solidFill>
                <a:latin typeface="Arial"/>
                <a:cs typeface="Arial"/>
              </a:rPr>
              <a:t>эллипс?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8985" y="5046810"/>
            <a:ext cx="389890" cy="30314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15"/>
              </a:lnSpc>
            </a:pPr>
            <a:r>
              <a:rPr sz="2450" b="1" spc="-175" dirty="0">
                <a:solidFill>
                  <a:srgbClr val="1E1E1E"/>
                </a:solidFill>
                <a:latin typeface="Arial"/>
                <a:cs typeface="Arial"/>
              </a:rPr>
              <a:t>Рост </a:t>
            </a:r>
            <a:r>
              <a:rPr sz="2450" b="1" spc="-155" dirty="0">
                <a:solidFill>
                  <a:srgbClr val="1E1E1E"/>
                </a:solidFill>
                <a:latin typeface="Arial"/>
                <a:cs typeface="Arial"/>
              </a:rPr>
              <a:t>взрослых</a:t>
            </a:r>
            <a:r>
              <a:rPr sz="2450" b="1" spc="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2450" b="1" spc="-105" dirty="0">
                <a:solidFill>
                  <a:srgbClr val="1E1E1E"/>
                </a:solidFill>
                <a:latin typeface="Arial"/>
                <a:cs typeface="Arial"/>
              </a:rPr>
              <a:t>детей</a:t>
            </a:r>
            <a:endParaRPr sz="24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20778" y="4138617"/>
            <a:ext cx="2383349" cy="4624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77417" y="4259032"/>
            <a:ext cx="0" cy="4513580"/>
          </a:xfrm>
          <a:custGeom>
            <a:avLst/>
            <a:gdLst/>
            <a:ahLst/>
            <a:cxnLst/>
            <a:rect l="l" t="t" r="r" b="b"/>
            <a:pathLst>
              <a:path h="4513580">
                <a:moveTo>
                  <a:pt x="0" y="0"/>
                </a:moveTo>
                <a:lnTo>
                  <a:pt x="0" y="4512951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2328" y="8766748"/>
            <a:ext cx="4211955" cy="0"/>
          </a:xfrm>
          <a:custGeom>
            <a:avLst/>
            <a:gdLst/>
            <a:ahLst/>
            <a:cxnLst/>
            <a:rect l="l" t="t" r="r" b="b"/>
            <a:pathLst>
              <a:path w="4211955">
                <a:moveTo>
                  <a:pt x="4211746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13542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00179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86817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73454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60091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46729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633366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20004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06641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51144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98079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84716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671354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05799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444629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31266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217903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60454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891430" y="4885580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75</a:t>
            </a:r>
            <a:endParaRPr sz="16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91430" y="5878219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70</a:t>
            </a:r>
            <a:endParaRPr sz="16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91430" y="6824788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65</a:t>
            </a:r>
            <a:endParaRPr sz="16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91430" y="7798580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60</a:t>
            </a:r>
            <a:endParaRPr sz="16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77913" y="8779353"/>
            <a:ext cx="4332605" cy="861694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  <a:tabLst>
                <a:tab pos="400050" algn="l"/>
                <a:tab pos="788035" algn="l"/>
                <a:tab pos="1176020" algn="l"/>
                <a:tab pos="1564005" algn="l"/>
                <a:tab pos="1951355" algn="l"/>
                <a:tab pos="2339340" algn="l"/>
                <a:tab pos="2727325" algn="l"/>
                <a:tab pos="3115310" algn="l"/>
              </a:tabLst>
            </a:pPr>
            <a:r>
              <a:rPr sz="1650" spc="5" dirty="0">
                <a:solidFill>
                  <a:srgbClr val="1E1E1E"/>
                </a:solidFill>
                <a:latin typeface="Arial"/>
                <a:cs typeface="Arial"/>
              </a:rPr>
              <a:t>58	60	62	64	66	68	70	72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74</a:t>
            </a:r>
            <a:endParaRPr sz="165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1005"/>
              </a:spcBef>
            </a:pPr>
            <a:r>
              <a:rPr sz="2450" b="1" spc="-130" dirty="0">
                <a:solidFill>
                  <a:srgbClr val="1E1E1E"/>
                </a:solidFill>
                <a:latin typeface="Arial"/>
                <a:cs typeface="Arial"/>
              </a:rPr>
              <a:t>Усредненный </a:t>
            </a:r>
            <a:r>
              <a:rPr sz="2450" b="1" spc="-120" dirty="0">
                <a:solidFill>
                  <a:srgbClr val="1E1E1E"/>
                </a:solidFill>
                <a:latin typeface="Arial"/>
                <a:cs typeface="Arial"/>
              </a:rPr>
              <a:t>рост</a:t>
            </a:r>
            <a:r>
              <a:rPr sz="2450" b="1" spc="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2450" b="1" spc="-110" dirty="0">
                <a:solidFill>
                  <a:srgbClr val="1E1E1E"/>
                </a:solidFill>
                <a:latin typeface="Arial"/>
                <a:cs typeface="Arial"/>
              </a:rPr>
              <a:t>родителей</a:t>
            </a:r>
            <a:endParaRPr sz="24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207231" y="5442766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207231" y="5829183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207231" y="6215611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207231" y="6602029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207231" y="6988457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207231" y="7374874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207231" y="7761303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207231" y="8147720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207231" y="8534148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235534" y="5640561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235534" y="6026978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235534" y="6413396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235534" y="6799824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235534" y="7186241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235534" y="7572670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235534" y="7959087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235534" y="8345515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235534" y="8731932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207231" y="4264812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207231" y="4651230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207231" y="5037647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235534" y="4462596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235534" y="4849025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235534" y="5235442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94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3446298" y="4235473"/>
            <a:ext cx="2484715" cy="45234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631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Ковариационная</a:t>
            </a:r>
            <a:r>
              <a:rPr spc="-135" dirty="0"/>
              <a:t> </a:t>
            </a:r>
            <a:r>
              <a:rPr spc="-155" dirty="0"/>
              <a:t>матрица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06104" y="3453163"/>
            <a:ext cx="645731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20" dirty="0">
                <a:solidFill>
                  <a:srgbClr val="1E1E1E"/>
                </a:solidFill>
                <a:latin typeface="Arial"/>
                <a:cs typeface="Arial"/>
              </a:rPr>
              <a:t>К.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Пирсон,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1901: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</a:t>
            </a:r>
            <a:r>
              <a:rPr sz="3300" spc="-2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рассеяния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72224" y="4458368"/>
            <a:ext cx="28168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68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3300" b="1" i="1" spc="-68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3300" b="1" i="1" spc="-4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95" dirty="0">
                <a:solidFill>
                  <a:srgbClr val="1E1E1E"/>
                </a:solidFill>
                <a:latin typeface="Verdana"/>
                <a:cs typeface="Verdana"/>
              </a:rPr>
              <a:t>]S</a:t>
            </a:r>
            <a:r>
              <a:rPr sz="2850" b="1" spc="-892" baseline="32163" dirty="0">
                <a:solidFill>
                  <a:srgbClr val="1E1E1E"/>
                </a:solidFill>
                <a:latin typeface="Verdana"/>
                <a:cs typeface="Verdana"/>
              </a:rPr>
              <a:t>−1</a:t>
            </a:r>
            <a:endParaRPr sz="2850" baseline="32163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97521" y="4458368"/>
            <a:ext cx="60071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spc="-71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4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89821" y="4623963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982806" y="4207066"/>
            <a:ext cx="86360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7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639466" y="4367908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639466" y="4871254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670416" y="4623963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747629" y="5319391"/>
            <a:ext cx="211454" cy="0"/>
          </a:xfrm>
          <a:custGeom>
            <a:avLst/>
            <a:gdLst/>
            <a:ahLst/>
            <a:cxnLst/>
            <a:rect l="l" t="t" r="r" b="b"/>
            <a:pathLst>
              <a:path w="211454">
                <a:moveTo>
                  <a:pt x="0" y="0"/>
                </a:moveTo>
                <a:lnTo>
                  <a:pt x="211323" y="0"/>
                </a:lnTo>
              </a:path>
            </a:pathLst>
          </a:custGeom>
          <a:ln w="520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77738" y="4329426"/>
            <a:ext cx="0" cy="963930"/>
          </a:xfrm>
          <a:custGeom>
            <a:avLst/>
            <a:gdLst/>
            <a:ahLst/>
            <a:cxnLst/>
            <a:rect l="l" t="t" r="r" b="b"/>
            <a:pathLst>
              <a:path h="963929">
                <a:moveTo>
                  <a:pt x="0" y="0"/>
                </a:moveTo>
                <a:lnTo>
                  <a:pt x="0" y="963929"/>
                </a:lnTo>
              </a:path>
            </a:pathLst>
          </a:custGeom>
          <a:ln w="60218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747629" y="4303391"/>
            <a:ext cx="211454" cy="0"/>
          </a:xfrm>
          <a:custGeom>
            <a:avLst/>
            <a:gdLst/>
            <a:ahLst/>
            <a:cxnLst/>
            <a:rect l="l" t="t" r="r" b="b"/>
            <a:pathLst>
              <a:path w="211454">
                <a:moveTo>
                  <a:pt x="0" y="0"/>
                </a:moveTo>
                <a:lnTo>
                  <a:pt x="211323" y="0"/>
                </a:lnTo>
              </a:path>
            </a:pathLst>
          </a:custGeom>
          <a:ln w="520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961446" y="5319352"/>
            <a:ext cx="211454" cy="0"/>
          </a:xfrm>
          <a:custGeom>
            <a:avLst/>
            <a:gdLst/>
            <a:ahLst/>
            <a:cxnLst/>
            <a:rect l="l" t="t" r="r" b="b"/>
            <a:pathLst>
              <a:path w="211454">
                <a:moveTo>
                  <a:pt x="0" y="0"/>
                </a:moveTo>
                <a:lnTo>
                  <a:pt x="211323" y="0"/>
                </a:lnTo>
              </a:path>
            </a:pathLst>
          </a:custGeom>
          <a:ln w="520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142666" y="4329386"/>
            <a:ext cx="0" cy="963930"/>
          </a:xfrm>
          <a:custGeom>
            <a:avLst/>
            <a:gdLst/>
            <a:ahLst/>
            <a:cxnLst/>
            <a:rect l="l" t="t" r="r" b="b"/>
            <a:pathLst>
              <a:path h="963929">
                <a:moveTo>
                  <a:pt x="0" y="0"/>
                </a:moveTo>
                <a:lnTo>
                  <a:pt x="0" y="963930"/>
                </a:lnTo>
              </a:path>
            </a:pathLst>
          </a:custGeom>
          <a:ln w="60207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961446" y="4303352"/>
            <a:ext cx="211454" cy="0"/>
          </a:xfrm>
          <a:custGeom>
            <a:avLst/>
            <a:gdLst/>
            <a:ahLst/>
            <a:cxnLst/>
            <a:rect l="l" t="t" r="r" b="b"/>
            <a:pathLst>
              <a:path w="211454">
                <a:moveTo>
                  <a:pt x="0" y="0"/>
                </a:moveTo>
                <a:lnTo>
                  <a:pt x="211323" y="0"/>
                </a:lnTo>
              </a:path>
            </a:pathLst>
          </a:custGeom>
          <a:ln w="52069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77417" y="4259032"/>
            <a:ext cx="0" cy="4513580"/>
          </a:xfrm>
          <a:custGeom>
            <a:avLst/>
            <a:gdLst/>
            <a:ahLst/>
            <a:cxnLst/>
            <a:rect l="l" t="t" r="r" b="b"/>
            <a:pathLst>
              <a:path h="4513580">
                <a:moveTo>
                  <a:pt x="0" y="0"/>
                </a:moveTo>
                <a:lnTo>
                  <a:pt x="0" y="4512951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82328" y="8766748"/>
            <a:ext cx="4212590" cy="0"/>
          </a:xfrm>
          <a:custGeom>
            <a:avLst/>
            <a:gdLst/>
            <a:ahLst/>
            <a:cxnLst/>
            <a:rect l="l" t="t" r="r" b="b"/>
            <a:pathLst>
              <a:path w="4212590">
                <a:moveTo>
                  <a:pt x="421223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13542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00179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86817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473454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860091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46729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633366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020004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06641" y="8771983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51144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898079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284716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71354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05799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44629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831266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217903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04541" y="8771983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891430" y="4885580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75</a:t>
            </a:r>
            <a:endParaRPr sz="16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891430" y="5878219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70</a:t>
            </a:r>
            <a:endParaRPr sz="16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891430" y="6824788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65</a:t>
            </a:r>
            <a:endParaRPr sz="16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891430" y="7798580"/>
            <a:ext cx="26860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5" dirty="0">
                <a:solidFill>
                  <a:srgbClr val="1E1E1E"/>
                </a:solidFill>
                <a:latin typeface="Arial"/>
                <a:cs typeface="Arial"/>
              </a:rPr>
              <a:t>60</a:t>
            </a:r>
            <a:endParaRPr sz="16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177913" y="8862422"/>
            <a:ext cx="3351529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0050" algn="l"/>
                <a:tab pos="788035" algn="l"/>
                <a:tab pos="1176020" algn="l"/>
                <a:tab pos="1564005" algn="l"/>
                <a:tab pos="1951355" algn="l"/>
                <a:tab pos="2339340" algn="l"/>
                <a:tab pos="2727325" algn="l"/>
                <a:tab pos="3115310" algn="l"/>
              </a:tabLst>
            </a:pP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5</a:t>
            </a: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8</a:t>
            </a:r>
            <a:r>
              <a:rPr sz="165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6</a:t>
            </a: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0</a:t>
            </a:r>
            <a:r>
              <a:rPr sz="165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6</a:t>
            </a: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2</a:t>
            </a:r>
            <a:r>
              <a:rPr sz="165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6</a:t>
            </a: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4</a:t>
            </a:r>
            <a:r>
              <a:rPr sz="165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6</a:t>
            </a: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6</a:t>
            </a:r>
            <a:r>
              <a:rPr sz="165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6</a:t>
            </a: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8</a:t>
            </a:r>
            <a:r>
              <a:rPr sz="165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7</a:t>
            </a: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0</a:t>
            </a:r>
            <a:r>
              <a:rPr sz="165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7</a:t>
            </a: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2</a:t>
            </a:r>
            <a:r>
              <a:rPr sz="1650" dirty="0">
                <a:solidFill>
                  <a:srgbClr val="1E1E1E"/>
                </a:solidFill>
                <a:latin typeface="Arial"/>
                <a:cs typeface="Arial"/>
              </a:rPr>
              <a:t>	</a:t>
            </a:r>
            <a:r>
              <a:rPr sz="1650" spc="-55" dirty="0">
                <a:solidFill>
                  <a:srgbClr val="1E1E1E"/>
                </a:solidFill>
                <a:latin typeface="Arial"/>
                <a:cs typeface="Arial"/>
              </a:rPr>
              <a:t>74</a:t>
            </a:r>
            <a:endParaRPr sz="165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207231" y="5442766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207231" y="5829183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207231" y="6215611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207231" y="6602029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207231" y="6988457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207231" y="7374874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207231" y="7761303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207231" y="8147720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207231" y="8534148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235534" y="5640561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235534" y="6026978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235534" y="6413396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235534" y="6799824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235534" y="7186241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235534" y="7572670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235534" y="7959087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235534" y="8345515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235534" y="8731932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207231" y="4264812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207231" y="4651230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207231" y="5037647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235534" y="4462596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235534" y="4849025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235534" y="5235442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95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1873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Оптимизационная </a:t>
            </a:r>
            <a:r>
              <a:rPr spc="-120" dirty="0"/>
              <a:t>задача</a:t>
            </a:r>
            <a:r>
              <a:rPr spc="75" dirty="0"/>
              <a:t> </a:t>
            </a:r>
            <a:r>
              <a:rPr spc="-235" dirty="0"/>
              <a:t>Пирсона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8749665" cy="63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95"/>
              </a:spcBef>
            </a:pP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Найти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прямую,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дающую </a:t>
            </a:r>
            <a:r>
              <a:rPr sz="3300" b="1" spc="-535" dirty="0">
                <a:solidFill>
                  <a:srgbClr val="1E1E1E"/>
                </a:solidFill>
                <a:latin typeface="Verdana"/>
                <a:cs typeface="Verdana"/>
              </a:rPr>
              <a:t>min(</a:t>
            </a:r>
            <a:r>
              <a:rPr sz="3300" b="1" i="1" spc="-535" dirty="0">
                <a:solidFill>
                  <a:srgbClr val="1E1E1E"/>
                </a:solidFill>
                <a:latin typeface="Verdana"/>
                <a:cs typeface="Verdana"/>
              </a:rPr>
              <a:t>δ </a:t>
            </a:r>
            <a:r>
              <a:rPr sz="2850" b="1" i="1" spc="-472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 </a:t>
            </a:r>
            <a:r>
              <a:rPr sz="2850" b="1" i="1" spc="-472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 </a:t>
            </a:r>
            <a:r>
              <a:rPr sz="2850" b="1" i="1" spc="-472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8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430" dirty="0">
                <a:solidFill>
                  <a:srgbClr val="1E1E1E"/>
                </a:solidFill>
                <a:latin typeface="Verdana"/>
                <a:cs typeface="Verdana"/>
              </a:rPr>
              <a:t>…)</a:t>
            </a:r>
            <a:r>
              <a:rPr sz="3300" spc="-43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 marL="5809615">
              <a:lnSpc>
                <a:spcPts val="1550"/>
              </a:lnSpc>
              <a:tabLst>
                <a:tab pos="6646545" algn="l"/>
                <a:tab pos="7482205" algn="l"/>
              </a:tabLst>
            </a:pPr>
            <a:r>
              <a:rPr sz="1900" b="1" i="1" spc="-315" dirty="0">
                <a:solidFill>
                  <a:srgbClr val="1E1E1E"/>
                </a:solidFill>
                <a:latin typeface="Verdana"/>
                <a:cs typeface="Verdana"/>
              </a:rPr>
              <a:t>1	2	3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05707" y="4629680"/>
            <a:ext cx="0" cy="3423920"/>
          </a:xfrm>
          <a:custGeom>
            <a:avLst/>
            <a:gdLst/>
            <a:ahLst/>
            <a:cxnLst/>
            <a:rect l="l" t="t" r="r" b="b"/>
            <a:pathLst>
              <a:path h="3423920">
                <a:moveTo>
                  <a:pt x="0" y="0"/>
                </a:moveTo>
                <a:lnTo>
                  <a:pt x="0" y="3423487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07246" y="8047922"/>
            <a:ext cx="5269230" cy="0"/>
          </a:xfrm>
          <a:custGeom>
            <a:avLst/>
            <a:gdLst/>
            <a:ahLst/>
            <a:cxnLst/>
            <a:rect l="l" t="t" r="r" b="b"/>
            <a:pathLst>
              <a:path w="5269230">
                <a:moveTo>
                  <a:pt x="5268740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45370" y="5569538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4</a:t>
            </a:r>
            <a:endParaRPr sz="16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5370" y="4984425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5</a:t>
            </a:r>
            <a:endParaRPr sz="16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5370" y="6149416"/>
            <a:ext cx="151130" cy="144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3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2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1</a:t>
            </a:r>
            <a:endParaRPr sz="16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45370" y="8097000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0</a:t>
            </a:r>
            <a:endParaRPr sz="16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27964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1</a:t>
            </a:r>
            <a:endParaRPr sz="1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10355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2</a:t>
            </a:r>
            <a:endParaRPr sz="16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92746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3</a:t>
            </a:r>
            <a:endParaRPr sz="16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5136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4</a:t>
            </a:r>
            <a:endParaRPr sz="16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57527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5</a:t>
            </a:r>
            <a:endParaRPr sz="16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39918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6</a:t>
            </a:r>
            <a:endParaRPr sz="16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22308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7</a:t>
            </a:r>
            <a:endParaRPr sz="1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04699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8</a:t>
            </a:r>
            <a:endParaRPr sz="1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87089" y="8123177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9</a:t>
            </a:r>
            <a:endParaRPr sz="16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32882" y="6299661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32882" y="6882418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32882" y="7465176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32882" y="8047922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61185" y="6591045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61185" y="7173792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61185" y="7756549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32882" y="5134157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32882" y="5716914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661185" y="4842784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661185" y="5425541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661185" y="6008288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5919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044452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629722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214992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751822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33709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92236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288652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87392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96012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581282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166552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97080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80026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38553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50763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09290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67817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064125" y="4982099"/>
            <a:ext cx="154940" cy="284480"/>
          </a:xfrm>
          <a:custGeom>
            <a:avLst/>
            <a:gdLst/>
            <a:ahLst/>
            <a:cxnLst/>
            <a:rect l="l" t="t" r="r" b="b"/>
            <a:pathLst>
              <a:path w="154939" h="284479">
                <a:moveTo>
                  <a:pt x="154403" y="0"/>
                </a:moveTo>
                <a:lnTo>
                  <a:pt x="0" y="284347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769790" y="5321503"/>
            <a:ext cx="74295" cy="133350"/>
          </a:xfrm>
          <a:custGeom>
            <a:avLst/>
            <a:gdLst/>
            <a:ahLst/>
            <a:cxnLst/>
            <a:rect l="l" t="t" r="r" b="b"/>
            <a:pathLst>
              <a:path w="74294" h="133350">
                <a:moveTo>
                  <a:pt x="74060" y="0"/>
                </a:moveTo>
                <a:lnTo>
                  <a:pt x="0" y="133262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226006" y="5089918"/>
            <a:ext cx="212090" cy="375285"/>
          </a:xfrm>
          <a:custGeom>
            <a:avLst/>
            <a:gdLst/>
            <a:ahLst/>
            <a:cxnLst/>
            <a:rect l="l" t="t" r="r" b="b"/>
            <a:pathLst>
              <a:path w="212089" h="375285">
                <a:moveTo>
                  <a:pt x="211585" y="0"/>
                </a:moveTo>
                <a:lnTo>
                  <a:pt x="0" y="374993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637575" y="5809048"/>
            <a:ext cx="97790" cy="172085"/>
          </a:xfrm>
          <a:custGeom>
            <a:avLst/>
            <a:gdLst/>
            <a:ahLst/>
            <a:cxnLst/>
            <a:rect l="l" t="t" r="r" b="b"/>
            <a:pathLst>
              <a:path w="97789" h="172085">
                <a:moveTo>
                  <a:pt x="97473" y="0"/>
                </a:moveTo>
                <a:lnTo>
                  <a:pt x="0" y="171952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659386" y="6410307"/>
            <a:ext cx="180340" cy="303530"/>
          </a:xfrm>
          <a:custGeom>
            <a:avLst/>
            <a:gdLst/>
            <a:ahLst/>
            <a:cxnLst/>
            <a:rect l="l" t="t" r="r" b="b"/>
            <a:pathLst>
              <a:path w="180339" h="303529">
                <a:moveTo>
                  <a:pt x="179868" y="0"/>
                </a:moveTo>
                <a:lnTo>
                  <a:pt x="0" y="303488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210029" y="5912940"/>
            <a:ext cx="55244" cy="92710"/>
          </a:xfrm>
          <a:custGeom>
            <a:avLst/>
            <a:gdLst/>
            <a:ahLst/>
            <a:cxnLst/>
            <a:rect l="l" t="t" r="r" b="b"/>
            <a:pathLst>
              <a:path w="55245" h="92710">
                <a:moveTo>
                  <a:pt x="54762" y="0"/>
                </a:moveTo>
                <a:lnTo>
                  <a:pt x="0" y="92279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199454" y="6444829"/>
            <a:ext cx="63500" cy="107950"/>
          </a:xfrm>
          <a:custGeom>
            <a:avLst/>
            <a:gdLst/>
            <a:ahLst/>
            <a:cxnLst/>
            <a:rect l="l" t="t" r="r" b="b"/>
            <a:pathLst>
              <a:path w="63500" h="107950">
                <a:moveTo>
                  <a:pt x="63076" y="0"/>
                </a:moveTo>
                <a:lnTo>
                  <a:pt x="0" y="107734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045239" y="7071533"/>
            <a:ext cx="50165" cy="76835"/>
          </a:xfrm>
          <a:custGeom>
            <a:avLst/>
            <a:gdLst/>
            <a:ahLst/>
            <a:cxnLst/>
            <a:rect l="l" t="t" r="r" b="b"/>
            <a:pathLst>
              <a:path w="50164" h="76834">
                <a:moveTo>
                  <a:pt x="50008" y="0"/>
                </a:moveTo>
                <a:lnTo>
                  <a:pt x="0" y="76489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632498" y="6106075"/>
            <a:ext cx="381635" cy="673100"/>
          </a:xfrm>
          <a:custGeom>
            <a:avLst/>
            <a:gdLst/>
            <a:ahLst/>
            <a:cxnLst/>
            <a:rect l="l" t="t" r="r" b="b"/>
            <a:pathLst>
              <a:path w="381635" h="673100">
                <a:moveTo>
                  <a:pt x="381255" y="0"/>
                </a:moveTo>
                <a:lnTo>
                  <a:pt x="0" y="672838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2124009" y="4988195"/>
            <a:ext cx="2565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315668" y="5302321"/>
            <a:ext cx="161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794125" y="5327451"/>
            <a:ext cx="2565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993575" y="5641578"/>
            <a:ext cx="161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396620" y="5017251"/>
            <a:ext cx="2565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596530" y="5331378"/>
            <a:ext cx="161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2005174" y="5241735"/>
            <a:ext cx="83767" cy="86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717194" y="5434389"/>
            <a:ext cx="83767" cy="86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410891" y="5019480"/>
            <a:ext cx="83767" cy="861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579733" y="5967504"/>
            <a:ext cx="83767" cy="86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237410" y="5846680"/>
            <a:ext cx="83767" cy="86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603001" y="6705534"/>
            <a:ext cx="83767" cy="861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239369" y="6374151"/>
            <a:ext cx="83767" cy="86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980980" y="6043009"/>
            <a:ext cx="83767" cy="86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986477" y="7134840"/>
            <a:ext cx="83767" cy="86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632934" y="4629680"/>
            <a:ext cx="5414010" cy="2951480"/>
          </a:xfrm>
          <a:custGeom>
            <a:avLst/>
            <a:gdLst/>
            <a:ahLst/>
            <a:cxnLst/>
            <a:rect l="l" t="t" r="r" b="b"/>
            <a:pathLst>
              <a:path w="5414009" h="2951479">
                <a:moveTo>
                  <a:pt x="0" y="0"/>
                </a:moveTo>
                <a:lnTo>
                  <a:pt x="5413971" y="2951239"/>
                </a:lnTo>
              </a:path>
            </a:pathLst>
          </a:custGeom>
          <a:ln w="62825">
            <a:solidFill>
              <a:srgbClr val="CB3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96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18730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Оптимизационная </a:t>
            </a:r>
            <a:r>
              <a:rPr spc="-120" dirty="0"/>
              <a:t>задача</a:t>
            </a:r>
            <a:r>
              <a:rPr spc="75" dirty="0"/>
              <a:t> </a:t>
            </a:r>
            <a:r>
              <a:rPr spc="-235" dirty="0"/>
              <a:t>Пирсона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8730489"/>
            <a:ext cx="64166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885" dirty="0">
                <a:solidFill>
                  <a:srgbClr val="CB3757"/>
                </a:solidFill>
                <a:latin typeface="Verdana"/>
                <a:cs typeface="Verdana"/>
              </a:rPr>
              <a:t>≠ </a:t>
            </a:r>
            <a:r>
              <a:rPr sz="3300" b="1" spc="-180" dirty="0">
                <a:solidFill>
                  <a:srgbClr val="1E1E1E"/>
                </a:solidFill>
                <a:latin typeface="Arial"/>
                <a:cs typeface="Arial"/>
              </a:rPr>
              <a:t>метод </a:t>
            </a:r>
            <a:r>
              <a:rPr sz="3300" b="1" spc="-145" dirty="0">
                <a:solidFill>
                  <a:srgbClr val="1E1E1E"/>
                </a:solidFill>
                <a:latin typeface="Arial"/>
                <a:cs typeface="Arial"/>
              </a:rPr>
              <a:t>наименьших</a:t>
            </a:r>
            <a:r>
              <a:rPr sz="3300" b="1" spc="-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105" dirty="0">
                <a:solidFill>
                  <a:srgbClr val="1E1E1E"/>
                </a:solidFill>
                <a:latin typeface="Arial"/>
                <a:cs typeface="Arial"/>
              </a:rPr>
              <a:t>квадратов!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104" y="3453163"/>
            <a:ext cx="8749665" cy="63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95"/>
              </a:spcBef>
            </a:pP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Найти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прямую,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дающую </a:t>
            </a:r>
            <a:r>
              <a:rPr sz="3300" b="1" spc="-535" dirty="0">
                <a:solidFill>
                  <a:srgbClr val="1E1E1E"/>
                </a:solidFill>
                <a:latin typeface="Verdana"/>
                <a:cs typeface="Verdana"/>
              </a:rPr>
              <a:t>min(</a:t>
            </a:r>
            <a:r>
              <a:rPr sz="3300" b="1" i="1" spc="-535" dirty="0">
                <a:solidFill>
                  <a:srgbClr val="1E1E1E"/>
                </a:solidFill>
                <a:latin typeface="Verdana"/>
                <a:cs typeface="Verdana"/>
              </a:rPr>
              <a:t>δ </a:t>
            </a:r>
            <a:r>
              <a:rPr sz="2850" b="1" i="1" spc="-472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 </a:t>
            </a:r>
            <a:r>
              <a:rPr sz="2850" b="1" i="1" spc="-472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 </a:t>
            </a:r>
            <a:r>
              <a:rPr sz="2850" b="1" i="1" spc="-472" baseline="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8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430" dirty="0">
                <a:solidFill>
                  <a:srgbClr val="1E1E1E"/>
                </a:solidFill>
                <a:latin typeface="Verdana"/>
                <a:cs typeface="Verdana"/>
              </a:rPr>
              <a:t>…)</a:t>
            </a:r>
            <a:r>
              <a:rPr sz="3300" spc="-43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 marL="5809615">
              <a:lnSpc>
                <a:spcPts val="1550"/>
              </a:lnSpc>
              <a:tabLst>
                <a:tab pos="6646545" algn="l"/>
                <a:tab pos="7482205" algn="l"/>
              </a:tabLst>
            </a:pPr>
            <a:r>
              <a:rPr sz="1900" b="1" i="1" spc="-315" dirty="0">
                <a:solidFill>
                  <a:srgbClr val="1E1E1E"/>
                </a:solidFill>
                <a:latin typeface="Verdana"/>
                <a:cs typeface="Verdana"/>
              </a:rPr>
              <a:t>1	2	3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05707" y="4629680"/>
            <a:ext cx="0" cy="3423920"/>
          </a:xfrm>
          <a:custGeom>
            <a:avLst/>
            <a:gdLst/>
            <a:ahLst/>
            <a:cxnLst/>
            <a:rect l="l" t="t" r="r" b="b"/>
            <a:pathLst>
              <a:path h="3423920">
                <a:moveTo>
                  <a:pt x="0" y="0"/>
                </a:moveTo>
                <a:lnTo>
                  <a:pt x="0" y="3423487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07246" y="8047922"/>
            <a:ext cx="5269230" cy="0"/>
          </a:xfrm>
          <a:custGeom>
            <a:avLst/>
            <a:gdLst/>
            <a:ahLst/>
            <a:cxnLst/>
            <a:rect l="l" t="t" r="r" b="b"/>
            <a:pathLst>
              <a:path w="5269230">
                <a:moveTo>
                  <a:pt x="5268740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45370" y="5569538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4</a:t>
            </a:r>
            <a:endParaRPr sz="16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5370" y="4984425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5</a:t>
            </a:r>
            <a:endParaRPr sz="16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45370" y="6149416"/>
            <a:ext cx="151130" cy="144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3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2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1</a:t>
            </a:r>
            <a:endParaRPr sz="16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45370" y="8097000"/>
            <a:ext cx="151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0</a:t>
            </a:r>
            <a:endParaRPr sz="1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27964" y="8123177"/>
            <a:ext cx="481076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94995" algn="l"/>
                <a:tab pos="1177290" algn="l"/>
                <a:tab pos="1759585" algn="l"/>
                <a:tab pos="2341880" algn="l"/>
                <a:tab pos="2924175" algn="l"/>
                <a:tab pos="3506470" algn="l"/>
                <a:tab pos="4088765" algn="l"/>
                <a:tab pos="4671695" algn="l"/>
              </a:tabLst>
            </a:pPr>
            <a:r>
              <a:rPr sz="1650" spc="70" dirty="0">
                <a:solidFill>
                  <a:srgbClr val="1E1E1E"/>
                </a:solidFill>
                <a:latin typeface="Arial"/>
                <a:cs typeface="Arial"/>
              </a:rPr>
              <a:t>1	2	3	4	5	6	7	8	9</a:t>
            </a:r>
            <a:endParaRPr sz="16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32882" y="6299661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32882" y="6882418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32882" y="7465176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32882" y="8047922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61185" y="6591045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61185" y="7173792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61185" y="7756549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2882" y="5134157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32882" y="5716914"/>
            <a:ext cx="67945" cy="0"/>
          </a:xfrm>
          <a:custGeom>
            <a:avLst/>
            <a:gdLst/>
            <a:ahLst/>
            <a:cxnLst/>
            <a:rect l="l" t="t" r="r" b="b"/>
            <a:pathLst>
              <a:path w="67944">
                <a:moveTo>
                  <a:pt x="67568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61185" y="4842784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61185" y="5425541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61185" y="6008288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39265" y="0"/>
                </a:moveTo>
                <a:lnTo>
                  <a:pt x="0" y="0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5919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044452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629722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14992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751822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33709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92236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288652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87392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96012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581282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166552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97080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80026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385533" y="8051618"/>
            <a:ext cx="0" cy="67945"/>
          </a:xfrm>
          <a:custGeom>
            <a:avLst/>
            <a:gdLst/>
            <a:ahLst/>
            <a:cxnLst/>
            <a:rect l="l" t="t" r="r" b="b"/>
            <a:pathLst>
              <a:path h="67945">
                <a:moveTo>
                  <a:pt x="0" y="0"/>
                </a:moveTo>
                <a:lnTo>
                  <a:pt x="0" y="67568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0763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09290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678173" y="8051618"/>
            <a:ext cx="0" cy="39370"/>
          </a:xfrm>
          <a:custGeom>
            <a:avLst/>
            <a:gdLst/>
            <a:ahLst/>
            <a:cxnLst/>
            <a:rect l="l" t="t" r="r" b="b"/>
            <a:pathLst>
              <a:path h="39370">
                <a:moveTo>
                  <a:pt x="0" y="0"/>
                </a:moveTo>
                <a:lnTo>
                  <a:pt x="0" y="39265"/>
                </a:lnTo>
              </a:path>
            </a:pathLst>
          </a:custGeom>
          <a:ln w="10470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064125" y="4982099"/>
            <a:ext cx="154940" cy="284480"/>
          </a:xfrm>
          <a:custGeom>
            <a:avLst/>
            <a:gdLst/>
            <a:ahLst/>
            <a:cxnLst/>
            <a:rect l="l" t="t" r="r" b="b"/>
            <a:pathLst>
              <a:path w="154939" h="284479">
                <a:moveTo>
                  <a:pt x="154403" y="0"/>
                </a:moveTo>
                <a:lnTo>
                  <a:pt x="0" y="284347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769790" y="5321503"/>
            <a:ext cx="74295" cy="133350"/>
          </a:xfrm>
          <a:custGeom>
            <a:avLst/>
            <a:gdLst/>
            <a:ahLst/>
            <a:cxnLst/>
            <a:rect l="l" t="t" r="r" b="b"/>
            <a:pathLst>
              <a:path w="74294" h="133350">
                <a:moveTo>
                  <a:pt x="74060" y="0"/>
                </a:moveTo>
                <a:lnTo>
                  <a:pt x="0" y="133262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26006" y="5089918"/>
            <a:ext cx="212090" cy="375285"/>
          </a:xfrm>
          <a:custGeom>
            <a:avLst/>
            <a:gdLst/>
            <a:ahLst/>
            <a:cxnLst/>
            <a:rect l="l" t="t" r="r" b="b"/>
            <a:pathLst>
              <a:path w="212089" h="375285">
                <a:moveTo>
                  <a:pt x="211585" y="0"/>
                </a:moveTo>
                <a:lnTo>
                  <a:pt x="0" y="374993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637575" y="5809048"/>
            <a:ext cx="97790" cy="172085"/>
          </a:xfrm>
          <a:custGeom>
            <a:avLst/>
            <a:gdLst/>
            <a:ahLst/>
            <a:cxnLst/>
            <a:rect l="l" t="t" r="r" b="b"/>
            <a:pathLst>
              <a:path w="97789" h="172085">
                <a:moveTo>
                  <a:pt x="97473" y="0"/>
                </a:moveTo>
                <a:lnTo>
                  <a:pt x="0" y="171952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659386" y="6410307"/>
            <a:ext cx="180340" cy="303530"/>
          </a:xfrm>
          <a:custGeom>
            <a:avLst/>
            <a:gdLst/>
            <a:ahLst/>
            <a:cxnLst/>
            <a:rect l="l" t="t" r="r" b="b"/>
            <a:pathLst>
              <a:path w="180339" h="303529">
                <a:moveTo>
                  <a:pt x="179868" y="0"/>
                </a:moveTo>
                <a:lnTo>
                  <a:pt x="0" y="303488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210029" y="5912940"/>
            <a:ext cx="55244" cy="92710"/>
          </a:xfrm>
          <a:custGeom>
            <a:avLst/>
            <a:gdLst/>
            <a:ahLst/>
            <a:cxnLst/>
            <a:rect l="l" t="t" r="r" b="b"/>
            <a:pathLst>
              <a:path w="55245" h="92710">
                <a:moveTo>
                  <a:pt x="54762" y="0"/>
                </a:moveTo>
                <a:lnTo>
                  <a:pt x="0" y="92279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199454" y="6444829"/>
            <a:ext cx="63500" cy="107950"/>
          </a:xfrm>
          <a:custGeom>
            <a:avLst/>
            <a:gdLst/>
            <a:ahLst/>
            <a:cxnLst/>
            <a:rect l="l" t="t" r="r" b="b"/>
            <a:pathLst>
              <a:path w="63500" h="107950">
                <a:moveTo>
                  <a:pt x="63076" y="0"/>
                </a:moveTo>
                <a:lnTo>
                  <a:pt x="0" y="107734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045239" y="7071533"/>
            <a:ext cx="50165" cy="76835"/>
          </a:xfrm>
          <a:custGeom>
            <a:avLst/>
            <a:gdLst/>
            <a:ahLst/>
            <a:cxnLst/>
            <a:rect l="l" t="t" r="r" b="b"/>
            <a:pathLst>
              <a:path w="50164" h="76834">
                <a:moveTo>
                  <a:pt x="50008" y="0"/>
                </a:moveTo>
                <a:lnTo>
                  <a:pt x="0" y="76489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632498" y="6106075"/>
            <a:ext cx="381635" cy="673100"/>
          </a:xfrm>
          <a:custGeom>
            <a:avLst/>
            <a:gdLst/>
            <a:ahLst/>
            <a:cxnLst/>
            <a:rect l="l" t="t" r="r" b="b"/>
            <a:pathLst>
              <a:path w="381635" h="673100">
                <a:moveTo>
                  <a:pt x="381255" y="0"/>
                </a:moveTo>
                <a:lnTo>
                  <a:pt x="0" y="672838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2124009" y="4988195"/>
            <a:ext cx="2565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315668" y="5302321"/>
            <a:ext cx="161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794125" y="5327451"/>
            <a:ext cx="2565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993575" y="5641578"/>
            <a:ext cx="161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396620" y="5017251"/>
            <a:ext cx="2565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50" dirty="0">
                <a:solidFill>
                  <a:srgbClr val="1E1E1E"/>
                </a:solidFill>
                <a:latin typeface="Verdana"/>
                <a:cs typeface="Verdana"/>
              </a:rPr>
              <a:t>δ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596530" y="5331378"/>
            <a:ext cx="1612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3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005174" y="5241735"/>
            <a:ext cx="83767" cy="86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717194" y="5434389"/>
            <a:ext cx="83767" cy="86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410891" y="5019480"/>
            <a:ext cx="83767" cy="861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579733" y="5967504"/>
            <a:ext cx="83767" cy="86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237410" y="5846680"/>
            <a:ext cx="83767" cy="86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603001" y="6705534"/>
            <a:ext cx="83767" cy="861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239369" y="6374151"/>
            <a:ext cx="83767" cy="86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980980" y="6043009"/>
            <a:ext cx="83767" cy="86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986477" y="7134840"/>
            <a:ext cx="83767" cy="86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632934" y="4629680"/>
            <a:ext cx="5414010" cy="2951480"/>
          </a:xfrm>
          <a:custGeom>
            <a:avLst/>
            <a:gdLst/>
            <a:ahLst/>
            <a:cxnLst/>
            <a:rect l="l" t="t" r="r" b="b"/>
            <a:pathLst>
              <a:path w="5414009" h="2951479">
                <a:moveTo>
                  <a:pt x="0" y="0"/>
                </a:moveTo>
                <a:lnTo>
                  <a:pt x="5413971" y="2951239"/>
                </a:lnTo>
              </a:path>
            </a:pathLst>
          </a:custGeom>
          <a:ln w="62825">
            <a:solidFill>
              <a:srgbClr val="CB3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97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631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Ковариационная</a:t>
            </a:r>
            <a:r>
              <a:rPr spc="-135" dirty="0"/>
              <a:t> </a:t>
            </a:r>
            <a:r>
              <a:rPr spc="-155" dirty="0"/>
              <a:t>матрица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38989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Центрируем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данные: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24383" y="4709669"/>
            <a:ext cx="7442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F 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:</a:t>
            </a:r>
            <a:r>
              <a:rPr sz="3300" b="1" i="1" spc="-7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65817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83507" y="4458368"/>
            <a:ext cx="99123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95"/>
              </a:spcBef>
            </a:pP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71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8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65817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70480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788159" y="4458368"/>
            <a:ext cx="99758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 </a:t>
            </a:r>
            <a:r>
              <a:rPr sz="3300" b="1" i="1" spc="-39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592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8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570480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00252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00252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233153" y="4458368"/>
            <a:ext cx="187833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  <a:tabLst>
                <a:tab pos="823594" algn="l"/>
              </a:tabLst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	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727" baseline="-32163" dirty="0">
                <a:solidFill>
                  <a:srgbClr val="1E1E1E"/>
                </a:solidFill>
                <a:latin typeface="Verdana"/>
                <a:cs typeface="Verdana"/>
              </a:rPr>
              <a:t>m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7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  <a:tabLst>
                <a:tab pos="823594" algn="l"/>
              </a:tabLst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	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i="1" spc="-697" baseline="-32163" dirty="0">
                <a:solidFill>
                  <a:srgbClr val="1E1E1E"/>
                </a:solidFill>
                <a:latin typeface="Verdana"/>
                <a:cs typeface="Verdana"/>
              </a:rPr>
              <a:t>m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7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08386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5" h="1012189">
                <a:moveTo>
                  <a:pt x="248285" y="0"/>
                </a:moveTo>
                <a:lnTo>
                  <a:pt x="162623" y="0"/>
                </a:lnTo>
                <a:lnTo>
                  <a:pt x="141236" y="29817"/>
                </a:lnTo>
                <a:lnTo>
                  <a:pt x="119994" y="62483"/>
                </a:lnTo>
                <a:lnTo>
                  <a:pt x="99289" y="98138"/>
                </a:lnTo>
                <a:lnTo>
                  <a:pt x="79512" y="136921"/>
                </a:lnTo>
                <a:lnTo>
                  <a:pt x="61057" y="178973"/>
                </a:lnTo>
                <a:lnTo>
                  <a:pt x="44314" y="224433"/>
                </a:lnTo>
                <a:lnTo>
                  <a:pt x="29675" y="273441"/>
                </a:lnTo>
                <a:lnTo>
                  <a:pt x="17533" y="326137"/>
                </a:lnTo>
                <a:lnTo>
                  <a:pt x="8278" y="382662"/>
                </a:lnTo>
                <a:lnTo>
                  <a:pt x="2303" y="443154"/>
                </a:lnTo>
                <a:lnTo>
                  <a:pt x="0" y="507754"/>
                </a:lnTo>
                <a:lnTo>
                  <a:pt x="2024" y="571733"/>
                </a:lnTo>
                <a:lnTo>
                  <a:pt x="7827" y="631711"/>
                </a:lnTo>
                <a:lnTo>
                  <a:pt x="16998" y="687811"/>
                </a:lnTo>
                <a:lnTo>
                  <a:pt x="29129" y="740156"/>
                </a:lnTo>
                <a:lnTo>
                  <a:pt x="43813" y="788870"/>
                </a:lnTo>
                <a:lnTo>
                  <a:pt x="60639" y="834074"/>
                </a:lnTo>
                <a:lnTo>
                  <a:pt x="79201" y="875893"/>
                </a:lnTo>
                <a:lnTo>
                  <a:pt x="99088" y="914448"/>
                </a:lnTo>
                <a:lnTo>
                  <a:pt x="119893" y="949864"/>
                </a:lnTo>
                <a:lnTo>
                  <a:pt x="141208" y="982264"/>
                </a:lnTo>
                <a:lnTo>
                  <a:pt x="162623" y="1011770"/>
                </a:lnTo>
                <a:lnTo>
                  <a:pt x="248285" y="1011770"/>
                </a:lnTo>
                <a:lnTo>
                  <a:pt x="224775" y="977030"/>
                </a:lnTo>
                <a:lnTo>
                  <a:pt x="202468" y="940444"/>
                </a:lnTo>
                <a:lnTo>
                  <a:pt x="181582" y="901887"/>
                </a:lnTo>
                <a:lnTo>
                  <a:pt x="162336" y="861238"/>
                </a:lnTo>
                <a:lnTo>
                  <a:pt x="144948" y="818373"/>
                </a:lnTo>
                <a:lnTo>
                  <a:pt x="129636" y="773169"/>
                </a:lnTo>
                <a:lnTo>
                  <a:pt x="116619" y="725502"/>
                </a:lnTo>
                <a:lnTo>
                  <a:pt x="106115" y="675250"/>
                </a:lnTo>
                <a:lnTo>
                  <a:pt x="98341" y="622290"/>
                </a:lnTo>
                <a:lnTo>
                  <a:pt x="93517" y="566499"/>
                </a:lnTo>
                <a:lnTo>
                  <a:pt x="91861" y="507754"/>
                </a:lnTo>
                <a:lnTo>
                  <a:pt x="93461" y="448023"/>
                </a:lnTo>
                <a:lnTo>
                  <a:pt x="98140" y="391325"/>
                </a:lnTo>
                <a:lnTo>
                  <a:pt x="105712" y="337554"/>
                </a:lnTo>
                <a:lnTo>
                  <a:pt x="115993" y="286604"/>
                </a:lnTo>
                <a:lnTo>
                  <a:pt x="128797" y="238368"/>
                </a:lnTo>
                <a:lnTo>
                  <a:pt x="143941" y="192741"/>
                </a:lnTo>
                <a:lnTo>
                  <a:pt x="161240" y="149614"/>
                </a:lnTo>
                <a:lnTo>
                  <a:pt x="180508" y="108884"/>
                </a:lnTo>
                <a:lnTo>
                  <a:pt x="201561" y="70442"/>
                </a:lnTo>
                <a:lnTo>
                  <a:pt x="224215" y="34183"/>
                </a:lnTo>
                <a:lnTo>
                  <a:pt x="24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08386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5" h="1012189">
                <a:moveTo>
                  <a:pt x="162623" y="0"/>
                </a:moveTo>
                <a:lnTo>
                  <a:pt x="119994" y="62483"/>
                </a:lnTo>
                <a:lnTo>
                  <a:pt x="99289" y="98138"/>
                </a:lnTo>
                <a:lnTo>
                  <a:pt x="79512" y="136921"/>
                </a:lnTo>
                <a:lnTo>
                  <a:pt x="61057" y="178973"/>
                </a:lnTo>
                <a:lnTo>
                  <a:pt x="44314" y="224433"/>
                </a:lnTo>
                <a:lnTo>
                  <a:pt x="29675" y="273441"/>
                </a:lnTo>
                <a:lnTo>
                  <a:pt x="17533" y="326137"/>
                </a:lnTo>
                <a:lnTo>
                  <a:pt x="8278" y="382662"/>
                </a:lnTo>
                <a:lnTo>
                  <a:pt x="2303" y="443154"/>
                </a:lnTo>
                <a:lnTo>
                  <a:pt x="0" y="507754"/>
                </a:lnTo>
                <a:lnTo>
                  <a:pt x="2024" y="571733"/>
                </a:lnTo>
                <a:lnTo>
                  <a:pt x="7827" y="631711"/>
                </a:lnTo>
                <a:lnTo>
                  <a:pt x="16998" y="687811"/>
                </a:lnTo>
                <a:lnTo>
                  <a:pt x="29129" y="740156"/>
                </a:lnTo>
                <a:lnTo>
                  <a:pt x="43813" y="788870"/>
                </a:lnTo>
                <a:lnTo>
                  <a:pt x="60639" y="834074"/>
                </a:lnTo>
                <a:lnTo>
                  <a:pt x="79201" y="875893"/>
                </a:lnTo>
                <a:lnTo>
                  <a:pt x="99088" y="914448"/>
                </a:lnTo>
                <a:lnTo>
                  <a:pt x="119893" y="949864"/>
                </a:lnTo>
                <a:lnTo>
                  <a:pt x="141208" y="982264"/>
                </a:lnTo>
                <a:lnTo>
                  <a:pt x="162623" y="1011770"/>
                </a:lnTo>
                <a:lnTo>
                  <a:pt x="248285" y="1011770"/>
                </a:lnTo>
                <a:lnTo>
                  <a:pt x="224775" y="977030"/>
                </a:lnTo>
                <a:lnTo>
                  <a:pt x="202468" y="940444"/>
                </a:lnTo>
                <a:lnTo>
                  <a:pt x="181582" y="901887"/>
                </a:lnTo>
                <a:lnTo>
                  <a:pt x="162336" y="861238"/>
                </a:lnTo>
                <a:lnTo>
                  <a:pt x="144948" y="818373"/>
                </a:lnTo>
                <a:lnTo>
                  <a:pt x="129636" y="773169"/>
                </a:lnTo>
                <a:lnTo>
                  <a:pt x="116619" y="725502"/>
                </a:lnTo>
                <a:lnTo>
                  <a:pt x="106115" y="675250"/>
                </a:lnTo>
                <a:lnTo>
                  <a:pt x="98341" y="622290"/>
                </a:lnTo>
                <a:lnTo>
                  <a:pt x="93517" y="566499"/>
                </a:lnTo>
                <a:lnTo>
                  <a:pt x="91861" y="507754"/>
                </a:lnTo>
                <a:lnTo>
                  <a:pt x="93461" y="448023"/>
                </a:lnTo>
                <a:lnTo>
                  <a:pt x="98140" y="391325"/>
                </a:lnTo>
                <a:lnTo>
                  <a:pt x="105712" y="337554"/>
                </a:lnTo>
                <a:lnTo>
                  <a:pt x="115993" y="286604"/>
                </a:lnTo>
                <a:lnTo>
                  <a:pt x="128797" y="238368"/>
                </a:lnTo>
                <a:lnTo>
                  <a:pt x="143941" y="192741"/>
                </a:lnTo>
                <a:lnTo>
                  <a:pt x="161240" y="149614"/>
                </a:lnTo>
                <a:lnTo>
                  <a:pt x="180508" y="108884"/>
                </a:lnTo>
                <a:lnTo>
                  <a:pt x="201561" y="70442"/>
                </a:lnTo>
                <a:lnTo>
                  <a:pt x="224215" y="34183"/>
                </a:lnTo>
                <a:lnTo>
                  <a:pt x="248285" y="0"/>
                </a:lnTo>
                <a:lnTo>
                  <a:pt x="162623" y="0"/>
                </a:lnTo>
                <a:close/>
              </a:path>
            </a:pathLst>
          </a:custGeom>
          <a:ln w="3459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290711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4" h="1012189">
                <a:moveTo>
                  <a:pt x="85662" y="0"/>
                </a:moveTo>
                <a:lnTo>
                  <a:pt x="0" y="0"/>
                </a:lnTo>
                <a:lnTo>
                  <a:pt x="23510" y="34739"/>
                </a:lnTo>
                <a:lnTo>
                  <a:pt x="45817" y="71325"/>
                </a:lnTo>
                <a:lnTo>
                  <a:pt x="66703" y="109882"/>
                </a:lnTo>
                <a:lnTo>
                  <a:pt x="85949" y="150531"/>
                </a:lnTo>
                <a:lnTo>
                  <a:pt x="103337" y="193396"/>
                </a:lnTo>
                <a:lnTo>
                  <a:pt x="118648" y="238601"/>
                </a:lnTo>
                <a:lnTo>
                  <a:pt x="131666" y="286267"/>
                </a:lnTo>
                <a:lnTo>
                  <a:pt x="142170" y="336519"/>
                </a:lnTo>
                <a:lnTo>
                  <a:pt x="149943" y="389479"/>
                </a:lnTo>
                <a:lnTo>
                  <a:pt x="154768" y="445270"/>
                </a:lnTo>
                <a:lnTo>
                  <a:pt x="156424" y="504016"/>
                </a:lnTo>
                <a:lnTo>
                  <a:pt x="154823" y="563747"/>
                </a:lnTo>
                <a:lnTo>
                  <a:pt x="150145" y="620444"/>
                </a:lnTo>
                <a:lnTo>
                  <a:pt x="142573" y="674215"/>
                </a:lnTo>
                <a:lnTo>
                  <a:pt x="132292" y="725165"/>
                </a:lnTo>
                <a:lnTo>
                  <a:pt x="119487" y="773401"/>
                </a:lnTo>
                <a:lnTo>
                  <a:pt x="104344" y="819029"/>
                </a:lnTo>
                <a:lnTo>
                  <a:pt x="87045" y="862155"/>
                </a:lnTo>
                <a:lnTo>
                  <a:pt x="67777" y="902886"/>
                </a:lnTo>
                <a:lnTo>
                  <a:pt x="46723" y="941327"/>
                </a:lnTo>
                <a:lnTo>
                  <a:pt x="24069" y="977587"/>
                </a:lnTo>
                <a:lnTo>
                  <a:pt x="0" y="1011770"/>
                </a:lnTo>
                <a:lnTo>
                  <a:pt x="85662" y="1011770"/>
                </a:lnTo>
                <a:lnTo>
                  <a:pt x="128291" y="949286"/>
                </a:lnTo>
                <a:lnTo>
                  <a:pt x="148996" y="913631"/>
                </a:lnTo>
                <a:lnTo>
                  <a:pt x="168772" y="874848"/>
                </a:lnTo>
                <a:lnTo>
                  <a:pt x="187228" y="832796"/>
                </a:lnTo>
                <a:lnTo>
                  <a:pt x="203971" y="787336"/>
                </a:lnTo>
                <a:lnTo>
                  <a:pt x="218609" y="738328"/>
                </a:lnTo>
                <a:lnTo>
                  <a:pt x="230752" y="685632"/>
                </a:lnTo>
                <a:lnTo>
                  <a:pt x="240007" y="629108"/>
                </a:lnTo>
                <a:lnTo>
                  <a:pt x="245982" y="568616"/>
                </a:lnTo>
                <a:lnTo>
                  <a:pt x="248285" y="504016"/>
                </a:lnTo>
                <a:lnTo>
                  <a:pt x="246260" y="440036"/>
                </a:lnTo>
                <a:lnTo>
                  <a:pt x="240458" y="380058"/>
                </a:lnTo>
                <a:lnTo>
                  <a:pt x="231287" y="323958"/>
                </a:lnTo>
                <a:lnTo>
                  <a:pt x="219155" y="271613"/>
                </a:lnTo>
                <a:lnTo>
                  <a:pt x="204472" y="222900"/>
                </a:lnTo>
                <a:lnTo>
                  <a:pt x="187645" y="177695"/>
                </a:lnTo>
                <a:lnTo>
                  <a:pt x="169084" y="135877"/>
                </a:lnTo>
                <a:lnTo>
                  <a:pt x="149197" y="97321"/>
                </a:lnTo>
                <a:lnTo>
                  <a:pt x="128391" y="61905"/>
                </a:lnTo>
                <a:lnTo>
                  <a:pt x="107077" y="29505"/>
                </a:lnTo>
                <a:lnTo>
                  <a:pt x="85662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290711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4" h="1012189">
                <a:moveTo>
                  <a:pt x="85662" y="1011770"/>
                </a:moveTo>
                <a:lnTo>
                  <a:pt x="128291" y="949286"/>
                </a:lnTo>
                <a:lnTo>
                  <a:pt x="148996" y="913631"/>
                </a:lnTo>
                <a:lnTo>
                  <a:pt x="168772" y="874848"/>
                </a:lnTo>
                <a:lnTo>
                  <a:pt x="187228" y="832796"/>
                </a:lnTo>
                <a:lnTo>
                  <a:pt x="203971" y="787336"/>
                </a:lnTo>
                <a:lnTo>
                  <a:pt x="218609" y="738328"/>
                </a:lnTo>
                <a:lnTo>
                  <a:pt x="230752" y="685632"/>
                </a:lnTo>
                <a:lnTo>
                  <a:pt x="240007" y="629108"/>
                </a:lnTo>
                <a:lnTo>
                  <a:pt x="245982" y="568616"/>
                </a:lnTo>
                <a:lnTo>
                  <a:pt x="248285" y="504016"/>
                </a:lnTo>
                <a:lnTo>
                  <a:pt x="246260" y="440036"/>
                </a:lnTo>
                <a:lnTo>
                  <a:pt x="240458" y="380058"/>
                </a:lnTo>
                <a:lnTo>
                  <a:pt x="231287" y="323958"/>
                </a:lnTo>
                <a:lnTo>
                  <a:pt x="219155" y="271613"/>
                </a:lnTo>
                <a:lnTo>
                  <a:pt x="204472" y="222900"/>
                </a:lnTo>
                <a:lnTo>
                  <a:pt x="187645" y="177695"/>
                </a:lnTo>
                <a:lnTo>
                  <a:pt x="169084" y="135877"/>
                </a:lnTo>
                <a:lnTo>
                  <a:pt x="149197" y="97321"/>
                </a:lnTo>
                <a:lnTo>
                  <a:pt x="128391" y="61905"/>
                </a:lnTo>
                <a:lnTo>
                  <a:pt x="107077" y="29505"/>
                </a:lnTo>
                <a:lnTo>
                  <a:pt x="85662" y="0"/>
                </a:lnTo>
                <a:lnTo>
                  <a:pt x="0" y="0"/>
                </a:lnTo>
                <a:lnTo>
                  <a:pt x="23510" y="34739"/>
                </a:lnTo>
                <a:lnTo>
                  <a:pt x="45817" y="71325"/>
                </a:lnTo>
                <a:lnTo>
                  <a:pt x="66703" y="109882"/>
                </a:lnTo>
                <a:lnTo>
                  <a:pt x="85949" y="150531"/>
                </a:lnTo>
                <a:lnTo>
                  <a:pt x="103337" y="193396"/>
                </a:lnTo>
                <a:lnTo>
                  <a:pt x="118648" y="238601"/>
                </a:lnTo>
                <a:lnTo>
                  <a:pt x="131666" y="286267"/>
                </a:lnTo>
                <a:lnTo>
                  <a:pt x="142170" y="336519"/>
                </a:lnTo>
                <a:lnTo>
                  <a:pt x="149943" y="389479"/>
                </a:lnTo>
                <a:lnTo>
                  <a:pt x="154768" y="445270"/>
                </a:lnTo>
                <a:lnTo>
                  <a:pt x="156424" y="504016"/>
                </a:lnTo>
                <a:lnTo>
                  <a:pt x="154823" y="563747"/>
                </a:lnTo>
                <a:lnTo>
                  <a:pt x="150145" y="620444"/>
                </a:lnTo>
                <a:lnTo>
                  <a:pt x="142573" y="674215"/>
                </a:lnTo>
                <a:lnTo>
                  <a:pt x="132292" y="725165"/>
                </a:lnTo>
                <a:lnTo>
                  <a:pt x="119487" y="773401"/>
                </a:lnTo>
                <a:lnTo>
                  <a:pt x="104344" y="819029"/>
                </a:lnTo>
                <a:lnTo>
                  <a:pt x="87045" y="862155"/>
                </a:lnTo>
                <a:lnTo>
                  <a:pt x="67777" y="902886"/>
                </a:lnTo>
                <a:lnTo>
                  <a:pt x="46723" y="941327"/>
                </a:lnTo>
                <a:lnTo>
                  <a:pt x="24069" y="977587"/>
                </a:lnTo>
                <a:lnTo>
                  <a:pt x="0" y="1011770"/>
                </a:lnTo>
                <a:lnTo>
                  <a:pt x="85662" y="1011770"/>
                </a:lnTo>
                <a:close/>
              </a:path>
            </a:pathLst>
          </a:custGeom>
          <a:ln w="3459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564547" y="4493549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98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631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Ковариационная</a:t>
            </a:r>
            <a:r>
              <a:rPr spc="-135" dirty="0"/>
              <a:t> </a:t>
            </a:r>
            <a:r>
              <a:rPr spc="-155" dirty="0"/>
              <a:t>матрица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38989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Центрируем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данные: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104" y="6217477"/>
            <a:ext cx="49479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Ковариационная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матрица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68808" y="7222681"/>
            <a:ext cx="20173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 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: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4950" b="1" i="1" u="heavy" spc="-1350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4950" b="1" u="heavy" spc="-780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4950" b="1" spc="-397" baseline="336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1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2850" b="1" i="1" spc="-322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r>
              <a:rPr sz="3300" b="1" i="1" spc="-21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26897" y="7473983"/>
            <a:ext cx="37401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755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4383" y="4709669"/>
            <a:ext cx="7442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F 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:</a:t>
            </a:r>
            <a:r>
              <a:rPr sz="3300" b="1" i="1" spc="-7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65817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83507" y="4458368"/>
            <a:ext cx="99123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95"/>
              </a:spcBef>
            </a:pP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71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8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65817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70480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788159" y="4458368"/>
            <a:ext cx="99758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 </a:t>
            </a:r>
            <a:r>
              <a:rPr sz="3300" b="1" i="1" spc="-39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592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8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70480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900252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900252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233153" y="4458368"/>
            <a:ext cx="187833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  <a:tabLst>
                <a:tab pos="823594" algn="l"/>
              </a:tabLst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	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727" baseline="-32163" dirty="0">
                <a:solidFill>
                  <a:srgbClr val="1E1E1E"/>
                </a:solidFill>
                <a:latin typeface="Verdana"/>
                <a:cs typeface="Verdana"/>
              </a:rPr>
              <a:t>m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7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  <a:tabLst>
                <a:tab pos="823594" algn="l"/>
              </a:tabLst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	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i="1" spc="-697" baseline="-32163" dirty="0">
                <a:solidFill>
                  <a:srgbClr val="1E1E1E"/>
                </a:solidFill>
                <a:latin typeface="Verdana"/>
                <a:cs typeface="Verdana"/>
              </a:rPr>
              <a:t>m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7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808386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5" h="1012189">
                <a:moveTo>
                  <a:pt x="248285" y="0"/>
                </a:moveTo>
                <a:lnTo>
                  <a:pt x="162623" y="0"/>
                </a:lnTo>
                <a:lnTo>
                  <a:pt x="141236" y="29817"/>
                </a:lnTo>
                <a:lnTo>
                  <a:pt x="119994" y="62483"/>
                </a:lnTo>
                <a:lnTo>
                  <a:pt x="99289" y="98138"/>
                </a:lnTo>
                <a:lnTo>
                  <a:pt x="79512" y="136921"/>
                </a:lnTo>
                <a:lnTo>
                  <a:pt x="61057" y="178973"/>
                </a:lnTo>
                <a:lnTo>
                  <a:pt x="44314" y="224433"/>
                </a:lnTo>
                <a:lnTo>
                  <a:pt x="29675" y="273441"/>
                </a:lnTo>
                <a:lnTo>
                  <a:pt x="17533" y="326137"/>
                </a:lnTo>
                <a:lnTo>
                  <a:pt x="8278" y="382662"/>
                </a:lnTo>
                <a:lnTo>
                  <a:pt x="2303" y="443154"/>
                </a:lnTo>
                <a:lnTo>
                  <a:pt x="0" y="507754"/>
                </a:lnTo>
                <a:lnTo>
                  <a:pt x="2024" y="571733"/>
                </a:lnTo>
                <a:lnTo>
                  <a:pt x="7827" y="631711"/>
                </a:lnTo>
                <a:lnTo>
                  <a:pt x="16998" y="687811"/>
                </a:lnTo>
                <a:lnTo>
                  <a:pt x="29129" y="740156"/>
                </a:lnTo>
                <a:lnTo>
                  <a:pt x="43813" y="788870"/>
                </a:lnTo>
                <a:lnTo>
                  <a:pt x="60639" y="834074"/>
                </a:lnTo>
                <a:lnTo>
                  <a:pt x="79201" y="875893"/>
                </a:lnTo>
                <a:lnTo>
                  <a:pt x="99088" y="914448"/>
                </a:lnTo>
                <a:lnTo>
                  <a:pt x="119893" y="949864"/>
                </a:lnTo>
                <a:lnTo>
                  <a:pt x="141208" y="982264"/>
                </a:lnTo>
                <a:lnTo>
                  <a:pt x="162623" y="1011770"/>
                </a:lnTo>
                <a:lnTo>
                  <a:pt x="248285" y="1011770"/>
                </a:lnTo>
                <a:lnTo>
                  <a:pt x="224775" y="977030"/>
                </a:lnTo>
                <a:lnTo>
                  <a:pt x="202468" y="940444"/>
                </a:lnTo>
                <a:lnTo>
                  <a:pt x="181582" y="901887"/>
                </a:lnTo>
                <a:lnTo>
                  <a:pt x="162336" y="861238"/>
                </a:lnTo>
                <a:lnTo>
                  <a:pt x="144948" y="818373"/>
                </a:lnTo>
                <a:lnTo>
                  <a:pt x="129636" y="773169"/>
                </a:lnTo>
                <a:lnTo>
                  <a:pt x="116619" y="725502"/>
                </a:lnTo>
                <a:lnTo>
                  <a:pt x="106115" y="675250"/>
                </a:lnTo>
                <a:lnTo>
                  <a:pt x="98341" y="622290"/>
                </a:lnTo>
                <a:lnTo>
                  <a:pt x="93517" y="566499"/>
                </a:lnTo>
                <a:lnTo>
                  <a:pt x="91861" y="507754"/>
                </a:lnTo>
                <a:lnTo>
                  <a:pt x="93461" y="448023"/>
                </a:lnTo>
                <a:lnTo>
                  <a:pt x="98140" y="391325"/>
                </a:lnTo>
                <a:lnTo>
                  <a:pt x="105712" y="337554"/>
                </a:lnTo>
                <a:lnTo>
                  <a:pt x="115993" y="286604"/>
                </a:lnTo>
                <a:lnTo>
                  <a:pt x="128797" y="238368"/>
                </a:lnTo>
                <a:lnTo>
                  <a:pt x="143941" y="192741"/>
                </a:lnTo>
                <a:lnTo>
                  <a:pt x="161240" y="149614"/>
                </a:lnTo>
                <a:lnTo>
                  <a:pt x="180508" y="108884"/>
                </a:lnTo>
                <a:lnTo>
                  <a:pt x="201561" y="70442"/>
                </a:lnTo>
                <a:lnTo>
                  <a:pt x="224215" y="34183"/>
                </a:lnTo>
                <a:lnTo>
                  <a:pt x="24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08386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5" h="1012189">
                <a:moveTo>
                  <a:pt x="162623" y="0"/>
                </a:moveTo>
                <a:lnTo>
                  <a:pt x="119994" y="62483"/>
                </a:lnTo>
                <a:lnTo>
                  <a:pt x="99289" y="98138"/>
                </a:lnTo>
                <a:lnTo>
                  <a:pt x="79512" y="136921"/>
                </a:lnTo>
                <a:lnTo>
                  <a:pt x="61057" y="178973"/>
                </a:lnTo>
                <a:lnTo>
                  <a:pt x="44314" y="224433"/>
                </a:lnTo>
                <a:lnTo>
                  <a:pt x="29675" y="273441"/>
                </a:lnTo>
                <a:lnTo>
                  <a:pt x="17533" y="326137"/>
                </a:lnTo>
                <a:lnTo>
                  <a:pt x="8278" y="382662"/>
                </a:lnTo>
                <a:lnTo>
                  <a:pt x="2303" y="443154"/>
                </a:lnTo>
                <a:lnTo>
                  <a:pt x="0" y="507754"/>
                </a:lnTo>
                <a:lnTo>
                  <a:pt x="2024" y="571733"/>
                </a:lnTo>
                <a:lnTo>
                  <a:pt x="7827" y="631711"/>
                </a:lnTo>
                <a:lnTo>
                  <a:pt x="16998" y="687811"/>
                </a:lnTo>
                <a:lnTo>
                  <a:pt x="29129" y="740156"/>
                </a:lnTo>
                <a:lnTo>
                  <a:pt x="43813" y="788870"/>
                </a:lnTo>
                <a:lnTo>
                  <a:pt x="60639" y="834074"/>
                </a:lnTo>
                <a:lnTo>
                  <a:pt x="79201" y="875893"/>
                </a:lnTo>
                <a:lnTo>
                  <a:pt x="99088" y="914448"/>
                </a:lnTo>
                <a:lnTo>
                  <a:pt x="119893" y="949864"/>
                </a:lnTo>
                <a:lnTo>
                  <a:pt x="141208" y="982264"/>
                </a:lnTo>
                <a:lnTo>
                  <a:pt x="162623" y="1011770"/>
                </a:lnTo>
                <a:lnTo>
                  <a:pt x="248285" y="1011770"/>
                </a:lnTo>
                <a:lnTo>
                  <a:pt x="224775" y="977030"/>
                </a:lnTo>
                <a:lnTo>
                  <a:pt x="202468" y="940444"/>
                </a:lnTo>
                <a:lnTo>
                  <a:pt x="181582" y="901887"/>
                </a:lnTo>
                <a:lnTo>
                  <a:pt x="162336" y="861238"/>
                </a:lnTo>
                <a:lnTo>
                  <a:pt x="144948" y="818373"/>
                </a:lnTo>
                <a:lnTo>
                  <a:pt x="129636" y="773169"/>
                </a:lnTo>
                <a:lnTo>
                  <a:pt x="116619" y="725502"/>
                </a:lnTo>
                <a:lnTo>
                  <a:pt x="106115" y="675250"/>
                </a:lnTo>
                <a:lnTo>
                  <a:pt x="98341" y="622290"/>
                </a:lnTo>
                <a:lnTo>
                  <a:pt x="93517" y="566499"/>
                </a:lnTo>
                <a:lnTo>
                  <a:pt x="91861" y="507754"/>
                </a:lnTo>
                <a:lnTo>
                  <a:pt x="93461" y="448023"/>
                </a:lnTo>
                <a:lnTo>
                  <a:pt x="98140" y="391325"/>
                </a:lnTo>
                <a:lnTo>
                  <a:pt x="105712" y="337554"/>
                </a:lnTo>
                <a:lnTo>
                  <a:pt x="115993" y="286604"/>
                </a:lnTo>
                <a:lnTo>
                  <a:pt x="128797" y="238368"/>
                </a:lnTo>
                <a:lnTo>
                  <a:pt x="143941" y="192741"/>
                </a:lnTo>
                <a:lnTo>
                  <a:pt x="161240" y="149614"/>
                </a:lnTo>
                <a:lnTo>
                  <a:pt x="180508" y="108884"/>
                </a:lnTo>
                <a:lnTo>
                  <a:pt x="201561" y="70442"/>
                </a:lnTo>
                <a:lnTo>
                  <a:pt x="224215" y="34183"/>
                </a:lnTo>
                <a:lnTo>
                  <a:pt x="248285" y="0"/>
                </a:lnTo>
                <a:lnTo>
                  <a:pt x="162623" y="0"/>
                </a:lnTo>
                <a:close/>
              </a:path>
            </a:pathLst>
          </a:custGeom>
          <a:ln w="3459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290711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4" h="1012189">
                <a:moveTo>
                  <a:pt x="85662" y="0"/>
                </a:moveTo>
                <a:lnTo>
                  <a:pt x="0" y="0"/>
                </a:lnTo>
                <a:lnTo>
                  <a:pt x="23510" y="34739"/>
                </a:lnTo>
                <a:lnTo>
                  <a:pt x="45817" y="71325"/>
                </a:lnTo>
                <a:lnTo>
                  <a:pt x="66703" y="109882"/>
                </a:lnTo>
                <a:lnTo>
                  <a:pt x="85949" y="150531"/>
                </a:lnTo>
                <a:lnTo>
                  <a:pt x="103337" y="193396"/>
                </a:lnTo>
                <a:lnTo>
                  <a:pt x="118648" y="238601"/>
                </a:lnTo>
                <a:lnTo>
                  <a:pt x="131666" y="286267"/>
                </a:lnTo>
                <a:lnTo>
                  <a:pt x="142170" y="336519"/>
                </a:lnTo>
                <a:lnTo>
                  <a:pt x="149943" y="389479"/>
                </a:lnTo>
                <a:lnTo>
                  <a:pt x="154768" y="445270"/>
                </a:lnTo>
                <a:lnTo>
                  <a:pt x="156424" y="504016"/>
                </a:lnTo>
                <a:lnTo>
                  <a:pt x="154823" y="563747"/>
                </a:lnTo>
                <a:lnTo>
                  <a:pt x="150145" y="620444"/>
                </a:lnTo>
                <a:lnTo>
                  <a:pt x="142573" y="674215"/>
                </a:lnTo>
                <a:lnTo>
                  <a:pt x="132292" y="725165"/>
                </a:lnTo>
                <a:lnTo>
                  <a:pt x="119487" y="773401"/>
                </a:lnTo>
                <a:lnTo>
                  <a:pt x="104344" y="819029"/>
                </a:lnTo>
                <a:lnTo>
                  <a:pt x="87045" y="862155"/>
                </a:lnTo>
                <a:lnTo>
                  <a:pt x="67777" y="902886"/>
                </a:lnTo>
                <a:lnTo>
                  <a:pt x="46723" y="941327"/>
                </a:lnTo>
                <a:lnTo>
                  <a:pt x="24069" y="977587"/>
                </a:lnTo>
                <a:lnTo>
                  <a:pt x="0" y="1011770"/>
                </a:lnTo>
                <a:lnTo>
                  <a:pt x="85662" y="1011770"/>
                </a:lnTo>
                <a:lnTo>
                  <a:pt x="128291" y="949286"/>
                </a:lnTo>
                <a:lnTo>
                  <a:pt x="148996" y="913631"/>
                </a:lnTo>
                <a:lnTo>
                  <a:pt x="168772" y="874848"/>
                </a:lnTo>
                <a:lnTo>
                  <a:pt x="187228" y="832796"/>
                </a:lnTo>
                <a:lnTo>
                  <a:pt x="203971" y="787336"/>
                </a:lnTo>
                <a:lnTo>
                  <a:pt x="218609" y="738328"/>
                </a:lnTo>
                <a:lnTo>
                  <a:pt x="230752" y="685632"/>
                </a:lnTo>
                <a:lnTo>
                  <a:pt x="240007" y="629108"/>
                </a:lnTo>
                <a:lnTo>
                  <a:pt x="245982" y="568616"/>
                </a:lnTo>
                <a:lnTo>
                  <a:pt x="248285" y="504016"/>
                </a:lnTo>
                <a:lnTo>
                  <a:pt x="246260" y="440036"/>
                </a:lnTo>
                <a:lnTo>
                  <a:pt x="240458" y="380058"/>
                </a:lnTo>
                <a:lnTo>
                  <a:pt x="231287" y="323958"/>
                </a:lnTo>
                <a:lnTo>
                  <a:pt x="219155" y="271613"/>
                </a:lnTo>
                <a:lnTo>
                  <a:pt x="204472" y="222900"/>
                </a:lnTo>
                <a:lnTo>
                  <a:pt x="187645" y="177695"/>
                </a:lnTo>
                <a:lnTo>
                  <a:pt x="169084" y="135877"/>
                </a:lnTo>
                <a:lnTo>
                  <a:pt x="149197" y="97321"/>
                </a:lnTo>
                <a:lnTo>
                  <a:pt x="128391" y="61905"/>
                </a:lnTo>
                <a:lnTo>
                  <a:pt x="107077" y="29505"/>
                </a:lnTo>
                <a:lnTo>
                  <a:pt x="85662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290711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4" h="1012189">
                <a:moveTo>
                  <a:pt x="85662" y="1011770"/>
                </a:moveTo>
                <a:lnTo>
                  <a:pt x="128291" y="949286"/>
                </a:lnTo>
                <a:lnTo>
                  <a:pt x="148996" y="913631"/>
                </a:lnTo>
                <a:lnTo>
                  <a:pt x="168772" y="874848"/>
                </a:lnTo>
                <a:lnTo>
                  <a:pt x="187228" y="832796"/>
                </a:lnTo>
                <a:lnTo>
                  <a:pt x="203971" y="787336"/>
                </a:lnTo>
                <a:lnTo>
                  <a:pt x="218609" y="738328"/>
                </a:lnTo>
                <a:lnTo>
                  <a:pt x="230752" y="685632"/>
                </a:lnTo>
                <a:lnTo>
                  <a:pt x="240007" y="629108"/>
                </a:lnTo>
                <a:lnTo>
                  <a:pt x="245982" y="568616"/>
                </a:lnTo>
                <a:lnTo>
                  <a:pt x="248285" y="504016"/>
                </a:lnTo>
                <a:lnTo>
                  <a:pt x="246260" y="440036"/>
                </a:lnTo>
                <a:lnTo>
                  <a:pt x="240458" y="380058"/>
                </a:lnTo>
                <a:lnTo>
                  <a:pt x="231287" y="323958"/>
                </a:lnTo>
                <a:lnTo>
                  <a:pt x="219155" y="271613"/>
                </a:lnTo>
                <a:lnTo>
                  <a:pt x="204472" y="222900"/>
                </a:lnTo>
                <a:lnTo>
                  <a:pt x="187645" y="177695"/>
                </a:lnTo>
                <a:lnTo>
                  <a:pt x="169084" y="135877"/>
                </a:lnTo>
                <a:lnTo>
                  <a:pt x="149197" y="97321"/>
                </a:lnTo>
                <a:lnTo>
                  <a:pt x="128391" y="61905"/>
                </a:lnTo>
                <a:lnTo>
                  <a:pt x="107077" y="29505"/>
                </a:lnTo>
                <a:lnTo>
                  <a:pt x="85662" y="0"/>
                </a:lnTo>
                <a:lnTo>
                  <a:pt x="0" y="0"/>
                </a:lnTo>
                <a:lnTo>
                  <a:pt x="23510" y="34739"/>
                </a:lnTo>
                <a:lnTo>
                  <a:pt x="45817" y="71325"/>
                </a:lnTo>
                <a:lnTo>
                  <a:pt x="66703" y="109882"/>
                </a:lnTo>
                <a:lnTo>
                  <a:pt x="85949" y="150531"/>
                </a:lnTo>
                <a:lnTo>
                  <a:pt x="103337" y="193396"/>
                </a:lnTo>
                <a:lnTo>
                  <a:pt x="118648" y="238601"/>
                </a:lnTo>
                <a:lnTo>
                  <a:pt x="131666" y="286267"/>
                </a:lnTo>
                <a:lnTo>
                  <a:pt x="142170" y="336519"/>
                </a:lnTo>
                <a:lnTo>
                  <a:pt x="149943" y="389479"/>
                </a:lnTo>
                <a:lnTo>
                  <a:pt x="154768" y="445270"/>
                </a:lnTo>
                <a:lnTo>
                  <a:pt x="156424" y="504016"/>
                </a:lnTo>
                <a:lnTo>
                  <a:pt x="154823" y="563747"/>
                </a:lnTo>
                <a:lnTo>
                  <a:pt x="150145" y="620444"/>
                </a:lnTo>
                <a:lnTo>
                  <a:pt x="142573" y="674215"/>
                </a:lnTo>
                <a:lnTo>
                  <a:pt x="132292" y="725165"/>
                </a:lnTo>
                <a:lnTo>
                  <a:pt x="119487" y="773401"/>
                </a:lnTo>
                <a:lnTo>
                  <a:pt x="104344" y="819029"/>
                </a:lnTo>
                <a:lnTo>
                  <a:pt x="87045" y="862155"/>
                </a:lnTo>
                <a:lnTo>
                  <a:pt x="67777" y="902886"/>
                </a:lnTo>
                <a:lnTo>
                  <a:pt x="46723" y="941327"/>
                </a:lnTo>
                <a:lnTo>
                  <a:pt x="24069" y="977587"/>
                </a:lnTo>
                <a:lnTo>
                  <a:pt x="0" y="1011770"/>
                </a:lnTo>
                <a:lnTo>
                  <a:pt x="85662" y="1011770"/>
                </a:lnTo>
                <a:close/>
              </a:path>
            </a:pathLst>
          </a:custGeom>
          <a:ln w="3459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564547" y="4493549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99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631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Ковариационная</a:t>
            </a:r>
            <a:r>
              <a:rPr spc="-135" dirty="0"/>
              <a:t> </a:t>
            </a:r>
            <a:r>
              <a:rPr spc="-155" dirty="0"/>
              <a:t>матрица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38989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Центрируем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данные: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104" y="6217477"/>
            <a:ext cx="49479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Ковариационная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матрица</a:t>
            </a:r>
            <a:endParaRPr sz="3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6104" y="8479187"/>
            <a:ext cx="88607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Вдоль </a:t>
            </a: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какого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направления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шире</a:t>
            </a:r>
            <a:r>
              <a:rPr sz="3300" spc="57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50" dirty="0">
                <a:solidFill>
                  <a:srgbClr val="1E1E1E"/>
                </a:solidFill>
                <a:latin typeface="Arial"/>
                <a:cs typeface="Arial"/>
              </a:rPr>
              <a:t>всего?</a:t>
            </a:r>
            <a:endParaRPr sz="3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8808" y="7222681"/>
            <a:ext cx="20173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 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: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4950" b="1" i="1" u="heavy" spc="-1350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 </a:t>
            </a:r>
            <a:r>
              <a:rPr sz="4950" b="1" u="heavy" spc="-780" baseline="33670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Verdana"/>
                <a:cs typeface="Verdana"/>
              </a:rPr>
              <a:t>1</a:t>
            </a:r>
            <a:r>
              <a:rPr sz="4950" b="1" spc="-397" baseline="336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1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2850" b="1" i="1" spc="-322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r>
              <a:rPr sz="3300" b="1" i="1" spc="-21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26897" y="7473983"/>
            <a:ext cx="37401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755" dirty="0">
                <a:solidFill>
                  <a:srgbClr val="1E1E1E"/>
                </a:solidFill>
                <a:latin typeface="Verdana"/>
                <a:cs typeface="Verdana"/>
              </a:rPr>
              <a:t>m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24383" y="4709669"/>
            <a:ext cx="7442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F 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:</a:t>
            </a:r>
            <a:r>
              <a:rPr sz="3300" b="1" i="1" spc="-7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65817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183507" y="4458368"/>
            <a:ext cx="99123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95"/>
              </a:spcBef>
            </a:pP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712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8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65817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70480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788159" y="4458368"/>
            <a:ext cx="99758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b="1" i="1" spc="-434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spc="-652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 </a:t>
            </a:r>
            <a:r>
              <a:rPr sz="3300" b="1" i="1" spc="-39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spc="-592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</a:t>
            </a:r>
            <a:r>
              <a:rPr sz="3300" b="1" spc="-8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70480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900252" y="4611116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900252" y="511445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924" y="0"/>
                </a:lnTo>
              </a:path>
            </a:pathLst>
          </a:custGeom>
          <a:ln w="20941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33153" y="4458368"/>
            <a:ext cx="187833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  <a:tabLst>
                <a:tab pos="823594" algn="l"/>
              </a:tabLst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	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r>
              <a:rPr sz="2850" b="1" i="1" spc="-727" baseline="-32163" dirty="0">
                <a:solidFill>
                  <a:srgbClr val="1E1E1E"/>
                </a:solidFill>
                <a:latin typeface="Verdana"/>
                <a:cs typeface="Verdana"/>
              </a:rPr>
              <a:t>m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7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ts val="3960"/>
              </a:lnSpc>
              <a:tabLst>
                <a:tab pos="823594" algn="l"/>
              </a:tabLst>
            </a:pP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	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r>
              <a:rPr sz="2850" b="1" i="1" spc="-697" baseline="-32163" dirty="0">
                <a:solidFill>
                  <a:srgbClr val="1E1E1E"/>
                </a:solidFill>
                <a:latin typeface="Verdana"/>
                <a:cs typeface="Verdana"/>
              </a:rPr>
              <a:t>m  </a:t>
            </a:r>
            <a:r>
              <a:rPr sz="3300" b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spc="-7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808386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5" h="1012189">
                <a:moveTo>
                  <a:pt x="248285" y="0"/>
                </a:moveTo>
                <a:lnTo>
                  <a:pt x="162623" y="0"/>
                </a:lnTo>
                <a:lnTo>
                  <a:pt x="141236" y="29817"/>
                </a:lnTo>
                <a:lnTo>
                  <a:pt x="119994" y="62483"/>
                </a:lnTo>
                <a:lnTo>
                  <a:pt x="99289" y="98138"/>
                </a:lnTo>
                <a:lnTo>
                  <a:pt x="79512" y="136921"/>
                </a:lnTo>
                <a:lnTo>
                  <a:pt x="61057" y="178973"/>
                </a:lnTo>
                <a:lnTo>
                  <a:pt x="44314" y="224433"/>
                </a:lnTo>
                <a:lnTo>
                  <a:pt x="29675" y="273441"/>
                </a:lnTo>
                <a:lnTo>
                  <a:pt x="17533" y="326137"/>
                </a:lnTo>
                <a:lnTo>
                  <a:pt x="8278" y="382662"/>
                </a:lnTo>
                <a:lnTo>
                  <a:pt x="2303" y="443154"/>
                </a:lnTo>
                <a:lnTo>
                  <a:pt x="0" y="507754"/>
                </a:lnTo>
                <a:lnTo>
                  <a:pt x="2024" y="571733"/>
                </a:lnTo>
                <a:lnTo>
                  <a:pt x="7827" y="631711"/>
                </a:lnTo>
                <a:lnTo>
                  <a:pt x="16998" y="687811"/>
                </a:lnTo>
                <a:lnTo>
                  <a:pt x="29129" y="740156"/>
                </a:lnTo>
                <a:lnTo>
                  <a:pt x="43813" y="788870"/>
                </a:lnTo>
                <a:lnTo>
                  <a:pt x="60639" y="834074"/>
                </a:lnTo>
                <a:lnTo>
                  <a:pt x="79201" y="875893"/>
                </a:lnTo>
                <a:lnTo>
                  <a:pt x="99088" y="914448"/>
                </a:lnTo>
                <a:lnTo>
                  <a:pt x="119893" y="949864"/>
                </a:lnTo>
                <a:lnTo>
                  <a:pt x="141208" y="982264"/>
                </a:lnTo>
                <a:lnTo>
                  <a:pt x="162623" y="1011770"/>
                </a:lnTo>
                <a:lnTo>
                  <a:pt x="248285" y="1011770"/>
                </a:lnTo>
                <a:lnTo>
                  <a:pt x="224775" y="977030"/>
                </a:lnTo>
                <a:lnTo>
                  <a:pt x="202468" y="940444"/>
                </a:lnTo>
                <a:lnTo>
                  <a:pt x="181582" y="901887"/>
                </a:lnTo>
                <a:lnTo>
                  <a:pt x="162336" y="861238"/>
                </a:lnTo>
                <a:lnTo>
                  <a:pt x="144948" y="818373"/>
                </a:lnTo>
                <a:lnTo>
                  <a:pt x="129636" y="773169"/>
                </a:lnTo>
                <a:lnTo>
                  <a:pt x="116619" y="725502"/>
                </a:lnTo>
                <a:lnTo>
                  <a:pt x="106115" y="675250"/>
                </a:lnTo>
                <a:lnTo>
                  <a:pt x="98341" y="622290"/>
                </a:lnTo>
                <a:lnTo>
                  <a:pt x="93517" y="566499"/>
                </a:lnTo>
                <a:lnTo>
                  <a:pt x="91861" y="507754"/>
                </a:lnTo>
                <a:lnTo>
                  <a:pt x="93461" y="448023"/>
                </a:lnTo>
                <a:lnTo>
                  <a:pt x="98140" y="391325"/>
                </a:lnTo>
                <a:lnTo>
                  <a:pt x="105712" y="337554"/>
                </a:lnTo>
                <a:lnTo>
                  <a:pt x="115993" y="286604"/>
                </a:lnTo>
                <a:lnTo>
                  <a:pt x="128797" y="238368"/>
                </a:lnTo>
                <a:lnTo>
                  <a:pt x="143941" y="192741"/>
                </a:lnTo>
                <a:lnTo>
                  <a:pt x="161240" y="149614"/>
                </a:lnTo>
                <a:lnTo>
                  <a:pt x="180508" y="108884"/>
                </a:lnTo>
                <a:lnTo>
                  <a:pt x="201561" y="70442"/>
                </a:lnTo>
                <a:lnTo>
                  <a:pt x="224215" y="34183"/>
                </a:lnTo>
                <a:lnTo>
                  <a:pt x="24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08386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5" h="1012189">
                <a:moveTo>
                  <a:pt x="162623" y="0"/>
                </a:moveTo>
                <a:lnTo>
                  <a:pt x="119994" y="62483"/>
                </a:lnTo>
                <a:lnTo>
                  <a:pt x="99289" y="98138"/>
                </a:lnTo>
                <a:lnTo>
                  <a:pt x="79512" y="136921"/>
                </a:lnTo>
                <a:lnTo>
                  <a:pt x="61057" y="178973"/>
                </a:lnTo>
                <a:lnTo>
                  <a:pt x="44314" y="224433"/>
                </a:lnTo>
                <a:lnTo>
                  <a:pt x="29675" y="273441"/>
                </a:lnTo>
                <a:lnTo>
                  <a:pt x="17533" y="326137"/>
                </a:lnTo>
                <a:lnTo>
                  <a:pt x="8278" y="382662"/>
                </a:lnTo>
                <a:lnTo>
                  <a:pt x="2303" y="443154"/>
                </a:lnTo>
                <a:lnTo>
                  <a:pt x="0" y="507754"/>
                </a:lnTo>
                <a:lnTo>
                  <a:pt x="2024" y="571733"/>
                </a:lnTo>
                <a:lnTo>
                  <a:pt x="7827" y="631711"/>
                </a:lnTo>
                <a:lnTo>
                  <a:pt x="16998" y="687811"/>
                </a:lnTo>
                <a:lnTo>
                  <a:pt x="29129" y="740156"/>
                </a:lnTo>
                <a:lnTo>
                  <a:pt x="43813" y="788870"/>
                </a:lnTo>
                <a:lnTo>
                  <a:pt x="60639" y="834074"/>
                </a:lnTo>
                <a:lnTo>
                  <a:pt x="79201" y="875893"/>
                </a:lnTo>
                <a:lnTo>
                  <a:pt x="99088" y="914448"/>
                </a:lnTo>
                <a:lnTo>
                  <a:pt x="119893" y="949864"/>
                </a:lnTo>
                <a:lnTo>
                  <a:pt x="141208" y="982264"/>
                </a:lnTo>
                <a:lnTo>
                  <a:pt x="162623" y="1011770"/>
                </a:lnTo>
                <a:lnTo>
                  <a:pt x="248285" y="1011770"/>
                </a:lnTo>
                <a:lnTo>
                  <a:pt x="224775" y="977030"/>
                </a:lnTo>
                <a:lnTo>
                  <a:pt x="202468" y="940444"/>
                </a:lnTo>
                <a:lnTo>
                  <a:pt x="181582" y="901887"/>
                </a:lnTo>
                <a:lnTo>
                  <a:pt x="162336" y="861238"/>
                </a:lnTo>
                <a:lnTo>
                  <a:pt x="144948" y="818373"/>
                </a:lnTo>
                <a:lnTo>
                  <a:pt x="129636" y="773169"/>
                </a:lnTo>
                <a:lnTo>
                  <a:pt x="116619" y="725502"/>
                </a:lnTo>
                <a:lnTo>
                  <a:pt x="106115" y="675250"/>
                </a:lnTo>
                <a:lnTo>
                  <a:pt x="98341" y="622290"/>
                </a:lnTo>
                <a:lnTo>
                  <a:pt x="93517" y="566499"/>
                </a:lnTo>
                <a:lnTo>
                  <a:pt x="91861" y="507754"/>
                </a:lnTo>
                <a:lnTo>
                  <a:pt x="93461" y="448023"/>
                </a:lnTo>
                <a:lnTo>
                  <a:pt x="98140" y="391325"/>
                </a:lnTo>
                <a:lnTo>
                  <a:pt x="105712" y="337554"/>
                </a:lnTo>
                <a:lnTo>
                  <a:pt x="115993" y="286604"/>
                </a:lnTo>
                <a:lnTo>
                  <a:pt x="128797" y="238368"/>
                </a:lnTo>
                <a:lnTo>
                  <a:pt x="143941" y="192741"/>
                </a:lnTo>
                <a:lnTo>
                  <a:pt x="161240" y="149614"/>
                </a:lnTo>
                <a:lnTo>
                  <a:pt x="180508" y="108884"/>
                </a:lnTo>
                <a:lnTo>
                  <a:pt x="201561" y="70442"/>
                </a:lnTo>
                <a:lnTo>
                  <a:pt x="224215" y="34183"/>
                </a:lnTo>
                <a:lnTo>
                  <a:pt x="248285" y="0"/>
                </a:lnTo>
                <a:lnTo>
                  <a:pt x="162623" y="0"/>
                </a:lnTo>
                <a:close/>
              </a:path>
            </a:pathLst>
          </a:custGeom>
          <a:ln w="3459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290711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4" h="1012189">
                <a:moveTo>
                  <a:pt x="85662" y="0"/>
                </a:moveTo>
                <a:lnTo>
                  <a:pt x="0" y="0"/>
                </a:lnTo>
                <a:lnTo>
                  <a:pt x="23510" y="34739"/>
                </a:lnTo>
                <a:lnTo>
                  <a:pt x="45817" y="71325"/>
                </a:lnTo>
                <a:lnTo>
                  <a:pt x="66703" y="109882"/>
                </a:lnTo>
                <a:lnTo>
                  <a:pt x="85949" y="150531"/>
                </a:lnTo>
                <a:lnTo>
                  <a:pt x="103337" y="193396"/>
                </a:lnTo>
                <a:lnTo>
                  <a:pt x="118648" y="238601"/>
                </a:lnTo>
                <a:lnTo>
                  <a:pt x="131666" y="286267"/>
                </a:lnTo>
                <a:lnTo>
                  <a:pt x="142170" y="336519"/>
                </a:lnTo>
                <a:lnTo>
                  <a:pt x="149943" y="389479"/>
                </a:lnTo>
                <a:lnTo>
                  <a:pt x="154768" y="445270"/>
                </a:lnTo>
                <a:lnTo>
                  <a:pt x="156424" y="504016"/>
                </a:lnTo>
                <a:lnTo>
                  <a:pt x="154823" y="563747"/>
                </a:lnTo>
                <a:lnTo>
                  <a:pt x="150145" y="620444"/>
                </a:lnTo>
                <a:lnTo>
                  <a:pt x="142573" y="674215"/>
                </a:lnTo>
                <a:lnTo>
                  <a:pt x="132292" y="725165"/>
                </a:lnTo>
                <a:lnTo>
                  <a:pt x="119487" y="773401"/>
                </a:lnTo>
                <a:lnTo>
                  <a:pt x="104344" y="819029"/>
                </a:lnTo>
                <a:lnTo>
                  <a:pt x="87045" y="862155"/>
                </a:lnTo>
                <a:lnTo>
                  <a:pt x="67777" y="902886"/>
                </a:lnTo>
                <a:lnTo>
                  <a:pt x="46723" y="941327"/>
                </a:lnTo>
                <a:lnTo>
                  <a:pt x="24069" y="977587"/>
                </a:lnTo>
                <a:lnTo>
                  <a:pt x="0" y="1011770"/>
                </a:lnTo>
                <a:lnTo>
                  <a:pt x="85662" y="1011770"/>
                </a:lnTo>
                <a:lnTo>
                  <a:pt x="128291" y="949286"/>
                </a:lnTo>
                <a:lnTo>
                  <a:pt x="148996" y="913631"/>
                </a:lnTo>
                <a:lnTo>
                  <a:pt x="168772" y="874848"/>
                </a:lnTo>
                <a:lnTo>
                  <a:pt x="187228" y="832796"/>
                </a:lnTo>
                <a:lnTo>
                  <a:pt x="203971" y="787336"/>
                </a:lnTo>
                <a:lnTo>
                  <a:pt x="218609" y="738328"/>
                </a:lnTo>
                <a:lnTo>
                  <a:pt x="230752" y="685632"/>
                </a:lnTo>
                <a:lnTo>
                  <a:pt x="240007" y="629108"/>
                </a:lnTo>
                <a:lnTo>
                  <a:pt x="245982" y="568616"/>
                </a:lnTo>
                <a:lnTo>
                  <a:pt x="248285" y="504016"/>
                </a:lnTo>
                <a:lnTo>
                  <a:pt x="246260" y="440036"/>
                </a:lnTo>
                <a:lnTo>
                  <a:pt x="240458" y="380058"/>
                </a:lnTo>
                <a:lnTo>
                  <a:pt x="231287" y="323958"/>
                </a:lnTo>
                <a:lnTo>
                  <a:pt x="219155" y="271613"/>
                </a:lnTo>
                <a:lnTo>
                  <a:pt x="204472" y="222900"/>
                </a:lnTo>
                <a:lnTo>
                  <a:pt x="187645" y="177695"/>
                </a:lnTo>
                <a:lnTo>
                  <a:pt x="169084" y="135877"/>
                </a:lnTo>
                <a:lnTo>
                  <a:pt x="149197" y="97321"/>
                </a:lnTo>
                <a:lnTo>
                  <a:pt x="128391" y="61905"/>
                </a:lnTo>
                <a:lnTo>
                  <a:pt x="107077" y="29505"/>
                </a:lnTo>
                <a:lnTo>
                  <a:pt x="85662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290711" y="4620298"/>
            <a:ext cx="248285" cy="1012190"/>
          </a:xfrm>
          <a:custGeom>
            <a:avLst/>
            <a:gdLst/>
            <a:ahLst/>
            <a:cxnLst/>
            <a:rect l="l" t="t" r="r" b="b"/>
            <a:pathLst>
              <a:path w="248284" h="1012189">
                <a:moveTo>
                  <a:pt x="85662" y="1011770"/>
                </a:moveTo>
                <a:lnTo>
                  <a:pt x="128291" y="949286"/>
                </a:lnTo>
                <a:lnTo>
                  <a:pt x="148996" y="913631"/>
                </a:lnTo>
                <a:lnTo>
                  <a:pt x="168772" y="874848"/>
                </a:lnTo>
                <a:lnTo>
                  <a:pt x="187228" y="832796"/>
                </a:lnTo>
                <a:lnTo>
                  <a:pt x="203971" y="787336"/>
                </a:lnTo>
                <a:lnTo>
                  <a:pt x="218609" y="738328"/>
                </a:lnTo>
                <a:lnTo>
                  <a:pt x="230752" y="685632"/>
                </a:lnTo>
                <a:lnTo>
                  <a:pt x="240007" y="629108"/>
                </a:lnTo>
                <a:lnTo>
                  <a:pt x="245982" y="568616"/>
                </a:lnTo>
                <a:lnTo>
                  <a:pt x="248285" y="504016"/>
                </a:lnTo>
                <a:lnTo>
                  <a:pt x="246260" y="440036"/>
                </a:lnTo>
                <a:lnTo>
                  <a:pt x="240458" y="380058"/>
                </a:lnTo>
                <a:lnTo>
                  <a:pt x="231287" y="323958"/>
                </a:lnTo>
                <a:lnTo>
                  <a:pt x="219155" y="271613"/>
                </a:lnTo>
                <a:lnTo>
                  <a:pt x="204472" y="222900"/>
                </a:lnTo>
                <a:lnTo>
                  <a:pt x="187645" y="177695"/>
                </a:lnTo>
                <a:lnTo>
                  <a:pt x="169084" y="135877"/>
                </a:lnTo>
                <a:lnTo>
                  <a:pt x="149197" y="97321"/>
                </a:lnTo>
                <a:lnTo>
                  <a:pt x="128391" y="61905"/>
                </a:lnTo>
                <a:lnTo>
                  <a:pt x="107077" y="29505"/>
                </a:lnTo>
                <a:lnTo>
                  <a:pt x="85662" y="0"/>
                </a:lnTo>
                <a:lnTo>
                  <a:pt x="0" y="0"/>
                </a:lnTo>
                <a:lnTo>
                  <a:pt x="23510" y="34739"/>
                </a:lnTo>
                <a:lnTo>
                  <a:pt x="45817" y="71325"/>
                </a:lnTo>
                <a:lnTo>
                  <a:pt x="66703" y="109882"/>
                </a:lnTo>
                <a:lnTo>
                  <a:pt x="85949" y="150531"/>
                </a:lnTo>
                <a:lnTo>
                  <a:pt x="103337" y="193396"/>
                </a:lnTo>
                <a:lnTo>
                  <a:pt x="118648" y="238601"/>
                </a:lnTo>
                <a:lnTo>
                  <a:pt x="131666" y="286267"/>
                </a:lnTo>
                <a:lnTo>
                  <a:pt x="142170" y="336519"/>
                </a:lnTo>
                <a:lnTo>
                  <a:pt x="149943" y="389479"/>
                </a:lnTo>
                <a:lnTo>
                  <a:pt x="154768" y="445270"/>
                </a:lnTo>
                <a:lnTo>
                  <a:pt x="156424" y="504016"/>
                </a:lnTo>
                <a:lnTo>
                  <a:pt x="154823" y="563747"/>
                </a:lnTo>
                <a:lnTo>
                  <a:pt x="150145" y="620444"/>
                </a:lnTo>
                <a:lnTo>
                  <a:pt x="142573" y="674215"/>
                </a:lnTo>
                <a:lnTo>
                  <a:pt x="132292" y="725165"/>
                </a:lnTo>
                <a:lnTo>
                  <a:pt x="119487" y="773401"/>
                </a:lnTo>
                <a:lnTo>
                  <a:pt x="104344" y="819029"/>
                </a:lnTo>
                <a:lnTo>
                  <a:pt x="87045" y="862155"/>
                </a:lnTo>
                <a:lnTo>
                  <a:pt x="67777" y="902886"/>
                </a:lnTo>
                <a:lnTo>
                  <a:pt x="46723" y="941327"/>
                </a:lnTo>
                <a:lnTo>
                  <a:pt x="24069" y="977587"/>
                </a:lnTo>
                <a:lnTo>
                  <a:pt x="0" y="1011770"/>
                </a:lnTo>
                <a:lnTo>
                  <a:pt x="85662" y="1011770"/>
                </a:lnTo>
                <a:close/>
              </a:path>
            </a:pathLst>
          </a:custGeom>
          <a:ln w="3459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564547" y="4493549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100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9270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Ковариационная </a:t>
            </a:r>
            <a:r>
              <a:rPr spc="-190" dirty="0"/>
              <a:t>матрица:</a:t>
            </a:r>
            <a:r>
              <a:rPr spc="-50" dirty="0"/>
              <a:t> </a:t>
            </a:r>
            <a:r>
              <a:rPr spc="-275" dirty="0"/>
              <a:t>геометрия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340867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</a:t>
            </a: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рассеяния</a:t>
            </a:r>
            <a:endParaRPr sz="33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18804" y="4345417"/>
          <a:ext cx="11141710" cy="1507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7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374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-2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Главные</a:t>
                      </a:r>
                      <a:r>
                        <a:rPr sz="3300" spc="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оси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3300" spc="-10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собственные </a:t>
                      </a:r>
                      <a:r>
                        <a:rPr sz="3300" spc="-6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векторы </a:t>
                      </a:r>
                      <a:r>
                        <a:rPr sz="3300" spc="-1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матрицы</a:t>
                      </a:r>
                      <a:r>
                        <a:rPr sz="3300" spc="24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5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-12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Длины</a:t>
                      </a:r>
                      <a:r>
                        <a:rPr sz="3300" spc="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0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осей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3300" spc="-11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const </a:t>
                      </a:r>
                      <a:r>
                        <a:rPr sz="3300" b="1" spc="50" dirty="0">
                          <a:solidFill>
                            <a:srgbClr val="CB3757"/>
                          </a:solidFill>
                          <a:latin typeface="Arial"/>
                          <a:cs typeface="Arial"/>
                        </a:rPr>
                        <a:t>× </a:t>
                      </a:r>
                      <a:r>
                        <a:rPr sz="4100" spc="-4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√</a:t>
                      </a:r>
                      <a:r>
                        <a:rPr sz="3300" spc="-4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собственные </a:t>
                      </a:r>
                      <a:r>
                        <a:rPr sz="3300" spc="-114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числа </a:t>
                      </a:r>
                      <a:r>
                        <a:rPr sz="3300" spc="-1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матрицы</a:t>
                      </a:r>
                      <a:r>
                        <a:rPr sz="3300" spc="1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5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6373104" y="5290090"/>
            <a:ext cx="5832475" cy="0"/>
          </a:xfrm>
          <a:custGeom>
            <a:avLst/>
            <a:gdLst/>
            <a:ahLst/>
            <a:cxnLst/>
            <a:rect l="l" t="t" r="r" b="b"/>
            <a:pathLst>
              <a:path w="5832475">
                <a:moveTo>
                  <a:pt x="0" y="0"/>
                </a:moveTo>
                <a:lnTo>
                  <a:pt x="5832283" y="0"/>
                </a:lnTo>
              </a:path>
            </a:pathLst>
          </a:custGeom>
          <a:ln w="41883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101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9270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Ковариационная </a:t>
            </a:r>
            <a:r>
              <a:rPr spc="-190" dirty="0"/>
              <a:t>матрица:</a:t>
            </a:r>
            <a:r>
              <a:rPr spc="-50" dirty="0"/>
              <a:t> </a:t>
            </a:r>
            <a:r>
              <a:rPr spc="-275" dirty="0"/>
              <a:t>геометрия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340867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</a:t>
            </a: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рассеяния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104" y="6468778"/>
            <a:ext cx="88646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А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что,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если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1010" dirty="0">
                <a:solidFill>
                  <a:srgbClr val="1E1E1E"/>
                </a:solidFill>
                <a:latin typeface="Verdana"/>
                <a:cs typeface="Verdana"/>
              </a:rPr>
              <a:t>&lt;&lt;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spc="-420" dirty="0">
                <a:solidFill>
                  <a:srgbClr val="1E1E1E"/>
                </a:solidFill>
                <a:latin typeface="Arial"/>
                <a:cs typeface="Arial"/>
              </a:rPr>
              <a:t>?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 </a:t>
            </a:r>
            <a:r>
              <a:rPr sz="3300" spc="-605" dirty="0">
                <a:solidFill>
                  <a:srgbClr val="1E1E1E"/>
                </a:solidFill>
                <a:latin typeface="Arial"/>
                <a:cs typeface="Arial"/>
              </a:rPr>
              <a:t>→ </a:t>
            </a: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отрезок</a:t>
            </a:r>
            <a:r>
              <a:rPr sz="3300" spc="484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прямой.</a:t>
            </a:r>
            <a:endParaRPr sz="33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418804" y="4345417"/>
          <a:ext cx="11141710" cy="1507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7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374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-2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Главные</a:t>
                      </a:r>
                      <a:r>
                        <a:rPr sz="3300" spc="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оси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3300" spc="-10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собственные </a:t>
                      </a:r>
                      <a:r>
                        <a:rPr sz="3300" spc="-6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векторы </a:t>
                      </a:r>
                      <a:r>
                        <a:rPr sz="3300" spc="-1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матрицы</a:t>
                      </a:r>
                      <a:r>
                        <a:rPr sz="3300" spc="24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5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-12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Длины</a:t>
                      </a:r>
                      <a:r>
                        <a:rPr sz="3300" spc="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0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осей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3300" spc="-11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const </a:t>
                      </a:r>
                      <a:r>
                        <a:rPr sz="3300" b="1" spc="50" dirty="0">
                          <a:solidFill>
                            <a:srgbClr val="CB3757"/>
                          </a:solidFill>
                          <a:latin typeface="Arial"/>
                          <a:cs typeface="Arial"/>
                        </a:rPr>
                        <a:t>× </a:t>
                      </a:r>
                      <a:r>
                        <a:rPr sz="4100" spc="-4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√</a:t>
                      </a:r>
                      <a:r>
                        <a:rPr sz="3300" spc="-4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собственные </a:t>
                      </a:r>
                      <a:r>
                        <a:rPr sz="3300" spc="-114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числа </a:t>
                      </a:r>
                      <a:r>
                        <a:rPr sz="3300" spc="-1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матрицы</a:t>
                      </a:r>
                      <a:r>
                        <a:rPr sz="3300" spc="1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5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6373104" y="5290090"/>
            <a:ext cx="5832475" cy="0"/>
          </a:xfrm>
          <a:custGeom>
            <a:avLst/>
            <a:gdLst/>
            <a:ahLst/>
            <a:cxnLst/>
            <a:rect l="l" t="t" r="r" b="b"/>
            <a:pathLst>
              <a:path w="5832475">
                <a:moveTo>
                  <a:pt x="0" y="0"/>
                </a:moveTo>
                <a:lnTo>
                  <a:pt x="5832283" y="0"/>
                </a:lnTo>
              </a:path>
            </a:pathLst>
          </a:custGeom>
          <a:ln w="41883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102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9270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Ковариационная </a:t>
            </a:r>
            <a:r>
              <a:rPr spc="-190" dirty="0"/>
              <a:t>матрица:</a:t>
            </a:r>
            <a:r>
              <a:rPr spc="-50" dirty="0"/>
              <a:t> </a:t>
            </a:r>
            <a:r>
              <a:rPr spc="-275" dirty="0"/>
              <a:t>геометрия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340867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</a:t>
            </a: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рассеяния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5958" y="6468778"/>
            <a:ext cx="8989695" cy="2035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А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что,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если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1010" dirty="0">
                <a:solidFill>
                  <a:srgbClr val="1E1E1E"/>
                </a:solidFill>
                <a:latin typeface="Verdana"/>
                <a:cs typeface="Verdana"/>
              </a:rPr>
              <a:t>&lt;&lt;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spc="-420" dirty="0">
                <a:solidFill>
                  <a:srgbClr val="1E1E1E"/>
                </a:solidFill>
                <a:latin typeface="Arial"/>
                <a:cs typeface="Arial"/>
              </a:rPr>
              <a:t>?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 </a:t>
            </a:r>
            <a:r>
              <a:rPr sz="3300" spc="-605" dirty="0">
                <a:solidFill>
                  <a:srgbClr val="1E1E1E"/>
                </a:solidFill>
                <a:latin typeface="Arial"/>
                <a:cs typeface="Arial"/>
              </a:rPr>
              <a:t>→ </a:t>
            </a: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отрезок</a:t>
            </a:r>
            <a:r>
              <a:rPr sz="3300" spc="484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прямой.</a:t>
            </a:r>
            <a:endParaRPr sz="3300">
              <a:latin typeface="Arial"/>
              <a:cs typeface="Arial"/>
            </a:endParaRPr>
          </a:p>
          <a:p>
            <a:pPr marL="12700" marR="5080" indent="-635">
              <a:lnSpc>
                <a:spcPct val="100000"/>
              </a:lnSpc>
              <a:spcBef>
                <a:spcPts val="3954"/>
              </a:spcBef>
            </a:pPr>
            <a:r>
              <a:rPr sz="3300" b="1" spc="-185" dirty="0">
                <a:solidFill>
                  <a:srgbClr val="1E1E1E"/>
                </a:solidFill>
                <a:latin typeface="Arial"/>
                <a:cs typeface="Arial"/>
              </a:rPr>
              <a:t>Гипотеза: 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закон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связи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между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линейный,  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а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рассеяние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вызвано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ошибками</a:t>
            </a:r>
            <a:r>
              <a:rPr sz="3300" spc="3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наблюдений.</a:t>
            </a:r>
            <a:endParaRPr sz="33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418804" y="4345417"/>
          <a:ext cx="11141710" cy="1507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7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374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-2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Главные</a:t>
                      </a:r>
                      <a:r>
                        <a:rPr sz="3300" spc="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оси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3300" spc="-10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собственные </a:t>
                      </a:r>
                      <a:r>
                        <a:rPr sz="3300" spc="-6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векторы </a:t>
                      </a:r>
                      <a:r>
                        <a:rPr sz="3300" spc="-1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матрицы</a:t>
                      </a:r>
                      <a:r>
                        <a:rPr sz="3300" spc="24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5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-12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Длины</a:t>
                      </a:r>
                      <a:r>
                        <a:rPr sz="3300" spc="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0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осей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3300" spc="-11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const </a:t>
                      </a:r>
                      <a:r>
                        <a:rPr sz="3300" b="1" spc="50" dirty="0">
                          <a:solidFill>
                            <a:srgbClr val="CB3757"/>
                          </a:solidFill>
                          <a:latin typeface="Arial"/>
                          <a:cs typeface="Arial"/>
                        </a:rPr>
                        <a:t>× </a:t>
                      </a:r>
                      <a:r>
                        <a:rPr sz="4100" spc="-4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√</a:t>
                      </a:r>
                      <a:r>
                        <a:rPr sz="3300" spc="-4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собственные </a:t>
                      </a:r>
                      <a:r>
                        <a:rPr sz="3300" spc="-114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числа </a:t>
                      </a:r>
                      <a:r>
                        <a:rPr sz="3300" spc="-1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матрицы</a:t>
                      </a:r>
                      <a:r>
                        <a:rPr sz="3300" spc="1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5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6373104" y="5290090"/>
            <a:ext cx="5832475" cy="0"/>
          </a:xfrm>
          <a:custGeom>
            <a:avLst/>
            <a:gdLst/>
            <a:ahLst/>
            <a:cxnLst/>
            <a:rect l="l" t="t" r="r" b="b"/>
            <a:pathLst>
              <a:path w="5832475">
                <a:moveTo>
                  <a:pt x="0" y="0"/>
                </a:moveTo>
                <a:lnTo>
                  <a:pt x="5832283" y="0"/>
                </a:lnTo>
              </a:path>
            </a:pathLst>
          </a:custGeom>
          <a:ln w="41883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103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092708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Ковариационная </a:t>
            </a:r>
            <a:r>
              <a:rPr spc="-190" dirty="0"/>
              <a:t>матрица:</a:t>
            </a:r>
            <a:r>
              <a:rPr spc="-50" dirty="0"/>
              <a:t> </a:t>
            </a:r>
            <a:r>
              <a:rPr spc="-275" dirty="0"/>
              <a:t>геометрия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340867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</a:t>
            </a: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рассеяния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5958" y="6468778"/>
            <a:ext cx="10966450" cy="3041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А </a:t>
            </a: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что,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если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spc="-1010" dirty="0">
                <a:solidFill>
                  <a:srgbClr val="1E1E1E"/>
                </a:solidFill>
                <a:latin typeface="Verdana"/>
                <a:cs typeface="Verdana"/>
              </a:rPr>
              <a:t>&lt;&lt;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spc="-420" dirty="0">
                <a:solidFill>
                  <a:srgbClr val="1E1E1E"/>
                </a:solidFill>
                <a:latin typeface="Arial"/>
                <a:cs typeface="Arial"/>
              </a:rPr>
              <a:t>?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Эллипс </a:t>
            </a:r>
            <a:r>
              <a:rPr sz="3300" spc="-605" dirty="0">
                <a:solidFill>
                  <a:srgbClr val="1E1E1E"/>
                </a:solidFill>
                <a:latin typeface="Arial"/>
                <a:cs typeface="Arial"/>
              </a:rPr>
              <a:t>→ </a:t>
            </a: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отрезок</a:t>
            </a:r>
            <a:r>
              <a:rPr sz="3300" spc="484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прямой.</a:t>
            </a:r>
            <a:endParaRPr sz="3300">
              <a:latin typeface="Arial"/>
              <a:cs typeface="Arial"/>
            </a:endParaRPr>
          </a:p>
          <a:p>
            <a:pPr marL="12700" marR="1981835" indent="-635">
              <a:lnSpc>
                <a:spcPct val="100000"/>
              </a:lnSpc>
              <a:spcBef>
                <a:spcPts val="3954"/>
              </a:spcBef>
            </a:pPr>
            <a:r>
              <a:rPr sz="3300" b="1" spc="-185" dirty="0">
                <a:solidFill>
                  <a:srgbClr val="1E1E1E"/>
                </a:solidFill>
                <a:latin typeface="Arial"/>
                <a:cs typeface="Arial"/>
              </a:rPr>
              <a:t>Гипотеза: </a:t>
            </a:r>
            <a:r>
              <a:rPr sz="3300" spc="-5" dirty="0">
                <a:solidFill>
                  <a:srgbClr val="1E1E1E"/>
                </a:solidFill>
                <a:latin typeface="Arial"/>
                <a:cs typeface="Arial"/>
              </a:rPr>
              <a:t>закон </a:t>
            </a:r>
            <a:r>
              <a:rPr sz="3300" spc="-125" dirty="0">
                <a:solidFill>
                  <a:srgbClr val="1E1E1E"/>
                </a:solidFill>
                <a:latin typeface="Arial"/>
                <a:cs typeface="Arial"/>
              </a:rPr>
              <a:t>связи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между </a:t>
            </a:r>
            <a:r>
              <a:rPr sz="3300" b="1" i="1" spc="-570" dirty="0">
                <a:solidFill>
                  <a:srgbClr val="1E1E1E"/>
                </a:solidFill>
                <a:latin typeface="Verdana"/>
                <a:cs typeface="Verdana"/>
              </a:rPr>
              <a:t>x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y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линейный,  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а </a:t>
            </a:r>
            <a:r>
              <a:rPr sz="3300" spc="-110" dirty="0">
                <a:solidFill>
                  <a:srgbClr val="1E1E1E"/>
                </a:solidFill>
                <a:latin typeface="Arial"/>
                <a:cs typeface="Arial"/>
              </a:rPr>
              <a:t>рассеяние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вызвано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ошибками</a:t>
            </a:r>
            <a:r>
              <a:rPr sz="3300" spc="3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наблюдений.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Вместо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эллипса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достаточно рассматривать </a:t>
            </a:r>
            <a:r>
              <a:rPr sz="3300" spc="-50" dirty="0">
                <a:solidFill>
                  <a:srgbClr val="1E1E1E"/>
                </a:solidFill>
                <a:latin typeface="Arial"/>
                <a:cs typeface="Arial"/>
              </a:rPr>
              <a:t>его</a:t>
            </a:r>
            <a:r>
              <a:rPr sz="3300" spc="5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проекцию.</a:t>
            </a:r>
            <a:endParaRPr sz="33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418804" y="4345417"/>
          <a:ext cx="11141710" cy="1507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7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374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-2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Главные</a:t>
                      </a:r>
                      <a:r>
                        <a:rPr sz="3300" spc="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оси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3300" spc="-10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собственные </a:t>
                      </a:r>
                      <a:r>
                        <a:rPr sz="3300" spc="-6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векторы </a:t>
                      </a:r>
                      <a:r>
                        <a:rPr sz="3300" spc="-1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матрицы</a:t>
                      </a:r>
                      <a:r>
                        <a:rPr sz="3300" spc="24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5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3300" spc="-12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Длины</a:t>
                      </a:r>
                      <a:r>
                        <a:rPr sz="3300" spc="1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0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осей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3300" spc="5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3300" spc="-11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const </a:t>
                      </a:r>
                      <a:r>
                        <a:rPr sz="3300" b="1" spc="50" dirty="0">
                          <a:solidFill>
                            <a:srgbClr val="CB3757"/>
                          </a:solidFill>
                          <a:latin typeface="Arial"/>
                          <a:cs typeface="Arial"/>
                        </a:rPr>
                        <a:t>× </a:t>
                      </a:r>
                      <a:r>
                        <a:rPr sz="4100" spc="-4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√</a:t>
                      </a:r>
                      <a:r>
                        <a:rPr sz="3300" spc="-4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собственные </a:t>
                      </a:r>
                      <a:r>
                        <a:rPr sz="3300" spc="-114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числа </a:t>
                      </a:r>
                      <a:r>
                        <a:rPr sz="3300" spc="-100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матрицы</a:t>
                      </a:r>
                      <a:r>
                        <a:rPr sz="3300" spc="17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55" dirty="0">
                          <a:solidFill>
                            <a:srgbClr val="1E1E1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BDD9DE"/>
                      </a:solidFill>
                      <a:prstDash val="solid"/>
                    </a:lnL>
                    <a:lnR w="28575">
                      <a:solidFill>
                        <a:srgbClr val="BDD9DE"/>
                      </a:solidFill>
                      <a:prstDash val="solid"/>
                    </a:lnR>
                    <a:lnT w="28575">
                      <a:solidFill>
                        <a:srgbClr val="BDD9DE"/>
                      </a:solidFill>
                      <a:prstDash val="solid"/>
                    </a:lnT>
                    <a:lnB w="28575">
                      <a:solidFill>
                        <a:srgbClr val="BDD9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6373104" y="5290090"/>
            <a:ext cx="5832475" cy="0"/>
          </a:xfrm>
          <a:custGeom>
            <a:avLst/>
            <a:gdLst/>
            <a:ahLst/>
            <a:cxnLst/>
            <a:rect l="l" t="t" r="r" b="b"/>
            <a:pathLst>
              <a:path w="5832475">
                <a:moveTo>
                  <a:pt x="0" y="0"/>
                </a:moveTo>
                <a:lnTo>
                  <a:pt x="5832283" y="0"/>
                </a:lnTo>
              </a:path>
            </a:pathLst>
          </a:custGeom>
          <a:ln w="41883">
            <a:solidFill>
              <a:srgbClr val="1E1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104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4540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5" dirty="0"/>
              <a:t>Метод </a:t>
            </a:r>
            <a:r>
              <a:rPr spc="-310" dirty="0"/>
              <a:t>главных</a:t>
            </a:r>
            <a:r>
              <a:rPr spc="-45" dirty="0"/>
              <a:t> </a:t>
            </a:r>
            <a:r>
              <a:rPr spc="-260" dirty="0"/>
              <a:t>компонент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8046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Данные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19626" y="3595691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4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4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4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4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35" y="16365"/>
                </a:lnTo>
                <a:lnTo>
                  <a:pt x="128446" y="14743"/>
                </a:lnTo>
                <a:close/>
              </a:path>
              <a:path w="304164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4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4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5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10582" y="3313691"/>
            <a:ext cx="2571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4950" spc="-247" baseline="-18518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4950" baseline="-18518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105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24400" y="3453163"/>
            <a:ext cx="20300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6385" algn="l"/>
              </a:tabLst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71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3300" b="1" i="1" spc="-1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8495" y="3488345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49422" y="3767289"/>
            <a:ext cx="27495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3540" algn="l"/>
                <a:tab pos="1195705" algn="l"/>
                <a:tab pos="2081530" algn="l"/>
                <a:tab pos="2463800" algn="l"/>
              </a:tabLst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1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1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4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2]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0988" y="3453163"/>
            <a:ext cx="4879340" cy="63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95"/>
              </a:spcBef>
              <a:tabLst>
                <a:tab pos="1296035" algn="l"/>
                <a:tab pos="423799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Т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8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1760220">
              <a:lnSpc>
                <a:spcPts val="1550"/>
              </a:lnSpc>
              <a:tabLst>
                <a:tab pos="3500754" algn="l"/>
                <a:tab pos="3878579" algn="l"/>
              </a:tabLst>
            </a:pPr>
            <a:r>
              <a:rPr sz="1900" b="1" spc="-409" dirty="0">
                <a:solidFill>
                  <a:srgbClr val="1E1E1E"/>
                </a:solidFill>
                <a:latin typeface="Verdana"/>
                <a:cs typeface="Verdana"/>
              </a:rPr>
              <a:t>[2]	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	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42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70705" y="3767199"/>
            <a:ext cx="3009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34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89844" y="4458368"/>
            <a:ext cx="28054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97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494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spc="-33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70104" y="4772494"/>
            <a:ext cx="3168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6314" y="4458368"/>
            <a:ext cx="12039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1360" algn="l"/>
              </a:tabLst>
            </a:pPr>
            <a:r>
              <a:rPr sz="3300" b="1" spc="-975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975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spc="-1235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spc="-4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23743" y="4493549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63062" y="4458368"/>
            <a:ext cx="52882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7725" algn="l"/>
              </a:tabLst>
            </a:pP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	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главные</a:t>
            </a:r>
            <a:r>
              <a:rPr sz="3300" spc="-6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компоненты;</a:t>
            </a:r>
            <a:endParaRPr sz="3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25780" y="4493549"/>
            <a:ext cx="1631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12755" y="4772404"/>
            <a:ext cx="97281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14984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i="1" spc="-505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1900" b="1" i="1" spc="-3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4540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5" dirty="0"/>
              <a:t>Метод </a:t>
            </a:r>
            <a:r>
              <a:rPr spc="-310" dirty="0"/>
              <a:t>главных</a:t>
            </a:r>
            <a:r>
              <a:rPr spc="-45" dirty="0"/>
              <a:t> </a:t>
            </a:r>
            <a:r>
              <a:rPr spc="-260" dirty="0"/>
              <a:t>компонент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8046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Данные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19626" y="3595691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4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4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4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4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35" y="16365"/>
                </a:lnTo>
                <a:lnTo>
                  <a:pt x="128446" y="14743"/>
                </a:lnTo>
                <a:close/>
              </a:path>
              <a:path w="304164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4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4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5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10582" y="3313691"/>
            <a:ext cx="2571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4950" spc="-247" baseline="-18518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4950" baseline="-1851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24400" y="3453163"/>
            <a:ext cx="20300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6385" algn="l"/>
              </a:tabLst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71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3300" b="1" i="1" spc="-1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8495" y="3488345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49422" y="3767289"/>
            <a:ext cx="27495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3540" algn="l"/>
                <a:tab pos="1195705" algn="l"/>
                <a:tab pos="2081530" algn="l"/>
                <a:tab pos="2463800" algn="l"/>
              </a:tabLst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1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1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4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2]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0988" y="3453163"/>
            <a:ext cx="4879340" cy="63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95"/>
              </a:spcBef>
              <a:tabLst>
                <a:tab pos="1296035" algn="l"/>
                <a:tab pos="423799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Т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8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1760220">
              <a:lnSpc>
                <a:spcPts val="1550"/>
              </a:lnSpc>
              <a:tabLst>
                <a:tab pos="3500754" algn="l"/>
                <a:tab pos="3878579" algn="l"/>
              </a:tabLst>
            </a:pPr>
            <a:r>
              <a:rPr sz="1900" b="1" spc="-409" dirty="0">
                <a:solidFill>
                  <a:srgbClr val="1E1E1E"/>
                </a:solidFill>
                <a:latin typeface="Verdana"/>
                <a:cs typeface="Verdana"/>
              </a:rPr>
              <a:t>[2]	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	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42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70705" y="3767199"/>
            <a:ext cx="3009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34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89844" y="4458368"/>
            <a:ext cx="28054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97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494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spc="-33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70104" y="4772494"/>
            <a:ext cx="3168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6314" y="4458368"/>
            <a:ext cx="12039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1360" algn="l"/>
              </a:tabLst>
            </a:pPr>
            <a:r>
              <a:rPr sz="3300" b="1" spc="-975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975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spc="-1235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spc="-4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23743" y="4493549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25780" y="4493549"/>
            <a:ext cx="1631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2755" y="4772404"/>
            <a:ext cx="97281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14984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i="1" spc="-505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1900" b="1" i="1" spc="-3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63062" y="4279053"/>
            <a:ext cx="5288280" cy="138938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  <a:tabLst>
                <a:tab pos="847725" algn="l"/>
              </a:tabLst>
            </a:pP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	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главные</a:t>
            </a:r>
            <a:r>
              <a:rPr sz="3300" spc="-6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компоненты;</a:t>
            </a:r>
            <a:endParaRPr sz="3300">
              <a:latin typeface="Arial"/>
              <a:cs typeface="Arial"/>
            </a:endParaRPr>
          </a:p>
          <a:p>
            <a:pPr marL="2638425">
              <a:lnSpc>
                <a:spcPct val="100000"/>
              </a:lnSpc>
              <a:spcBef>
                <a:spcPts val="1410"/>
              </a:spcBef>
            </a:pPr>
            <a:r>
              <a:rPr sz="3300" spc="-114" dirty="0">
                <a:solidFill>
                  <a:srgbClr val="CB3757"/>
                </a:solidFill>
                <a:latin typeface="Arial"/>
                <a:cs typeface="Arial"/>
              </a:rPr>
              <a:t>большие</a:t>
            </a:r>
            <a:endParaRPr sz="3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42104" y="5887235"/>
            <a:ext cx="3689985" cy="1344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37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562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37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15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15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2850" b="1" i="1" spc="-757" baseline="-32163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2850" b="1" spc="-359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24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8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1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22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850" baseline="-32163">
              <a:latin typeface="Verdana"/>
              <a:cs typeface="Verdana"/>
            </a:endParaRPr>
          </a:p>
          <a:p>
            <a:pPr marL="2106295">
              <a:lnSpc>
                <a:spcPct val="100000"/>
              </a:lnSpc>
              <a:spcBef>
                <a:spcPts val="2470"/>
              </a:spcBef>
            </a:pPr>
            <a:r>
              <a:rPr sz="3300" spc="-145" dirty="0">
                <a:solidFill>
                  <a:srgbClr val="627AEB"/>
                </a:solidFill>
                <a:latin typeface="Arial"/>
                <a:cs typeface="Arial"/>
              </a:rPr>
              <a:t>малые</a:t>
            </a:r>
            <a:endParaRPr sz="33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481508" y="5700988"/>
            <a:ext cx="1726564" cy="347345"/>
          </a:xfrm>
          <a:custGeom>
            <a:avLst/>
            <a:gdLst/>
            <a:ahLst/>
            <a:cxnLst/>
            <a:rect l="l" t="t" r="r" b="b"/>
            <a:pathLst>
              <a:path w="1726565" h="347345">
                <a:moveTo>
                  <a:pt x="887480" y="0"/>
                </a:moveTo>
                <a:lnTo>
                  <a:pt x="840874" y="0"/>
                </a:lnTo>
                <a:lnTo>
                  <a:pt x="837339" y="36191"/>
                </a:lnTo>
                <a:lnTo>
                  <a:pt x="830235" y="66704"/>
                </a:lnTo>
                <a:lnTo>
                  <a:pt x="805326" y="110698"/>
                </a:lnTo>
                <a:lnTo>
                  <a:pt x="764683" y="135167"/>
                </a:lnTo>
                <a:lnTo>
                  <a:pt x="706858" y="143325"/>
                </a:lnTo>
                <a:lnTo>
                  <a:pt x="193439" y="143325"/>
                </a:lnTo>
                <a:lnTo>
                  <a:pt x="146685" y="146058"/>
                </a:lnTo>
                <a:lnTo>
                  <a:pt x="106628" y="154254"/>
                </a:lnTo>
                <a:lnTo>
                  <a:pt x="46605" y="187030"/>
                </a:lnTo>
                <a:lnTo>
                  <a:pt x="11656" y="243105"/>
                </a:lnTo>
                <a:lnTo>
                  <a:pt x="2914" y="280429"/>
                </a:lnTo>
                <a:lnTo>
                  <a:pt x="0" y="323948"/>
                </a:lnTo>
                <a:lnTo>
                  <a:pt x="0" y="347256"/>
                </a:lnTo>
                <a:lnTo>
                  <a:pt x="43108" y="347256"/>
                </a:lnTo>
                <a:lnTo>
                  <a:pt x="43108" y="321623"/>
                </a:lnTo>
                <a:lnTo>
                  <a:pt x="45330" y="289974"/>
                </a:lnTo>
                <a:lnTo>
                  <a:pt x="63106" y="239576"/>
                </a:lnTo>
                <a:lnTo>
                  <a:pt x="99017" y="206292"/>
                </a:lnTo>
                <a:lnTo>
                  <a:pt x="155235" y="189683"/>
                </a:lnTo>
                <a:lnTo>
                  <a:pt x="191104" y="187606"/>
                </a:lnTo>
                <a:lnTo>
                  <a:pt x="709193" y="187606"/>
                </a:lnTo>
                <a:lnTo>
                  <a:pt x="742036" y="186077"/>
                </a:lnTo>
                <a:lnTo>
                  <a:pt x="795057" y="173842"/>
                </a:lnTo>
                <a:lnTo>
                  <a:pt x="831758" y="148788"/>
                </a:lnTo>
                <a:lnTo>
                  <a:pt x="855648" y="107422"/>
                </a:lnTo>
                <a:lnTo>
                  <a:pt x="863010" y="80405"/>
                </a:lnTo>
                <a:lnTo>
                  <a:pt x="903996" y="80405"/>
                </a:lnTo>
                <a:lnTo>
                  <a:pt x="898111" y="66704"/>
                </a:lnTo>
                <a:lnTo>
                  <a:pt x="891013" y="36191"/>
                </a:lnTo>
                <a:lnTo>
                  <a:pt x="887480" y="0"/>
                </a:lnTo>
                <a:close/>
              </a:path>
              <a:path w="1726565" h="347345">
                <a:moveTo>
                  <a:pt x="903996" y="80405"/>
                </a:moveTo>
                <a:lnTo>
                  <a:pt x="865345" y="80405"/>
                </a:lnTo>
                <a:lnTo>
                  <a:pt x="872691" y="107422"/>
                </a:lnTo>
                <a:lnTo>
                  <a:pt x="896579" y="148788"/>
                </a:lnTo>
                <a:lnTo>
                  <a:pt x="933283" y="173842"/>
                </a:lnTo>
                <a:lnTo>
                  <a:pt x="986311" y="186077"/>
                </a:lnTo>
                <a:lnTo>
                  <a:pt x="1019162" y="187606"/>
                </a:lnTo>
                <a:lnTo>
                  <a:pt x="1534885" y="187606"/>
                </a:lnTo>
                <a:lnTo>
                  <a:pt x="1570748" y="189683"/>
                </a:lnTo>
                <a:lnTo>
                  <a:pt x="1626970" y="206292"/>
                </a:lnTo>
                <a:lnTo>
                  <a:pt x="1662877" y="239576"/>
                </a:lnTo>
                <a:lnTo>
                  <a:pt x="1680648" y="289974"/>
                </a:lnTo>
                <a:lnTo>
                  <a:pt x="1682870" y="321623"/>
                </a:lnTo>
                <a:lnTo>
                  <a:pt x="1682870" y="347256"/>
                </a:lnTo>
                <a:lnTo>
                  <a:pt x="1725989" y="347256"/>
                </a:lnTo>
                <a:lnTo>
                  <a:pt x="1725989" y="323948"/>
                </a:lnTo>
                <a:lnTo>
                  <a:pt x="1723074" y="280429"/>
                </a:lnTo>
                <a:lnTo>
                  <a:pt x="1714331" y="243105"/>
                </a:lnTo>
                <a:lnTo>
                  <a:pt x="1679372" y="187030"/>
                </a:lnTo>
                <a:lnTo>
                  <a:pt x="1619359" y="154254"/>
                </a:lnTo>
                <a:lnTo>
                  <a:pt x="1579304" y="146058"/>
                </a:lnTo>
                <a:lnTo>
                  <a:pt x="1532550" y="143325"/>
                </a:lnTo>
                <a:lnTo>
                  <a:pt x="1021487" y="143325"/>
                </a:lnTo>
                <a:lnTo>
                  <a:pt x="990424" y="141285"/>
                </a:lnTo>
                <a:lnTo>
                  <a:pt x="963657" y="135167"/>
                </a:lnTo>
                <a:lnTo>
                  <a:pt x="941189" y="124971"/>
                </a:lnTo>
                <a:lnTo>
                  <a:pt x="923019" y="110698"/>
                </a:lnTo>
                <a:lnTo>
                  <a:pt x="908778" y="91540"/>
                </a:lnTo>
                <a:lnTo>
                  <a:pt x="903996" y="80405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92971" y="6507246"/>
            <a:ext cx="1956435" cy="347345"/>
          </a:xfrm>
          <a:custGeom>
            <a:avLst/>
            <a:gdLst/>
            <a:ahLst/>
            <a:cxnLst/>
            <a:rect l="l" t="t" r="r" b="b"/>
            <a:pathLst>
              <a:path w="1956434" h="347345">
                <a:moveTo>
                  <a:pt x="43119" y="0"/>
                </a:moveTo>
                <a:lnTo>
                  <a:pt x="0" y="0"/>
                </a:lnTo>
                <a:lnTo>
                  <a:pt x="0" y="23308"/>
                </a:lnTo>
                <a:lnTo>
                  <a:pt x="2914" y="66826"/>
                </a:lnTo>
                <a:lnTo>
                  <a:pt x="11658" y="104151"/>
                </a:lnTo>
                <a:lnTo>
                  <a:pt x="46616" y="160225"/>
                </a:lnTo>
                <a:lnTo>
                  <a:pt x="106630" y="193001"/>
                </a:lnTo>
                <a:lnTo>
                  <a:pt x="146685" y="201198"/>
                </a:lnTo>
                <a:lnTo>
                  <a:pt x="193439" y="203930"/>
                </a:lnTo>
                <a:lnTo>
                  <a:pt x="819681" y="203930"/>
                </a:lnTo>
                <a:lnTo>
                  <a:pt x="850744" y="205970"/>
                </a:lnTo>
                <a:lnTo>
                  <a:pt x="899979" y="222285"/>
                </a:lnTo>
                <a:lnTo>
                  <a:pt x="932390" y="255716"/>
                </a:lnTo>
                <a:lnTo>
                  <a:pt x="950155" y="311065"/>
                </a:lnTo>
                <a:lnTo>
                  <a:pt x="953688" y="347256"/>
                </a:lnTo>
                <a:lnTo>
                  <a:pt x="1000294" y="347256"/>
                </a:lnTo>
                <a:lnTo>
                  <a:pt x="1003829" y="311065"/>
                </a:lnTo>
                <a:lnTo>
                  <a:pt x="1010933" y="280551"/>
                </a:lnTo>
                <a:lnTo>
                  <a:pt x="1016820" y="266850"/>
                </a:lnTo>
                <a:lnTo>
                  <a:pt x="975823" y="266850"/>
                </a:lnTo>
                <a:lnTo>
                  <a:pt x="958065" y="217039"/>
                </a:lnTo>
                <a:lnTo>
                  <a:pt x="928055" y="184120"/>
                </a:lnTo>
                <a:lnTo>
                  <a:pt x="883484" y="165767"/>
                </a:lnTo>
                <a:lnTo>
                  <a:pt x="822006" y="159649"/>
                </a:lnTo>
                <a:lnTo>
                  <a:pt x="191104" y="159649"/>
                </a:lnTo>
                <a:lnTo>
                  <a:pt x="155240" y="157572"/>
                </a:lnTo>
                <a:lnTo>
                  <a:pt x="99018" y="140963"/>
                </a:lnTo>
                <a:lnTo>
                  <a:pt x="63112" y="107680"/>
                </a:lnTo>
                <a:lnTo>
                  <a:pt x="45341" y="57281"/>
                </a:lnTo>
                <a:lnTo>
                  <a:pt x="43119" y="25632"/>
                </a:lnTo>
                <a:lnTo>
                  <a:pt x="43119" y="0"/>
                </a:lnTo>
                <a:close/>
              </a:path>
              <a:path w="1956434" h="347345">
                <a:moveTo>
                  <a:pt x="1956348" y="0"/>
                </a:moveTo>
                <a:lnTo>
                  <a:pt x="1913240" y="0"/>
                </a:lnTo>
                <a:lnTo>
                  <a:pt x="1913240" y="25632"/>
                </a:lnTo>
                <a:lnTo>
                  <a:pt x="1911017" y="57281"/>
                </a:lnTo>
                <a:lnTo>
                  <a:pt x="1893242" y="107680"/>
                </a:lnTo>
                <a:lnTo>
                  <a:pt x="1857331" y="140963"/>
                </a:lnTo>
                <a:lnTo>
                  <a:pt x="1801112" y="157572"/>
                </a:lnTo>
                <a:lnTo>
                  <a:pt x="1765244" y="159649"/>
                </a:lnTo>
                <a:lnTo>
                  <a:pt x="1131976" y="159649"/>
                </a:lnTo>
                <a:lnTo>
                  <a:pt x="1099132" y="161178"/>
                </a:lnTo>
                <a:lnTo>
                  <a:pt x="1046111" y="173414"/>
                </a:lnTo>
                <a:lnTo>
                  <a:pt x="1009410" y="198467"/>
                </a:lnTo>
                <a:lnTo>
                  <a:pt x="985521" y="239833"/>
                </a:lnTo>
                <a:lnTo>
                  <a:pt x="978158" y="266850"/>
                </a:lnTo>
                <a:lnTo>
                  <a:pt x="1016820" y="266850"/>
                </a:lnTo>
                <a:lnTo>
                  <a:pt x="1021605" y="255716"/>
                </a:lnTo>
                <a:lnTo>
                  <a:pt x="1035842" y="236558"/>
                </a:lnTo>
                <a:lnTo>
                  <a:pt x="1054017" y="222285"/>
                </a:lnTo>
                <a:lnTo>
                  <a:pt x="1076485" y="212089"/>
                </a:lnTo>
                <a:lnTo>
                  <a:pt x="1103249" y="205970"/>
                </a:lnTo>
                <a:lnTo>
                  <a:pt x="1134311" y="203930"/>
                </a:lnTo>
                <a:lnTo>
                  <a:pt x="1762909" y="203930"/>
                </a:lnTo>
                <a:lnTo>
                  <a:pt x="1809663" y="201198"/>
                </a:lnTo>
                <a:lnTo>
                  <a:pt x="1849719" y="193001"/>
                </a:lnTo>
                <a:lnTo>
                  <a:pt x="1909742" y="160225"/>
                </a:lnTo>
                <a:lnTo>
                  <a:pt x="1944692" y="104151"/>
                </a:lnTo>
                <a:lnTo>
                  <a:pt x="1953433" y="66826"/>
                </a:lnTo>
                <a:lnTo>
                  <a:pt x="1956348" y="23308"/>
                </a:lnTo>
                <a:lnTo>
                  <a:pt x="1956348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106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4540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5" dirty="0"/>
              <a:t>Метод </a:t>
            </a:r>
            <a:r>
              <a:rPr spc="-310" dirty="0"/>
              <a:t>главных</a:t>
            </a:r>
            <a:r>
              <a:rPr spc="-45" dirty="0"/>
              <a:t> </a:t>
            </a:r>
            <a:r>
              <a:rPr spc="-260" dirty="0"/>
              <a:t>компонент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8046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Данные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19626" y="3595691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4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4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4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4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35" y="16365"/>
                </a:lnTo>
                <a:lnTo>
                  <a:pt x="128446" y="14743"/>
                </a:lnTo>
                <a:close/>
              </a:path>
              <a:path w="304164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4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4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5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10582" y="3313691"/>
            <a:ext cx="2571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4950" spc="-247" baseline="-18518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4950" baseline="-1851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24400" y="3453163"/>
            <a:ext cx="20300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6385" algn="l"/>
              </a:tabLst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71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3300" b="1" i="1" spc="-1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8495" y="3488345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49422" y="3767289"/>
            <a:ext cx="27495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3540" algn="l"/>
                <a:tab pos="1195705" algn="l"/>
                <a:tab pos="2081530" algn="l"/>
                <a:tab pos="2463800" algn="l"/>
              </a:tabLst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1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1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4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2]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0988" y="3453163"/>
            <a:ext cx="4879340" cy="63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95"/>
              </a:spcBef>
              <a:tabLst>
                <a:tab pos="1296035" algn="l"/>
                <a:tab pos="423799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Т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8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1760220">
              <a:lnSpc>
                <a:spcPts val="1550"/>
              </a:lnSpc>
              <a:tabLst>
                <a:tab pos="3500754" algn="l"/>
                <a:tab pos="3878579" algn="l"/>
              </a:tabLst>
            </a:pPr>
            <a:r>
              <a:rPr sz="1900" b="1" spc="-409" dirty="0">
                <a:solidFill>
                  <a:srgbClr val="1E1E1E"/>
                </a:solidFill>
                <a:latin typeface="Verdana"/>
                <a:cs typeface="Verdana"/>
              </a:rPr>
              <a:t>[2]	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	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42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70705" y="3767199"/>
            <a:ext cx="3009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34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89844" y="4458368"/>
            <a:ext cx="28054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97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494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spc="-33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70104" y="4772494"/>
            <a:ext cx="3168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6314" y="4458368"/>
            <a:ext cx="12039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1360" algn="l"/>
              </a:tabLst>
            </a:pPr>
            <a:r>
              <a:rPr sz="3300" b="1" spc="-975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975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spc="-1235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spc="-4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23743" y="4493549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25780" y="4493549"/>
            <a:ext cx="1631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2755" y="4772404"/>
            <a:ext cx="97281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14984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i="1" spc="-505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1900" b="1" i="1" spc="-3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63062" y="4279053"/>
            <a:ext cx="5288280" cy="138938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  <a:tabLst>
                <a:tab pos="847725" algn="l"/>
              </a:tabLst>
            </a:pP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	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главные</a:t>
            </a:r>
            <a:r>
              <a:rPr sz="3300" spc="-6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компоненты;</a:t>
            </a:r>
            <a:endParaRPr sz="3300">
              <a:latin typeface="Arial"/>
              <a:cs typeface="Arial"/>
            </a:endParaRPr>
          </a:p>
          <a:p>
            <a:pPr marL="2638425">
              <a:lnSpc>
                <a:spcPct val="100000"/>
              </a:lnSpc>
              <a:spcBef>
                <a:spcPts val="1410"/>
              </a:spcBef>
            </a:pPr>
            <a:r>
              <a:rPr sz="3300" spc="-114" dirty="0">
                <a:solidFill>
                  <a:srgbClr val="CB3757"/>
                </a:solidFill>
                <a:latin typeface="Arial"/>
                <a:cs typeface="Arial"/>
              </a:rPr>
              <a:t>большие</a:t>
            </a:r>
            <a:endParaRPr sz="3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42104" y="5887235"/>
            <a:ext cx="3689985" cy="1344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37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562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37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15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15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2850" b="1" i="1" spc="-757" baseline="-32163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2850" b="1" spc="-359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24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8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1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22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850" baseline="-32163">
              <a:latin typeface="Verdana"/>
              <a:cs typeface="Verdana"/>
            </a:endParaRPr>
          </a:p>
          <a:p>
            <a:pPr marL="2106295">
              <a:lnSpc>
                <a:spcPct val="100000"/>
              </a:lnSpc>
              <a:spcBef>
                <a:spcPts val="2470"/>
              </a:spcBef>
            </a:pPr>
            <a:r>
              <a:rPr sz="3300" spc="-145" dirty="0">
                <a:solidFill>
                  <a:srgbClr val="627AEB"/>
                </a:solidFill>
                <a:latin typeface="Arial"/>
                <a:cs typeface="Arial"/>
              </a:rPr>
              <a:t>малые</a:t>
            </a:r>
            <a:endParaRPr sz="33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481508" y="5700988"/>
            <a:ext cx="1726564" cy="347345"/>
          </a:xfrm>
          <a:custGeom>
            <a:avLst/>
            <a:gdLst/>
            <a:ahLst/>
            <a:cxnLst/>
            <a:rect l="l" t="t" r="r" b="b"/>
            <a:pathLst>
              <a:path w="1726565" h="347345">
                <a:moveTo>
                  <a:pt x="887480" y="0"/>
                </a:moveTo>
                <a:lnTo>
                  <a:pt x="840874" y="0"/>
                </a:lnTo>
                <a:lnTo>
                  <a:pt x="837339" y="36191"/>
                </a:lnTo>
                <a:lnTo>
                  <a:pt x="830235" y="66704"/>
                </a:lnTo>
                <a:lnTo>
                  <a:pt x="805326" y="110698"/>
                </a:lnTo>
                <a:lnTo>
                  <a:pt x="764683" y="135167"/>
                </a:lnTo>
                <a:lnTo>
                  <a:pt x="706858" y="143325"/>
                </a:lnTo>
                <a:lnTo>
                  <a:pt x="193439" y="143325"/>
                </a:lnTo>
                <a:lnTo>
                  <a:pt x="146685" y="146058"/>
                </a:lnTo>
                <a:lnTo>
                  <a:pt x="106628" y="154254"/>
                </a:lnTo>
                <a:lnTo>
                  <a:pt x="46605" y="187030"/>
                </a:lnTo>
                <a:lnTo>
                  <a:pt x="11656" y="243105"/>
                </a:lnTo>
                <a:lnTo>
                  <a:pt x="2914" y="280429"/>
                </a:lnTo>
                <a:lnTo>
                  <a:pt x="0" y="323948"/>
                </a:lnTo>
                <a:lnTo>
                  <a:pt x="0" y="347256"/>
                </a:lnTo>
                <a:lnTo>
                  <a:pt x="43108" y="347256"/>
                </a:lnTo>
                <a:lnTo>
                  <a:pt x="43108" y="321623"/>
                </a:lnTo>
                <a:lnTo>
                  <a:pt x="45330" y="289974"/>
                </a:lnTo>
                <a:lnTo>
                  <a:pt x="63106" y="239576"/>
                </a:lnTo>
                <a:lnTo>
                  <a:pt x="99017" y="206292"/>
                </a:lnTo>
                <a:lnTo>
                  <a:pt x="155235" y="189683"/>
                </a:lnTo>
                <a:lnTo>
                  <a:pt x="191104" y="187606"/>
                </a:lnTo>
                <a:lnTo>
                  <a:pt x="709193" y="187606"/>
                </a:lnTo>
                <a:lnTo>
                  <a:pt x="742036" y="186077"/>
                </a:lnTo>
                <a:lnTo>
                  <a:pt x="795057" y="173842"/>
                </a:lnTo>
                <a:lnTo>
                  <a:pt x="831758" y="148788"/>
                </a:lnTo>
                <a:lnTo>
                  <a:pt x="855648" y="107422"/>
                </a:lnTo>
                <a:lnTo>
                  <a:pt x="863010" y="80405"/>
                </a:lnTo>
                <a:lnTo>
                  <a:pt x="903996" y="80405"/>
                </a:lnTo>
                <a:lnTo>
                  <a:pt x="898111" y="66704"/>
                </a:lnTo>
                <a:lnTo>
                  <a:pt x="891013" y="36191"/>
                </a:lnTo>
                <a:lnTo>
                  <a:pt x="887480" y="0"/>
                </a:lnTo>
                <a:close/>
              </a:path>
              <a:path w="1726565" h="347345">
                <a:moveTo>
                  <a:pt x="903996" y="80405"/>
                </a:moveTo>
                <a:lnTo>
                  <a:pt x="865345" y="80405"/>
                </a:lnTo>
                <a:lnTo>
                  <a:pt x="872691" y="107422"/>
                </a:lnTo>
                <a:lnTo>
                  <a:pt x="896579" y="148788"/>
                </a:lnTo>
                <a:lnTo>
                  <a:pt x="933283" y="173842"/>
                </a:lnTo>
                <a:lnTo>
                  <a:pt x="986311" y="186077"/>
                </a:lnTo>
                <a:lnTo>
                  <a:pt x="1019162" y="187606"/>
                </a:lnTo>
                <a:lnTo>
                  <a:pt x="1534885" y="187606"/>
                </a:lnTo>
                <a:lnTo>
                  <a:pt x="1570748" y="189683"/>
                </a:lnTo>
                <a:lnTo>
                  <a:pt x="1626970" y="206292"/>
                </a:lnTo>
                <a:lnTo>
                  <a:pt x="1662877" y="239576"/>
                </a:lnTo>
                <a:lnTo>
                  <a:pt x="1680648" y="289974"/>
                </a:lnTo>
                <a:lnTo>
                  <a:pt x="1682870" y="321623"/>
                </a:lnTo>
                <a:lnTo>
                  <a:pt x="1682870" y="347256"/>
                </a:lnTo>
                <a:lnTo>
                  <a:pt x="1725989" y="347256"/>
                </a:lnTo>
                <a:lnTo>
                  <a:pt x="1725989" y="323948"/>
                </a:lnTo>
                <a:lnTo>
                  <a:pt x="1723074" y="280429"/>
                </a:lnTo>
                <a:lnTo>
                  <a:pt x="1714331" y="243105"/>
                </a:lnTo>
                <a:lnTo>
                  <a:pt x="1679372" y="187030"/>
                </a:lnTo>
                <a:lnTo>
                  <a:pt x="1619359" y="154254"/>
                </a:lnTo>
                <a:lnTo>
                  <a:pt x="1579304" y="146058"/>
                </a:lnTo>
                <a:lnTo>
                  <a:pt x="1532550" y="143325"/>
                </a:lnTo>
                <a:lnTo>
                  <a:pt x="1021487" y="143325"/>
                </a:lnTo>
                <a:lnTo>
                  <a:pt x="990424" y="141285"/>
                </a:lnTo>
                <a:lnTo>
                  <a:pt x="963657" y="135167"/>
                </a:lnTo>
                <a:lnTo>
                  <a:pt x="941189" y="124971"/>
                </a:lnTo>
                <a:lnTo>
                  <a:pt x="923019" y="110698"/>
                </a:lnTo>
                <a:lnTo>
                  <a:pt x="908778" y="91540"/>
                </a:lnTo>
                <a:lnTo>
                  <a:pt x="903996" y="80405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92971" y="6507246"/>
            <a:ext cx="1956435" cy="347345"/>
          </a:xfrm>
          <a:custGeom>
            <a:avLst/>
            <a:gdLst/>
            <a:ahLst/>
            <a:cxnLst/>
            <a:rect l="l" t="t" r="r" b="b"/>
            <a:pathLst>
              <a:path w="1956434" h="347345">
                <a:moveTo>
                  <a:pt x="43119" y="0"/>
                </a:moveTo>
                <a:lnTo>
                  <a:pt x="0" y="0"/>
                </a:lnTo>
                <a:lnTo>
                  <a:pt x="0" y="23308"/>
                </a:lnTo>
                <a:lnTo>
                  <a:pt x="2914" y="66826"/>
                </a:lnTo>
                <a:lnTo>
                  <a:pt x="11658" y="104151"/>
                </a:lnTo>
                <a:lnTo>
                  <a:pt x="46616" y="160225"/>
                </a:lnTo>
                <a:lnTo>
                  <a:pt x="106630" y="193001"/>
                </a:lnTo>
                <a:lnTo>
                  <a:pt x="146685" y="201198"/>
                </a:lnTo>
                <a:lnTo>
                  <a:pt x="193439" y="203930"/>
                </a:lnTo>
                <a:lnTo>
                  <a:pt x="819681" y="203930"/>
                </a:lnTo>
                <a:lnTo>
                  <a:pt x="850744" y="205970"/>
                </a:lnTo>
                <a:lnTo>
                  <a:pt x="899979" y="222285"/>
                </a:lnTo>
                <a:lnTo>
                  <a:pt x="932390" y="255716"/>
                </a:lnTo>
                <a:lnTo>
                  <a:pt x="950155" y="311065"/>
                </a:lnTo>
                <a:lnTo>
                  <a:pt x="953688" y="347256"/>
                </a:lnTo>
                <a:lnTo>
                  <a:pt x="1000294" y="347256"/>
                </a:lnTo>
                <a:lnTo>
                  <a:pt x="1003829" y="311065"/>
                </a:lnTo>
                <a:lnTo>
                  <a:pt x="1010933" y="280551"/>
                </a:lnTo>
                <a:lnTo>
                  <a:pt x="1016820" y="266850"/>
                </a:lnTo>
                <a:lnTo>
                  <a:pt x="975823" y="266850"/>
                </a:lnTo>
                <a:lnTo>
                  <a:pt x="958065" y="217039"/>
                </a:lnTo>
                <a:lnTo>
                  <a:pt x="928055" y="184120"/>
                </a:lnTo>
                <a:lnTo>
                  <a:pt x="883484" y="165767"/>
                </a:lnTo>
                <a:lnTo>
                  <a:pt x="822006" y="159649"/>
                </a:lnTo>
                <a:lnTo>
                  <a:pt x="191104" y="159649"/>
                </a:lnTo>
                <a:lnTo>
                  <a:pt x="155240" y="157572"/>
                </a:lnTo>
                <a:lnTo>
                  <a:pt x="99018" y="140963"/>
                </a:lnTo>
                <a:lnTo>
                  <a:pt x="63112" y="107680"/>
                </a:lnTo>
                <a:lnTo>
                  <a:pt x="45341" y="57281"/>
                </a:lnTo>
                <a:lnTo>
                  <a:pt x="43119" y="25632"/>
                </a:lnTo>
                <a:lnTo>
                  <a:pt x="43119" y="0"/>
                </a:lnTo>
                <a:close/>
              </a:path>
              <a:path w="1956434" h="347345">
                <a:moveTo>
                  <a:pt x="1956348" y="0"/>
                </a:moveTo>
                <a:lnTo>
                  <a:pt x="1913240" y="0"/>
                </a:lnTo>
                <a:lnTo>
                  <a:pt x="1913240" y="25632"/>
                </a:lnTo>
                <a:lnTo>
                  <a:pt x="1911017" y="57281"/>
                </a:lnTo>
                <a:lnTo>
                  <a:pt x="1893242" y="107680"/>
                </a:lnTo>
                <a:lnTo>
                  <a:pt x="1857331" y="140963"/>
                </a:lnTo>
                <a:lnTo>
                  <a:pt x="1801112" y="157572"/>
                </a:lnTo>
                <a:lnTo>
                  <a:pt x="1765244" y="159649"/>
                </a:lnTo>
                <a:lnTo>
                  <a:pt x="1131976" y="159649"/>
                </a:lnTo>
                <a:lnTo>
                  <a:pt x="1099132" y="161178"/>
                </a:lnTo>
                <a:lnTo>
                  <a:pt x="1046111" y="173414"/>
                </a:lnTo>
                <a:lnTo>
                  <a:pt x="1009410" y="198467"/>
                </a:lnTo>
                <a:lnTo>
                  <a:pt x="985521" y="239833"/>
                </a:lnTo>
                <a:lnTo>
                  <a:pt x="978158" y="266850"/>
                </a:lnTo>
                <a:lnTo>
                  <a:pt x="1016820" y="266850"/>
                </a:lnTo>
                <a:lnTo>
                  <a:pt x="1021605" y="255716"/>
                </a:lnTo>
                <a:lnTo>
                  <a:pt x="1035842" y="236558"/>
                </a:lnTo>
                <a:lnTo>
                  <a:pt x="1054017" y="222285"/>
                </a:lnTo>
                <a:lnTo>
                  <a:pt x="1076485" y="212089"/>
                </a:lnTo>
                <a:lnTo>
                  <a:pt x="1103249" y="205970"/>
                </a:lnTo>
                <a:lnTo>
                  <a:pt x="1134311" y="203930"/>
                </a:lnTo>
                <a:lnTo>
                  <a:pt x="1762909" y="203930"/>
                </a:lnTo>
                <a:lnTo>
                  <a:pt x="1809663" y="201198"/>
                </a:lnTo>
                <a:lnTo>
                  <a:pt x="1849719" y="193001"/>
                </a:lnTo>
                <a:lnTo>
                  <a:pt x="1909742" y="160225"/>
                </a:lnTo>
                <a:lnTo>
                  <a:pt x="1944692" y="104151"/>
                </a:lnTo>
                <a:lnTo>
                  <a:pt x="1953433" y="66826"/>
                </a:lnTo>
                <a:lnTo>
                  <a:pt x="1956348" y="23308"/>
                </a:lnTo>
                <a:lnTo>
                  <a:pt x="1956348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326730" y="7788109"/>
            <a:ext cx="15494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107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79279" y="7473983"/>
            <a:ext cx="13360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≈ </a:t>
            </a: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</a:t>
            </a:r>
            <a:r>
              <a:rPr sz="3300" b="1" i="1" spc="-2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16784" y="7788109"/>
            <a:ext cx="6584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54330" algn="l"/>
              </a:tabLst>
            </a:pP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	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62436" y="7473983"/>
            <a:ext cx="14325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3615" algn="l"/>
              </a:tabLst>
            </a:pP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4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spc="-484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97949" y="7509164"/>
            <a:ext cx="316865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3495">
              <a:lnSpc>
                <a:spcPts val="224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40"/>
              </a:lnSpc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56200" y="7254094"/>
            <a:ext cx="412115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750" b="1" spc="-97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575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15096" y="7076089"/>
            <a:ext cx="19240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33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61910" y="8046426"/>
            <a:ext cx="60198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31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2450" b="1" spc="-65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2450" b="1" spc="-6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4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764540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5" dirty="0"/>
              <a:t>Метод </a:t>
            </a:r>
            <a:r>
              <a:rPr spc="-310" dirty="0"/>
              <a:t>главных</a:t>
            </a:r>
            <a:r>
              <a:rPr spc="-45" dirty="0"/>
              <a:t> </a:t>
            </a:r>
            <a:r>
              <a:rPr spc="-260" dirty="0"/>
              <a:t>компонент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8046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Данные</a:t>
            </a:r>
            <a:r>
              <a:rPr sz="3300" spc="-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19626" y="3595691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4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4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4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4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35" y="16365"/>
                </a:lnTo>
                <a:lnTo>
                  <a:pt x="128446" y="14743"/>
                </a:lnTo>
                <a:close/>
              </a:path>
              <a:path w="304164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1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4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4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5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10582" y="3313691"/>
            <a:ext cx="2571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4950" spc="-247" baseline="-18518" dirty="0">
                <a:solidFill>
                  <a:srgbClr val="1E1E1E"/>
                </a:solidFill>
                <a:latin typeface="Arial"/>
                <a:cs typeface="Arial"/>
              </a:rPr>
              <a:t>:</a:t>
            </a:r>
            <a:endParaRPr sz="4950" baseline="-1851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24400" y="3453163"/>
            <a:ext cx="20300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6385" algn="l"/>
              </a:tabLst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71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3300" b="1" i="1" spc="-1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8495" y="3488345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49422" y="3767289"/>
            <a:ext cx="27495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3540" algn="l"/>
                <a:tab pos="1195705" algn="l"/>
                <a:tab pos="2081530" algn="l"/>
                <a:tab pos="2463800" algn="l"/>
              </a:tabLst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1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9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54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31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44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2]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0988" y="3453163"/>
            <a:ext cx="4879340" cy="63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95"/>
              </a:spcBef>
              <a:tabLst>
                <a:tab pos="1296035" algn="l"/>
                <a:tab pos="423799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69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5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Т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8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275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i="1" spc="-412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1760220">
              <a:lnSpc>
                <a:spcPts val="1550"/>
              </a:lnSpc>
              <a:tabLst>
                <a:tab pos="3500754" algn="l"/>
                <a:tab pos="3878579" algn="l"/>
              </a:tabLst>
            </a:pPr>
            <a:r>
              <a:rPr sz="1900" b="1" spc="-409" dirty="0">
                <a:solidFill>
                  <a:srgbClr val="1E1E1E"/>
                </a:solidFill>
                <a:latin typeface="Verdana"/>
                <a:cs typeface="Verdana"/>
              </a:rPr>
              <a:t>[2]	</a:t>
            </a: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	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420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2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70705" y="3767199"/>
            <a:ext cx="30099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84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i="1" spc="-34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89844" y="4458368"/>
            <a:ext cx="280543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97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i="1" spc="-42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630" baseline="-32163" dirty="0">
                <a:solidFill>
                  <a:srgbClr val="1E1E1E"/>
                </a:solidFill>
                <a:latin typeface="Verdana"/>
                <a:cs typeface="Verdana"/>
              </a:rPr>
              <a:t>2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≥</a:t>
            </a:r>
            <a:r>
              <a:rPr sz="3300" b="1" i="1" spc="-919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494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r>
              <a:rPr sz="3300" spc="-330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70104" y="4772494"/>
            <a:ext cx="3168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6314" y="4458368"/>
            <a:ext cx="12039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1360" algn="l"/>
              </a:tabLst>
            </a:pPr>
            <a:r>
              <a:rPr sz="3300" b="1" spc="-975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975" dirty="0">
                <a:solidFill>
                  <a:srgbClr val="1E1E1E"/>
                </a:solidFill>
                <a:latin typeface="Verdana"/>
                <a:cs typeface="Verdana"/>
              </a:rPr>
              <a:t>P	</a:t>
            </a:r>
            <a:r>
              <a:rPr sz="3300" b="1" spc="-1235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spc="-4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23743" y="4493549"/>
            <a:ext cx="15430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25780" y="4493549"/>
            <a:ext cx="16319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75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2755" y="4772404"/>
            <a:ext cx="97281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14984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i="1" spc="-505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1900" b="1" i="1" spc="-3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311502" y="9016972"/>
            <a:ext cx="15494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50363" y="9295917"/>
            <a:ext cx="92011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54659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spc="-505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1900" b="1" spc="-47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06104" y="8981790"/>
            <a:ext cx="124567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756390" algn="l"/>
                <a:tab pos="12347575" algn="l"/>
              </a:tabLst>
            </a:pPr>
            <a:r>
              <a:rPr sz="3300" spc="-35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r>
              <a:rPr sz="3300" spc="-50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200" dirty="0">
                <a:solidFill>
                  <a:srgbClr val="1E1E1E"/>
                </a:solidFill>
                <a:latin typeface="Arial"/>
                <a:cs typeface="Arial"/>
              </a:rPr>
              <a:t>е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п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е</a:t>
            </a:r>
            <a:r>
              <a:rPr sz="3300" spc="110" dirty="0">
                <a:solidFill>
                  <a:srgbClr val="1E1E1E"/>
                </a:solidFill>
                <a:latin typeface="Arial"/>
                <a:cs typeface="Arial"/>
              </a:rPr>
              <a:t>к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ц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е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й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н</a:t>
            </a:r>
            <a:r>
              <a:rPr sz="3300" spc="4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п</a:t>
            </a:r>
            <a:r>
              <a:rPr sz="3300" spc="-215" dirty="0">
                <a:solidFill>
                  <a:srgbClr val="1E1E1E"/>
                </a:solidFill>
                <a:latin typeface="Arial"/>
                <a:cs typeface="Arial"/>
              </a:rPr>
              <a:t>л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-175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к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spc="-200" dirty="0">
                <a:solidFill>
                  <a:srgbClr val="1E1E1E"/>
                </a:solidFill>
                <a:latin typeface="Arial"/>
                <a:cs typeface="Arial"/>
              </a:rPr>
              <a:t>ь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с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н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п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1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r>
              <a:rPr sz="3300" spc="-210" dirty="0">
                <a:solidFill>
                  <a:srgbClr val="1E1E1E"/>
                </a:solidFill>
                <a:latin typeface="Arial"/>
                <a:cs typeface="Arial"/>
              </a:rPr>
              <a:t>л</a:t>
            </a:r>
            <a:r>
              <a:rPr sz="3300" spc="-195" dirty="0">
                <a:solidFill>
                  <a:srgbClr val="1E1E1E"/>
                </a:solidFill>
                <a:latin typeface="Arial"/>
                <a:cs typeface="Arial"/>
              </a:rPr>
              <a:t>я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ю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щи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35" dirty="0">
                <a:solidFill>
                  <a:srgbClr val="1E1E1E"/>
                </a:solidFill>
                <a:latin typeface="Arial"/>
                <a:cs typeface="Arial"/>
              </a:rPr>
              <a:t>в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е</a:t>
            </a:r>
            <a:r>
              <a:rPr sz="3300" spc="170" dirty="0">
                <a:solidFill>
                  <a:srgbClr val="1E1E1E"/>
                </a:solidFill>
                <a:latin typeface="Arial"/>
                <a:cs typeface="Arial"/>
              </a:rPr>
              <a:t>к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т</a:t>
            </a:r>
            <a:r>
              <a:rPr sz="3300" dirty="0">
                <a:solidFill>
                  <a:srgbClr val="1E1E1E"/>
                </a:solidFill>
                <a:latin typeface="Arial"/>
                <a:cs typeface="Arial"/>
              </a:rPr>
              <a:t>о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р</a:t>
            </a:r>
            <a:r>
              <a:rPr sz="3300" spc="5" dirty="0">
                <a:solidFill>
                  <a:srgbClr val="1E1E1E"/>
                </a:solidFill>
                <a:latin typeface="Arial"/>
                <a:cs typeface="Arial"/>
              </a:rPr>
              <a:t>а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м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</a:t>
            </a:r>
            <a:r>
              <a:rPr sz="3300" spc="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1370" dirty="0">
                <a:solidFill>
                  <a:srgbClr val="1E1E1E"/>
                </a:solidFill>
                <a:latin typeface="Verdana"/>
                <a:cs typeface="Verdana"/>
              </a:rPr>
              <a:t>{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</a:t>
            </a:r>
            <a:r>
              <a:rPr sz="33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63062" y="4279053"/>
            <a:ext cx="5288280" cy="138938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  <a:tabLst>
                <a:tab pos="847725" algn="l"/>
              </a:tabLst>
            </a:pPr>
            <a:r>
              <a:rPr sz="3300" b="1" spc="-1315" dirty="0">
                <a:solidFill>
                  <a:srgbClr val="1E1E1E"/>
                </a:solidFill>
                <a:latin typeface="Verdana"/>
                <a:cs typeface="Verdana"/>
              </a:rPr>
              <a:t>}	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главные</a:t>
            </a:r>
            <a:r>
              <a:rPr sz="3300" spc="-63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компоненты;</a:t>
            </a:r>
            <a:endParaRPr sz="3300">
              <a:latin typeface="Arial"/>
              <a:cs typeface="Arial"/>
            </a:endParaRPr>
          </a:p>
          <a:p>
            <a:pPr marL="2638425">
              <a:lnSpc>
                <a:spcPct val="100000"/>
              </a:lnSpc>
              <a:spcBef>
                <a:spcPts val="1410"/>
              </a:spcBef>
            </a:pPr>
            <a:r>
              <a:rPr sz="3300" spc="-114" dirty="0">
                <a:solidFill>
                  <a:srgbClr val="CB3757"/>
                </a:solidFill>
                <a:latin typeface="Arial"/>
                <a:cs typeface="Arial"/>
              </a:rPr>
              <a:t>большие</a:t>
            </a:r>
            <a:endParaRPr sz="3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42209" y="5887434"/>
            <a:ext cx="3689350" cy="1344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37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spc="-562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37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15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3300" b="1" i="1" spc="-335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15" baseline="-32163" dirty="0">
                <a:solidFill>
                  <a:srgbClr val="1E1E1E"/>
                </a:solidFill>
                <a:latin typeface="Verdana"/>
                <a:cs typeface="Verdana"/>
              </a:rPr>
              <a:t>k </a:t>
            </a:r>
            <a:r>
              <a:rPr sz="2850" b="1" i="1" spc="-757" baseline="-32163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2850" b="1" spc="-359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240" dirty="0">
                <a:solidFill>
                  <a:srgbClr val="1E1E1E"/>
                </a:solidFill>
                <a:latin typeface="Verdana"/>
                <a:cs typeface="Verdana"/>
              </a:rPr>
              <a:t>, </a:t>
            </a:r>
            <a:r>
              <a:rPr sz="3300" b="1" spc="-23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i="1" spc="-235" dirty="0">
                <a:solidFill>
                  <a:srgbClr val="1E1E1E"/>
                </a:solidFill>
                <a:latin typeface="Verdana"/>
                <a:cs typeface="Verdana"/>
              </a:rPr>
              <a:t>,</a:t>
            </a:r>
            <a:r>
              <a:rPr sz="3300" b="1" i="1" spc="-8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15" dirty="0">
                <a:solidFill>
                  <a:srgbClr val="1E1E1E"/>
                </a:solidFill>
                <a:latin typeface="Verdana"/>
                <a:cs typeface="Verdana"/>
              </a:rPr>
              <a:t>λ</a:t>
            </a:r>
            <a:r>
              <a:rPr sz="2850" b="1" i="1" spc="-622" baseline="-32163" dirty="0">
                <a:solidFill>
                  <a:srgbClr val="1E1E1E"/>
                </a:solidFill>
                <a:latin typeface="Verdana"/>
                <a:cs typeface="Verdana"/>
              </a:rPr>
              <a:t>n</a:t>
            </a:r>
            <a:endParaRPr sz="2850" baseline="-32163">
              <a:latin typeface="Verdana"/>
              <a:cs typeface="Verdana"/>
            </a:endParaRPr>
          </a:p>
          <a:p>
            <a:pPr marL="2106295">
              <a:lnSpc>
                <a:spcPct val="100000"/>
              </a:lnSpc>
              <a:spcBef>
                <a:spcPts val="2470"/>
              </a:spcBef>
            </a:pPr>
            <a:r>
              <a:rPr sz="3300" spc="-145" dirty="0">
                <a:solidFill>
                  <a:srgbClr val="627AEB"/>
                </a:solidFill>
                <a:latin typeface="Arial"/>
                <a:cs typeface="Arial"/>
              </a:rPr>
              <a:t>малые</a:t>
            </a:r>
            <a:endParaRPr sz="33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481508" y="5700988"/>
            <a:ext cx="1726564" cy="347345"/>
          </a:xfrm>
          <a:custGeom>
            <a:avLst/>
            <a:gdLst/>
            <a:ahLst/>
            <a:cxnLst/>
            <a:rect l="l" t="t" r="r" b="b"/>
            <a:pathLst>
              <a:path w="1726565" h="347345">
                <a:moveTo>
                  <a:pt x="887480" y="0"/>
                </a:moveTo>
                <a:lnTo>
                  <a:pt x="840874" y="0"/>
                </a:lnTo>
                <a:lnTo>
                  <a:pt x="837339" y="36191"/>
                </a:lnTo>
                <a:lnTo>
                  <a:pt x="830235" y="66704"/>
                </a:lnTo>
                <a:lnTo>
                  <a:pt x="805326" y="110698"/>
                </a:lnTo>
                <a:lnTo>
                  <a:pt x="764683" y="135167"/>
                </a:lnTo>
                <a:lnTo>
                  <a:pt x="706858" y="143325"/>
                </a:lnTo>
                <a:lnTo>
                  <a:pt x="193439" y="143325"/>
                </a:lnTo>
                <a:lnTo>
                  <a:pt x="146685" y="146058"/>
                </a:lnTo>
                <a:lnTo>
                  <a:pt x="106628" y="154254"/>
                </a:lnTo>
                <a:lnTo>
                  <a:pt x="46605" y="187030"/>
                </a:lnTo>
                <a:lnTo>
                  <a:pt x="11656" y="243105"/>
                </a:lnTo>
                <a:lnTo>
                  <a:pt x="2914" y="280429"/>
                </a:lnTo>
                <a:lnTo>
                  <a:pt x="0" y="323948"/>
                </a:lnTo>
                <a:lnTo>
                  <a:pt x="0" y="347256"/>
                </a:lnTo>
                <a:lnTo>
                  <a:pt x="43108" y="347256"/>
                </a:lnTo>
                <a:lnTo>
                  <a:pt x="43108" y="321623"/>
                </a:lnTo>
                <a:lnTo>
                  <a:pt x="45330" y="289974"/>
                </a:lnTo>
                <a:lnTo>
                  <a:pt x="63106" y="239576"/>
                </a:lnTo>
                <a:lnTo>
                  <a:pt x="99017" y="206292"/>
                </a:lnTo>
                <a:lnTo>
                  <a:pt x="155235" y="189683"/>
                </a:lnTo>
                <a:lnTo>
                  <a:pt x="191104" y="187606"/>
                </a:lnTo>
                <a:lnTo>
                  <a:pt x="709193" y="187606"/>
                </a:lnTo>
                <a:lnTo>
                  <a:pt x="742036" y="186077"/>
                </a:lnTo>
                <a:lnTo>
                  <a:pt x="795057" y="173842"/>
                </a:lnTo>
                <a:lnTo>
                  <a:pt x="831758" y="148788"/>
                </a:lnTo>
                <a:lnTo>
                  <a:pt x="855648" y="107422"/>
                </a:lnTo>
                <a:lnTo>
                  <a:pt x="863010" y="80405"/>
                </a:lnTo>
                <a:lnTo>
                  <a:pt x="903996" y="80405"/>
                </a:lnTo>
                <a:lnTo>
                  <a:pt x="898111" y="66704"/>
                </a:lnTo>
                <a:lnTo>
                  <a:pt x="891013" y="36191"/>
                </a:lnTo>
                <a:lnTo>
                  <a:pt x="887480" y="0"/>
                </a:lnTo>
                <a:close/>
              </a:path>
              <a:path w="1726565" h="347345">
                <a:moveTo>
                  <a:pt x="903996" y="80405"/>
                </a:moveTo>
                <a:lnTo>
                  <a:pt x="865345" y="80405"/>
                </a:lnTo>
                <a:lnTo>
                  <a:pt x="872691" y="107422"/>
                </a:lnTo>
                <a:lnTo>
                  <a:pt x="896579" y="148788"/>
                </a:lnTo>
                <a:lnTo>
                  <a:pt x="933283" y="173842"/>
                </a:lnTo>
                <a:lnTo>
                  <a:pt x="986311" y="186077"/>
                </a:lnTo>
                <a:lnTo>
                  <a:pt x="1019162" y="187606"/>
                </a:lnTo>
                <a:lnTo>
                  <a:pt x="1534885" y="187606"/>
                </a:lnTo>
                <a:lnTo>
                  <a:pt x="1570748" y="189683"/>
                </a:lnTo>
                <a:lnTo>
                  <a:pt x="1626970" y="206292"/>
                </a:lnTo>
                <a:lnTo>
                  <a:pt x="1662877" y="239576"/>
                </a:lnTo>
                <a:lnTo>
                  <a:pt x="1680648" y="289974"/>
                </a:lnTo>
                <a:lnTo>
                  <a:pt x="1682870" y="321623"/>
                </a:lnTo>
                <a:lnTo>
                  <a:pt x="1682870" y="347256"/>
                </a:lnTo>
                <a:lnTo>
                  <a:pt x="1725989" y="347256"/>
                </a:lnTo>
                <a:lnTo>
                  <a:pt x="1725989" y="323948"/>
                </a:lnTo>
                <a:lnTo>
                  <a:pt x="1723074" y="280429"/>
                </a:lnTo>
                <a:lnTo>
                  <a:pt x="1714331" y="243105"/>
                </a:lnTo>
                <a:lnTo>
                  <a:pt x="1679372" y="187030"/>
                </a:lnTo>
                <a:lnTo>
                  <a:pt x="1619359" y="154254"/>
                </a:lnTo>
                <a:lnTo>
                  <a:pt x="1579304" y="146058"/>
                </a:lnTo>
                <a:lnTo>
                  <a:pt x="1532550" y="143325"/>
                </a:lnTo>
                <a:lnTo>
                  <a:pt x="1021487" y="143325"/>
                </a:lnTo>
                <a:lnTo>
                  <a:pt x="990424" y="141285"/>
                </a:lnTo>
                <a:lnTo>
                  <a:pt x="963657" y="135167"/>
                </a:lnTo>
                <a:lnTo>
                  <a:pt x="941189" y="124971"/>
                </a:lnTo>
                <a:lnTo>
                  <a:pt x="923019" y="110698"/>
                </a:lnTo>
                <a:lnTo>
                  <a:pt x="908778" y="91540"/>
                </a:lnTo>
                <a:lnTo>
                  <a:pt x="903996" y="80405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292971" y="6507246"/>
            <a:ext cx="1956435" cy="347345"/>
          </a:xfrm>
          <a:custGeom>
            <a:avLst/>
            <a:gdLst/>
            <a:ahLst/>
            <a:cxnLst/>
            <a:rect l="l" t="t" r="r" b="b"/>
            <a:pathLst>
              <a:path w="1956434" h="347345">
                <a:moveTo>
                  <a:pt x="43119" y="0"/>
                </a:moveTo>
                <a:lnTo>
                  <a:pt x="0" y="0"/>
                </a:lnTo>
                <a:lnTo>
                  <a:pt x="0" y="23308"/>
                </a:lnTo>
                <a:lnTo>
                  <a:pt x="2914" y="66826"/>
                </a:lnTo>
                <a:lnTo>
                  <a:pt x="11658" y="104151"/>
                </a:lnTo>
                <a:lnTo>
                  <a:pt x="46616" y="160225"/>
                </a:lnTo>
                <a:lnTo>
                  <a:pt x="106630" y="193001"/>
                </a:lnTo>
                <a:lnTo>
                  <a:pt x="146685" y="201198"/>
                </a:lnTo>
                <a:lnTo>
                  <a:pt x="193439" y="203930"/>
                </a:lnTo>
                <a:lnTo>
                  <a:pt x="819681" y="203930"/>
                </a:lnTo>
                <a:lnTo>
                  <a:pt x="850744" y="205970"/>
                </a:lnTo>
                <a:lnTo>
                  <a:pt x="899979" y="222285"/>
                </a:lnTo>
                <a:lnTo>
                  <a:pt x="932390" y="255716"/>
                </a:lnTo>
                <a:lnTo>
                  <a:pt x="950155" y="311065"/>
                </a:lnTo>
                <a:lnTo>
                  <a:pt x="953688" y="347256"/>
                </a:lnTo>
                <a:lnTo>
                  <a:pt x="1000294" y="347256"/>
                </a:lnTo>
                <a:lnTo>
                  <a:pt x="1003829" y="311065"/>
                </a:lnTo>
                <a:lnTo>
                  <a:pt x="1010933" y="280551"/>
                </a:lnTo>
                <a:lnTo>
                  <a:pt x="1016820" y="266850"/>
                </a:lnTo>
                <a:lnTo>
                  <a:pt x="975823" y="266850"/>
                </a:lnTo>
                <a:lnTo>
                  <a:pt x="958065" y="217039"/>
                </a:lnTo>
                <a:lnTo>
                  <a:pt x="928055" y="184120"/>
                </a:lnTo>
                <a:lnTo>
                  <a:pt x="883484" y="165767"/>
                </a:lnTo>
                <a:lnTo>
                  <a:pt x="822006" y="159649"/>
                </a:lnTo>
                <a:lnTo>
                  <a:pt x="191104" y="159649"/>
                </a:lnTo>
                <a:lnTo>
                  <a:pt x="155240" y="157572"/>
                </a:lnTo>
                <a:lnTo>
                  <a:pt x="99018" y="140963"/>
                </a:lnTo>
                <a:lnTo>
                  <a:pt x="63112" y="107680"/>
                </a:lnTo>
                <a:lnTo>
                  <a:pt x="45341" y="57281"/>
                </a:lnTo>
                <a:lnTo>
                  <a:pt x="43119" y="25632"/>
                </a:lnTo>
                <a:lnTo>
                  <a:pt x="43119" y="0"/>
                </a:lnTo>
                <a:close/>
              </a:path>
              <a:path w="1956434" h="347345">
                <a:moveTo>
                  <a:pt x="1956348" y="0"/>
                </a:moveTo>
                <a:lnTo>
                  <a:pt x="1913240" y="0"/>
                </a:lnTo>
                <a:lnTo>
                  <a:pt x="1913240" y="25632"/>
                </a:lnTo>
                <a:lnTo>
                  <a:pt x="1911017" y="57281"/>
                </a:lnTo>
                <a:lnTo>
                  <a:pt x="1893242" y="107680"/>
                </a:lnTo>
                <a:lnTo>
                  <a:pt x="1857331" y="140963"/>
                </a:lnTo>
                <a:lnTo>
                  <a:pt x="1801112" y="157572"/>
                </a:lnTo>
                <a:lnTo>
                  <a:pt x="1765244" y="159649"/>
                </a:lnTo>
                <a:lnTo>
                  <a:pt x="1131976" y="159649"/>
                </a:lnTo>
                <a:lnTo>
                  <a:pt x="1099132" y="161178"/>
                </a:lnTo>
                <a:lnTo>
                  <a:pt x="1046111" y="173414"/>
                </a:lnTo>
                <a:lnTo>
                  <a:pt x="1009410" y="198467"/>
                </a:lnTo>
                <a:lnTo>
                  <a:pt x="985521" y="239833"/>
                </a:lnTo>
                <a:lnTo>
                  <a:pt x="978158" y="266850"/>
                </a:lnTo>
                <a:lnTo>
                  <a:pt x="1016820" y="266850"/>
                </a:lnTo>
                <a:lnTo>
                  <a:pt x="1021605" y="255716"/>
                </a:lnTo>
                <a:lnTo>
                  <a:pt x="1035842" y="236558"/>
                </a:lnTo>
                <a:lnTo>
                  <a:pt x="1054017" y="222285"/>
                </a:lnTo>
                <a:lnTo>
                  <a:pt x="1076485" y="212089"/>
                </a:lnTo>
                <a:lnTo>
                  <a:pt x="1103249" y="205970"/>
                </a:lnTo>
                <a:lnTo>
                  <a:pt x="1134311" y="203930"/>
                </a:lnTo>
                <a:lnTo>
                  <a:pt x="1762909" y="203930"/>
                </a:lnTo>
                <a:lnTo>
                  <a:pt x="1809663" y="201198"/>
                </a:lnTo>
                <a:lnTo>
                  <a:pt x="1849719" y="193001"/>
                </a:lnTo>
                <a:lnTo>
                  <a:pt x="1909742" y="160225"/>
                </a:lnTo>
                <a:lnTo>
                  <a:pt x="1944692" y="104151"/>
                </a:lnTo>
                <a:lnTo>
                  <a:pt x="1953433" y="66826"/>
                </a:lnTo>
                <a:lnTo>
                  <a:pt x="1956348" y="23308"/>
                </a:lnTo>
                <a:lnTo>
                  <a:pt x="1956348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326730" y="7788109"/>
            <a:ext cx="15494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i="1" spc="-260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108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79279" y="7473983"/>
            <a:ext cx="13360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≈ </a:t>
            </a:r>
            <a:r>
              <a:rPr sz="3300" b="1" i="1" spc="-665" dirty="0">
                <a:solidFill>
                  <a:srgbClr val="1E1E1E"/>
                </a:solidFill>
                <a:latin typeface="Verdana"/>
                <a:cs typeface="Verdana"/>
              </a:rPr>
              <a:t>S</a:t>
            </a:r>
            <a:r>
              <a:rPr sz="3300" b="1" i="1" spc="-28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62436" y="7473983"/>
            <a:ext cx="14325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85" dirty="0">
                <a:solidFill>
                  <a:srgbClr val="1E1E1E"/>
                </a:solidFill>
                <a:latin typeface="Verdana"/>
                <a:cs typeface="Verdana"/>
              </a:rPr>
              <a:t>λ </a:t>
            </a:r>
            <a:r>
              <a:rPr sz="2850" b="1" i="1" spc="-359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3300" b="1" i="1" spc="-484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r>
              <a:rPr sz="2850" b="1" spc="-727" baseline="-32163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2850" b="1" i="1" spc="-359" baseline="-32163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2850" b="1" spc="-644" baseline="-32163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3300" b="1" spc="-335" dirty="0">
                <a:solidFill>
                  <a:srgbClr val="1E1E1E"/>
                </a:solidFill>
                <a:latin typeface="Verdana"/>
                <a:cs typeface="Verdana"/>
              </a:rPr>
              <a:t>∙</a:t>
            </a:r>
            <a:r>
              <a:rPr sz="3300" b="1" spc="-91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80" dirty="0">
                <a:solidFill>
                  <a:srgbClr val="1E1E1E"/>
                </a:solidFill>
                <a:latin typeface="Verdana"/>
                <a:cs typeface="Verdana"/>
              </a:rPr>
              <a:t>P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97949" y="7509164"/>
            <a:ext cx="316865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3495">
              <a:lnSpc>
                <a:spcPts val="224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40"/>
              </a:lnSpc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56200" y="7254094"/>
            <a:ext cx="412115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750" b="1" spc="-97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575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15096" y="7076089"/>
            <a:ext cx="19240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i="1" spc="-335" dirty="0">
                <a:solidFill>
                  <a:srgbClr val="1E1E1E"/>
                </a:solidFill>
                <a:latin typeface="Verdana"/>
                <a:cs typeface="Verdana"/>
              </a:rPr>
              <a:t>k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06104" y="8004568"/>
            <a:ext cx="11536680" cy="100266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R="215265" algn="ctr">
              <a:lnSpc>
                <a:spcPct val="100000"/>
              </a:lnSpc>
              <a:spcBef>
                <a:spcPts val="450"/>
              </a:spcBef>
            </a:pPr>
            <a:r>
              <a:rPr sz="2450" b="1" i="1" spc="-31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2450" b="1" spc="-655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2450" b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3300" spc="-145" dirty="0">
                <a:solidFill>
                  <a:srgbClr val="1E1E1E"/>
                </a:solidFill>
                <a:latin typeface="Arial"/>
                <a:cs typeface="Arial"/>
              </a:rPr>
              <a:t>Эллипсоид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рассеяния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адекватно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оценивается своей</a:t>
            </a:r>
            <a:r>
              <a:rPr sz="3300" spc="6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«тенью»,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71335" y="1233335"/>
            <a:ext cx="1600771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b="1" spc="-270" dirty="0">
                <a:solidFill>
                  <a:srgbClr val="1E1E1E"/>
                </a:solidFill>
                <a:latin typeface="Arial"/>
                <a:cs typeface="Arial"/>
              </a:rPr>
              <a:t>Сингулярное </a:t>
            </a:r>
            <a:r>
              <a:rPr sz="4950" b="1" spc="-215" dirty="0">
                <a:solidFill>
                  <a:srgbClr val="1E1E1E"/>
                </a:solidFill>
                <a:latin typeface="Arial"/>
                <a:cs typeface="Arial"/>
              </a:rPr>
              <a:t>разложение: </a:t>
            </a:r>
            <a:r>
              <a:rPr sz="4950" b="1" spc="-229" dirty="0">
                <a:solidFill>
                  <a:srgbClr val="1E1E1E"/>
                </a:solidFill>
                <a:latin typeface="Arial"/>
                <a:cs typeface="Arial"/>
              </a:rPr>
              <a:t>распознавание</a:t>
            </a:r>
            <a:r>
              <a:rPr sz="4950" b="1" spc="30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4950" b="1" spc="-170" dirty="0">
                <a:solidFill>
                  <a:srgbClr val="1E1E1E"/>
                </a:solidFill>
                <a:latin typeface="Arial"/>
                <a:cs typeface="Arial"/>
              </a:rPr>
              <a:t>фотографий</a:t>
            </a:r>
            <a:endParaRPr sz="4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109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170241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Облако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данных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может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состоять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из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нескольких</a:t>
            </a:r>
            <a:r>
              <a:rPr sz="3300" spc="5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«эллипсоидов».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71335" y="1233335"/>
            <a:ext cx="1600771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Сингулярное </a:t>
            </a:r>
            <a:r>
              <a:rPr spc="-215" dirty="0"/>
              <a:t>разложение: </a:t>
            </a:r>
            <a:r>
              <a:rPr spc="-229" dirty="0"/>
              <a:t>распознавание</a:t>
            </a:r>
            <a:r>
              <a:rPr spc="300" dirty="0"/>
              <a:t> </a:t>
            </a:r>
            <a:r>
              <a:rPr spc="-170" dirty="0"/>
              <a:t>фотографий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170241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Облако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данных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может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состоять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из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нескольких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«эллипсоидов». 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Сингулярное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разложение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часто</a:t>
            </a:r>
            <a:r>
              <a:rPr sz="3300" spc="24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срабатывает.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5686" y="4960970"/>
            <a:ext cx="13901419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b="1" spc="-165" dirty="0">
                <a:solidFill>
                  <a:srgbClr val="1E1E1E"/>
                </a:solidFill>
                <a:latin typeface="Arial"/>
                <a:cs typeface="Arial"/>
              </a:rPr>
              <a:t>Пример: </a:t>
            </a:r>
            <a:r>
              <a:rPr sz="3300" b="1" spc="55" dirty="0">
                <a:solidFill>
                  <a:srgbClr val="1E1E1E"/>
                </a:solidFill>
                <a:latin typeface="Arial"/>
                <a:cs typeface="Arial"/>
              </a:rPr>
              <a:t>10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человек, </a:t>
            </a:r>
            <a:r>
              <a:rPr sz="3300" b="1" spc="100" dirty="0">
                <a:solidFill>
                  <a:srgbClr val="1E1E1E"/>
                </a:solidFill>
                <a:latin typeface="Arial"/>
                <a:cs typeface="Arial"/>
              </a:rPr>
              <a:t>80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оцифрованных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векторизованных</a:t>
            </a:r>
            <a:r>
              <a:rPr sz="3300" spc="35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30" dirty="0">
                <a:solidFill>
                  <a:srgbClr val="1E1E1E"/>
                </a:solidFill>
                <a:latin typeface="Arial"/>
                <a:cs typeface="Arial"/>
              </a:rPr>
              <a:t>фотографий,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ts val="3960"/>
              </a:lnSpc>
            </a:pPr>
            <a:r>
              <a:rPr sz="3300" b="1" spc="55" dirty="0">
                <a:solidFill>
                  <a:srgbClr val="1E1E1E"/>
                </a:solidFill>
                <a:latin typeface="Arial"/>
                <a:cs typeface="Arial"/>
              </a:rPr>
              <a:t>10 </a:t>
            </a:r>
            <a:r>
              <a:rPr sz="3300" b="1" spc="125" dirty="0">
                <a:solidFill>
                  <a:srgbClr val="1E1E1E"/>
                </a:solidFill>
                <a:latin typeface="Arial"/>
                <a:cs typeface="Arial"/>
              </a:rPr>
              <a:t>000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пикселей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каждая.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Сингулярное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разложение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данных 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i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spc="-1065" dirty="0">
                <a:solidFill>
                  <a:srgbClr val="1E1E1E"/>
                </a:solidFill>
                <a:latin typeface="DejaVu Sans"/>
                <a:cs typeface="DejaVu Sans"/>
              </a:rPr>
              <a:t>∈</a:t>
            </a:r>
            <a:endParaRPr sz="3300">
              <a:latin typeface="DejaVu Sans"/>
              <a:cs typeface="DejaVu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050526" y="5606101"/>
            <a:ext cx="304165" cy="289560"/>
          </a:xfrm>
          <a:custGeom>
            <a:avLst/>
            <a:gdLst/>
            <a:ahLst/>
            <a:cxnLst/>
            <a:rect l="l" t="t" r="r" b="b"/>
            <a:pathLst>
              <a:path w="304165" h="289560">
                <a:moveTo>
                  <a:pt x="144927" y="274263"/>
                </a:moveTo>
                <a:lnTo>
                  <a:pt x="5591" y="274263"/>
                </a:lnTo>
                <a:lnTo>
                  <a:pt x="3685" y="274944"/>
                </a:lnTo>
                <a:lnTo>
                  <a:pt x="743" y="277761"/>
                </a:lnTo>
                <a:lnTo>
                  <a:pt x="0" y="279467"/>
                </a:lnTo>
                <a:lnTo>
                  <a:pt x="0" y="283656"/>
                </a:lnTo>
                <a:lnTo>
                  <a:pt x="743" y="285509"/>
                </a:lnTo>
                <a:lnTo>
                  <a:pt x="3685" y="288315"/>
                </a:lnTo>
                <a:lnTo>
                  <a:pt x="5591" y="289006"/>
                </a:lnTo>
                <a:lnTo>
                  <a:pt x="144927" y="289006"/>
                </a:lnTo>
                <a:lnTo>
                  <a:pt x="146833" y="288315"/>
                </a:lnTo>
                <a:lnTo>
                  <a:pt x="149775" y="285509"/>
                </a:lnTo>
                <a:lnTo>
                  <a:pt x="150508" y="283656"/>
                </a:lnTo>
                <a:lnTo>
                  <a:pt x="150508" y="279467"/>
                </a:lnTo>
                <a:lnTo>
                  <a:pt x="149775" y="277761"/>
                </a:lnTo>
                <a:lnTo>
                  <a:pt x="146833" y="274944"/>
                </a:lnTo>
                <a:lnTo>
                  <a:pt x="144927" y="274263"/>
                </a:lnTo>
                <a:close/>
              </a:path>
              <a:path w="304165" h="289560">
                <a:moveTo>
                  <a:pt x="145511" y="157555"/>
                </a:moveTo>
                <a:lnTo>
                  <a:pt x="127116" y="157555"/>
                </a:lnTo>
                <a:lnTo>
                  <a:pt x="214967" y="285645"/>
                </a:lnTo>
                <a:lnTo>
                  <a:pt x="216443" y="287865"/>
                </a:lnTo>
                <a:lnTo>
                  <a:pt x="218632" y="289006"/>
                </a:lnTo>
                <a:lnTo>
                  <a:pt x="298085" y="289006"/>
                </a:lnTo>
                <a:lnTo>
                  <a:pt x="299990" y="288315"/>
                </a:lnTo>
                <a:lnTo>
                  <a:pt x="302943" y="285509"/>
                </a:lnTo>
                <a:lnTo>
                  <a:pt x="303655" y="283656"/>
                </a:lnTo>
                <a:lnTo>
                  <a:pt x="303655" y="279467"/>
                </a:lnTo>
                <a:lnTo>
                  <a:pt x="302943" y="277761"/>
                </a:lnTo>
                <a:lnTo>
                  <a:pt x="299990" y="274944"/>
                </a:lnTo>
                <a:lnTo>
                  <a:pt x="298085" y="274263"/>
                </a:lnTo>
                <a:lnTo>
                  <a:pt x="225563" y="274263"/>
                </a:lnTo>
                <a:lnTo>
                  <a:pt x="145511" y="157555"/>
                </a:lnTo>
                <a:close/>
              </a:path>
              <a:path w="304165" h="289560">
                <a:moveTo>
                  <a:pt x="51192" y="14743"/>
                </a:moveTo>
                <a:lnTo>
                  <a:pt x="7947" y="14743"/>
                </a:lnTo>
                <a:lnTo>
                  <a:pt x="18433" y="14980"/>
                </a:lnTo>
                <a:lnTo>
                  <a:pt x="26490" y="15693"/>
                </a:lnTo>
                <a:lnTo>
                  <a:pt x="39270" y="255724"/>
                </a:lnTo>
                <a:lnTo>
                  <a:pt x="39062" y="259855"/>
                </a:lnTo>
                <a:lnTo>
                  <a:pt x="7947" y="274263"/>
                </a:lnTo>
                <a:lnTo>
                  <a:pt x="51192" y="274263"/>
                </a:lnTo>
                <a:lnTo>
                  <a:pt x="53265" y="270044"/>
                </a:lnTo>
                <a:lnTo>
                  <a:pt x="54364" y="265688"/>
                </a:lnTo>
                <a:lnTo>
                  <a:pt x="54686" y="255724"/>
                </a:lnTo>
                <a:lnTo>
                  <a:pt x="54560" y="29140"/>
                </a:lnTo>
                <a:lnTo>
                  <a:pt x="54364" y="23329"/>
                </a:lnTo>
                <a:lnTo>
                  <a:pt x="53265" y="18973"/>
                </a:lnTo>
                <a:lnTo>
                  <a:pt x="51192" y="14743"/>
                </a:lnTo>
                <a:close/>
              </a:path>
              <a:path w="304165" h="289560">
                <a:moveTo>
                  <a:pt x="128446" y="14743"/>
                </a:moveTo>
                <a:lnTo>
                  <a:pt x="101075" y="14743"/>
                </a:lnTo>
                <a:lnTo>
                  <a:pt x="97557" y="19517"/>
                </a:lnTo>
                <a:lnTo>
                  <a:pt x="95865" y="24732"/>
                </a:lnTo>
                <a:lnTo>
                  <a:pt x="95832" y="255724"/>
                </a:lnTo>
                <a:lnTo>
                  <a:pt x="96154" y="265688"/>
                </a:lnTo>
                <a:lnTo>
                  <a:pt x="97253" y="270044"/>
                </a:lnTo>
                <a:lnTo>
                  <a:pt x="99316" y="274263"/>
                </a:lnTo>
                <a:lnTo>
                  <a:pt x="142571" y="274263"/>
                </a:lnTo>
                <a:lnTo>
                  <a:pt x="132086" y="274024"/>
                </a:lnTo>
                <a:lnTo>
                  <a:pt x="124032" y="273308"/>
                </a:lnTo>
                <a:lnTo>
                  <a:pt x="111232" y="157963"/>
                </a:lnTo>
                <a:lnTo>
                  <a:pt x="121839" y="157963"/>
                </a:lnTo>
                <a:lnTo>
                  <a:pt x="124477" y="157827"/>
                </a:lnTo>
                <a:lnTo>
                  <a:pt x="127116" y="157555"/>
                </a:lnTo>
                <a:lnTo>
                  <a:pt x="145511" y="157555"/>
                </a:lnTo>
                <a:lnTo>
                  <a:pt x="145231" y="157147"/>
                </a:lnTo>
                <a:lnTo>
                  <a:pt x="166015" y="156005"/>
                </a:lnTo>
                <a:lnTo>
                  <a:pt x="171125" y="155597"/>
                </a:lnTo>
                <a:lnTo>
                  <a:pt x="176120" y="155021"/>
                </a:lnTo>
                <a:lnTo>
                  <a:pt x="194442" y="155021"/>
                </a:lnTo>
                <a:lnTo>
                  <a:pt x="192894" y="152749"/>
                </a:lnTo>
                <a:lnTo>
                  <a:pt x="201509" y="151121"/>
                </a:lnTo>
                <a:lnTo>
                  <a:pt x="209713" y="149208"/>
                </a:lnTo>
                <a:lnTo>
                  <a:pt x="217505" y="147011"/>
                </a:lnTo>
                <a:lnTo>
                  <a:pt x="224883" y="144529"/>
                </a:lnTo>
                <a:lnTo>
                  <a:pt x="225973" y="144079"/>
                </a:lnTo>
                <a:lnTo>
                  <a:pt x="111232" y="144079"/>
                </a:lnTo>
                <a:lnTo>
                  <a:pt x="111232" y="26805"/>
                </a:lnTo>
                <a:lnTo>
                  <a:pt x="113525" y="22892"/>
                </a:lnTo>
                <a:lnTo>
                  <a:pt x="122645" y="16365"/>
                </a:lnTo>
                <a:lnTo>
                  <a:pt x="128446" y="14743"/>
                </a:lnTo>
                <a:close/>
              </a:path>
              <a:path w="304165" h="289560">
                <a:moveTo>
                  <a:pt x="194442" y="155021"/>
                </a:moveTo>
                <a:lnTo>
                  <a:pt x="176120" y="155021"/>
                </a:lnTo>
                <a:lnTo>
                  <a:pt x="176120" y="155325"/>
                </a:lnTo>
                <a:lnTo>
                  <a:pt x="176266" y="155597"/>
                </a:lnTo>
                <a:lnTo>
                  <a:pt x="176581" y="155869"/>
                </a:lnTo>
                <a:lnTo>
                  <a:pt x="180726" y="161844"/>
                </a:lnTo>
                <a:lnTo>
                  <a:pt x="185231" y="168400"/>
                </a:lnTo>
                <a:lnTo>
                  <a:pt x="190090" y="175541"/>
                </a:lnTo>
                <a:lnTo>
                  <a:pt x="195302" y="183271"/>
                </a:lnTo>
                <a:lnTo>
                  <a:pt x="200815" y="191324"/>
                </a:lnTo>
                <a:lnTo>
                  <a:pt x="224690" y="224451"/>
                </a:lnTo>
                <a:lnTo>
                  <a:pt x="249998" y="255724"/>
                </a:lnTo>
                <a:lnTo>
                  <a:pt x="268368" y="274263"/>
                </a:lnTo>
                <a:lnTo>
                  <a:pt x="291331" y="274263"/>
                </a:lnTo>
                <a:lnTo>
                  <a:pt x="285436" y="270724"/>
                </a:lnTo>
                <a:lnTo>
                  <a:pt x="278075" y="263698"/>
                </a:lnTo>
                <a:lnTo>
                  <a:pt x="246082" y="227234"/>
                </a:lnTo>
                <a:lnTo>
                  <a:pt x="216056" y="186333"/>
                </a:lnTo>
                <a:lnTo>
                  <a:pt x="200611" y="164078"/>
                </a:lnTo>
                <a:lnTo>
                  <a:pt x="194442" y="155021"/>
                </a:lnTo>
                <a:close/>
              </a:path>
              <a:path w="304165" h="289560">
                <a:moveTo>
                  <a:pt x="151838" y="0"/>
                </a:moveTo>
                <a:lnTo>
                  <a:pt x="5591" y="0"/>
                </a:lnTo>
                <a:lnTo>
                  <a:pt x="3685" y="701"/>
                </a:lnTo>
                <a:lnTo>
                  <a:pt x="743" y="3518"/>
                </a:lnTo>
                <a:lnTo>
                  <a:pt x="0" y="5193"/>
                </a:lnTo>
                <a:lnTo>
                  <a:pt x="0" y="9413"/>
                </a:lnTo>
                <a:lnTo>
                  <a:pt x="743" y="11224"/>
                </a:lnTo>
                <a:lnTo>
                  <a:pt x="3685" y="14041"/>
                </a:lnTo>
                <a:lnTo>
                  <a:pt x="5591" y="14743"/>
                </a:lnTo>
                <a:lnTo>
                  <a:pt x="143157" y="14743"/>
                </a:lnTo>
                <a:lnTo>
                  <a:pt x="150508" y="15308"/>
                </a:lnTo>
                <a:lnTo>
                  <a:pt x="186570" y="35653"/>
                </a:lnTo>
                <a:lnTo>
                  <a:pt x="194664" y="79400"/>
                </a:lnTo>
                <a:lnTo>
                  <a:pt x="194468" y="89514"/>
                </a:lnTo>
                <a:lnTo>
                  <a:pt x="185460" y="128414"/>
                </a:lnTo>
                <a:lnTo>
                  <a:pt x="145247" y="142762"/>
                </a:lnTo>
                <a:lnTo>
                  <a:pt x="111232" y="144079"/>
                </a:lnTo>
                <a:lnTo>
                  <a:pt x="225973" y="144079"/>
                </a:lnTo>
                <a:lnTo>
                  <a:pt x="231804" y="141670"/>
                </a:lnTo>
                <a:lnTo>
                  <a:pt x="238322" y="138341"/>
                </a:lnTo>
                <a:lnTo>
                  <a:pt x="239956" y="137325"/>
                </a:lnTo>
                <a:lnTo>
                  <a:pt x="195994" y="137325"/>
                </a:lnTo>
                <a:lnTo>
                  <a:pt x="202363" y="127383"/>
                </a:lnTo>
                <a:lnTo>
                  <a:pt x="206911" y="114381"/>
                </a:lnTo>
                <a:lnTo>
                  <a:pt x="209639" y="98319"/>
                </a:lnTo>
                <a:lnTo>
                  <a:pt x="210539" y="79400"/>
                </a:lnTo>
                <a:lnTo>
                  <a:pt x="210539" y="78887"/>
                </a:lnTo>
                <a:lnTo>
                  <a:pt x="210255" y="68916"/>
                </a:lnTo>
                <a:lnTo>
                  <a:pt x="200063" y="29586"/>
                </a:lnTo>
                <a:lnTo>
                  <a:pt x="192894" y="19371"/>
                </a:lnTo>
                <a:lnTo>
                  <a:pt x="234935" y="19371"/>
                </a:lnTo>
                <a:lnTo>
                  <a:pt x="194224" y="4219"/>
                </a:lnTo>
                <a:lnTo>
                  <a:pt x="162426" y="263"/>
                </a:lnTo>
                <a:lnTo>
                  <a:pt x="151838" y="0"/>
                </a:lnTo>
                <a:close/>
              </a:path>
              <a:path w="304165" h="289560">
                <a:moveTo>
                  <a:pt x="234935" y="19371"/>
                </a:moveTo>
                <a:lnTo>
                  <a:pt x="192894" y="19371"/>
                </a:lnTo>
                <a:lnTo>
                  <a:pt x="205791" y="22899"/>
                </a:lnTo>
                <a:lnTo>
                  <a:pt x="217497" y="27538"/>
                </a:lnTo>
                <a:lnTo>
                  <a:pt x="250701" y="57449"/>
                </a:lnTo>
                <a:lnTo>
                  <a:pt x="255086" y="79400"/>
                </a:lnTo>
                <a:lnTo>
                  <a:pt x="254165" y="91445"/>
                </a:lnTo>
                <a:lnTo>
                  <a:pt x="231724" y="124469"/>
                </a:lnTo>
                <a:lnTo>
                  <a:pt x="195994" y="137325"/>
                </a:lnTo>
                <a:lnTo>
                  <a:pt x="239956" y="137325"/>
                </a:lnTo>
                <a:lnTo>
                  <a:pt x="267909" y="102638"/>
                </a:lnTo>
                <a:lnTo>
                  <a:pt x="271028" y="78887"/>
                </a:lnTo>
                <a:lnTo>
                  <a:pt x="270359" y="68535"/>
                </a:lnTo>
                <a:lnTo>
                  <a:pt x="248162" y="28792"/>
                </a:lnTo>
                <a:lnTo>
                  <a:pt x="240797" y="23014"/>
                </a:lnTo>
                <a:lnTo>
                  <a:pt x="234935" y="19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402222" y="5498755"/>
            <a:ext cx="115062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360" dirty="0">
                <a:solidFill>
                  <a:srgbClr val="1E1E1E"/>
                </a:solidFill>
                <a:latin typeface="Verdana"/>
                <a:cs typeface="Verdana"/>
              </a:rPr>
              <a:t>80×10</a:t>
            </a:r>
            <a:r>
              <a:rPr sz="1900" b="1" spc="-4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54" dirty="0">
                <a:solidFill>
                  <a:srgbClr val="1E1E1E"/>
                </a:solidFill>
                <a:latin typeface="Verdana"/>
                <a:cs typeface="Verdana"/>
              </a:rPr>
              <a:t>000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110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58158" y="8591017"/>
            <a:ext cx="4089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b="1" i="1" spc="-225" baseline="-18518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01476" y="9044526"/>
            <a:ext cx="31686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76506" y="8730489"/>
            <a:ext cx="5750560" cy="63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95"/>
              </a:spcBef>
              <a:tabLst>
                <a:tab pos="3307079" algn="l"/>
                <a:tab pos="4978400" algn="l"/>
              </a:tabLst>
            </a:pP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≈   </a:t>
            </a:r>
            <a:r>
              <a:rPr sz="3300" b="1" i="1" spc="-325" dirty="0">
                <a:solidFill>
                  <a:srgbClr val="1E1E1E"/>
                </a:solidFill>
                <a:latin typeface="Verdana"/>
                <a:cs typeface="Verdana"/>
              </a:rPr>
              <a:t>α</a:t>
            </a:r>
            <a:r>
              <a:rPr sz="2850" b="1" i="1" spc="-487" baseline="-32163" dirty="0">
                <a:solidFill>
                  <a:srgbClr val="1E1E1E"/>
                </a:solidFill>
                <a:latin typeface="Verdana"/>
                <a:cs typeface="Verdana"/>
              </a:rPr>
              <a:t>j  </a:t>
            </a:r>
            <a:r>
              <a:rPr sz="2850" b="1" spc="-862" baseline="-32163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3300" b="1" i="1" spc="-5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2850" b="1" spc="-862" baseline="-32163" dirty="0">
                <a:solidFill>
                  <a:srgbClr val="1E1E1E"/>
                </a:solidFill>
                <a:latin typeface="Verdana"/>
                <a:cs typeface="Verdana"/>
              </a:rPr>
              <a:t>[    </a:t>
            </a:r>
            <a:r>
              <a:rPr sz="2850" b="1" spc="-427" baseline="-32163" dirty="0">
                <a:solidFill>
                  <a:srgbClr val="1E1E1E"/>
                </a:solidFill>
                <a:latin typeface="Verdana"/>
                <a:cs typeface="Verdana"/>
              </a:rPr>
              <a:t>1 </a:t>
            </a:r>
            <a:r>
              <a:rPr sz="2850" b="1" spc="-644" baseline="-32163" dirty="0">
                <a:solidFill>
                  <a:srgbClr val="1E1E1E"/>
                </a:solidFill>
                <a:latin typeface="Verdana"/>
                <a:cs typeface="Verdana"/>
              </a:rPr>
              <a:t>] 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</a:t>
            </a:r>
            <a:r>
              <a:rPr sz="3300" b="1" i="1" spc="-82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325" dirty="0">
                <a:solidFill>
                  <a:srgbClr val="1E1E1E"/>
                </a:solidFill>
                <a:latin typeface="Verdana"/>
                <a:cs typeface="Verdana"/>
              </a:rPr>
              <a:t>α</a:t>
            </a:r>
            <a:r>
              <a:rPr sz="2850" b="1" i="1" spc="-487" baseline="-32163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2850" b="1" i="1" spc="-270" baseline="-32163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850" b="1" spc="-547" baseline="-32163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3300" b="1" i="1" spc="-36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2850" b="1" i="1" spc="-547" baseline="32163" dirty="0">
                <a:solidFill>
                  <a:srgbClr val="1E1E1E"/>
                </a:solidFill>
                <a:latin typeface="Verdana"/>
                <a:cs typeface="Verdana"/>
              </a:rPr>
              <a:t>Т	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 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</a:t>
            </a:r>
            <a:r>
              <a:rPr sz="3300" b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+ </a:t>
            </a:r>
            <a:r>
              <a:rPr sz="3300" b="1" i="1" spc="-6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09" dirty="0">
                <a:solidFill>
                  <a:srgbClr val="1E1E1E"/>
                </a:solidFill>
                <a:latin typeface="Verdana"/>
                <a:cs typeface="Verdana"/>
              </a:rPr>
              <a:t>α	</a:t>
            </a:r>
            <a:r>
              <a:rPr sz="3300" b="1" i="1" spc="-39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2850" b="1" i="1" spc="-592" baseline="32163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2850" baseline="32163">
              <a:latin typeface="Verdana"/>
              <a:cs typeface="Verdana"/>
            </a:endParaRPr>
          </a:p>
          <a:p>
            <a:pPr marL="2863215">
              <a:lnSpc>
                <a:spcPts val="1550"/>
              </a:lnSpc>
              <a:tabLst>
                <a:tab pos="4722495" algn="l"/>
                <a:tab pos="5377180" algn="l"/>
              </a:tabLst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2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	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r>
              <a:rPr sz="1900" b="1" i="1" spc="-18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9	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9</a:t>
            </a:r>
            <a:r>
              <a:rPr sz="1900" b="1" spc="-40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79264" y="6547592"/>
            <a:ext cx="56642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F</a:t>
            </a:r>
            <a:r>
              <a:rPr sz="3300" b="1" i="1" spc="-60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35770" y="6687064"/>
            <a:ext cx="174625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90"/>
              </a:lnSpc>
              <a:spcBef>
                <a:spcPts val="95"/>
              </a:spcBef>
            </a:pPr>
            <a:r>
              <a:rPr sz="4950" b="1" i="1" spc="-322" baseline="18518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1900" b="1" i="1" spc="-215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4950" b="1" i="1" spc="-540" baseline="18518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1900" b="1" spc="-360" dirty="0">
                <a:solidFill>
                  <a:srgbClr val="1E1E1E"/>
                </a:solidFill>
                <a:latin typeface="Verdana"/>
                <a:cs typeface="Verdana"/>
              </a:rPr>
              <a:t>[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 </a:t>
            </a:r>
            <a:r>
              <a:rPr sz="4950" b="1" i="1" spc="-592" baseline="18518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2850" b="1" i="1" spc="-592" baseline="64327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r>
              <a:rPr sz="2850" b="1" i="1" spc="-660" baseline="64327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  <a:p>
            <a:pPr marR="116839" algn="r">
              <a:lnSpc>
                <a:spcPts val="1090"/>
              </a:lnSpc>
            </a:pP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7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1900" b="1" i="1" spc="-240" dirty="0">
                <a:solidFill>
                  <a:srgbClr val="1E1E1E"/>
                </a:solidFill>
                <a:latin typeface="Verdana"/>
                <a:cs typeface="Verdana"/>
              </a:rPr>
              <a:t>j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07517" y="6294940"/>
            <a:ext cx="412115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750" b="1" spc="-975" dirty="0">
                <a:solidFill>
                  <a:srgbClr val="1E1E1E"/>
                </a:solidFill>
                <a:latin typeface="Verdana"/>
                <a:cs typeface="Verdana"/>
              </a:rPr>
              <a:t>∑</a:t>
            </a:r>
            <a:endParaRPr sz="57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42793" y="6128474"/>
            <a:ext cx="37909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355" dirty="0">
                <a:solidFill>
                  <a:srgbClr val="1E1E1E"/>
                </a:solidFill>
                <a:latin typeface="Verdana"/>
                <a:cs typeface="Verdana"/>
              </a:rPr>
              <a:t>80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06104" y="6911670"/>
            <a:ext cx="11198225" cy="1341755"/>
          </a:xfrm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R="374015" algn="ctr">
              <a:lnSpc>
                <a:spcPct val="100000"/>
              </a:lnSpc>
              <a:spcBef>
                <a:spcPts val="1595"/>
              </a:spcBef>
            </a:pPr>
            <a:r>
              <a:rPr sz="2450" b="1" i="1" spc="-310" dirty="0">
                <a:solidFill>
                  <a:srgbClr val="1E1E1E"/>
                </a:solidFill>
                <a:latin typeface="Verdana"/>
                <a:cs typeface="Verdana"/>
              </a:rPr>
              <a:t>j </a:t>
            </a:r>
            <a:r>
              <a:rPr sz="2450" b="1" spc="-655" dirty="0">
                <a:solidFill>
                  <a:srgbClr val="1E1E1E"/>
                </a:solidFill>
                <a:latin typeface="Verdana"/>
                <a:cs typeface="Verdana"/>
              </a:rPr>
              <a:t>= </a:t>
            </a:r>
            <a:r>
              <a:rPr sz="2450" b="1" spc="-54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2450" b="1" spc="-370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endParaRPr sz="2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70"/>
              </a:spcBef>
            </a:pP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Что </a:t>
            </a: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произойдет,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если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оставим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только </a:t>
            </a:r>
            <a:r>
              <a:rPr sz="3300" b="1" spc="140" dirty="0">
                <a:solidFill>
                  <a:srgbClr val="1E1E1E"/>
                </a:solidFill>
                <a:latin typeface="Arial"/>
                <a:cs typeface="Arial"/>
              </a:rPr>
              <a:t>9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первых</a:t>
            </a:r>
            <a:r>
              <a:rPr sz="3300" spc="5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слагаемых?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593534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395" dirty="0">
                <a:latin typeface="Arial"/>
                <a:cs typeface="Arial"/>
              </a:rPr>
              <a:t>«</a:t>
            </a:r>
            <a:r>
              <a:rPr spc="-395" dirty="0"/>
              <a:t>Собственные</a:t>
            </a:r>
            <a:r>
              <a:rPr b="0" spc="-395" dirty="0">
                <a:latin typeface="Arial"/>
                <a:cs typeface="Arial"/>
              </a:rPr>
              <a:t>»</a:t>
            </a:r>
            <a:r>
              <a:rPr b="0" spc="-130" dirty="0">
                <a:latin typeface="Arial"/>
                <a:cs typeface="Arial"/>
              </a:rPr>
              <a:t> </a:t>
            </a:r>
            <a:r>
              <a:rPr spc="-195" dirty="0"/>
              <a:t>лица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1132395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i="1" spc="-53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2850" b="1" spc="-802" baseline="-32163" dirty="0">
                <a:solidFill>
                  <a:srgbClr val="1E1E1E"/>
                </a:solidFill>
                <a:latin typeface="Verdana"/>
                <a:cs typeface="Verdana"/>
              </a:rPr>
              <a:t>[1]</a:t>
            </a:r>
            <a:r>
              <a:rPr sz="3300" spc="-535" dirty="0">
                <a:solidFill>
                  <a:srgbClr val="1E1E1E"/>
                </a:solidFill>
                <a:latin typeface="Arial"/>
                <a:cs typeface="Arial"/>
              </a:rPr>
              <a:t>, </a:t>
            </a:r>
            <a:r>
              <a:rPr sz="3300" b="1" i="1" spc="-50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2850" b="1" spc="-757" baseline="-32163" dirty="0">
                <a:solidFill>
                  <a:srgbClr val="1E1E1E"/>
                </a:solidFill>
                <a:latin typeface="Verdana"/>
                <a:cs typeface="Verdana"/>
              </a:rPr>
              <a:t>[2]</a:t>
            </a:r>
            <a:r>
              <a:rPr sz="3300" spc="-505" dirty="0">
                <a:solidFill>
                  <a:srgbClr val="1E1E1E"/>
                </a:solidFill>
                <a:latin typeface="Arial"/>
                <a:cs typeface="Arial"/>
              </a:rPr>
              <a:t>, </a:t>
            </a:r>
            <a:r>
              <a:rPr sz="3300" b="1" spc="-165" dirty="0">
                <a:solidFill>
                  <a:srgbClr val="1E1E1E"/>
                </a:solidFill>
                <a:latin typeface="Verdana"/>
                <a:cs typeface="Verdana"/>
              </a:rPr>
              <a:t>…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</a:t>
            </a:r>
            <a:r>
              <a:rPr sz="3300" spc="-509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90" dirty="0">
                <a:solidFill>
                  <a:srgbClr val="1E1E1E"/>
                </a:solidFill>
                <a:latin typeface="Arial"/>
                <a:cs typeface="Arial"/>
              </a:rPr>
              <a:t>тоже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векторизованные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фотографии, </a:t>
            </a:r>
            <a:r>
              <a:rPr sz="3300" spc="-190" dirty="0">
                <a:solidFill>
                  <a:srgbClr val="1E1E1E"/>
                </a:solidFill>
                <a:latin typeface="Arial"/>
                <a:cs typeface="Arial"/>
              </a:rPr>
              <a:t>Eigenfaces.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18804" y="4345417"/>
            <a:ext cx="5219767" cy="5066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90490" y="5706632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5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823862" y="5631107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91014" y="7430569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5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824386" y="7375986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791014" y="9170369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5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24386" y="9115786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7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13472" y="5706632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46843" y="5631107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13472" y="7430569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646843" y="7375986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5</a:t>
            </a:r>
            <a:endParaRPr sz="19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613472" y="9170369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646843" y="9115786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8</a:t>
            </a:r>
            <a:endParaRPr sz="19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395648" y="5706632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429030" y="5631107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397187" y="7430569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430559" y="7375986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6</a:t>
            </a:r>
            <a:endParaRPr sz="19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97187" y="9170369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242955"/>
                </a:moveTo>
                <a:lnTo>
                  <a:pt x="242924" y="242955"/>
                </a:lnTo>
                <a:lnTo>
                  <a:pt x="242924" y="0"/>
                </a:lnTo>
                <a:lnTo>
                  <a:pt x="0" y="0"/>
                </a:lnTo>
                <a:lnTo>
                  <a:pt x="0" y="242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430559" y="9115786"/>
            <a:ext cx="1765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0" dirty="0">
                <a:solidFill>
                  <a:srgbClr val="CB3757"/>
                </a:solidFill>
                <a:latin typeface="Arial"/>
                <a:cs typeface="Arial"/>
              </a:rPr>
              <a:t>9</a:t>
            </a:r>
            <a:endParaRPr sz="19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111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593534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395" dirty="0">
                <a:latin typeface="Arial"/>
                <a:cs typeface="Arial"/>
              </a:rPr>
              <a:t>«</a:t>
            </a:r>
            <a:r>
              <a:rPr spc="-395" dirty="0"/>
              <a:t>Собственные</a:t>
            </a:r>
            <a:r>
              <a:rPr b="0" spc="-395" dirty="0">
                <a:latin typeface="Arial"/>
                <a:cs typeface="Arial"/>
              </a:rPr>
              <a:t>»</a:t>
            </a:r>
            <a:r>
              <a:rPr b="0" spc="-130" dirty="0">
                <a:latin typeface="Arial"/>
                <a:cs typeface="Arial"/>
              </a:rPr>
              <a:t> </a:t>
            </a:r>
            <a:r>
              <a:rPr spc="-195" dirty="0"/>
              <a:t>лица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802513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Фотография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из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коллекции </a:t>
            </a:r>
            <a:r>
              <a:rPr sz="3300" b="1" spc="50" dirty="0">
                <a:solidFill>
                  <a:srgbClr val="CB3757"/>
                </a:solidFill>
                <a:latin typeface="Arial"/>
                <a:cs typeface="Arial"/>
              </a:rPr>
              <a:t>=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сумма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масок, 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домноженных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на</a:t>
            </a:r>
            <a:r>
              <a:rPr sz="3300" spc="1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координаты: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8978" y="4832813"/>
            <a:ext cx="4988391" cy="15125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78978" y="8292941"/>
            <a:ext cx="4999355" cy="15235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68015" y="6565693"/>
            <a:ext cx="5010318" cy="15178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97154" y="8303881"/>
            <a:ext cx="1537125" cy="1520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18804" y="4711898"/>
            <a:ext cx="6000750" cy="4251325"/>
          </a:xfrm>
          <a:custGeom>
            <a:avLst/>
            <a:gdLst/>
            <a:ahLst/>
            <a:cxnLst/>
            <a:rect l="l" t="t" r="r" b="b"/>
            <a:pathLst>
              <a:path w="6000750" h="4251325">
                <a:moveTo>
                  <a:pt x="0" y="0"/>
                </a:moveTo>
                <a:lnTo>
                  <a:pt x="5288373" y="0"/>
                </a:lnTo>
                <a:lnTo>
                  <a:pt x="5288373" y="1737507"/>
                </a:lnTo>
                <a:lnTo>
                  <a:pt x="26177" y="1737507"/>
                </a:lnTo>
                <a:lnTo>
                  <a:pt x="26177" y="3475349"/>
                </a:lnTo>
                <a:lnTo>
                  <a:pt x="5288373" y="3475349"/>
                </a:lnTo>
                <a:lnTo>
                  <a:pt x="5288373" y="4251179"/>
                </a:lnTo>
                <a:lnTo>
                  <a:pt x="6000634" y="4251179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332457" y="8882253"/>
            <a:ext cx="86995" cy="161925"/>
          </a:xfrm>
          <a:custGeom>
            <a:avLst/>
            <a:gdLst/>
            <a:ahLst/>
            <a:cxnLst/>
            <a:rect l="l" t="t" r="r" b="b"/>
            <a:pathLst>
              <a:path w="86995" h="161925">
                <a:moveTo>
                  <a:pt x="0" y="0"/>
                </a:moveTo>
                <a:lnTo>
                  <a:pt x="86981" y="80824"/>
                </a:lnTo>
                <a:lnTo>
                  <a:pt x="0" y="161649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67847" y="4664779"/>
            <a:ext cx="0" cy="4146550"/>
          </a:xfrm>
          <a:custGeom>
            <a:avLst/>
            <a:gdLst/>
            <a:ahLst/>
            <a:cxnLst/>
            <a:rect l="l" t="t" r="r" b="b"/>
            <a:pathLst>
              <a:path h="4146550">
                <a:moveTo>
                  <a:pt x="0" y="0"/>
                </a:moveTo>
                <a:lnTo>
                  <a:pt x="0" y="4146470"/>
                </a:lnTo>
              </a:path>
            </a:pathLst>
          </a:custGeom>
          <a:ln w="52354">
            <a:solidFill>
              <a:srgbClr val="CB3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67847" y="9101817"/>
            <a:ext cx="0" cy="723265"/>
          </a:xfrm>
          <a:custGeom>
            <a:avLst/>
            <a:gdLst/>
            <a:ahLst/>
            <a:cxnLst/>
            <a:rect l="l" t="t" r="r" b="b"/>
            <a:pathLst>
              <a:path h="723265">
                <a:moveTo>
                  <a:pt x="0" y="0"/>
                </a:moveTo>
                <a:lnTo>
                  <a:pt x="0" y="722815"/>
                </a:lnTo>
              </a:path>
            </a:pathLst>
          </a:custGeom>
          <a:ln w="52354">
            <a:solidFill>
              <a:srgbClr val="CB3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22715" y="4711898"/>
            <a:ext cx="59690" cy="0"/>
          </a:xfrm>
          <a:custGeom>
            <a:avLst/>
            <a:gdLst/>
            <a:ahLst/>
            <a:cxnLst/>
            <a:rect l="l" t="t" r="r" b="b"/>
            <a:pathLst>
              <a:path w="59689">
                <a:moveTo>
                  <a:pt x="29726" y="-26177"/>
                </a:moveTo>
                <a:lnTo>
                  <a:pt x="29726" y="26177"/>
                </a:lnTo>
              </a:path>
            </a:pathLst>
          </a:custGeom>
          <a:ln w="59453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95187" y="4631073"/>
            <a:ext cx="86995" cy="161925"/>
          </a:xfrm>
          <a:custGeom>
            <a:avLst/>
            <a:gdLst/>
            <a:ahLst/>
            <a:cxnLst/>
            <a:rect l="l" t="t" r="r" b="b"/>
            <a:pathLst>
              <a:path w="86995" h="161925">
                <a:moveTo>
                  <a:pt x="0" y="0"/>
                </a:moveTo>
                <a:lnTo>
                  <a:pt x="86981" y="80824"/>
                </a:lnTo>
                <a:lnTo>
                  <a:pt x="0" y="161649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291263" y="8186756"/>
            <a:ext cx="59690" cy="0"/>
          </a:xfrm>
          <a:custGeom>
            <a:avLst/>
            <a:gdLst/>
            <a:ahLst/>
            <a:cxnLst/>
            <a:rect l="l" t="t" r="r" b="b"/>
            <a:pathLst>
              <a:path w="59689">
                <a:moveTo>
                  <a:pt x="29726" y="-26177"/>
                </a:moveTo>
                <a:lnTo>
                  <a:pt x="29726" y="26177"/>
                </a:lnTo>
              </a:path>
            </a:pathLst>
          </a:custGeom>
          <a:ln w="59453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63734" y="8105941"/>
            <a:ext cx="86995" cy="161925"/>
          </a:xfrm>
          <a:custGeom>
            <a:avLst/>
            <a:gdLst/>
            <a:ahLst/>
            <a:cxnLst/>
            <a:rect l="l" t="t" r="r" b="b"/>
            <a:pathLst>
              <a:path w="86995" h="161925">
                <a:moveTo>
                  <a:pt x="0" y="0"/>
                </a:moveTo>
                <a:lnTo>
                  <a:pt x="86981" y="80824"/>
                </a:lnTo>
                <a:lnTo>
                  <a:pt x="0" y="161649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707094" y="5507486"/>
            <a:ext cx="0" cy="59690"/>
          </a:xfrm>
          <a:custGeom>
            <a:avLst/>
            <a:gdLst/>
            <a:ahLst/>
            <a:cxnLst/>
            <a:rect l="l" t="t" r="r" b="b"/>
            <a:pathLst>
              <a:path h="59689">
                <a:moveTo>
                  <a:pt x="0" y="0"/>
                </a:moveTo>
                <a:lnTo>
                  <a:pt x="0" y="59453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26269" y="5479958"/>
            <a:ext cx="161925" cy="86995"/>
          </a:xfrm>
          <a:custGeom>
            <a:avLst/>
            <a:gdLst/>
            <a:ahLst/>
            <a:cxnLst/>
            <a:rect l="l" t="t" r="r" b="b"/>
            <a:pathLst>
              <a:path w="161925" h="86995">
                <a:moveTo>
                  <a:pt x="161649" y="0"/>
                </a:moveTo>
                <a:lnTo>
                  <a:pt x="80824" y="86981"/>
                </a:lnTo>
                <a:lnTo>
                  <a:pt x="0" y="0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43505" y="7345650"/>
            <a:ext cx="0" cy="59690"/>
          </a:xfrm>
          <a:custGeom>
            <a:avLst/>
            <a:gdLst/>
            <a:ahLst/>
            <a:cxnLst/>
            <a:rect l="l" t="t" r="r" b="b"/>
            <a:pathLst>
              <a:path h="59690">
                <a:moveTo>
                  <a:pt x="0" y="0"/>
                </a:moveTo>
                <a:lnTo>
                  <a:pt x="0" y="59453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362681" y="7318123"/>
            <a:ext cx="161925" cy="86995"/>
          </a:xfrm>
          <a:custGeom>
            <a:avLst/>
            <a:gdLst/>
            <a:ahLst/>
            <a:cxnLst/>
            <a:rect l="l" t="t" r="r" b="b"/>
            <a:pathLst>
              <a:path w="161925" h="86995">
                <a:moveTo>
                  <a:pt x="161649" y="0"/>
                </a:moveTo>
                <a:lnTo>
                  <a:pt x="80824" y="86981"/>
                </a:lnTo>
                <a:lnTo>
                  <a:pt x="0" y="0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39410" y="6448588"/>
            <a:ext cx="59690" cy="0"/>
          </a:xfrm>
          <a:custGeom>
            <a:avLst/>
            <a:gdLst/>
            <a:ahLst/>
            <a:cxnLst/>
            <a:rect l="l" t="t" r="r" b="b"/>
            <a:pathLst>
              <a:path w="59689">
                <a:moveTo>
                  <a:pt x="29726" y="-26177"/>
                </a:moveTo>
                <a:lnTo>
                  <a:pt x="29726" y="26177"/>
                </a:lnTo>
              </a:path>
            </a:pathLst>
          </a:custGeom>
          <a:ln w="59453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39410" y="6367764"/>
            <a:ext cx="86995" cy="161925"/>
          </a:xfrm>
          <a:custGeom>
            <a:avLst/>
            <a:gdLst/>
            <a:ahLst/>
            <a:cxnLst/>
            <a:rect l="l" t="t" r="r" b="b"/>
            <a:pathLst>
              <a:path w="86994" h="161925">
                <a:moveTo>
                  <a:pt x="86981" y="161649"/>
                </a:moveTo>
                <a:lnTo>
                  <a:pt x="0" y="80824"/>
                </a:lnTo>
                <a:lnTo>
                  <a:pt x="86981" y="0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112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593534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395" dirty="0">
                <a:latin typeface="Arial"/>
                <a:cs typeface="Arial"/>
              </a:rPr>
              <a:t>«</a:t>
            </a:r>
            <a:r>
              <a:rPr spc="-395" dirty="0"/>
              <a:t>Собственные</a:t>
            </a:r>
            <a:r>
              <a:rPr b="0" spc="-395" dirty="0">
                <a:latin typeface="Arial"/>
                <a:cs typeface="Arial"/>
              </a:rPr>
              <a:t>»</a:t>
            </a:r>
            <a:r>
              <a:rPr b="0" spc="-130" dirty="0">
                <a:latin typeface="Arial"/>
                <a:cs typeface="Arial"/>
              </a:rPr>
              <a:t> </a:t>
            </a:r>
            <a:r>
              <a:rPr spc="-195" dirty="0"/>
              <a:t>лица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802513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Фотография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из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коллекции </a:t>
            </a:r>
            <a:r>
              <a:rPr sz="3300" b="1" spc="50" dirty="0">
                <a:solidFill>
                  <a:srgbClr val="CB3757"/>
                </a:solidFill>
                <a:latin typeface="Arial"/>
                <a:cs typeface="Arial"/>
              </a:rPr>
              <a:t>=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сумма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масок, 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домноженных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на</a:t>
            </a:r>
            <a:r>
              <a:rPr sz="3300" spc="1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координаты: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68015" y="4821853"/>
            <a:ext cx="5010318" cy="15235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68015" y="8292941"/>
            <a:ext cx="5010318" cy="15235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79026" y="6554774"/>
            <a:ext cx="4999306" cy="1528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97154" y="8292941"/>
            <a:ext cx="1537125" cy="15316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18804" y="4711898"/>
            <a:ext cx="6000750" cy="4251325"/>
          </a:xfrm>
          <a:custGeom>
            <a:avLst/>
            <a:gdLst/>
            <a:ahLst/>
            <a:cxnLst/>
            <a:rect l="l" t="t" r="r" b="b"/>
            <a:pathLst>
              <a:path w="6000750" h="4251325">
                <a:moveTo>
                  <a:pt x="0" y="0"/>
                </a:moveTo>
                <a:lnTo>
                  <a:pt x="5288373" y="0"/>
                </a:lnTo>
                <a:lnTo>
                  <a:pt x="5288373" y="1737507"/>
                </a:lnTo>
                <a:lnTo>
                  <a:pt x="26177" y="1737507"/>
                </a:lnTo>
                <a:lnTo>
                  <a:pt x="26177" y="3475349"/>
                </a:lnTo>
                <a:lnTo>
                  <a:pt x="5288373" y="3475349"/>
                </a:lnTo>
                <a:lnTo>
                  <a:pt x="5288373" y="4251179"/>
                </a:lnTo>
                <a:lnTo>
                  <a:pt x="6000634" y="4251179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332457" y="8882253"/>
            <a:ext cx="86995" cy="161925"/>
          </a:xfrm>
          <a:custGeom>
            <a:avLst/>
            <a:gdLst/>
            <a:ahLst/>
            <a:cxnLst/>
            <a:rect l="l" t="t" r="r" b="b"/>
            <a:pathLst>
              <a:path w="86995" h="161925">
                <a:moveTo>
                  <a:pt x="0" y="0"/>
                </a:moveTo>
                <a:lnTo>
                  <a:pt x="86981" y="80824"/>
                </a:lnTo>
                <a:lnTo>
                  <a:pt x="0" y="161649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67847" y="4664779"/>
            <a:ext cx="0" cy="4146550"/>
          </a:xfrm>
          <a:custGeom>
            <a:avLst/>
            <a:gdLst/>
            <a:ahLst/>
            <a:cxnLst/>
            <a:rect l="l" t="t" r="r" b="b"/>
            <a:pathLst>
              <a:path h="4146550">
                <a:moveTo>
                  <a:pt x="0" y="0"/>
                </a:moveTo>
                <a:lnTo>
                  <a:pt x="0" y="4146470"/>
                </a:lnTo>
              </a:path>
            </a:pathLst>
          </a:custGeom>
          <a:ln w="52354">
            <a:solidFill>
              <a:srgbClr val="CB3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67847" y="9101817"/>
            <a:ext cx="0" cy="723265"/>
          </a:xfrm>
          <a:custGeom>
            <a:avLst/>
            <a:gdLst/>
            <a:ahLst/>
            <a:cxnLst/>
            <a:rect l="l" t="t" r="r" b="b"/>
            <a:pathLst>
              <a:path h="723265">
                <a:moveTo>
                  <a:pt x="0" y="0"/>
                </a:moveTo>
                <a:lnTo>
                  <a:pt x="0" y="722815"/>
                </a:lnTo>
              </a:path>
            </a:pathLst>
          </a:custGeom>
          <a:ln w="52354">
            <a:solidFill>
              <a:srgbClr val="CB3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22715" y="4711898"/>
            <a:ext cx="59690" cy="0"/>
          </a:xfrm>
          <a:custGeom>
            <a:avLst/>
            <a:gdLst/>
            <a:ahLst/>
            <a:cxnLst/>
            <a:rect l="l" t="t" r="r" b="b"/>
            <a:pathLst>
              <a:path w="59689">
                <a:moveTo>
                  <a:pt x="29726" y="-26177"/>
                </a:moveTo>
                <a:lnTo>
                  <a:pt x="29726" y="26177"/>
                </a:lnTo>
              </a:path>
            </a:pathLst>
          </a:custGeom>
          <a:ln w="59453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95187" y="4631073"/>
            <a:ext cx="86995" cy="161925"/>
          </a:xfrm>
          <a:custGeom>
            <a:avLst/>
            <a:gdLst/>
            <a:ahLst/>
            <a:cxnLst/>
            <a:rect l="l" t="t" r="r" b="b"/>
            <a:pathLst>
              <a:path w="86995" h="161925">
                <a:moveTo>
                  <a:pt x="0" y="0"/>
                </a:moveTo>
                <a:lnTo>
                  <a:pt x="86981" y="80824"/>
                </a:lnTo>
                <a:lnTo>
                  <a:pt x="0" y="161649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291263" y="8186756"/>
            <a:ext cx="59690" cy="0"/>
          </a:xfrm>
          <a:custGeom>
            <a:avLst/>
            <a:gdLst/>
            <a:ahLst/>
            <a:cxnLst/>
            <a:rect l="l" t="t" r="r" b="b"/>
            <a:pathLst>
              <a:path w="59689">
                <a:moveTo>
                  <a:pt x="29726" y="-26177"/>
                </a:moveTo>
                <a:lnTo>
                  <a:pt x="29726" y="26177"/>
                </a:lnTo>
              </a:path>
            </a:pathLst>
          </a:custGeom>
          <a:ln w="59453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63734" y="8105941"/>
            <a:ext cx="86995" cy="161925"/>
          </a:xfrm>
          <a:custGeom>
            <a:avLst/>
            <a:gdLst/>
            <a:ahLst/>
            <a:cxnLst/>
            <a:rect l="l" t="t" r="r" b="b"/>
            <a:pathLst>
              <a:path w="86995" h="161925">
                <a:moveTo>
                  <a:pt x="0" y="0"/>
                </a:moveTo>
                <a:lnTo>
                  <a:pt x="86981" y="80824"/>
                </a:lnTo>
                <a:lnTo>
                  <a:pt x="0" y="161649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707094" y="5507486"/>
            <a:ext cx="0" cy="59690"/>
          </a:xfrm>
          <a:custGeom>
            <a:avLst/>
            <a:gdLst/>
            <a:ahLst/>
            <a:cxnLst/>
            <a:rect l="l" t="t" r="r" b="b"/>
            <a:pathLst>
              <a:path h="59689">
                <a:moveTo>
                  <a:pt x="0" y="0"/>
                </a:moveTo>
                <a:lnTo>
                  <a:pt x="0" y="59453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26269" y="5479958"/>
            <a:ext cx="161925" cy="86995"/>
          </a:xfrm>
          <a:custGeom>
            <a:avLst/>
            <a:gdLst/>
            <a:ahLst/>
            <a:cxnLst/>
            <a:rect l="l" t="t" r="r" b="b"/>
            <a:pathLst>
              <a:path w="161925" h="86995">
                <a:moveTo>
                  <a:pt x="161649" y="0"/>
                </a:moveTo>
                <a:lnTo>
                  <a:pt x="80824" y="86981"/>
                </a:lnTo>
                <a:lnTo>
                  <a:pt x="0" y="0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43505" y="7345650"/>
            <a:ext cx="0" cy="59690"/>
          </a:xfrm>
          <a:custGeom>
            <a:avLst/>
            <a:gdLst/>
            <a:ahLst/>
            <a:cxnLst/>
            <a:rect l="l" t="t" r="r" b="b"/>
            <a:pathLst>
              <a:path h="59690">
                <a:moveTo>
                  <a:pt x="0" y="0"/>
                </a:moveTo>
                <a:lnTo>
                  <a:pt x="0" y="59453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362681" y="7318123"/>
            <a:ext cx="161925" cy="86995"/>
          </a:xfrm>
          <a:custGeom>
            <a:avLst/>
            <a:gdLst/>
            <a:ahLst/>
            <a:cxnLst/>
            <a:rect l="l" t="t" r="r" b="b"/>
            <a:pathLst>
              <a:path w="161925" h="86995">
                <a:moveTo>
                  <a:pt x="161649" y="0"/>
                </a:moveTo>
                <a:lnTo>
                  <a:pt x="80824" y="86981"/>
                </a:lnTo>
                <a:lnTo>
                  <a:pt x="0" y="0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39410" y="6448588"/>
            <a:ext cx="59690" cy="0"/>
          </a:xfrm>
          <a:custGeom>
            <a:avLst/>
            <a:gdLst/>
            <a:ahLst/>
            <a:cxnLst/>
            <a:rect l="l" t="t" r="r" b="b"/>
            <a:pathLst>
              <a:path w="59689">
                <a:moveTo>
                  <a:pt x="29726" y="-26177"/>
                </a:moveTo>
                <a:lnTo>
                  <a:pt x="29726" y="26177"/>
                </a:lnTo>
              </a:path>
            </a:pathLst>
          </a:custGeom>
          <a:ln w="59453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39410" y="6367764"/>
            <a:ext cx="86995" cy="161925"/>
          </a:xfrm>
          <a:custGeom>
            <a:avLst/>
            <a:gdLst/>
            <a:ahLst/>
            <a:cxnLst/>
            <a:rect l="l" t="t" r="r" b="b"/>
            <a:pathLst>
              <a:path w="86994" h="161925">
                <a:moveTo>
                  <a:pt x="86981" y="161649"/>
                </a:moveTo>
                <a:lnTo>
                  <a:pt x="0" y="80824"/>
                </a:lnTo>
                <a:lnTo>
                  <a:pt x="86981" y="0"/>
                </a:lnTo>
              </a:path>
            </a:pathLst>
          </a:custGeom>
          <a:ln w="52354">
            <a:solidFill>
              <a:srgbClr val="627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113</a:t>
            </a:fld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06104" y="1233335"/>
            <a:ext cx="593534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spc="-395" dirty="0">
                <a:solidFill>
                  <a:srgbClr val="1E1E1E"/>
                </a:solidFill>
                <a:latin typeface="Arial"/>
                <a:cs typeface="Arial"/>
              </a:rPr>
              <a:t>«</a:t>
            </a:r>
            <a:r>
              <a:rPr sz="4950" b="1" spc="-395" dirty="0">
                <a:solidFill>
                  <a:srgbClr val="1E1E1E"/>
                </a:solidFill>
                <a:latin typeface="Arial"/>
                <a:cs typeface="Arial"/>
              </a:rPr>
              <a:t>Собственные</a:t>
            </a:r>
            <a:r>
              <a:rPr sz="4950" spc="-395" dirty="0">
                <a:solidFill>
                  <a:srgbClr val="1E1E1E"/>
                </a:solidFill>
                <a:latin typeface="Arial"/>
                <a:cs typeface="Arial"/>
              </a:rPr>
              <a:t>»</a:t>
            </a:r>
            <a:r>
              <a:rPr sz="4950" spc="-1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4950" b="1" spc="-195" dirty="0">
                <a:solidFill>
                  <a:srgbClr val="1E1E1E"/>
                </a:solidFill>
                <a:latin typeface="Arial"/>
                <a:cs typeface="Arial"/>
              </a:rPr>
              <a:t>лица</a:t>
            </a:r>
            <a:endParaRPr sz="4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114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760095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Тестовая </a:t>
            </a: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фотография </a:t>
            </a:r>
            <a:r>
              <a:rPr sz="3300" b="1" spc="50" dirty="0">
                <a:solidFill>
                  <a:srgbClr val="CB3757"/>
                </a:solidFill>
                <a:latin typeface="Arial"/>
                <a:cs typeface="Arial"/>
              </a:rPr>
              <a:t>=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сумма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«масок», 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домноженных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на</a:t>
            </a:r>
            <a:r>
              <a:rPr sz="3300" spc="1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координаты.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593534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395" dirty="0">
                <a:latin typeface="Arial"/>
                <a:cs typeface="Arial"/>
              </a:rPr>
              <a:t>«</a:t>
            </a:r>
            <a:r>
              <a:rPr spc="-395" dirty="0"/>
              <a:t>Собственные</a:t>
            </a:r>
            <a:r>
              <a:rPr b="0" spc="-395" dirty="0">
                <a:latin typeface="Arial"/>
                <a:cs typeface="Arial"/>
              </a:rPr>
              <a:t>»</a:t>
            </a:r>
            <a:r>
              <a:rPr b="0" spc="-130" dirty="0">
                <a:latin typeface="Arial"/>
                <a:cs typeface="Arial"/>
              </a:rPr>
              <a:t> </a:t>
            </a:r>
            <a:r>
              <a:rPr spc="-195" dirty="0"/>
              <a:t>лица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115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6104" y="3453163"/>
            <a:ext cx="9553575" cy="2035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57705">
              <a:lnSpc>
                <a:spcPct val="100000"/>
              </a:lnSpc>
              <a:spcBef>
                <a:spcPts val="95"/>
              </a:spcBef>
            </a:pP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Тестовая </a:t>
            </a:r>
            <a:r>
              <a:rPr sz="3300" spc="-25" dirty="0">
                <a:solidFill>
                  <a:srgbClr val="1E1E1E"/>
                </a:solidFill>
                <a:latin typeface="Arial"/>
                <a:cs typeface="Arial"/>
              </a:rPr>
              <a:t>фотография </a:t>
            </a:r>
            <a:r>
              <a:rPr sz="3300" b="1" spc="50" dirty="0">
                <a:solidFill>
                  <a:srgbClr val="CB3757"/>
                </a:solidFill>
                <a:latin typeface="Arial"/>
                <a:cs typeface="Arial"/>
              </a:rPr>
              <a:t>=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сумма </a:t>
            </a:r>
            <a:r>
              <a:rPr sz="3300" spc="-130" dirty="0">
                <a:solidFill>
                  <a:srgbClr val="1E1E1E"/>
                </a:solidFill>
                <a:latin typeface="Arial"/>
                <a:cs typeface="Arial"/>
              </a:rPr>
              <a:t>«масок», 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домноженных </a:t>
            </a:r>
            <a:r>
              <a:rPr sz="3300" spc="10" dirty="0">
                <a:solidFill>
                  <a:srgbClr val="1E1E1E"/>
                </a:solidFill>
                <a:latin typeface="Arial"/>
                <a:cs typeface="Arial"/>
              </a:rPr>
              <a:t>на</a:t>
            </a:r>
            <a:r>
              <a:rPr sz="3300" spc="14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1E1E1E"/>
                </a:solidFill>
                <a:latin typeface="Arial"/>
                <a:cs typeface="Arial"/>
              </a:rPr>
              <a:t>координаты.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300" spc="-250" dirty="0">
                <a:solidFill>
                  <a:srgbClr val="1E1E1E"/>
                </a:solidFill>
                <a:latin typeface="Arial"/>
                <a:cs typeface="Arial"/>
              </a:rPr>
              <a:t>Чья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фотография?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Сравните 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векторы</a:t>
            </a:r>
            <a:r>
              <a:rPr sz="3300" spc="-5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координат.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509649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34" dirty="0"/>
              <a:t>Вычислительные </a:t>
            </a:r>
            <a:r>
              <a:rPr spc="-254" dirty="0"/>
              <a:t>аспекты </a:t>
            </a:r>
            <a:r>
              <a:rPr spc="-285" dirty="0"/>
              <a:t>сингулярного</a:t>
            </a:r>
            <a:r>
              <a:rPr spc="-480" dirty="0"/>
              <a:t> </a:t>
            </a:r>
            <a:r>
              <a:rPr spc="-185" dirty="0"/>
              <a:t>разложения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116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937" y="3201862"/>
            <a:ext cx="11071860" cy="228727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Сингулярные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корни</a:t>
            </a:r>
            <a:r>
              <a:rPr sz="3300" spc="-2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уравнения</a:t>
            </a:r>
            <a:endParaRPr sz="3300">
              <a:latin typeface="Arial"/>
              <a:cs typeface="Arial"/>
            </a:endParaRPr>
          </a:p>
          <a:p>
            <a:pPr marL="4629785">
              <a:lnSpc>
                <a:spcPct val="100000"/>
              </a:lnSpc>
              <a:spcBef>
                <a:spcPts val="1975"/>
              </a:spcBef>
            </a:pP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det(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19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00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0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Нереально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вычислить </a:t>
            </a:r>
            <a:r>
              <a:rPr sz="3300" b="1" spc="-365" dirty="0">
                <a:solidFill>
                  <a:srgbClr val="CB3757"/>
                </a:solidFill>
                <a:latin typeface="Arial"/>
                <a:cs typeface="Arial"/>
              </a:rPr>
              <a:t>ВСЕ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больших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размерах</a:t>
            </a:r>
            <a:r>
              <a:rPr sz="3300" spc="42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матриц.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509649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34" dirty="0"/>
              <a:t>Вычислительные </a:t>
            </a:r>
            <a:r>
              <a:rPr spc="-254" dirty="0"/>
              <a:t>аспекты </a:t>
            </a:r>
            <a:r>
              <a:rPr spc="-285" dirty="0"/>
              <a:t>сингулярного</a:t>
            </a:r>
            <a:r>
              <a:rPr spc="-480" dirty="0"/>
              <a:t> </a:t>
            </a:r>
            <a:r>
              <a:rPr spc="-185" dirty="0"/>
              <a:t>разложения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117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937" y="3201862"/>
            <a:ext cx="11071860" cy="304101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Сингулярные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корни</a:t>
            </a:r>
            <a:r>
              <a:rPr sz="3300" spc="-28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уравнения</a:t>
            </a:r>
            <a:endParaRPr sz="3300">
              <a:latin typeface="Arial"/>
              <a:cs typeface="Arial"/>
            </a:endParaRPr>
          </a:p>
          <a:p>
            <a:pPr marL="4629785">
              <a:lnSpc>
                <a:spcPct val="100000"/>
              </a:lnSpc>
              <a:spcBef>
                <a:spcPts val="1975"/>
              </a:spcBef>
            </a:pP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det(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19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00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0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12700" marR="5080">
              <a:lnSpc>
                <a:spcPct val="149900"/>
              </a:lnSpc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Нереально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вычислить </a:t>
            </a:r>
            <a:r>
              <a:rPr sz="3300" b="1" spc="-365" dirty="0">
                <a:solidFill>
                  <a:srgbClr val="CB3757"/>
                </a:solidFill>
                <a:latin typeface="Arial"/>
                <a:cs typeface="Arial"/>
              </a:rPr>
              <a:t>ВСЕ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больших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размерах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матриц.  </a:t>
            </a: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Но 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можно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ограничиться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только </a:t>
            </a:r>
            <a:r>
              <a:rPr sz="3300" b="1" spc="-229" dirty="0">
                <a:solidFill>
                  <a:srgbClr val="1E1E1E"/>
                </a:solidFill>
                <a:latin typeface="Arial"/>
                <a:cs typeface="Arial"/>
              </a:rPr>
              <a:t>самыми</a:t>
            </a:r>
            <a:r>
              <a:rPr sz="3300" b="1" spc="30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Arial"/>
                <a:cs typeface="Arial"/>
              </a:rPr>
              <a:t>большими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!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509649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34" dirty="0"/>
              <a:t>Вычислительные </a:t>
            </a:r>
            <a:r>
              <a:rPr spc="-254" dirty="0"/>
              <a:t>аспекты </a:t>
            </a:r>
            <a:r>
              <a:rPr spc="-285" dirty="0"/>
              <a:t>сингулярного</a:t>
            </a:r>
            <a:r>
              <a:rPr spc="-480" dirty="0"/>
              <a:t> </a:t>
            </a:r>
            <a:r>
              <a:rPr spc="-185" dirty="0"/>
              <a:t>разложения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118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937" y="3201862"/>
            <a:ext cx="13022580" cy="429768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Сингулярные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корни</a:t>
            </a:r>
            <a:r>
              <a:rPr sz="3300" spc="-2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уравнения</a:t>
            </a:r>
            <a:endParaRPr sz="3300">
              <a:latin typeface="Arial"/>
              <a:cs typeface="Arial"/>
            </a:endParaRPr>
          </a:p>
          <a:p>
            <a:pPr marL="4629785">
              <a:lnSpc>
                <a:spcPct val="100000"/>
              </a:lnSpc>
              <a:spcBef>
                <a:spcPts val="1975"/>
              </a:spcBef>
            </a:pP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det(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19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00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0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12700" marR="1955800">
              <a:lnSpc>
                <a:spcPct val="149900"/>
              </a:lnSpc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Нереально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вычислить </a:t>
            </a:r>
            <a:r>
              <a:rPr sz="3300" b="1" spc="-365" dirty="0">
                <a:solidFill>
                  <a:srgbClr val="CB3757"/>
                </a:solidFill>
                <a:latin typeface="Arial"/>
                <a:cs typeface="Arial"/>
              </a:rPr>
              <a:t>ВСЕ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больших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размерах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матриц.  </a:t>
            </a: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Но 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можно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ограничиться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только </a:t>
            </a:r>
            <a:r>
              <a:rPr sz="3300" b="1" spc="-229" dirty="0">
                <a:solidFill>
                  <a:srgbClr val="1E1E1E"/>
                </a:solidFill>
                <a:latin typeface="Arial"/>
                <a:cs typeface="Arial"/>
              </a:rPr>
              <a:t>самыми</a:t>
            </a:r>
            <a:r>
              <a:rPr sz="3300" b="1" spc="30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Arial"/>
                <a:cs typeface="Arial"/>
              </a:rPr>
              <a:t>большими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!</a:t>
            </a:r>
            <a:endParaRPr sz="33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980"/>
              </a:spcBef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Существуют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методы,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позволяющие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строить сингулярное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разложение 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A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последовательным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вычислением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первого</a:t>
            </a:r>
            <a:r>
              <a:rPr sz="3300" spc="5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слагаемого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84570" y="7760466"/>
            <a:ext cx="133858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45415" algn="r">
              <a:lnSpc>
                <a:spcPts val="224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40"/>
              </a:lnSpc>
              <a:tabLst>
                <a:tab pos="370205" algn="l"/>
                <a:tab pos="1045210" algn="l"/>
              </a:tabLst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49960" y="7725284"/>
            <a:ext cx="17246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0744" algn="l"/>
                <a:tab pos="1614805" algn="l"/>
              </a:tabLst>
            </a:pP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48775" y="7107113"/>
            <a:ext cx="2536825" cy="2536825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104" y="1233335"/>
            <a:ext cx="1509649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34" dirty="0"/>
              <a:t>Вычислительные </a:t>
            </a:r>
            <a:r>
              <a:rPr spc="-254" dirty="0"/>
              <a:t>аспекты </a:t>
            </a:r>
            <a:r>
              <a:rPr spc="-285" dirty="0"/>
              <a:t>сингулярного</a:t>
            </a:r>
            <a:r>
              <a:rPr spc="-480" dirty="0"/>
              <a:t> </a:t>
            </a:r>
            <a:r>
              <a:rPr spc="-185" dirty="0"/>
              <a:t>разложения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9972" y="10185942"/>
            <a:ext cx="794385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3729"/>
              </a:lnSpc>
            </a:pPr>
            <a:fld id="{81D60167-4931-47E6-BA6A-407CBD079E47}" type="slidenum">
              <a:rPr sz="3300" b="1" spc="-370" dirty="0">
                <a:solidFill>
                  <a:srgbClr val="BFBFBF"/>
                </a:solidFill>
                <a:latin typeface="Verdana"/>
                <a:cs typeface="Verdana"/>
              </a:rPr>
              <a:pPr marL="25400">
                <a:lnSpc>
                  <a:spcPts val="3729"/>
                </a:lnSpc>
              </a:pPr>
              <a:t>119</a:t>
            </a:fld>
            <a:endParaRPr sz="3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937" y="3201862"/>
            <a:ext cx="13022580" cy="429768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3300" spc="-105" dirty="0">
                <a:solidFill>
                  <a:srgbClr val="1E1E1E"/>
                </a:solidFill>
                <a:latin typeface="Arial"/>
                <a:cs typeface="Arial"/>
              </a:rPr>
              <a:t>Сингулярные </a:t>
            </a:r>
            <a:r>
              <a:rPr sz="3300" spc="-114" dirty="0">
                <a:solidFill>
                  <a:srgbClr val="1E1E1E"/>
                </a:solidFill>
                <a:latin typeface="Arial"/>
                <a:cs typeface="Arial"/>
              </a:rPr>
              <a:t>числа </a:t>
            </a:r>
            <a:r>
              <a:rPr sz="3300" spc="640" dirty="0">
                <a:solidFill>
                  <a:srgbClr val="1E1E1E"/>
                </a:solidFill>
                <a:latin typeface="Arial"/>
                <a:cs typeface="Arial"/>
              </a:rPr>
              <a:t>– </a:t>
            </a:r>
            <a:r>
              <a:rPr sz="3300" spc="-15" dirty="0">
                <a:solidFill>
                  <a:srgbClr val="1E1E1E"/>
                </a:solidFill>
                <a:latin typeface="Arial"/>
                <a:cs typeface="Arial"/>
              </a:rPr>
              <a:t>корни</a:t>
            </a:r>
            <a:r>
              <a:rPr sz="3300" spc="-27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70" dirty="0">
                <a:solidFill>
                  <a:srgbClr val="1E1E1E"/>
                </a:solidFill>
                <a:latin typeface="Arial"/>
                <a:cs typeface="Arial"/>
              </a:rPr>
              <a:t>уравнения</a:t>
            </a:r>
            <a:endParaRPr sz="3300">
              <a:latin typeface="Arial"/>
              <a:cs typeface="Arial"/>
            </a:endParaRPr>
          </a:p>
          <a:p>
            <a:pPr marL="4629785">
              <a:lnSpc>
                <a:spcPct val="100000"/>
              </a:lnSpc>
              <a:spcBef>
                <a:spcPts val="1975"/>
              </a:spcBef>
            </a:pPr>
            <a:r>
              <a:rPr sz="3300" b="1" spc="-470" dirty="0">
                <a:solidFill>
                  <a:srgbClr val="1E1E1E"/>
                </a:solidFill>
                <a:latin typeface="Verdana"/>
                <a:cs typeface="Verdana"/>
              </a:rPr>
              <a:t>det(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1240" dirty="0">
                <a:solidFill>
                  <a:srgbClr val="1E1E1E"/>
                </a:solidFill>
                <a:latin typeface="Verdana"/>
                <a:cs typeface="Verdana"/>
              </a:rPr>
              <a:t>•</a:t>
            </a:r>
            <a:r>
              <a:rPr sz="3300" b="1" i="1" spc="-46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80" dirty="0">
                <a:solidFill>
                  <a:srgbClr val="1E1E1E"/>
                </a:solidFill>
                <a:latin typeface="Verdana"/>
                <a:cs typeface="Verdana"/>
              </a:rPr>
              <a:t>A</a:t>
            </a:r>
            <a:r>
              <a:rPr sz="2850" b="1" i="1" spc="-719" baseline="32163" dirty="0">
                <a:solidFill>
                  <a:srgbClr val="1E1E1E"/>
                </a:solidFill>
                <a:latin typeface="Verdana"/>
                <a:cs typeface="Verdana"/>
              </a:rPr>
              <a:t>Т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</a:t>
            </a:r>
            <a:r>
              <a:rPr sz="3300" b="1" i="1" spc="-600" dirty="0">
                <a:solidFill>
                  <a:srgbClr val="CB3757"/>
                </a:solidFill>
                <a:latin typeface="Verdana"/>
                <a:cs typeface="Verdana"/>
              </a:rPr>
              <a:t>λ</a:t>
            </a:r>
            <a:r>
              <a:rPr sz="3300" b="1" i="1" spc="-600" dirty="0">
                <a:solidFill>
                  <a:srgbClr val="1E1E1E"/>
                </a:solidFill>
                <a:latin typeface="Verdana"/>
                <a:cs typeface="Verdana"/>
              </a:rPr>
              <a:t>E</a:t>
            </a:r>
            <a:r>
              <a:rPr sz="3300" b="1" spc="-600" dirty="0">
                <a:solidFill>
                  <a:srgbClr val="1E1E1E"/>
                </a:solidFill>
                <a:latin typeface="Verdana"/>
                <a:cs typeface="Verdana"/>
              </a:rPr>
              <a:t>)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=</a:t>
            </a:r>
            <a:r>
              <a:rPr sz="3300" b="1" i="1" spc="-69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spc="-520" dirty="0">
                <a:solidFill>
                  <a:srgbClr val="1E1E1E"/>
                </a:solidFill>
                <a:latin typeface="Verdana"/>
                <a:cs typeface="Verdana"/>
              </a:rPr>
              <a:t>0</a:t>
            </a:r>
            <a:endParaRPr sz="3300">
              <a:latin typeface="Verdana"/>
              <a:cs typeface="Verdana"/>
            </a:endParaRPr>
          </a:p>
          <a:p>
            <a:pPr marL="12700" marR="1955800">
              <a:lnSpc>
                <a:spcPct val="149900"/>
              </a:lnSpc>
            </a:pP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Нереально 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вычислить </a:t>
            </a:r>
            <a:r>
              <a:rPr sz="3300" b="1" spc="-365" dirty="0">
                <a:solidFill>
                  <a:srgbClr val="CB3757"/>
                </a:solidFill>
                <a:latin typeface="Arial"/>
                <a:cs typeface="Arial"/>
              </a:rPr>
              <a:t>ВСЕ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при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больших </a:t>
            </a:r>
            <a:r>
              <a:rPr sz="3300" spc="-35" dirty="0">
                <a:solidFill>
                  <a:srgbClr val="1E1E1E"/>
                </a:solidFill>
                <a:latin typeface="Arial"/>
                <a:cs typeface="Arial"/>
              </a:rPr>
              <a:t>размерах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матриц.  </a:t>
            </a:r>
            <a:r>
              <a:rPr sz="3300" spc="-20" dirty="0">
                <a:solidFill>
                  <a:srgbClr val="1E1E1E"/>
                </a:solidFill>
                <a:latin typeface="Arial"/>
                <a:cs typeface="Arial"/>
              </a:rPr>
              <a:t>Но </a:t>
            </a:r>
            <a:r>
              <a:rPr sz="3300" spc="-10" dirty="0">
                <a:solidFill>
                  <a:srgbClr val="1E1E1E"/>
                </a:solidFill>
                <a:latin typeface="Arial"/>
                <a:cs typeface="Arial"/>
              </a:rPr>
              <a:t>можно </a:t>
            </a:r>
            <a:r>
              <a:rPr sz="3300" spc="-85" dirty="0">
                <a:solidFill>
                  <a:srgbClr val="1E1E1E"/>
                </a:solidFill>
                <a:latin typeface="Arial"/>
                <a:cs typeface="Arial"/>
              </a:rPr>
              <a:t>ограничиться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только </a:t>
            </a:r>
            <a:r>
              <a:rPr sz="3300" b="1" spc="-229" dirty="0">
                <a:solidFill>
                  <a:srgbClr val="1E1E1E"/>
                </a:solidFill>
                <a:latin typeface="Arial"/>
                <a:cs typeface="Arial"/>
              </a:rPr>
              <a:t>самыми</a:t>
            </a:r>
            <a:r>
              <a:rPr sz="3300" b="1" spc="30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b="1" spc="-165" dirty="0">
                <a:solidFill>
                  <a:srgbClr val="1E1E1E"/>
                </a:solidFill>
                <a:latin typeface="Arial"/>
                <a:cs typeface="Arial"/>
              </a:rPr>
              <a:t>большими</a:t>
            </a:r>
            <a:r>
              <a:rPr sz="3300" spc="-165" dirty="0">
                <a:solidFill>
                  <a:srgbClr val="1E1E1E"/>
                </a:solidFill>
                <a:latin typeface="Arial"/>
                <a:cs typeface="Arial"/>
              </a:rPr>
              <a:t>!</a:t>
            </a:r>
            <a:endParaRPr sz="33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980"/>
              </a:spcBef>
            </a:pP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Существуют </a:t>
            </a:r>
            <a:r>
              <a:rPr sz="3300" spc="-155" dirty="0">
                <a:solidFill>
                  <a:srgbClr val="1E1E1E"/>
                </a:solidFill>
                <a:latin typeface="Arial"/>
                <a:cs typeface="Arial"/>
              </a:rPr>
              <a:t>методы, </a:t>
            </a:r>
            <a:r>
              <a:rPr sz="3300" spc="-95" dirty="0">
                <a:solidFill>
                  <a:srgbClr val="1E1E1E"/>
                </a:solidFill>
                <a:latin typeface="Arial"/>
                <a:cs typeface="Arial"/>
              </a:rPr>
              <a:t>позволяющие </a:t>
            </a:r>
            <a:r>
              <a:rPr sz="3300" spc="-80" dirty="0">
                <a:solidFill>
                  <a:srgbClr val="1E1E1E"/>
                </a:solidFill>
                <a:latin typeface="Arial"/>
                <a:cs typeface="Arial"/>
              </a:rPr>
              <a:t>строить сингулярное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разложение  </a:t>
            </a:r>
            <a:r>
              <a:rPr sz="3300" spc="-100" dirty="0">
                <a:solidFill>
                  <a:srgbClr val="1E1E1E"/>
                </a:solidFill>
                <a:latin typeface="Arial"/>
                <a:cs typeface="Arial"/>
              </a:rPr>
              <a:t>матрицы </a:t>
            </a:r>
            <a:r>
              <a:rPr sz="3300" spc="30" dirty="0">
                <a:solidFill>
                  <a:srgbClr val="1E1E1E"/>
                </a:solidFill>
                <a:latin typeface="Arial"/>
                <a:cs typeface="Arial"/>
              </a:rPr>
              <a:t>A </a:t>
            </a:r>
            <a:r>
              <a:rPr sz="3300" spc="-120" dirty="0">
                <a:solidFill>
                  <a:srgbClr val="1E1E1E"/>
                </a:solidFill>
                <a:latin typeface="Arial"/>
                <a:cs typeface="Arial"/>
              </a:rPr>
              <a:t>последовательным </a:t>
            </a:r>
            <a:r>
              <a:rPr sz="3300" spc="-140" dirty="0">
                <a:solidFill>
                  <a:srgbClr val="1E1E1E"/>
                </a:solidFill>
                <a:latin typeface="Arial"/>
                <a:cs typeface="Arial"/>
              </a:rPr>
              <a:t>вычислением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первого</a:t>
            </a:r>
            <a:r>
              <a:rPr sz="3300" spc="53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слагаемого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84570" y="7760466"/>
            <a:ext cx="133858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45415" algn="r">
              <a:lnSpc>
                <a:spcPts val="224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40"/>
              </a:lnSpc>
              <a:tabLst>
                <a:tab pos="370205" algn="l"/>
                <a:tab pos="1045210" algn="l"/>
              </a:tabLst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49960" y="7725284"/>
            <a:ext cx="17246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0744" algn="l"/>
                <a:tab pos="1614805" algn="l"/>
              </a:tabLst>
            </a:pP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</a:t>
            </a:r>
            <a:r>
              <a:rPr sz="3300" b="1" i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3300" spc="-160" dirty="0">
                <a:solidFill>
                  <a:srgbClr val="1E1E1E"/>
                </a:solidFill>
                <a:latin typeface="Arial"/>
                <a:cs typeface="Arial"/>
              </a:rPr>
              <a:t>,</a:t>
            </a:r>
            <a:endParaRPr sz="3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6010" y="8479187"/>
            <a:ext cx="74383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потом </a:t>
            </a:r>
            <a:r>
              <a:rPr sz="3300" spc="-45" dirty="0">
                <a:solidFill>
                  <a:srgbClr val="1E1E1E"/>
                </a:solidFill>
                <a:latin typeface="Arial"/>
                <a:cs typeface="Arial"/>
              </a:rPr>
              <a:t>первого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слагаемого</a:t>
            </a:r>
            <a:r>
              <a:rPr sz="3300" spc="165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60" dirty="0">
                <a:solidFill>
                  <a:srgbClr val="1E1E1E"/>
                </a:solidFill>
                <a:latin typeface="Arial"/>
                <a:cs typeface="Arial"/>
              </a:rPr>
              <a:t>разложения</a:t>
            </a:r>
            <a:endParaRPr sz="3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61611" y="9268273"/>
            <a:ext cx="1338580" cy="597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45415" algn="r">
              <a:lnSpc>
                <a:spcPts val="2240"/>
              </a:lnSpc>
              <a:spcBef>
                <a:spcPts val="120"/>
              </a:spcBef>
            </a:pPr>
            <a:r>
              <a:rPr sz="1900" b="1" i="1" spc="-285" dirty="0">
                <a:solidFill>
                  <a:srgbClr val="1E1E1E"/>
                </a:solidFill>
                <a:latin typeface="Verdana"/>
                <a:cs typeface="Verdana"/>
              </a:rPr>
              <a:t>Т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40"/>
              </a:lnSpc>
              <a:tabLst>
                <a:tab pos="370205" algn="l"/>
                <a:tab pos="1045210" algn="l"/>
              </a:tabLst>
            </a:pPr>
            <a:r>
              <a:rPr sz="1900" b="1" spc="-285" dirty="0">
                <a:solidFill>
                  <a:srgbClr val="1E1E1E"/>
                </a:solidFill>
                <a:latin typeface="Verdana"/>
                <a:cs typeface="Verdana"/>
              </a:rPr>
              <a:t>1	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r>
              <a:rPr sz="1900" b="1" dirty="0">
                <a:solidFill>
                  <a:srgbClr val="1E1E1E"/>
                </a:solidFill>
                <a:latin typeface="Verdana"/>
                <a:cs typeface="Verdana"/>
              </a:rPr>
              <a:t>	</a:t>
            </a:r>
            <a:r>
              <a:rPr sz="1900" b="1" spc="-375" dirty="0">
                <a:solidFill>
                  <a:srgbClr val="1E1E1E"/>
                </a:solidFill>
                <a:latin typeface="Verdana"/>
                <a:cs typeface="Verdana"/>
              </a:rPr>
              <a:t>[</a:t>
            </a:r>
            <a:r>
              <a:rPr sz="1900" b="1" spc="-415" dirty="0">
                <a:solidFill>
                  <a:srgbClr val="1E1E1E"/>
                </a:solidFill>
                <a:latin typeface="Verdana"/>
                <a:cs typeface="Verdana"/>
              </a:rPr>
              <a:t>1</a:t>
            </a:r>
            <a:r>
              <a:rPr sz="1900" b="1" spc="-430" dirty="0">
                <a:solidFill>
                  <a:srgbClr val="1E1E1E"/>
                </a:solidFill>
                <a:latin typeface="Verdana"/>
                <a:cs typeface="Verdana"/>
              </a:rPr>
              <a:t>]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07336" y="9233092"/>
            <a:ext cx="337947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00835" algn="l"/>
                <a:tab pos="2403475" algn="l"/>
              </a:tabLst>
            </a:pPr>
            <a:r>
              <a:rPr sz="3300" b="1" i="1" spc="-525" dirty="0">
                <a:solidFill>
                  <a:srgbClr val="1E1E1E"/>
                </a:solidFill>
                <a:latin typeface="Verdana"/>
                <a:cs typeface="Verdana"/>
              </a:rPr>
              <a:t>A </a:t>
            </a:r>
            <a:r>
              <a:rPr sz="3300" b="1" i="1" spc="-900" dirty="0">
                <a:solidFill>
                  <a:srgbClr val="1E1E1E"/>
                </a:solidFill>
                <a:latin typeface="Verdana"/>
                <a:cs typeface="Verdana"/>
              </a:rPr>
              <a:t>−   </a:t>
            </a:r>
            <a:r>
              <a:rPr sz="3300" b="1" i="1" spc="-755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470" dirty="0">
                <a:solidFill>
                  <a:srgbClr val="1E1E1E"/>
                </a:solidFill>
                <a:latin typeface="Verdana"/>
                <a:cs typeface="Verdana"/>
              </a:rPr>
              <a:t>σ</a:t>
            </a:r>
            <a:r>
              <a:rPr sz="3300" b="1" i="1" spc="-330" dirty="0">
                <a:solidFill>
                  <a:srgbClr val="1E1E1E"/>
                </a:solidFill>
                <a:latin typeface="Verdana"/>
                <a:cs typeface="Verdana"/>
              </a:rPr>
              <a:t> </a:t>
            </a:r>
            <a:r>
              <a:rPr sz="3300" b="1" i="1" spc="-509" dirty="0">
                <a:solidFill>
                  <a:srgbClr val="1E1E1E"/>
                </a:solidFill>
                <a:latin typeface="Verdana"/>
                <a:cs typeface="Verdana"/>
              </a:rPr>
              <a:t>V	</a:t>
            </a:r>
            <a:r>
              <a:rPr sz="3300" b="1" i="1" spc="-875" dirty="0">
                <a:solidFill>
                  <a:srgbClr val="1E1E1E"/>
                </a:solidFill>
                <a:latin typeface="Verdana"/>
                <a:cs typeface="Verdana"/>
              </a:rPr>
              <a:t>W	</a:t>
            </a:r>
            <a:r>
              <a:rPr sz="3300" spc="-65" dirty="0">
                <a:solidFill>
                  <a:srgbClr val="1E1E1E"/>
                </a:solidFill>
                <a:latin typeface="Arial"/>
                <a:cs typeface="Arial"/>
              </a:rPr>
              <a:t>и </a:t>
            </a:r>
            <a:r>
              <a:rPr sz="3300" spc="-254" dirty="0">
                <a:solidFill>
                  <a:srgbClr val="1E1E1E"/>
                </a:solidFill>
                <a:latin typeface="Arial"/>
                <a:cs typeface="Arial"/>
              </a:rPr>
              <a:t>т.</a:t>
            </a:r>
            <a:r>
              <a:rPr sz="3300" spc="-490" dirty="0">
                <a:solidFill>
                  <a:srgbClr val="1E1E1E"/>
                </a:solidFill>
                <a:latin typeface="Arial"/>
                <a:cs typeface="Arial"/>
              </a:rPr>
              <a:t> </a:t>
            </a:r>
            <a:r>
              <a:rPr sz="3300" spc="-170" dirty="0">
                <a:solidFill>
                  <a:srgbClr val="1E1E1E"/>
                </a:solidFill>
                <a:latin typeface="Arial"/>
                <a:cs typeface="Arial"/>
              </a:rPr>
              <a:t>д.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1048</TotalTime>
  <Words>5259</Words>
  <Application>Microsoft Office PowerPoint</Application>
  <PresentationFormat>Произвольный</PresentationFormat>
  <Paragraphs>1348</Paragraphs>
  <Slides>119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119</vt:i4>
      </vt:variant>
    </vt:vector>
  </HeadingPairs>
  <TitlesOfParts>
    <vt:vector size="127" baseType="lpstr">
      <vt:lpstr>Arial</vt:lpstr>
      <vt:lpstr>Calibri</vt:lpstr>
      <vt:lpstr>DejaVu Sans</vt:lpstr>
      <vt:lpstr>Georgia</vt:lpstr>
      <vt:lpstr>Times New Roman</vt:lpstr>
      <vt:lpstr>Trebuchet MS</vt:lpstr>
      <vt:lpstr>Verdana</vt:lpstr>
      <vt:lpstr>Office Theme</vt:lpstr>
      <vt:lpstr>Событие</vt:lpstr>
      <vt:lpstr>Операции над событиями</vt:lpstr>
      <vt:lpstr>Вероятность</vt:lpstr>
      <vt:lpstr>Вероятность отрицания события</vt:lpstr>
      <vt:lpstr>Вероятность пересечения событий</vt:lpstr>
      <vt:lpstr>Условная вероятность</vt:lpstr>
      <vt:lpstr>Вероятность объединения событий</vt:lpstr>
      <vt:lpstr>Формула полной вероятности</vt:lpstr>
      <vt:lpstr>Формула Байеса</vt:lpstr>
      <vt:lpstr>Классическое  определение вероятности</vt:lpstr>
      <vt:lpstr>Геометрическая вероятность</vt:lpstr>
      <vt:lpstr>Статистическая вероятность</vt:lpstr>
      <vt:lpstr>Байесовская вероятность</vt:lpstr>
      <vt:lpstr>Пример: условия</vt:lpstr>
      <vt:lpstr>Пример: решение</vt:lpstr>
      <vt:lpstr>Вероятностное пространство</vt:lpstr>
      <vt:lpstr>Случайная величина</vt:lpstr>
      <vt:lpstr>Дискретные и непрерывные</vt:lpstr>
      <vt:lpstr>Независимые случайные величины</vt:lpstr>
      <vt:lpstr>Характеристики случайной величины</vt:lpstr>
      <vt:lpstr>Распределение</vt:lpstr>
      <vt:lpstr>Плотность распределения</vt:lpstr>
      <vt:lpstr>Математическое ожидание</vt:lpstr>
      <vt:lpstr>Свойства математического ожидания</vt:lpstr>
      <vt:lpstr>Дисперсия</vt:lpstr>
      <vt:lpstr>Свойства дисперсии</vt:lpstr>
      <vt:lpstr>Среднеквадратичное отклонение</vt:lpstr>
      <vt:lpstr>Закон больших чисел</vt:lpstr>
      <vt:lpstr>Примеры распределений  случайных величин</vt:lpstr>
      <vt:lpstr>Биномиальное распределение</vt:lpstr>
      <vt:lpstr>Геометрическое распределение</vt:lpstr>
      <vt:lpstr>Гипергеометрическое распределение</vt:lpstr>
      <vt:lpstr>Равномерное распределение</vt:lpstr>
      <vt:lpstr>Показательное распределение</vt:lpstr>
      <vt:lpstr>Распределение Гаусса</vt:lpstr>
      <vt:lpstr>Стандартное нормальное  распределение</vt:lpstr>
      <vt:lpstr>Правило трех сигм</vt:lpstr>
      <vt:lpstr>Центральная предельная теорема</vt:lpstr>
      <vt:lpstr>Задачи статистики</vt:lpstr>
      <vt:lpstr>Генеральная совокупность и выборка</vt:lpstr>
      <vt:lpstr>Выборка как случайная величина</vt:lpstr>
      <vt:lpstr>Точечная оценка и доверительный интервал</vt:lpstr>
      <vt:lpstr>Квантиль</vt:lpstr>
      <vt:lpstr>Квартили и медиана</vt:lpstr>
      <vt:lpstr>Корреляция</vt:lpstr>
      <vt:lpstr>Ковариация</vt:lpstr>
      <vt:lpstr>Свойства ковариации</vt:lpstr>
      <vt:lpstr>Коэффициент корреляции</vt:lpstr>
      <vt:lpstr>Выбросы</vt:lpstr>
      <vt:lpstr>Ресемплинг</vt:lpstr>
      <vt:lpstr>Метод складного ножа</vt:lpstr>
      <vt:lpstr>Метод перекрестной проверки</vt:lpstr>
      <vt:lpstr>Бутстрэп</vt:lpstr>
      <vt:lpstr>Используемые обозначения</vt:lpstr>
      <vt:lpstr>Собственные числа и собственные векторы матрицы</vt:lpstr>
      <vt:lpstr>Собственные числа и собственные векторы матрицы</vt:lpstr>
      <vt:lpstr>Презентация PowerPoint</vt:lpstr>
      <vt:lpstr>Характеристический полином</vt:lpstr>
      <vt:lpstr>Характеристический полином</vt:lpstr>
      <vt:lpstr>Ортогональная матрица</vt:lpstr>
      <vt:lpstr>Ортогональная матрица</vt:lpstr>
      <vt:lpstr>Ортогональная матрица</vt:lpstr>
      <vt:lpstr>Симметричная и ортогональная матрицы</vt:lpstr>
      <vt:lpstr>Симметричная и ортогональная матрицы</vt:lpstr>
      <vt:lpstr>Симметричная и ортогональная матрицы</vt:lpstr>
      <vt:lpstr>Экстремальное свойство собственных чисел</vt:lpstr>
      <vt:lpstr>Экстремальное свойство собственных чисел</vt:lpstr>
      <vt:lpstr>Экстремальное свойство собственных чисел</vt:lpstr>
      <vt:lpstr>Экстремальное свойство собственных чисел</vt:lpstr>
      <vt:lpstr>Экстремальное свойство собственных чисел</vt:lpstr>
      <vt:lpstr>Экстремальное свойство собственных чисел</vt:lpstr>
      <vt:lpstr>Экстремальное свойство собственных чисел</vt:lpstr>
      <vt:lpstr>Экстремальное свойство собственных чисел</vt:lpstr>
      <vt:lpstr>Экстремальное свойство собственных чисел</vt:lpstr>
      <vt:lpstr>Неквадратные матрицы</vt:lpstr>
      <vt:lpstr>Неквадратные матрицы</vt:lpstr>
      <vt:lpstr>Неквадратные матрицы</vt:lpstr>
      <vt:lpstr>Сингулярное разложение (SVD)</vt:lpstr>
      <vt:lpstr>Сингулярное разложение (SVD)</vt:lpstr>
      <vt:lpstr>Сингулярное разложение (SVD)</vt:lpstr>
      <vt:lpstr>Сингулярные числа и векторы</vt:lpstr>
      <vt:lpstr>Сингулярные числа и векторы</vt:lpstr>
      <vt:lpstr>Сингулярное разложение: приближение матрицы</vt:lpstr>
      <vt:lpstr>Сингулярное разложение: приближение матрицы</vt:lpstr>
      <vt:lpstr>Сингулярное разложение: приближение матрицы</vt:lpstr>
      <vt:lpstr>Сингулярное разложение: приближение матрицы</vt:lpstr>
      <vt:lpstr>Сингулярное разложение:  приближение матрицы</vt:lpstr>
      <vt:lpstr>Сингулярное разложение:  приближение матрицы</vt:lpstr>
      <vt:lpstr>Презентация PowerPoint</vt:lpstr>
      <vt:lpstr>Сингулярное разложение:  основная идея</vt:lpstr>
      <vt:lpstr>Сингулярное разложение:  основная идея</vt:lpstr>
      <vt:lpstr>Сингулярное разложение:  основная идея</vt:lpstr>
      <vt:lpstr>Диаграмма рассеяния</vt:lpstr>
      <vt:lpstr>Диаграмма рассеяния</vt:lpstr>
      <vt:lpstr>Ковариационная матрица</vt:lpstr>
      <vt:lpstr>Оптимизационная задача Пирсона</vt:lpstr>
      <vt:lpstr>Оптимизационная задача Пирсона</vt:lpstr>
      <vt:lpstr>Ковариационная матрица</vt:lpstr>
      <vt:lpstr>Ковариационная матрица</vt:lpstr>
      <vt:lpstr>Ковариационная матрица</vt:lpstr>
      <vt:lpstr>Ковариационная матрица: геометрия</vt:lpstr>
      <vt:lpstr>Ковариационная матрица: геометрия</vt:lpstr>
      <vt:lpstr>Ковариационная матрица: геометрия</vt:lpstr>
      <vt:lpstr>Ковариационная матрица: геометрия</vt:lpstr>
      <vt:lpstr>Метод главных компонент</vt:lpstr>
      <vt:lpstr>Метод главных компонент</vt:lpstr>
      <vt:lpstr>Метод главных компонент</vt:lpstr>
      <vt:lpstr>Метод главных компонент</vt:lpstr>
      <vt:lpstr>Презентация PowerPoint</vt:lpstr>
      <vt:lpstr>Сингулярное разложение: распознавание фотографий</vt:lpstr>
      <vt:lpstr>«Собственные» лица</vt:lpstr>
      <vt:lpstr>«Собственные» лица</vt:lpstr>
      <vt:lpstr>«Собственные» лица</vt:lpstr>
      <vt:lpstr>Презентация PowerPoint</vt:lpstr>
      <vt:lpstr>«Собственные» лица</vt:lpstr>
      <vt:lpstr>Вычислительные аспекты сингулярного разложения</vt:lpstr>
      <vt:lpstr>Вычислительные аспекты сингулярного разложения</vt:lpstr>
      <vt:lpstr>Вычислительные аспекты сингулярного разложения</vt:lpstr>
      <vt:lpstr>Вычислительные аспекты сингулярного разложения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Событие</dc:title>
  <dc:creator>Ильина Татьяна Сергеевна</dc:creator>
  <cp:lastModifiedBy>Anton Smorchkoff</cp:lastModifiedBy>
  <cp:revision>12</cp:revision>
  <dcterms:created xsi:type="dcterms:W3CDTF">2019-02-11T11:45:41Z</dcterms:created>
  <dcterms:modified xsi:type="dcterms:W3CDTF">2025-09-27T05:08:09Z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2017-09-14T00:00:00Z</vt:filetime>
  </property>
  <property fmtid="{D5CDD505-2E9C-101B-9397-08002B2CF9AE}" pid="3" name="Creator">
    <vt:lpwstr>Adobe InDesign CC 2015 (Windows)</vt:lpwstr>
  </property>
  <property fmtid="{D5CDD505-2E9C-101B-9397-08002B2CF9AE}" pid="4" name="LastSaved">
    <vt:filetime>2019-02-11T00:00:00Z</vt:filetime>
  </property>
</Properties>
</file>