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mvideo/articles/782360/" TargetMode="External"/><Relationship Id="rId2" Type="http://schemas.openxmlformats.org/officeDocument/2006/relationships/hyperlink" Target="https://neerc.ifmo.ru/wiki/index.php?title=Batch-normaliz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nsorflow.org/api_docs/python/tf/keras/layers/BatchNormalization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В машинном обучении </a:t>
            </a:r>
            <a:r>
              <a:rPr lang="ru-RU" b="1" dirty="0" smtClean="0"/>
              <a:t>нормализацией</a:t>
            </a:r>
            <a:r>
              <a:rPr lang="ru-RU" dirty="0" smtClean="0"/>
              <a:t> называют </a:t>
            </a:r>
            <a:r>
              <a:rPr lang="ru-RU" b="1" dirty="0" smtClean="0"/>
              <a:t>метод предобработки числовых признаков в обучающих наборах данных с целью приведения их к некоторой общей шкале без потери информации о различии диапазонов.</a:t>
            </a:r>
          </a:p>
          <a:p>
            <a:pPr>
              <a:buNone/>
            </a:pPr>
            <a:r>
              <a:rPr lang="ru-RU" dirty="0" smtClean="0"/>
              <a:t>Разные признаки обучающего набора данных могут быть представлены в разных масштабах и изменяться в разных диапазонах. </a:t>
            </a:r>
          </a:p>
          <a:p>
            <a:pPr>
              <a:buNone/>
            </a:pPr>
            <a:r>
              <a:rPr lang="ru-RU" b="1" dirty="0" smtClean="0"/>
              <a:t>Например</a:t>
            </a:r>
            <a:r>
              <a:rPr lang="ru-RU" dirty="0" smtClean="0"/>
              <a:t>, возраст, который изменяется от 0 до 100, и доход, изменяющийся от нескольких тысяч до нескольких миллионов. То есть диапазоны изменения признаков «Возраст» и «Доход» различаются в тысячи раз.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В этом случае возникает нарушение баланса между влиянием входных переменных, представленных в разных масштабах, на выходную переменную. Т.е. это влияние обусловлено не реальной зависимостью, а изменением масштаба. В результате, обучаемая модель может выявить некорректные зависимости.</a:t>
            </a:r>
          </a:p>
          <a:p>
            <a:pPr>
              <a:buNone/>
            </a:pPr>
            <a:r>
              <a:rPr lang="ru-RU" dirty="0" smtClean="0"/>
              <a:t>Если данные нормализованы правильно, обучение модели происходит быстрее и с большей точностью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При обучении нейронных сетей методами, включающими расчет градиентов изменения ошибки вычисления, нормализация помогает избежать слишком больших или слишком маленьких градиентов и уменьшить диапазон весов обученной нейронной сети.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Изображения - нормализация по среднему и стандартному отклонению (z-нормализация) и нормализация по минимуму и максимуму (мин-макс нормализация)</a:t>
            </a:r>
          </a:p>
          <a:p>
            <a:r>
              <a:rPr lang="ru-RU" dirty="0" smtClean="0"/>
              <a:t>Звук - нормализация по максимальной амплитуде, где все значения сигнала масштабируются в диапазон от -1 до 1</a:t>
            </a:r>
          </a:p>
          <a:p>
            <a:r>
              <a:rPr lang="ru-RU" dirty="0" smtClean="0"/>
              <a:t>Текст - нормализация по количеству слов или символов в предложении (?)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Нормализация целевых значений, чтобы улучшить стабильность обучения и точность предсказаний (регрессия)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b="1" dirty="0" smtClean="0"/>
              <a:t>Десятичное масштабирование (</a:t>
            </a:r>
            <a:r>
              <a:rPr lang="ru-RU" b="1" dirty="0" err="1" smtClean="0"/>
              <a:t>decimal</a:t>
            </a:r>
            <a:r>
              <a:rPr lang="ru-RU" b="1" dirty="0" smtClean="0"/>
              <a:t> </a:t>
            </a:r>
            <a:r>
              <a:rPr lang="ru-RU" b="1" dirty="0" err="1" smtClean="0"/>
              <a:t>scaling</a:t>
            </a:r>
            <a:r>
              <a:rPr lang="ru-RU" b="1" dirty="0" smtClean="0"/>
              <a:t>)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В данном методе нормализация производится путем перемещения десятичной точки на число разрядов, соответствующее порядку числа:</a:t>
            </a:r>
          </a:p>
          <a:p>
            <a:pPr>
              <a:buNone/>
            </a:pPr>
            <a:r>
              <a:rPr lang="ru-RU" dirty="0" err="1" smtClean="0"/>
              <a:t>x</a:t>
            </a:r>
            <a:r>
              <a:rPr lang="ru-RU" baseline="30000" dirty="0" err="1" smtClean="0"/>
              <a:t>′</a:t>
            </a:r>
            <a:r>
              <a:rPr lang="ru-RU" baseline="-25000" dirty="0" err="1" smtClean="0"/>
              <a:t>i</a:t>
            </a:r>
            <a:r>
              <a:rPr lang="ru-RU" dirty="0" err="1" smtClean="0"/>
              <a:t>=x</a:t>
            </a:r>
            <a:r>
              <a:rPr lang="ru-RU" baseline="-25000" dirty="0" err="1" smtClean="0"/>
              <a:t>i</a:t>
            </a:r>
            <a:r>
              <a:rPr lang="ru-RU" dirty="0" smtClean="0"/>
              <a:t>/10</a:t>
            </a:r>
            <a:r>
              <a:rPr lang="ru-RU" baseline="30000" dirty="0" smtClean="0"/>
              <a:t>n</a:t>
            </a:r>
            <a:r>
              <a:rPr lang="ru-RU" dirty="0" smtClean="0"/>
              <a:t>, </a:t>
            </a:r>
          </a:p>
          <a:p>
            <a:pPr>
              <a:buNone/>
            </a:pPr>
            <a:r>
              <a:rPr lang="ru-RU" dirty="0" smtClean="0"/>
              <a:t>где </a:t>
            </a:r>
            <a:r>
              <a:rPr lang="ru-RU" dirty="0" err="1" smtClean="0"/>
              <a:t>n</a:t>
            </a:r>
            <a:r>
              <a:rPr lang="ru-RU" dirty="0" smtClean="0"/>
              <a:t> — число разрядов в наибольшем наблюдаемом значении. </a:t>
            </a:r>
          </a:p>
          <a:p>
            <a:pPr>
              <a:buNone/>
            </a:pPr>
            <a:r>
              <a:rPr lang="ru-RU" dirty="0" smtClean="0"/>
              <a:t>Например, пусть имеется набор значений:</a:t>
            </a:r>
          </a:p>
          <a:p>
            <a:pPr>
              <a:buNone/>
            </a:pPr>
            <a:r>
              <a:rPr lang="ru-RU" dirty="0" smtClean="0"/>
              <a:t>-10, 201, 301, -401, 501, 601, 701. </a:t>
            </a:r>
          </a:p>
          <a:p>
            <a:pPr>
              <a:buNone/>
            </a:pPr>
            <a:r>
              <a:rPr lang="ru-RU" dirty="0" smtClean="0"/>
              <a:t>Поскольку n=3, то получим </a:t>
            </a:r>
            <a:r>
              <a:rPr lang="ru-RU" dirty="0" err="1" smtClean="0"/>
              <a:t>x</a:t>
            </a:r>
            <a:r>
              <a:rPr lang="ru-RU" baseline="30000" dirty="0" err="1" smtClean="0"/>
              <a:t>′</a:t>
            </a:r>
            <a:r>
              <a:rPr lang="ru-RU" baseline="-25000" dirty="0" err="1" smtClean="0"/>
              <a:t>i</a:t>
            </a:r>
            <a:r>
              <a:rPr lang="ru-RU" dirty="0" err="1" smtClean="0"/>
              <a:t>=x</a:t>
            </a:r>
            <a:r>
              <a:rPr lang="ru-RU" baseline="-25000" dirty="0" err="1" smtClean="0"/>
              <a:t>i</a:t>
            </a:r>
            <a:r>
              <a:rPr lang="ru-RU" dirty="0" smtClean="0"/>
              <a:t>/10</a:t>
            </a:r>
            <a:r>
              <a:rPr lang="ru-RU" baseline="30000" dirty="0" smtClean="0"/>
              <a:t>3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smtClean="0"/>
              <a:t>Иными словами, каждое наблюдаемое значение делим на 1000 и получаем:</a:t>
            </a:r>
          </a:p>
          <a:p>
            <a:pPr>
              <a:buNone/>
            </a:pPr>
            <a:r>
              <a:rPr lang="ru-RU" dirty="0" smtClean="0"/>
              <a:t>-0.01, 0.201, 0.301, -0.401, 0.501, 0.601, 0.701.</a:t>
            </a:r>
          </a:p>
          <a:p>
            <a:pPr>
              <a:buNone/>
            </a:pPr>
            <a:r>
              <a:rPr lang="ru-RU" dirty="0" smtClean="0"/>
              <a:t>Недостаток  - результирующие значения всегда будут занимать не весь диапазон [0,1], а только его часть, в зависимости от наибольшего и наименьшего наблюдаемых значений.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/>
              <a:t>Минимаксная нормализация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r>
              <a:rPr lang="ru-RU" sz="2300" dirty="0" smtClean="0"/>
              <a:t>Эту формулу можно обобщить на приведение исходного набора значений к произвольному диапазону [</a:t>
            </a:r>
            <a:r>
              <a:rPr lang="ru-RU" sz="2300" dirty="0" err="1" smtClean="0"/>
              <a:t>a,b</a:t>
            </a:r>
            <a:r>
              <a:rPr lang="ru-RU" sz="2300" dirty="0" smtClean="0"/>
              <a:t>]:</a:t>
            </a:r>
          </a:p>
          <a:p>
            <a:pPr>
              <a:buNone/>
            </a:pPr>
            <a:r>
              <a:rPr lang="ru-RU" sz="2300" dirty="0" smtClean="0"/>
              <a:t> </a:t>
            </a:r>
          </a:p>
          <a:p>
            <a:pPr>
              <a:buNone/>
            </a:pPr>
            <a:endParaRPr lang="ru-RU" sz="2300" dirty="0" smtClean="0"/>
          </a:p>
          <a:p>
            <a:pPr>
              <a:buNone/>
            </a:pPr>
            <a:r>
              <a:rPr lang="ru-RU" sz="2300" dirty="0" smtClean="0"/>
              <a:t>Наиболее часто используется приведение к диапазонам [0,1] и [-1,1]</a:t>
            </a:r>
          </a:p>
          <a:p>
            <a:pPr>
              <a:buNone/>
            </a:pPr>
            <a:r>
              <a:rPr lang="ru-RU" sz="2300" dirty="0" smtClean="0"/>
              <a:t>Недостаток - наличие аномальных значений данных, которые «растягивают» диапазон, что приводит к тому, что нормализованные значения концентрируются в некотором узком диапазоне вблизи нуля.</a:t>
            </a:r>
            <a:endParaRPr lang="ru-RU" sz="23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1187624" y="2060848"/>
          <a:ext cx="1989021" cy="792088"/>
        </p:xfrm>
        <a:graphic>
          <a:graphicData uri="http://schemas.openxmlformats.org/presentationml/2006/ole">
            <p:oleObj spid="_x0000_s1025" name="Формула" r:id="rId3" imgW="1079032" imgH="431613" progId="Equation.3">
              <p:embed/>
            </p:oleObj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187624" y="3501008"/>
          <a:ext cx="3185954" cy="792088"/>
        </p:xfrm>
        <a:graphic>
          <a:graphicData uri="http://schemas.openxmlformats.org/presentationml/2006/ole">
            <p:oleObj spid="_x0000_s1027" name="Формула" r:id="rId4" imgW="1727200" imgH="43180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b="1" dirty="0" smtClean="0"/>
              <a:t>Нормализация средним (Z-нормализация)</a:t>
            </a:r>
          </a:p>
          <a:p>
            <a:pPr>
              <a:buNone/>
            </a:pPr>
            <a:r>
              <a:rPr lang="ru-RU" dirty="0" smtClean="0"/>
              <a:t>Определять диапазон не с помощью максимальных и минимальных значений, а с помощью «типичных» — среднего и дисперсии:</a:t>
            </a:r>
          </a:p>
          <a:p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Величины, полученные по данной формуле, в статистике называют Z-оценками. Их абсолютное значение представляет собой оценку (в единицах стандартного отклонения) расстояния между </a:t>
            </a:r>
            <a:r>
              <a:rPr lang="en-US" dirty="0" smtClean="0"/>
              <a:t>x</a:t>
            </a:r>
            <a:r>
              <a:rPr lang="ru-RU" dirty="0" smtClean="0"/>
              <a:t> и его средним значением в общей совокупности. Если </a:t>
            </a:r>
            <a:r>
              <a:rPr lang="en-US" dirty="0" smtClean="0"/>
              <a:t>z</a:t>
            </a:r>
            <a:r>
              <a:rPr lang="ru-RU" dirty="0" smtClean="0"/>
              <a:t> меньше нуля, то </a:t>
            </a:r>
            <a:r>
              <a:rPr lang="en-US" dirty="0" smtClean="0"/>
              <a:t>x</a:t>
            </a:r>
            <a:r>
              <a:rPr lang="ru-RU" dirty="0" smtClean="0"/>
              <a:t> ниже средней, а если </a:t>
            </a:r>
            <a:r>
              <a:rPr lang="en-US" dirty="0" smtClean="0"/>
              <a:t>z</a:t>
            </a:r>
            <a:r>
              <a:rPr lang="ru-RU" dirty="0" smtClean="0"/>
              <a:t> больше нуля, то </a:t>
            </a:r>
            <a:r>
              <a:rPr lang="en-US" dirty="0" smtClean="0"/>
              <a:t>x</a:t>
            </a:r>
            <a:r>
              <a:rPr lang="ru-RU" dirty="0" smtClean="0"/>
              <a:t> выше средней.</a:t>
            </a:r>
          </a:p>
          <a:p>
            <a:pPr>
              <a:buNone/>
            </a:pPr>
            <a:r>
              <a:rPr lang="ru-RU" dirty="0" smtClean="0"/>
              <a:t> 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1505" name="Object 1"/>
          <p:cNvGraphicFramePr>
            <a:graphicFrameLocks noChangeAspect="1"/>
          </p:cNvGraphicFramePr>
          <p:nvPr/>
        </p:nvGraphicFramePr>
        <p:xfrm>
          <a:off x="971600" y="2852936"/>
          <a:ext cx="2197684" cy="504056"/>
        </p:xfrm>
        <a:graphic>
          <a:graphicData uri="http://schemas.openxmlformats.org/presentationml/2006/ole">
            <p:oleObj spid="_x0000_s21505" name="Формула" r:id="rId3" imgW="1040948" imgH="241195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 smtClean="0"/>
              <a:t>Нормализация максимальным значением</a:t>
            </a:r>
          </a:p>
          <a:p>
            <a:pPr>
              <a:buNone/>
            </a:pPr>
            <a:r>
              <a:rPr lang="ru-RU" sz="2400" dirty="0" smtClean="0"/>
              <a:t>Один из простейших способов нормализации, которая реализуется по формуле: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755575" y="3284984"/>
          <a:ext cx="1962885" cy="576064"/>
        </p:xfrm>
        <a:graphic>
          <a:graphicData uri="http://schemas.openxmlformats.org/presentationml/2006/ole">
            <p:oleObj spid="_x0000_s22531" name="Формула" r:id="rId3" imgW="875920" imgH="25389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b="1" dirty="0" smtClean="0"/>
              <a:t>Для нормализации временных рядов – дифференцирование (чтобы убрать тренд и сезонность).</a:t>
            </a:r>
          </a:p>
          <a:p>
            <a:pPr>
              <a:buNone/>
            </a:pPr>
            <a:r>
              <a:rPr lang="ru-RU" sz="2400" dirty="0" smtClean="0"/>
              <a:t>Позволяет убрать из ряда тренд и/или сезонность, делая его более стационарным.</a:t>
            </a:r>
          </a:p>
          <a:p>
            <a:pPr>
              <a:buNone/>
            </a:pPr>
            <a:r>
              <a:rPr lang="ru-RU" sz="2400" dirty="0" smtClean="0"/>
              <a:t>Количество разностей, которые нужно найти, зависит от степени стационарности, которую нужно достичь. Обычно достаточно одной или двух разностей для устранения тренда или сезонности. Один разностный шаг выглядит следующим образом:</a:t>
            </a:r>
          </a:p>
          <a:p>
            <a:pPr>
              <a:buNone/>
            </a:pPr>
            <a:r>
              <a:rPr lang="en-US" dirty="0" smtClean="0"/>
              <a:t>y'(t) = y(t) - y(t-1)</a:t>
            </a:r>
            <a:endParaRPr lang="ru-RU" dirty="0" smtClean="0"/>
          </a:p>
          <a:p>
            <a:pPr>
              <a:buNone/>
            </a:pPr>
            <a:r>
              <a:rPr lang="ru-RU" sz="2400" dirty="0" smtClean="0"/>
              <a:t>где </a:t>
            </a:r>
            <a:r>
              <a:rPr lang="ru-RU" sz="2400" dirty="0" err="1" smtClean="0"/>
              <a:t>y</a:t>
            </a:r>
            <a:r>
              <a:rPr lang="ru-RU" sz="2400" dirty="0" smtClean="0"/>
              <a:t>'(</a:t>
            </a:r>
            <a:r>
              <a:rPr lang="ru-RU" sz="2400" dirty="0" err="1" smtClean="0"/>
              <a:t>t</a:t>
            </a:r>
            <a:r>
              <a:rPr lang="ru-RU" sz="2400" dirty="0" smtClean="0"/>
              <a:t>) - разность между текущим значением ряда и предыдущим значением.</a:t>
            </a:r>
            <a:endParaRPr lang="ru-RU" sz="2400" dirty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sz="2000" b="1" dirty="0" smtClean="0"/>
              <a:t>Дифференцирование (продолжение).</a:t>
            </a:r>
          </a:p>
          <a:p>
            <a:pPr>
              <a:buNone/>
            </a:pPr>
            <a:r>
              <a:rPr lang="ru-RU" sz="2400" dirty="0" smtClean="0"/>
              <a:t>Если ряд </a:t>
            </a:r>
            <a:r>
              <a:rPr lang="ru-RU" sz="2400" dirty="0" err="1" smtClean="0"/>
              <a:t>нестационарен</a:t>
            </a:r>
            <a:r>
              <a:rPr lang="ru-RU" sz="2400" dirty="0" smtClean="0"/>
              <a:t>, то после дифференцирования его значения становятся более случайными, без видимых трендов или сезонности. Это может помочь выделить более явные особенности временного ряда, такие как циклы или изменчивость.</a:t>
            </a:r>
          </a:p>
          <a:p>
            <a:pPr>
              <a:buNone/>
            </a:pPr>
            <a:r>
              <a:rPr lang="ru-RU" sz="2400" dirty="0" smtClean="0"/>
              <a:t>Алгоритм дифференцирования временного ряда: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Определить, является ли ряд нестационарным. Если в ряду есть тренд или сезонность, то он нестационарный.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Определить, сколько разностей нужно для получения стационарности. Если нужно убрать только тренд, то достаточно одной разности. Если нужно убрать сезонность, то может потребоваться две или более разностей.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Применить разностное преобразование к ряду.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Проверить, является ли ряд стационарным. Для этого можно использовать статистические тесты на стационарность, такие как тест </a:t>
            </a:r>
            <a:r>
              <a:rPr lang="ru-RU" sz="2400" dirty="0" err="1" smtClean="0"/>
              <a:t>Дики-Фуллера</a:t>
            </a:r>
            <a:r>
              <a:rPr lang="ru-RU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Если ряд нестационарный, повторить процесс дифференцирования, пока ряд не станет стационарным.</a:t>
            </a:r>
          </a:p>
          <a:p>
            <a:pPr>
              <a:buNone/>
            </a:pPr>
            <a:endParaRPr lang="ru-RU" sz="24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b="1" dirty="0" smtClean="0"/>
              <a:t>Дифференцирование (продолжение).</a:t>
            </a:r>
          </a:p>
          <a:p>
            <a:pPr>
              <a:buNone/>
            </a:pPr>
            <a:r>
              <a:rPr lang="ru-RU" sz="1800" dirty="0" smtClean="0"/>
              <a:t>П</a:t>
            </a:r>
            <a:r>
              <a:rPr lang="ru-RU" sz="1800" b="1" dirty="0" smtClean="0"/>
              <a:t>реимущества</a:t>
            </a:r>
            <a:r>
              <a:rPr lang="ru-RU" sz="1800" dirty="0" smtClean="0"/>
              <a:t>:</a:t>
            </a:r>
          </a:p>
          <a:p>
            <a:r>
              <a:rPr lang="ru-RU" sz="1800" b="1" dirty="0" smtClean="0"/>
              <a:t>Улучшение прогнозирования</a:t>
            </a:r>
            <a:r>
              <a:rPr lang="ru-RU" sz="1800" dirty="0" smtClean="0"/>
              <a:t>: Когда временной ряд стационарен, прогнозирование становится проще, потому что статистические свойства ряда не меняются со временем.</a:t>
            </a:r>
          </a:p>
          <a:p>
            <a:r>
              <a:rPr lang="ru-RU" sz="1800" b="1" dirty="0" smtClean="0"/>
              <a:t>Устранение тренда</a:t>
            </a:r>
            <a:r>
              <a:rPr lang="ru-RU" sz="1800" dirty="0" smtClean="0"/>
              <a:t>: При дифференцировании ряда удаляется линейный тренд, что делает ряд более стационарным и улучшает его анализ.</a:t>
            </a:r>
          </a:p>
          <a:p>
            <a:r>
              <a:rPr lang="ru-RU" sz="1800" b="1" dirty="0" smtClean="0"/>
              <a:t>Устранение сезонности</a:t>
            </a:r>
            <a:r>
              <a:rPr lang="ru-RU" sz="1800" dirty="0" smtClean="0"/>
              <a:t>: При использовании нескольких разностных шагов можно удалить сезонность из временного ряда, что делает его более стационарным.</a:t>
            </a:r>
          </a:p>
          <a:p>
            <a:r>
              <a:rPr lang="ru-RU" sz="1800" b="1" dirty="0" smtClean="0"/>
              <a:t>Удаление шума</a:t>
            </a:r>
            <a:r>
              <a:rPr lang="ru-RU" sz="1800" dirty="0" smtClean="0"/>
              <a:t>: При дифференцировании ряда </a:t>
            </a:r>
            <a:r>
              <a:rPr lang="ru-RU" sz="1800" dirty="0" err="1" smtClean="0"/>
              <a:t>удалаются</a:t>
            </a:r>
            <a:r>
              <a:rPr lang="ru-RU" sz="1800" dirty="0" smtClean="0"/>
              <a:t> низкочастотные компоненты (тренд и сезонность), что может помочь убрать шум, вносимый этими компонентами.</a:t>
            </a:r>
          </a:p>
          <a:p>
            <a:r>
              <a:rPr lang="ru-RU" sz="1800" b="1" dirty="0" smtClean="0"/>
              <a:t>Улучшение интерпретации</a:t>
            </a:r>
            <a:r>
              <a:rPr lang="ru-RU" sz="1800" dirty="0" smtClean="0"/>
              <a:t>: Когда ряд стационарен, его можно анализировать с помощью классических статистических методов, что делает интерпретацию данных более простой и понятной.</a:t>
            </a:r>
          </a:p>
          <a:p>
            <a:pPr marL="457200" indent="-457200"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Дифференцирование (продолжение).</a:t>
            </a:r>
          </a:p>
          <a:p>
            <a:pPr>
              <a:buNone/>
            </a:pPr>
            <a:r>
              <a:rPr lang="ru-RU" sz="1800" b="1" dirty="0" smtClean="0"/>
              <a:t>Недостатки</a:t>
            </a:r>
            <a:r>
              <a:rPr lang="ru-RU" sz="1800" dirty="0" smtClean="0"/>
              <a:t>:</a:t>
            </a:r>
          </a:p>
          <a:p>
            <a:pPr>
              <a:buAutoNum type="arabicPeriod"/>
            </a:pPr>
            <a:r>
              <a:rPr lang="ru-RU" sz="1800" dirty="0" smtClean="0"/>
              <a:t>При многократном дифференцировании ряда может быть потеря важных сигналов, что приведет к неверным выводам.</a:t>
            </a:r>
          </a:p>
          <a:p>
            <a:pPr>
              <a:buAutoNum type="arabicPeriod"/>
            </a:pPr>
            <a:r>
              <a:rPr lang="ru-RU" sz="1800" dirty="0" smtClean="0"/>
              <a:t> Кроме того, дифференцирование может вводить дополнительный шум в ряд.</a:t>
            </a:r>
            <a:endParaRPr lang="ru-RU" sz="2400" dirty="0" smtClean="0"/>
          </a:p>
          <a:p>
            <a:pPr>
              <a:buNone/>
            </a:pPr>
            <a:endParaRPr lang="ru-RU" sz="24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Нормализация. Методы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Рассмотреть – логарифмирование</a:t>
            </a:r>
          </a:p>
          <a:p>
            <a:pPr>
              <a:buNone/>
            </a:pPr>
            <a:r>
              <a:rPr lang="ru-RU" sz="2000" b="1" dirty="0" smtClean="0"/>
              <a:t>Дополнительные методы обработки, что бы избежать искажений в анализе и прогнозировании временных рядов.</a:t>
            </a:r>
          </a:p>
          <a:p>
            <a:r>
              <a:rPr lang="ru-RU" sz="2000" b="1" i="1" dirty="0" smtClean="0"/>
              <a:t>Удаление выбросов</a:t>
            </a:r>
            <a:endParaRPr lang="ru-RU" sz="2000" dirty="0" smtClean="0"/>
          </a:p>
          <a:p>
            <a:r>
              <a:rPr lang="ru-RU" sz="2000" b="1" i="1" dirty="0" smtClean="0"/>
              <a:t>Сглаживание данных</a:t>
            </a:r>
            <a:endParaRPr lang="ru-RU" sz="2000" dirty="0" smtClean="0"/>
          </a:p>
          <a:p>
            <a:r>
              <a:rPr lang="ru-RU" sz="2000" b="1" i="1" dirty="0" smtClean="0"/>
              <a:t>Пропущенные значения</a:t>
            </a:r>
            <a:endParaRPr lang="ru-RU" sz="2000" dirty="0" smtClean="0"/>
          </a:p>
          <a:p>
            <a:r>
              <a:rPr lang="ru-RU" sz="2000" b="1" i="1" dirty="0" smtClean="0"/>
              <a:t>Интерполяция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b="1" dirty="0" smtClean="0"/>
          </a:p>
          <a:p>
            <a:pPr>
              <a:buNone/>
            </a:pPr>
            <a:endParaRPr lang="ru-RU" sz="24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Нормализация в нейронных сетях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400" b="1" dirty="0" err="1" smtClean="0"/>
              <a:t>Batch-normalization</a:t>
            </a:r>
            <a:r>
              <a:rPr lang="ru-RU" sz="2400" b="1" dirty="0" smtClean="0"/>
              <a:t> - </a:t>
            </a:r>
            <a:r>
              <a:rPr lang="ru-RU" sz="2000" dirty="0" smtClean="0"/>
              <a:t>метод, который позволяет повысить производительность и стабилизировать работу искусственных нейронных сетей. Суть данного метода заключается в том, что некоторым слоям нейронной сети на вход подаются данные, предварительно обработанные и имеющие нулевое математическое ожидание и единичную дисперсию.</a:t>
            </a:r>
            <a:endParaRPr lang="ru-RU" sz="2000" b="1" dirty="0" smtClean="0"/>
          </a:p>
          <a:p>
            <a:pPr>
              <a:buNone/>
            </a:pPr>
            <a:r>
              <a:rPr lang="en-US" sz="1800" dirty="0" smtClean="0">
                <a:hlinkClick r:id="rId2"/>
              </a:rPr>
              <a:t>https://neerc.ifmo.ru/wiki/index.php?title=Batch-normalization</a:t>
            </a:r>
            <a:endParaRPr lang="ru-RU" sz="1800" dirty="0" smtClean="0"/>
          </a:p>
          <a:p>
            <a:pPr>
              <a:buNone/>
            </a:pPr>
            <a:r>
              <a:rPr lang="en-US" sz="1800" dirty="0" smtClean="0">
                <a:hlinkClick r:id="rId3"/>
              </a:rPr>
              <a:t>https://habr.com/ru/companies/mvideo/articles/782360/</a:t>
            </a:r>
            <a:endParaRPr lang="ru-RU" sz="1800" dirty="0" smtClean="0"/>
          </a:p>
          <a:p>
            <a:pPr>
              <a:buNone/>
            </a:pPr>
            <a:r>
              <a:rPr lang="en-US" sz="1800" dirty="0" smtClean="0">
                <a:hlinkClick r:id="rId4"/>
              </a:rPr>
              <a:t>https://www.tensorflow.org/api_docs/python/tf/keras/layers/BatchNormalization</a:t>
            </a:r>
            <a:endParaRPr lang="ru-RU" sz="18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b="1" dirty="0" smtClean="0"/>
          </a:p>
          <a:p>
            <a:pPr>
              <a:buNone/>
            </a:pPr>
            <a:endParaRPr lang="ru-RU" sz="24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Нормализация в нейронных сетях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sz="2400" b="1" dirty="0" err="1" smtClean="0"/>
              <a:t>Batch-normalization</a:t>
            </a:r>
            <a:r>
              <a:rPr lang="ru-RU" sz="2400" b="1" dirty="0" smtClean="0"/>
              <a:t> - </a:t>
            </a:r>
            <a:r>
              <a:rPr lang="ru-RU" sz="2000" dirty="0" smtClean="0"/>
              <a:t>это преобразование, при котором среднее значение на выходе близко к 0, а стандартное отклонение на выходе близко к 1.</a:t>
            </a:r>
          </a:p>
          <a:p>
            <a:pPr>
              <a:buNone/>
            </a:pPr>
            <a:r>
              <a:rPr lang="ru-RU" sz="2000" dirty="0" smtClean="0"/>
              <a:t>Важно отметить, что пакетная нормализация работает по-разному во время обучения и во время логического вывода.</a:t>
            </a:r>
          </a:p>
          <a:p>
            <a:pPr>
              <a:buNone/>
            </a:pPr>
            <a:r>
              <a:rPr lang="ru-RU" sz="2000" b="1" dirty="0" smtClean="0"/>
              <a:t>Во время обучения</a:t>
            </a:r>
            <a:r>
              <a:rPr lang="ru-RU" sz="2000" dirty="0" smtClean="0"/>
              <a:t> (т. е. при использовании </a:t>
            </a:r>
            <a:r>
              <a:rPr lang="ru-RU" sz="2000" dirty="0" err="1" smtClean="0"/>
              <a:t>fit</a:t>
            </a:r>
            <a:r>
              <a:rPr lang="ru-RU" sz="2000" dirty="0" smtClean="0"/>
              <a:t>() или при вызове слоя/модели с аргументом </a:t>
            </a:r>
            <a:r>
              <a:rPr lang="ru-RU" sz="2000" dirty="0" err="1" smtClean="0"/>
              <a:t>training=True</a:t>
            </a:r>
            <a:r>
              <a:rPr lang="ru-RU" sz="2000" dirty="0" smtClean="0"/>
              <a:t>) слой нормализует выходные данные, используя среднее значение и стандартное отклонение текущей партии  (текущего пакета) входных данных. Иными словами, для каждого нормализуемого канала слой возвращает </a:t>
            </a:r>
          </a:p>
          <a:p>
            <a:pPr>
              <a:buNone/>
            </a:pPr>
            <a:r>
              <a:rPr lang="ru-RU" sz="2000" b="1" dirty="0" err="1" smtClean="0"/>
              <a:t>gamma</a:t>
            </a:r>
            <a:r>
              <a:rPr lang="ru-RU" sz="2000" b="1" dirty="0" smtClean="0"/>
              <a:t> * (</a:t>
            </a:r>
            <a:r>
              <a:rPr lang="ru-RU" sz="2000" b="1" dirty="0" err="1" smtClean="0"/>
              <a:t>batch</a:t>
            </a:r>
            <a:r>
              <a:rPr lang="ru-RU" sz="2000" b="1" dirty="0" smtClean="0"/>
              <a:t> - </a:t>
            </a:r>
            <a:r>
              <a:rPr lang="ru-RU" sz="2000" b="1" dirty="0" err="1" smtClean="0"/>
              <a:t>mean</a:t>
            </a:r>
            <a:r>
              <a:rPr lang="ru-RU" sz="2000" b="1" dirty="0" smtClean="0"/>
              <a:t>(</a:t>
            </a:r>
            <a:r>
              <a:rPr lang="ru-RU" sz="2000" b="1" dirty="0" err="1" smtClean="0"/>
              <a:t>batch</a:t>
            </a:r>
            <a:r>
              <a:rPr lang="ru-RU" sz="2000" b="1" dirty="0" smtClean="0"/>
              <a:t>)) / </a:t>
            </a:r>
            <a:r>
              <a:rPr lang="ru-RU" sz="2000" b="1" dirty="0" err="1" smtClean="0"/>
              <a:t>sqrt</a:t>
            </a:r>
            <a:r>
              <a:rPr lang="ru-RU" sz="2000" b="1" dirty="0" smtClean="0"/>
              <a:t>(</a:t>
            </a:r>
            <a:r>
              <a:rPr lang="ru-RU" sz="2000" b="1" dirty="0" err="1" smtClean="0"/>
              <a:t>var</a:t>
            </a:r>
            <a:r>
              <a:rPr lang="ru-RU" sz="2000" b="1" dirty="0" smtClean="0"/>
              <a:t>(</a:t>
            </a:r>
            <a:r>
              <a:rPr lang="ru-RU" sz="2000" b="1" dirty="0" err="1" smtClean="0"/>
              <a:t>batch</a:t>
            </a:r>
            <a:r>
              <a:rPr lang="ru-RU" sz="2000" b="1" dirty="0" smtClean="0"/>
              <a:t>) + </a:t>
            </a:r>
            <a:r>
              <a:rPr lang="ru-RU" sz="2000" b="1" dirty="0" err="1" smtClean="0"/>
              <a:t>epsilon</a:t>
            </a:r>
            <a:r>
              <a:rPr lang="ru-RU" sz="2000" b="1" dirty="0" smtClean="0"/>
              <a:t>) + </a:t>
            </a:r>
            <a:r>
              <a:rPr lang="ru-RU" sz="2000" b="1" dirty="0" err="1" smtClean="0"/>
              <a:t>beta</a:t>
            </a:r>
            <a:r>
              <a:rPr lang="ru-RU" sz="2000" dirty="0" smtClean="0"/>
              <a:t>,</a:t>
            </a:r>
          </a:p>
          <a:p>
            <a:pPr>
              <a:buNone/>
            </a:pPr>
            <a:r>
              <a:rPr lang="ru-RU" sz="2000" dirty="0" smtClean="0"/>
              <a:t>где:</a:t>
            </a:r>
          </a:p>
          <a:p>
            <a:pPr>
              <a:buNone/>
            </a:pPr>
            <a:r>
              <a:rPr lang="ru-RU" sz="2000" b="1" dirty="0" err="1" smtClean="0"/>
              <a:t>epsilon</a:t>
            </a:r>
            <a:r>
              <a:rPr lang="ru-RU" sz="2000" dirty="0" smtClean="0"/>
              <a:t> — небольшая константа</a:t>
            </a:r>
          </a:p>
          <a:p>
            <a:pPr>
              <a:buNone/>
            </a:pPr>
            <a:r>
              <a:rPr lang="ru-RU" sz="2000" b="1" dirty="0" err="1" smtClean="0"/>
              <a:t>gamma</a:t>
            </a:r>
            <a:r>
              <a:rPr lang="ru-RU" sz="2000" dirty="0" smtClean="0"/>
              <a:t>  - обучаемый коэффициент масштабирования (инициализируется значением 1), который можно отключить, передав </a:t>
            </a:r>
            <a:r>
              <a:rPr lang="ru-RU" sz="2000" dirty="0" err="1" smtClean="0"/>
              <a:t>scale=False</a:t>
            </a:r>
            <a:endParaRPr lang="ru-RU" sz="2000" dirty="0" smtClean="0"/>
          </a:p>
          <a:p>
            <a:pPr>
              <a:buNone/>
            </a:pPr>
            <a:r>
              <a:rPr lang="ru-RU" sz="2000" b="1" dirty="0" err="1" smtClean="0"/>
              <a:t>beta</a:t>
            </a:r>
            <a:r>
              <a:rPr lang="ru-RU" sz="2000" dirty="0" smtClean="0"/>
              <a:t>  - обучаемый коэффициент смещения (инициализируется значением 0), который можно отключить, передав </a:t>
            </a:r>
            <a:r>
              <a:rPr lang="ru-RU" sz="2000" dirty="0" err="1" smtClean="0"/>
              <a:t>center=False</a:t>
            </a:r>
            <a:endParaRPr lang="ru-RU" sz="20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Нормализация в нейронных сетях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sz="2400" b="1" dirty="0" err="1" smtClean="0"/>
              <a:t>Batch-normalization</a:t>
            </a:r>
            <a:r>
              <a:rPr lang="ru-RU" sz="2400" b="1" dirty="0" smtClean="0"/>
              <a:t> - </a:t>
            </a:r>
            <a:r>
              <a:rPr lang="ru-RU" sz="2000" dirty="0" smtClean="0"/>
              <a:t>это преобразование, при котором среднее значение на выходе близко к 0, а стандартное отклонение на выходе близко к 1.</a:t>
            </a:r>
          </a:p>
          <a:p>
            <a:pPr>
              <a:buNone/>
            </a:pPr>
            <a:r>
              <a:rPr lang="ru-RU" sz="2000" b="1" dirty="0" smtClean="0"/>
              <a:t>Во время логического вывода</a:t>
            </a:r>
            <a:r>
              <a:rPr lang="ru-RU" sz="2000" dirty="0" smtClean="0"/>
              <a:t> (т. е. при использовании </a:t>
            </a:r>
            <a:r>
              <a:rPr lang="ru-RU" sz="2000" dirty="0" err="1" smtClean="0"/>
              <a:t>evaluate</a:t>
            </a:r>
            <a:r>
              <a:rPr lang="ru-RU" sz="2000" dirty="0" smtClean="0"/>
              <a:t>() или </a:t>
            </a:r>
            <a:r>
              <a:rPr lang="ru-RU" sz="2000" dirty="0" err="1" smtClean="0"/>
              <a:t>predict</a:t>
            </a:r>
            <a:r>
              <a:rPr lang="ru-RU" sz="2000" dirty="0" smtClean="0"/>
              <a:t>() </a:t>
            </a:r>
            <a:r>
              <a:rPr lang="ru-RU" sz="2000" dirty="0" err="1" smtClean="0"/>
              <a:t>или</a:t>
            </a:r>
            <a:r>
              <a:rPr lang="ru-RU" sz="2000" dirty="0" smtClean="0"/>
              <a:t> при вызове слоя/модели с аргументом </a:t>
            </a:r>
            <a:r>
              <a:rPr lang="ru-RU" sz="2000" dirty="0" err="1" smtClean="0"/>
              <a:t>training=False</a:t>
            </a:r>
            <a:r>
              <a:rPr lang="ru-RU" sz="2000" dirty="0" smtClean="0"/>
              <a:t> (который используется по умолчанию) слой нормализует выходные данные, используя скользящее среднее значение среднего арифметического и среднеквадратического отклонения пакетов, которые он видел во время обучения. Другими словами, он возвращает </a:t>
            </a:r>
          </a:p>
          <a:p>
            <a:pPr>
              <a:buNone/>
            </a:pPr>
            <a:r>
              <a:rPr lang="ru-RU" sz="2000" b="1" dirty="0" err="1" smtClean="0"/>
              <a:t>gamma</a:t>
            </a:r>
            <a:r>
              <a:rPr lang="ru-RU" sz="2000" b="1" dirty="0" smtClean="0"/>
              <a:t> * (</a:t>
            </a:r>
            <a:r>
              <a:rPr lang="ru-RU" sz="2000" b="1" dirty="0" err="1" smtClean="0"/>
              <a:t>batch</a:t>
            </a:r>
            <a:r>
              <a:rPr lang="ru-RU" sz="2000" b="1" dirty="0" smtClean="0"/>
              <a:t> - </a:t>
            </a:r>
            <a:r>
              <a:rPr lang="ru-RU" sz="2000" b="1" dirty="0" err="1" smtClean="0"/>
              <a:t>self.moving_mean</a:t>
            </a:r>
            <a:r>
              <a:rPr lang="ru-RU" sz="2000" b="1" dirty="0" smtClean="0"/>
              <a:t>) / </a:t>
            </a:r>
            <a:r>
              <a:rPr lang="ru-RU" sz="2000" b="1" dirty="0" err="1" smtClean="0"/>
              <a:t>sqrt</a:t>
            </a:r>
            <a:r>
              <a:rPr lang="ru-RU" sz="2000" b="1" dirty="0" smtClean="0"/>
              <a:t>(</a:t>
            </a:r>
            <a:r>
              <a:rPr lang="ru-RU" sz="2000" b="1" dirty="0" err="1" smtClean="0"/>
              <a:t>self.moving_var+epsilon</a:t>
            </a:r>
            <a:r>
              <a:rPr lang="ru-RU" sz="2000" b="1" dirty="0" smtClean="0"/>
              <a:t>) + </a:t>
            </a:r>
            <a:r>
              <a:rPr lang="ru-RU" sz="2000" b="1" dirty="0" err="1" smtClean="0"/>
              <a:t>beta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ru-RU" sz="2000" b="1" dirty="0" err="1" smtClean="0"/>
              <a:t>self.moving_mean</a:t>
            </a:r>
            <a:r>
              <a:rPr lang="ru-RU" sz="2000" dirty="0" smtClean="0"/>
              <a:t> и </a:t>
            </a:r>
            <a:r>
              <a:rPr lang="ru-RU" sz="2000" b="1" dirty="0" err="1" smtClean="0"/>
              <a:t>self.moving_var</a:t>
            </a:r>
            <a:r>
              <a:rPr lang="ru-RU" sz="2000" dirty="0" smtClean="0"/>
              <a:t> — это необучаемые переменные, которые обновляются каждый раз, когда слой вызывается в режиме обучения, например:</a:t>
            </a:r>
          </a:p>
          <a:p>
            <a:pPr>
              <a:buNone/>
            </a:pPr>
            <a:r>
              <a:rPr lang="ru-RU" sz="2000" b="1" dirty="0" err="1" smtClean="0"/>
              <a:t>moving_mean</a:t>
            </a:r>
            <a:r>
              <a:rPr lang="ru-RU" sz="2000" b="1" dirty="0" smtClean="0"/>
              <a:t> = </a:t>
            </a:r>
            <a:r>
              <a:rPr lang="ru-RU" sz="2000" b="1" dirty="0" err="1" smtClean="0"/>
              <a:t>moving_mean</a:t>
            </a:r>
            <a:r>
              <a:rPr lang="ru-RU" sz="2000" b="1" dirty="0" smtClean="0"/>
              <a:t> * </a:t>
            </a:r>
            <a:r>
              <a:rPr lang="ru-RU" sz="2000" b="1" dirty="0" err="1" smtClean="0"/>
              <a:t>momentum</a:t>
            </a:r>
            <a:r>
              <a:rPr lang="ru-RU" sz="2000" b="1" dirty="0" smtClean="0"/>
              <a:t> + </a:t>
            </a:r>
            <a:r>
              <a:rPr lang="ru-RU" sz="2000" b="1" dirty="0" err="1" smtClean="0"/>
              <a:t>mean</a:t>
            </a:r>
            <a:r>
              <a:rPr lang="ru-RU" sz="2000" b="1" dirty="0" smtClean="0"/>
              <a:t>(</a:t>
            </a:r>
            <a:r>
              <a:rPr lang="ru-RU" sz="2000" b="1" dirty="0" err="1" smtClean="0"/>
              <a:t>batch</a:t>
            </a:r>
            <a:r>
              <a:rPr lang="ru-RU" sz="2000" b="1" dirty="0" smtClean="0"/>
              <a:t>) * (1 - </a:t>
            </a:r>
            <a:r>
              <a:rPr lang="ru-RU" sz="2000" b="1" dirty="0" err="1" smtClean="0"/>
              <a:t>momentum</a:t>
            </a:r>
            <a:r>
              <a:rPr lang="ru-RU" sz="2000" b="1" dirty="0" smtClean="0"/>
              <a:t>)</a:t>
            </a:r>
          </a:p>
          <a:p>
            <a:pPr>
              <a:buNone/>
            </a:pPr>
            <a:r>
              <a:rPr lang="ru-RU" sz="2000" b="1" dirty="0" err="1" smtClean="0"/>
              <a:t>moving_var</a:t>
            </a:r>
            <a:r>
              <a:rPr lang="ru-RU" sz="2000" b="1" dirty="0" smtClean="0"/>
              <a:t> = </a:t>
            </a:r>
            <a:r>
              <a:rPr lang="ru-RU" sz="2000" b="1" dirty="0" err="1" smtClean="0"/>
              <a:t>moving_var</a:t>
            </a:r>
            <a:r>
              <a:rPr lang="ru-RU" sz="2000" b="1" dirty="0" smtClean="0"/>
              <a:t> * </a:t>
            </a:r>
            <a:r>
              <a:rPr lang="ru-RU" sz="2000" b="1" dirty="0" err="1" smtClean="0"/>
              <a:t>momentum</a:t>
            </a:r>
            <a:r>
              <a:rPr lang="ru-RU" sz="2000" b="1" dirty="0" smtClean="0"/>
              <a:t> + </a:t>
            </a:r>
            <a:r>
              <a:rPr lang="ru-RU" sz="2000" b="1" dirty="0" err="1" smtClean="0"/>
              <a:t>var</a:t>
            </a:r>
            <a:r>
              <a:rPr lang="ru-RU" sz="2000" b="1" dirty="0" smtClean="0"/>
              <a:t>(</a:t>
            </a:r>
            <a:r>
              <a:rPr lang="ru-RU" sz="2000" b="1" dirty="0" err="1" smtClean="0"/>
              <a:t>batch</a:t>
            </a:r>
            <a:r>
              <a:rPr lang="ru-RU" sz="2000" b="1" dirty="0" smtClean="0"/>
              <a:t>) * (1 - </a:t>
            </a:r>
            <a:r>
              <a:rPr lang="ru-RU" sz="2000" b="1" dirty="0" err="1" smtClean="0"/>
              <a:t>momentum</a:t>
            </a:r>
            <a:r>
              <a:rPr lang="ru-RU" sz="2000" b="1" dirty="0" smtClean="0"/>
              <a:t>)</a:t>
            </a:r>
          </a:p>
          <a:p>
            <a:pPr>
              <a:buNone/>
            </a:pPr>
            <a:r>
              <a:rPr lang="ru-RU" sz="2000" dirty="0" smtClean="0"/>
              <a:t>Таким образом, слой будет нормализовать входные данные только во время логического вывода </a:t>
            </a:r>
            <a:r>
              <a:rPr lang="ru-RU" sz="2000" i="1" dirty="0" smtClean="0"/>
              <a:t>после обучения на данных, статистика которых аналогична статистике данных логического вывода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b="1" dirty="0" smtClean="0"/>
          </a:p>
          <a:p>
            <a:pPr>
              <a:buNone/>
            </a:pPr>
            <a:endParaRPr lang="ru-RU" sz="2400" dirty="0" smtClean="0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844</Words>
  <Application>Microsoft Office PowerPoint</Application>
  <PresentationFormat>Экран (4:3)</PresentationFormat>
  <Paragraphs>104</Paragraphs>
  <Slides>17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Тема Office</vt:lpstr>
      <vt:lpstr>Формула</vt:lpstr>
      <vt:lpstr>Нормализация</vt:lpstr>
      <vt:lpstr>Нормализация</vt:lpstr>
      <vt:lpstr>Нормализация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Нормализация. Методы</vt:lpstr>
      <vt:lpstr>Нормализация в нейронных сетях</vt:lpstr>
      <vt:lpstr>Нормализация в нейронных сетях</vt:lpstr>
      <vt:lpstr>Нормализация в нейронных сетях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Antil</cp:lastModifiedBy>
  <cp:revision>122</cp:revision>
  <dcterms:created xsi:type="dcterms:W3CDTF">2025-07-07T08:25:02Z</dcterms:created>
  <dcterms:modified xsi:type="dcterms:W3CDTF">2025-09-02T06:47:55Z</dcterms:modified>
</cp:coreProperties>
</file>