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3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04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365" r:id="rId37"/>
    <p:sldId id="366" r:id="rId38"/>
    <p:sldId id="367" r:id="rId39"/>
    <p:sldId id="368" r:id="rId40"/>
    <p:sldId id="369" r:id="rId41"/>
    <p:sldId id="370" r:id="rId42"/>
    <p:sldId id="372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80" r:id="rId51"/>
    <p:sldId id="381" r:id="rId52"/>
    <p:sldId id="382" r:id="rId53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690" y="-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06104" y="1233335"/>
            <a:ext cx="17291890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1" i="1">
                <a:solidFill>
                  <a:srgbClr val="1E1E1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ln w="41883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8389717" y="647781"/>
            <a:ext cx="0" cy="420370"/>
          </a:xfrm>
          <a:custGeom>
            <a:avLst/>
            <a:gdLst/>
            <a:ahLst/>
            <a:cxnLst/>
            <a:rect l="l" t="t" r="r" b="b"/>
            <a:pathLst>
              <a:path h="420369">
                <a:moveTo>
                  <a:pt x="0" y="0"/>
                </a:moveTo>
                <a:lnTo>
                  <a:pt x="0" y="420102"/>
                </a:lnTo>
              </a:path>
            </a:pathLst>
          </a:custGeom>
          <a:ln w="1190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7902742" y="624303"/>
            <a:ext cx="404228" cy="467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8517803" y="754961"/>
            <a:ext cx="963930" cy="218440"/>
          </a:xfrm>
          <a:custGeom>
            <a:avLst/>
            <a:gdLst/>
            <a:ahLst/>
            <a:cxnLst/>
            <a:rect l="l" t="t" r="r" b="b"/>
            <a:pathLst>
              <a:path w="963930" h="218440">
                <a:moveTo>
                  <a:pt x="112938" y="0"/>
                </a:moveTo>
                <a:lnTo>
                  <a:pt x="67670" y="7646"/>
                </a:lnTo>
                <a:lnTo>
                  <a:pt x="31521" y="29950"/>
                </a:lnTo>
                <a:lnTo>
                  <a:pt x="8070" y="64653"/>
                </a:lnTo>
                <a:lnTo>
                  <a:pt x="0" y="109043"/>
                </a:lnTo>
                <a:lnTo>
                  <a:pt x="897" y="124834"/>
                </a:lnTo>
                <a:lnTo>
                  <a:pt x="14345" y="166256"/>
                </a:lnTo>
                <a:lnTo>
                  <a:pt x="42238" y="197016"/>
                </a:lnTo>
                <a:lnTo>
                  <a:pt x="81862" y="214702"/>
                </a:lnTo>
                <a:lnTo>
                  <a:pt x="112938" y="218098"/>
                </a:lnTo>
                <a:lnTo>
                  <a:pt x="133292" y="216660"/>
                </a:lnTo>
                <a:lnTo>
                  <a:pt x="152525" y="212348"/>
                </a:lnTo>
                <a:lnTo>
                  <a:pt x="170637" y="205159"/>
                </a:lnTo>
                <a:lnTo>
                  <a:pt x="187627" y="195093"/>
                </a:lnTo>
                <a:lnTo>
                  <a:pt x="176969" y="178957"/>
                </a:lnTo>
                <a:lnTo>
                  <a:pt x="112635" y="178957"/>
                </a:lnTo>
                <a:lnTo>
                  <a:pt x="102742" y="178417"/>
                </a:lnTo>
                <a:lnTo>
                  <a:pt x="61808" y="159838"/>
                </a:lnTo>
                <a:lnTo>
                  <a:pt x="42400" y="119186"/>
                </a:lnTo>
                <a:lnTo>
                  <a:pt x="41831" y="109043"/>
                </a:lnTo>
                <a:lnTo>
                  <a:pt x="42400" y="98907"/>
                </a:lnTo>
                <a:lnTo>
                  <a:pt x="61808" y="58260"/>
                </a:lnTo>
                <a:lnTo>
                  <a:pt x="102742" y="39681"/>
                </a:lnTo>
                <a:lnTo>
                  <a:pt x="112635" y="39140"/>
                </a:lnTo>
                <a:lnTo>
                  <a:pt x="176969" y="39140"/>
                </a:lnTo>
                <a:lnTo>
                  <a:pt x="187627" y="23004"/>
                </a:lnTo>
                <a:lnTo>
                  <a:pt x="170637" y="12938"/>
                </a:lnTo>
                <a:lnTo>
                  <a:pt x="152525" y="5749"/>
                </a:lnTo>
                <a:lnTo>
                  <a:pt x="133292" y="1437"/>
                </a:lnTo>
                <a:lnTo>
                  <a:pt x="112938" y="0"/>
                </a:lnTo>
                <a:close/>
              </a:path>
              <a:path w="963930" h="218440">
                <a:moveTo>
                  <a:pt x="165523" y="161628"/>
                </a:moveTo>
                <a:lnTo>
                  <a:pt x="152917" y="169213"/>
                </a:lnTo>
                <a:lnTo>
                  <a:pt x="139900" y="174628"/>
                </a:lnTo>
                <a:lnTo>
                  <a:pt x="126472" y="177875"/>
                </a:lnTo>
                <a:lnTo>
                  <a:pt x="112635" y="178957"/>
                </a:lnTo>
                <a:lnTo>
                  <a:pt x="176969" y="178957"/>
                </a:lnTo>
                <a:lnTo>
                  <a:pt x="165523" y="161628"/>
                </a:lnTo>
                <a:close/>
              </a:path>
              <a:path w="963930" h="218440">
                <a:moveTo>
                  <a:pt x="176969" y="39140"/>
                </a:moveTo>
                <a:lnTo>
                  <a:pt x="112635" y="39140"/>
                </a:lnTo>
                <a:lnTo>
                  <a:pt x="126472" y="40223"/>
                </a:lnTo>
                <a:lnTo>
                  <a:pt x="139900" y="43473"/>
                </a:lnTo>
                <a:lnTo>
                  <a:pt x="152917" y="48889"/>
                </a:lnTo>
                <a:lnTo>
                  <a:pt x="165523" y="56469"/>
                </a:lnTo>
                <a:lnTo>
                  <a:pt x="176969" y="39140"/>
                </a:lnTo>
                <a:close/>
              </a:path>
              <a:path w="963930" h="218440">
                <a:moveTo>
                  <a:pt x="398856" y="4481"/>
                </a:moveTo>
                <a:lnTo>
                  <a:pt x="224673" y="4481"/>
                </a:lnTo>
                <a:lnTo>
                  <a:pt x="224673" y="213616"/>
                </a:lnTo>
                <a:lnTo>
                  <a:pt x="262913" y="213616"/>
                </a:lnTo>
                <a:lnTo>
                  <a:pt x="262913" y="40333"/>
                </a:lnTo>
                <a:lnTo>
                  <a:pt x="398856" y="40333"/>
                </a:lnTo>
                <a:lnTo>
                  <a:pt x="398856" y="4481"/>
                </a:lnTo>
                <a:close/>
              </a:path>
              <a:path w="963930" h="218440">
                <a:moveTo>
                  <a:pt x="398856" y="40333"/>
                </a:moveTo>
                <a:lnTo>
                  <a:pt x="360617" y="40333"/>
                </a:lnTo>
                <a:lnTo>
                  <a:pt x="360617" y="213616"/>
                </a:lnTo>
                <a:lnTo>
                  <a:pt x="398856" y="213616"/>
                </a:lnTo>
                <a:lnTo>
                  <a:pt x="398856" y="40333"/>
                </a:lnTo>
                <a:close/>
              </a:path>
              <a:path w="963930" h="218440">
                <a:moveTo>
                  <a:pt x="583196" y="3287"/>
                </a:moveTo>
                <a:lnTo>
                  <a:pt x="546444" y="3287"/>
                </a:lnTo>
                <a:lnTo>
                  <a:pt x="546245" y="8858"/>
                </a:lnTo>
                <a:lnTo>
                  <a:pt x="541564" y="13046"/>
                </a:lnTo>
                <a:lnTo>
                  <a:pt x="532402" y="15831"/>
                </a:lnTo>
                <a:lnTo>
                  <a:pt x="505904" y="23076"/>
                </a:lnTo>
                <a:lnTo>
                  <a:pt x="493038" y="27186"/>
                </a:lnTo>
                <a:lnTo>
                  <a:pt x="458457" y="49740"/>
                </a:lnTo>
                <a:lnTo>
                  <a:pt x="440236" y="96572"/>
                </a:lnTo>
                <a:lnTo>
                  <a:pt x="437997" y="125483"/>
                </a:lnTo>
                <a:lnTo>
                  <a:pt x="439359" y="147919"/>
                </a:lnTo>
                <a:lnTo>
                  <a:pt x="459797" y="195836"/>
                </a:lnTo>
                <a:lnTo>
                  <a:pt x="499911" y="216707"/>
                </a:lnTo>
                <a:lnTo>
                  <a:pt x="516570" y="218098"/>
                </a:lnTo>
                <a:lnTo>
                  <a:pt x="527975" y="217509"/>
                </a:lnTo>
                <a:lnTo>
                  <a:pt x="565658" y="203523"/>
                </a:lnTo>
                <a:lnTo>
                  <a:pt x="583508" y="183439"/>
                </a:lnTo>
                <a:lnTo>
                  <a:pt x="516267" y="183439"/>
                </a:lnTo>
                <a:lnTo>
                  <a:pt x="508388" y="182777"/>
                </a:lnTo>
                <a:lnTo>
                  <a:pt x="478423" y="152976"/>
                </a:lnTo>
                <a:lnTo>
                  <a:pt x="477734" y="144602"/>
                </a:lnTo>
                <a:lnTo>
                  <a:pt x="478423" y="136229"/>
                </a:lnTo>
                <a:lnTo>
                  <a:pt x="501106" y="108446"/>
                </a:lnTo>
                <a:lnTo>
                  <a:pt x="469964" y="108446"/>
                </a:lnTo>
                <a:lnTo>
                  <a:pt x="481262" y="70353"/>
                </a:lnTo>
                <a:lnTo>
                  <a:pt x="516214" y="52532"/>
                </a:lnTo>
                <a:lnTo>
                  <a:pt x="542454" y="46208"/>
                </a:lnTo>
                <a:lnTo>
                  <a:pt x="549826" y="44312"/>
                </a:lnTo>
                <a:lnTo>
                  <a:pt x="581627" y="17477"/>
                </a:lnTo>
                <a:lnTo>
                  <a:pt x="582804" y="10793"/>
                </a:lnTo>
                <a:lnTo>
                  <a:pt x="583196" y="3287"/>
                </a:lnTo>
                <a:close/>
              </a:path>
              <a:path w="963930" h="218440">
                <a:moveTo>
                  <a:pt x="584347" y="105755"/>
                </a:moveTo>
                <a:lnTo>
                  <a:pt x="516267" y="105755"/>
                </a:lnTo>
                <a:lnTo>
                  <a:pt x="524277" y="106419"/>
                </a:lnTo>
                <a:lnTo>
                  <a:pt x="531579" y="108409"/>
                </a:lnTo>
                <a:lnTo>
                  <a:pt x="555113" y="144602"/>
                </a:lnTo>
                <a:lnTo>
                  <a:pt x="554421" y="152976"/>
                </a:lnTo>
                <a:lnTo>
                  <a:pt x="524277" y="182777"/>
                </a:lnTo>
                <a:lnTo>
                  <a:pt x="516267" y="183439"/>
                </a:lnTo>
                <a:lnTo>
                  <a:pt x="583508" y="183439"/>
                </a:lnTo>
                <a:lnTo>
                  <a:pt x="593353" y="144006"/>
                </a:lnTo>
                <a:lnTo>
                  <a:pt x="592829" y="133724"/>
                </a:lnTo>
                <a:lnTo>
                  <a:pt x="591259" y="124097"/>
                </a:lnTo>
                <a:lnTo>
                  <a:pt x="588644" y="115123"/>
                </a:lnTo>
                <a:lnTo>
                  <a:pt x="584987" y="106803"/>
                </a:lnTo>
                <a:lnTo>
                  <a:pt x="584347" y="105755"/>
                </a:lnTo>
                <a:close/>
              </a:path>
              <a:path w="963930" h="218440">
                <a:moveTo>
                  <a:pt x="526727" y="73495"/>
                </a:moveTo>
                <a:lnTo>
                  <a:pt x="485813" y="87445"/>
                </a:lnTo>
                <a:lnTo>
                  <a:pt x="470854" y="108446"/>
                </a:lnTo>
                <a:lnTo>
                  <a:pt x="501106" y="108446"/>
                </a:lnTo>
                <a:lnTo>
                  <a:pt x="508388" y="106419"/>
                </a:lnTo>
                <a:lnTo>
                  <a:pt x="516267" y="105755"/>
                </a:lnTo>
                <a:lnTo>
                  <a:pt x="584347" y="105755"/>
                </a:lnTo>
                <a:lnTo>
                  <a:pt x="580381" y="99272"/>
                </a:lnTo>
                <a:lnTo>
                  <a:pt x="545284" y="75661"/>
                </a:lnTo>
                <a:lnTo>
                  <a:pt x="536294" y="74036"/>
                </a:lnTo>
                <a:lnTo>
                  <a:pt x="526727" y="73495"/>
                </a:lnTo>
                <a:close/>
              </a:path>
              <a:path w="963930" h="218440">
                <a:moveTo>
                  <a:pt x="754092" y="4481"/>
                </a:moveTo>
                <a:lnTo>
                  <a:pt x="631593" y="4481"/>
                </a:lnTo>
                <a:lnTo>
                  <a:pt x="631593" y="213616"/>
                </a:lnTo>
                <a:lnTo>
                  <a:pt x="669833" y="213616"/>
                </a:lnTo>
                <a:lnTo>
                  <a:pt x="669833" y="40333"/>
                </a:lnTo>
                <a:lnTo>
                  <a:pt x="754092" y="40333"/>
                </a:lnTo>
                <a:lnTo>
                  <a:pt x="754092" y="4481"/>
                </a:lnTo>
                <a:close/>
              </a:path>
              <a:path w="963930" h="218440">
                <a:moveTo>
                  <a:pt x="816226" y="4481"/>
                </a:moveTo>
                <a:lnTo>
                  <a:pt x="768426" y="4481"/>
                </a:lnTo>
                <a:lnTo>
                  <a:pt x="847304" y="160141"/>
                </a:lnTo>
                <a:lnTo>
                  <a:pt x="822205" y="213616"/>
                </a:lnTo>
                <a:lnTo>
                  <a:pt x="864926" y="213616"/>
                </a:lnTo>
                <a:lnTo>
                  <a:pt x="910982" y="115923"/>
                </a:lnTo>
                <a:lnTo>
                  <a:pt x="868214" y="115923"/>
                </a:lnTo>
                <a:lnTo>
                  <a:pt x="816226" y="4481"/>
                </a:lnTo>
                <a:close/>
              </a:path>
              <a:path w="963930" h="218440">
                <a:moveTo>
                  <a:pt x="963520" y="4481"/>
                </a:moveTo>
                <a:lnTo>
                  <a:pt x="921102" y="4481"/>
                </a:lnTo>
                <a:lnTo>
                  <a:pt x="868214" y="115923"/>
                </a:lnTo>
                <a:lnTo>
                  <a:pt x="910982" y="115923"/>
                </a:lnTo>
                <a:lnTo>
                  <a:pt x="963520" y="4481"/>
                </a:lnTo>
                <a:close/>
              </a:path>
            </a:pathLst>
          </a:custGeom>
          <a:solidFill>
            <a:srgbClr val="BDD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566" y="4607"/>
            <a:ext cx="20099020" cy="11299825"/>
          </a:xfrm>
          <a:custGeom>
            <a:avLst/>
            <a:gdLst/>
            <a:ahLst/>
            <a:cxnLst/>
            <a:rect l="l" t="t" r="r" b="b"/>
            <a:pathLst>
              <a:path w="20099020" h="11299825">
                <a:moveTo>
                  <a:pt x="0" y="0"/>
                </a:moveTo>
                <a:lnTo>
                  <a:pt x="20098969" y="11299446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2513" y="4607"/>
            <a:ext cx="20099020" cy="11299825"/>
          </a:xfrm>
          <a:custGeom>
            <a:avLst/>
            <a:gdLst/>
            <a:ahLst/>
            <a:cxnLst/>
            <a:rect l="l" t="t" r="r" b="b"/>
            <a:pathLst>
              <a:path w="20099020" h="11299825">
                <a:moveTo>
                  <a:pt x="20098969" y="0"/>
                </a:moveTo>
                <a:lnTo>
                  <a:pt x="0" y="11299446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ln w="41883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6104" y="1233335"/>
            <a:ext cx="17291890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6272" y="3955765"/>
            <a:ext cx="11896725" cy="530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1">
                <a:solidFill>
                  <a:srgbClr val="1E1E1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9972" y="10185942"/>
            <a:ext cx="553719" cy="511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3145220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370" dirty="0" smtClean="0"/>
              <a:t>Регрессия</a:t>
            </a:r>
            <a:endParaRPr spc="-370" dirty="0"/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30226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7074" y="2054275"/>
            <a:ext cx="17718954" cy="9868727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tabLst>
                <a:tab pos="514984" algn="l"/>
                <a:tab pos="515620" algn="l"/>
              </a:tabLst>
            </a:pPr>
            <a:r>
              <a:rPr lang="ru-RU" sz="4400" spc="-95" dirty="0" smtClean="0">
                <a:solidFill>
                  <a:srgbClr val="1E1E1E"/>
                </a:solidFill>
                <a:latin typeface="Arial"/>
                <a:cs typeface="Arial"/>
              </a:rPr>
              <a:t>- математическая величина, показывающая зависимость между величинами.</a:t>
            </a:r>
          </a:p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4400" spc="-95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tabLst>
                <a:tab pos="514984" algn="l"/>
                <a:tab pos="515620" algn="l"/>
              </a:tabLst>
            </a:pPr>
            <a:r>
              <a:rPr lang="ru-RU" sz="4400" spc="-95" dirty="0" smtClean="0">
                <a:solidFill>
                  <a:srgbClr val="1E1E1E"/>
                </a:solidFill>
                <a:latin typeface="Arial"/>
                <a:cs typeface="Arial"/>
              </a:rPr>
              <a:t>Например: </a:t>
            </a:r>
          </a:p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lang="ru-RU" sz="4400" spc="-95" dirty="0" smtClean="0">
                <a:solidFill>
                  <a:srgbClr val="1E1E1E"/>
                </a:solidFill>
                <a:latin typeface="Arial"/>
                <a:cs typeface="Arial"/>
              </a:rPr>
              <a:t>рост и вес</a:t>
            </a:r>
          </a:p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lang="ru-RU" sz="4400" spc="-95" dirty="0" smtClean="0">
                <a:solidFill>
                  <a:srgbClr val="1E1E1E"/>
                </a:solidFill>
                <a:latin typeface="Arial"/>
                <a:cs typeface="Arial"/>
              </a:rPr>
              <a:t>Близость магазина к метро </a:t>
            </a:r>
            <a:br>
              <a:rPr lang="ru-RU" sz="4400" spc="-95" dirty="0" smtClean="0">
                <a:solidFill>
                  <a:srgbClr val="1E1E1E"/>
                </a:solidFill>
                <a:latin typeface="Arial"/>
                <a:cs typeface="Arial"/>
              </a:rPr>
            </a:br>
            <a:r>
              <a:rPr lang="ru-RU" sz="4400" spc="-95" dirty="0" smtClean="0">
                <a:solidFill>
                  <a:srgbClr val="1E1E1E"/>
                </a:solidFill>
                <a:latin typeface="Arial"/>
                <a:cs typeface="Arial"/>
              </a:rPr>
              <a:t>и оборот</a:t>
            </a:r>
          </a:p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lang="ru-RU" sz="4400" spc="-95" dirty="0" smtClean="0">
                <a:solidFill>
                  <a:srgbClr val="1E1E1E"/>
                </a:solidFill>
                <a:latin typeface="Arial"/>
                <a:cs typeface="Arial"/>
              </a:rPr>
              <a:t>Величина и оборот магазина</a:t>
            </a:r>
          </a:p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lang="ru-RU" sz="4400" spc="-95" dirty="0" smtClean="0">
                <a:solidFill>
                  <a:srgbClr val="1E1E1E"/>
                </a:solidFill>
                <a:latin typeface="Arial"/>
                <a:cs typeface="Arial"/>
              </a:rPr>
              <a:t>Цвет и светимость звезды</a:t>
            </a:r>
          </a:p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4400" spc="-95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4400" dirty="0" smtClean="0">
              <a:latin typeface="Arial"/>
              <a:cs typeface="Arial"/>
            </a:endParaRPr>
          </a:p>
        </p:txBody>
      </p:sp>
      <p:pic>
        <p:nvPicPr>
          <p:cNvPr id="123906" name="Picture 2" descr="Линейная регрессия — Викиконспекты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37736" y="3297221"/>
            <a:ext cx="9525024" cy="71437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7289944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215" dirty="0" smtClean="0"/>
              <a:t>Постановка задачи: как провести прямую, наиболее приближенную ко всем точкам выборки? </a:t>
            </a:r>
            <a:endParaRPr spc="-21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9673590" cy="3882473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Точки не лежат на одной прямой</a:t>
            </a: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Точки лежат в некоторых пределах </a:t>
            </a: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tabLst>
                <a:tab pos="514984" algn="l"/>
                <a:tab pos="51562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(это можно использовать в предсказаниях)</a:t>
            </a: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 pitchFamily="34" charset="0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pic>
        <p:nvPicPr>
          <p:cNvPr id="5" name="Picture 2" descr="Линейная регрессия — Викиконспекты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37736" y="3297221"/>
            <a:ext cx="9525024" cy="71437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7289944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215" dirty="0" smtClean="0"/>
              <a:t>Постановка задачи: как провести прямую, наиболее приближенную ко всем точкам выборки? </a:t>
            </a:r>
            <a:endParaRPr spc="-21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9673590" cy="8753037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Можно решить сплайнами (гибкая стальная линейка, фрагменты кубических парабол), но не прямая</a:t>
            </a: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 pitchFamily="34" charset="0"/>
              <a:buChar char="•"/>
              <a:tabLst>
                <a:tab pos="514984" algn="l"/>
                <a:tab pos="51562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Сумма квадратов отклонений прямой</a:t>
            </a: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/>
            </a:r>
            <a:b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</a:b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 от точек =</a:t>
            </a: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>&gt;</a:t>
            </a: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>min (</a:t>
            </a: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средний квадрат </a:t>
            </a:r>
            <a:b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</a:b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отклонений =</a:t>
            </a: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>&gt;</a:t>
            </a: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>min</a:t>
            </a: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?</a:t>
            </a: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>)</a:t>
            </a: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 pitchFamily="34" charset="0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3716020" lvl="7" indent="-502920">
              <a:spcBef>
                <a:spcPts val="2075"/>
              </a:spcBef>
              <a:buClr>
                <a:srgbClr val="BDD9DE"/>
              </a:buClr>
              <a:buFontTx/>
              <a:buChar char="-"/>
              <a:tabLst>
                <a:tab pos="514984" algn="l"/>
                <a:tab pos="51562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уравнение линейной функции</a:t>
            </a:r>
            <a:endParaRPr lang="en-US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3716020" lvl="7" indent="-502920">
              <a:spcBef>
                <a:spcPts val="2075"/>
              </a:spcBef>
              <a:buClr>
                <a:srgbClr val="BDD9DE"/>
              </a:buClr>
              <a:buFontTx/>
              <a:buChar char="-"/>
              <a:tabLst>
                <a:tab pos="514984" algn="l"/>
                <a:tab pos="51562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Сумма квадратов отклонений прямой</a:t>
            </a: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 от точек =</a:t>
            </a: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>&gt;</a:t>
            </a: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>min</a:t>
            </a: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 pitchFamily="34" charset="0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/>
        </p:nvGraphicFramePr>
        <p:xfrm>
          <a:off x="1265176" y="7512063"/>
          <a:ext cx="2996425" cy="958856"/>
        </p:xfrm>
        <a:graphic>
          <a:graphicData uri="http://schemas.openxmlformats.org/presentationml/2006/ole">
            <p:oleObj spid="_x0000_s186370" name="Формула" r:id="rId3" imgW="634680" imgH="203040" progId="Equation.3">
              <p:embed/>
            </p:oleObj>
          </a:graphicData>
        </a:graphic>
      </p:graphicFrame>
      <p:grpSp>
        <p:nvGrpSpPr>
          <p:cNvPr id="19" name="Группа 18"/>
          <p:cNvGrpSpPr/>
          <p:nvPr/>
        </p:nvGrpSpPr>
        <p:grpSpPr>
          <a:xfrm>
            <a:off x="11695124" y="4083039"/>
            <a:ext cx="7500990" cy="5572164"/>
            <a:chOff x="11695124" y="4083039"/>
            <a:chExt cx="7500990" cy="5572164"/>
          </a:xfrm>
        </p:grpSpPr>
        <p:pic>
          <p:nvPicPr>
            <p:cNvPr id="5" name="Picture 2" descr="Линейная регрессия — Викиконспекты"/>
            <p:cNvPicPr>
              <a:picLocks noChangeAspect="1" noChangeArrowheads="1"/>
            </p:cNvPicPr>
            <p:nvPr/>
          </p:nvPicPr>
          <p:blipFill>
            <a:blip r:embed="rId4"/>
            <a:srcRect l="12000" t="11000" r="9250" b="11000"/>
            <a:stretch>
              <a:fillRect/>
            </a:stretch>
          </p:blipFill>
          <p:spPr bwMode="auto">
            <a:xfrm>
              <a:off x="11695124" y="4083039"/>
              <a:ext cx="7500990" cy="5572164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15195586" y="7369187"/>
              <a:ext cx="136127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/>
                <a:t>(x</a:t>
              </a:r>
              <a:r>
                <a:rPr lang="en-US" sz="4000" baseline="-25000" dirty="0" smtClean="0"/>
                <a:t>i</a:t>
              </a:r>
              <a:r>
                <a:rPr lang="en-US" sz="4000" dirty="0" smtClean="0"/>
                <a:t>; </a:t>
              </a:r>
              <a:r>
                <a:rPr lang="en-US" sz="4000" dirty="0" err="1" smtClean="0"/>
                <a:t>y</a:t>
              </a:r>
              <a:r>
                <a:rPr lang="en-US" sz="4000" baseline="-25000" dirty="0" err="1" smtClean="0"/>
                <a:t>i</a:t>
              </a:r>
              <a:r>
                <a:rPr lang="en-US" sz="4000" dirty="0" smtClean="0"/>
                <a:t>)</a:t>
              </a:r>
              <a:endParaRPr lang="ru-RU" sz="4000" dirty="0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 rot="16200000" flipV="1">
              <a:off x="15124149" y="7011996"/>
              <a:ext cx="857256" cy="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5267024" y="5868989"/>
              <a:ext cx="59503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 </a:t>
              </a:r>
              <a:r>
                <a:rPr lang="en-US" sz="4400" dirty="0" smtClean="0"/>
                <a:t>ỹ</a:t>
              </a:r>
              <a:r>
                <a:rPr lang="en-US" sz="4400" baseline="-25000" dirty="0" smtClean="0"/>
                <a:t>i</a:t>
              </a:r>
              <a:endParaRPr lang="ru-RU" sz="2400" dirty="0"/>
            </a:p>
          </p:txBody>
        </p:sp>
      </p:grpSp>
      <p:graphicFrame>
        <p:nvGraphicFramePr>
          <p:cNvPr id="186371" name="Object 3"/>
          <p:cNvGraphicFramePr>
            <a:graphicFrameLocks noChangeAspect="1"/>
          </p:cNvGraphicFramePr>
          <p:nvPr/>
        </p:nvGraphicFramePr>
        <p:xfrm>
          <a:off x="1228725" y="8596313"/>
          <a:ext cx="3355975" cy="1077912"/>
        </p:xfrm>
        <a:graphic>
          <a:graphicData uri="http://schemas.openxmlformats.org/presentationml/2006/ole">
            <p:oleObj spid="_x0000_s186371" name="Формула" r:id="rId5" imgW="711000" imgH="228600" progId="Equation.3">
              <p:embed/>
            </p:oleObj>
          </a:graphicData>
        </a:graphic>
      </p:graphicFrame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182542" y="9104313"/>
          <a:ext cx="7011988" cy="2036762"/>
        </p:xfrm>
        <a:graphic>
          <a:graphicData uri="http://schemas.openxmlformats.org/presentationml/2006/ole">
            <p:oleObj spid="_x0000_s186372" name="Формула" r:id="rId6" imgW="148572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7289944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215" dirty="0" smtClean="0"/>
              <a:t>Постановка задачи: как провести прямую, наиболее приближенную ко всем точкам выборки? </a:t>
            </a:r>
            <a:endParaRPr spc="-21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9673590" cy="2328201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 pitchFamily="34" charset="0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sp>
        <p:nvSpPr>
          <p:cNvPr id="13" name="object 7"/>
          <p:cNvSpPr txBox="1"/>
          <p:nvPr/>
        </p:nvSpPr>
        <p:spPr>
          <a:xfrm>
            <a:off x="1406104" y="3201862"/>
            <a:ext cx="9673590" cy="2836033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Найдем частные производный (чтобы найти экстремум)</a:t>
            </a: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grpSp>
        <p:nvGrpSpPr>
          <p:cNvPr id="16" name="Группа 15"/>
          <p:cNvGrpSpPr/>
          <p:nvPr/>
        </p:nvGrpSpPr>
        <p:grpSpPr>
          <a:xfrm>
            <a:off x="407920" y="4511667"/>
            <a:ext cx="8210618" cy="4751396"/>
            <a:chOff x="407920" y="4511667"/>
            <a:chExt cx="8210618" cy="4751396"/>
          </a:xfrm>
        </p:grpSpPr>
        <p:graphicFrame>
          <p:nvGraphicFramePr>
            <p:cNvPr id="186372" name="Object 4"/>
            <p:cNvGraphicFramePr>
              <a:graphicFrameLocks noChangeAspect="1"/>
            </p:cNvGraphicFramePr>
            <p:nvPr/>
          </p:nvGraphicFramePr>
          <p:xfrm>
            <a:off x="1066800" y="4583113"/>
            <a:ext cx="7551738" cy="2036762"/>
          </p:xfrm>
          <a:graphic>
            <a:graphicData uri="http://schemas.openxmlformats.org/presentationml/2006/ole">
              <p:oleObj spid="_x0000_s187396" name="Формула" r:id="rId3" imgW="1600200" imgH="431640" progId="Equation.3">
                <p:embed/>
              </p:oleObj>
            </a:graphicData>
          </a:graphic>
        </p:graphicFrame>
        <p:graphicFrame>
          <p:nvGraphicFramePr>
            <p:cNvPr id="187397" name="Object 4"/>
            <p:cNvGraphicFramePr>
              <a:graphicFrameLocks noChangeAspect="1"/>
            </p:cNvGraphicFramePr>
            <p:nvPr/>
          </p:nvGraphicFramePr>
          <p:xfrm>
            <a:off x="1392238" y="7226300"/>
            <a:ext cx="7011987" cy="2036763"/>
          </p:xfrm>
          <a:graphic>
            <a:graphicData uri="http://schemas.openxmlformats.org/presentationml/2006/ole">
              <p:oleObj spid="_x0000_s187397" name="Формула" r:id="rId4" imgW="1485720" imgH="431640" progId="Equation.3">
                <p:embed/>
              </p:oleObj>
            </a:graphicData>
          </a:graphic>
        </p:graphicFrame>
        <p:sp>
          <p:nvSpPr>
            <p:cNvPr id="15" name="Левая фигурная скобка 14"/>
            <p:cNvSpPr/>
            <p:nvPr/>
          </p:nvSpPr>
          <p:spPr>
            <a:xfrm>
              <a:off x="407920" y="4511667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" name="Группа 15"/>
          <p:cNvGrpSpPr/>
          <p:nvPr/>
        </p:nvGrpSpPr>
        <p:grpSpPr>
          <a:xfrm>
            <a:off x="9909174" y="4511667"/>
            <a:ext cx="9059866" cy="4751407"/>
            <a:chOff x="407920" y="4511667"/>
            <a:chExt cx="9059866" cy="4751407"/>
          </a:xfrm>
        </p:grpSpPr>
        <p:graphicFrame>
          <p:nvGraphicFramePr>
            <p:cNvPr id="23" name="Object 4"/>
            <p:cNvGraphicFramePr>
              <a:graphicFrameLocks noChangeAspect="1"/>
            </p:cNvGraphicFramePr>
            <p:nvPr/>
          </p:nvGraphicFramePr>
          <p:xfrm>
            <a:off x="836548" y="4583105"/>
            <a:ext cx="8631238" cy="2036762"/>
          </p:xfrm>
          <a:graphic>
            <a:graphicData uri="http://schemas.openxmlformats.org/presentationml/2006/ole">
              <p:oleObj spid="_x0000_s187400" name="Формула" r:id="rId5" imgW="1828800" imgH="431640" progId="Equation.3">
                <p:embed/>
              </p:oleObj>
            </a:graphicData>
          </a:graphic>
        </p:graphicFrame>
        <p:graphicFrame>
          <p:nvGraphicFramePr>
            <p:cNvPr id="24" name="Object 4"/>
            <p:cNvGraphicFramePr>
              <a:graphicFrameLocks noChangeAspect="1"/>
            </p:cNvGraphicFramePr>
            <p:nvPr/>
          </p:nvGraphicFramePr>
          <p:xfrm>
            <a:off x="1265176" y="7226311"/>
            <a:ext cx="8031163" cy="2036763"/>
          </p:xfrm>
          <a:graphic>
            <a:graphicData uri="http://schemas.openxmlformats.org/presentationml/2006/ole">
              <p:oleObj spid="_x0000_s187401" name="Формула" r:id="rId6" imgW="1701720" imgH="431640" progId="Equation.3">
                <p:embed/>
              </p:oleObj>
            </a:graphicData>
          </a:graphic>
        </p:graphicFrame>
        <p:sp>
          <p:nvSpPr>
            <p:cNvPr id="25" name="Левая фигурная скобка 24"/>
            <p:cNvSpPr/>
            <p:nvPr/>
          </p:nvSpPr>
          <p:spPr>
            <a:xfrm>
              <a:off x="407920" y="4511667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27" name="Прямая со стрелкой 26"/>
          <p:cNvCxnSpPr/>
          <p:nvPr/>
        </p:nvCxnSpPr>
        <p:spPr>
          <a:xfrm>
            <a:off x="8909042" y="6869121"/>
            <a:ext cx="714380" cy="1588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7289944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215" dirty="0" smtClean="0"/>
              <a:t>Постановка задачи: как провести прямую, наиболее приближенную ко всем точкам выборки? </a:t>
            </a:r>
            <a:endParaRPr spc="-21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9673590" cy="2328201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 pitchFamily="34" charset="0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sp>
        <p:nvSpPr>
          <p:cNvPr id="13" name="object 7"/>
          <p:cNvSpPr txBox="1"/>
          <p:nvPr/>
        </p:nvSpPr>
        <p:spPr>
          <a:xfrm>
            <a:off x="1406104" y="3201862"/>
            <a:ext cx="9673590" cy="2836033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Найдем частные производный (чтобы найти экстремум)</a:t>
            </a: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grpSp>
        <p:nvGrpSpPr>
          <p:cNvPr id="3" name="Группа 15"/>
          <p:cNvGrpSpPr/>
          <p:nvPr/>
        </p:nvGrpSpPr>
        <p:grpSpPr>
          <a:xfrm>
            <a:off x="407920" y="4511667"/>
            <a:ext cx="9059866" cy="4751407"/>
            <a:chOff x="407920" y="4511667"/>
            <a:chExt cx="9059866" cy="4751407"/>
          </a:xfrm>
        </p:grpSpPr>
        <p:graphicFrame>
          <p:nvGraphicFramePr>
            <p:cNvPr id="186372" name="Object 4"/>
            <p:cNvGraphicFramePr>
              <a:graphicFrameLocks noChangeAspect="1"/>
            </p:cNvGraphicFramePr>
            <p:nvPr/>
          </p:nvGraphicFramePr>
          <p:xfrm>
            <a:off x="836548" y="4583105"/>
            <a:ext cx="8631238" cy="2036762"/>
          </p:xfrm>
          <a:graphic>
            <a:graphicData uri="http://schemas.openxmlformats.org/presentationml/2006/ole">
              <p:oleObj spid="_x0000_s188418" name="Формула" r:id="rId3" imgW="1828800" imgH="431640" progId="Equation.3">
                <p:embed/>
              </p:oleObj>
            </a:graphicData>
          </a:graphic>
        </p:graphicFrame>
        <p:graphicFrame>
          <p:nvGraphicFramePr>
            <p:cNvPr id="187397" name="Object 4"/>
            <p:cNvGraphicFramePr>
              <a:graphicFrameLocks noChangeAspect="1"/>
            </p:cNvGraphicFramePr>
            <p:nvPr/>
          </p:nvGraphicFramePr>
          <p:xfrm>
            <a:off x="1265176" y="7226311"/>
            <a:ext cx="8031163" cy="2036763"/>
          </p:xfrm>
          <a:graphic>
            <a:graphicData uri="http://schemas.openxmlformats.org/presentationml/2006/ole">
              <p:oleObj spid="_x0000_s188419" name="Формула" r:id="rId4" imgW="1701720" imgH="431640" progId="Equation.3">
                <p:embed/>
              </p:oleObj>
            </a:graphicData>
          </a:graphic>
        </p:graphicFrame>
        <p:sp>
          <p:nvSpPr>
            <p:cNvPr id="15" name="Левая фигурная скобка 14"/>
            <p:cNvSpPr/>
            <p:nvPr/>
          </p:nvSpPr>
          <p:spPr>
            <a:xfrm>
              <a:off x="407920" y="4511667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9991720" y="4511667"/>
            <a:ext cx="9061518" cy="4751396"/>
            <a:chOff x="407920" y="4511667"/>
            <a:chExt cx="9061518" cy="4751396"/>
          </a:xfrm>
        </p:grpSpPr>
        <p:graphicFrame>
          <p:nvGraphicFramePr>
            <p:cNvPr id="17" name="Object 4"/>
            <p:cNvGraphicFramePr>
              <a:graphicFrameLocks noChangeAspect="1"/>
            </p:cNvGraphicFramePr>
            <p:nvPr/>
          </p:nvGraphicFramePr>
          <p:xfrm>
            <a:off x="838200" y="4583113"/>
            <a:ext cx="8631238" cy="2036762"/>
          </p:xfrm>
          <a:graphic>
            <a:graphicData uri="http://schemas.openxmlformats.org/presentationml/2006/ole">
              <p:oleObj spid="_x0000_s188420" name="Формула" r:id="rId5" imgW="1828800" imgH="431640" progId="Equation.3">
                <p:embed/>
              </p:oleObj>
            </a:graphicData>
          </a:graphic>
        </p:graphicFrame>
        <p:graphicFrame>
          <p:nvGraphicFramePr>
            <p:cNvPr id="19" name="Object 4"/>
            <p:cNvGraphicFramePr>
              <a:graphicFrameLocks noChangeAspect="1"/>
            </p:cNvGraphicFramePr>
            <p:nvPr/>
          </p:nvGraphicFramePr>
          <p:xfrm>
            <a:off x="1624013" y="7226300"/>
            <a:ext cx="7312025" cy="2036763"/>
          </p:xfrm>
          <a:graphic>
            <a:graphicData uri="http://schemas.openxmlformats.org/presentationml/2006/ole">
              <p:oleObj spid="_x0000_s188421" name="Формула" r:id="rId6" imgW="1549080" imgH="431640" progId="Equation.3">
                <p:embed/>
              </p:oleObj>
            </a:graphicData>
          </a:graphic>
        </p:graphicFrame>
        <p:sp>
          <p:nvSpPr>
            <p:cNvPr id="20" name="Левая фигурная скобка 19"/>
            <p:cNvSpPr/>
            <p:nvPr/>
          </p:nvSpPr>
          <p:spPr>
            <a:xfrm>
              <a:off x="407920" y="4511667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21" name="Прямая со стрелкой 20"/>
          <p:cNvCxnSpPr/>
          <p:nvPr/>
        </p:nvCxnSpPr>
        <p:spPr>
          <a:xfrm>
            <a:off x="8909042" y="6869121"/>
            <a:ext cx="714380" cy="1588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7289944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215" dirty="0" smtClean="0"/>
              <a:t>Постановка задачи: как провести прямую, наиболее приближенную ко всем точкам выборки? </a:t>
            </a:r>
            <a:endParaRPr spc="-21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9673590" cy="2328201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 pitchFamily="34" charset="0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sp>
        <p:nvSpPr>
          <p:cNvPr id="13" name="object 7"/>
          <p:cNvSpPr txBox="1"/>
          <p:nvPr/>
        </p:nvSpPr>
        <p:spPr>
          <a:xfrm>
            <a:off x="1406104" y="3201862"/>
            <a:ext cx="9673590" cy="2836033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Найдем частные производный (чтобы найти экстремум)</a:t>
            </a: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grpSp>
        <p:nvGrpSpPr>
          <p:cNvPr id="3" name="Группа 15"/>
          <p:cNvGrpSpPr/>
          <p:nvPr/>
        </p:nvGrpSpPr>
        <p:grpSpPr>
          <a:xfrm>
            <a:off x="407920" y="4511667"/>
            <a:ext cx="9061518" cy="4751396"/>
            <a:chOff x="407920" y="4511667"/>
            <a:chExt cx="9061518" cy="4751396"/>
          </a:xfrm>
        </p:grpSpPr>
        <p:graphicFrame>
          <p:nvGraphicFramePr>
            <p:cNvPr id="186372" name="Object 4"/>
            <p:cNvGraphicFramePr>
              <a:graphicFrameLocks noChangeAspect="1"/>
            </p:cNvGraphicFramePr>
            <p:nvPr/>
          </p:nvGraphicFramePr>
          <p:xfrm>
            <a:off x="838200" y="4583113"/>
            <a:ext cx="8631238" cy="2036762"/>
          </p:xfrm>
          <a:graphic>
            <a:graphicData uri="http://schemas.openxmlformats.org/presentationml/2006/ole">
              <p:oleObj spid="_x0000_s216066" name="Формула" r:id="rId3" imgW="1828800" imgH="431640" progId="Equation.3">
                <p:embed/>
              </p:oleObj>
            </a:graphicData>
          </a:graphic>
        </p:graphicFrame>
        <p:graphicFrame>
          <p:nvGraphicFramePr>
            <p:cNvPr id="187397" name="Object 4"/>
            <p:cNvGraphicFramePr>
              <a:graphicFrameLocks noChangeAspect="1"/>
            </p:cNvGraphicFramePr>
            <p:nvPr/>
          </p:nvGraphicFramePr>
          <p:xfrm>
            <a:off x="1624013" y="7226300"/>
            <a:ext cx="7312025" cy="2036763"/>
          </p:xfrm>
          <a:graphic>
            <a:graphicData uri="http://schemas.openxmlformats.org/presentationml/2006/ole">
              <p:oleObj spid="_x0000_s216067" name="Формула" r:id="rId4" imgW="1549080" imgH="431640" progId="Equation.3">
                <p:embed/>
              </p:oleObj>
            </a:graphicData>
          </a:graphic>
        </p:graphicFrame>
        <p:sp>
          <p:nvSpPr>
            <p:cNvPr id="15" name="Левая фигурная скобка 14"/>
            <p:cNvSpPr/>
            <p:nvPr/>
          </p:nvSpPr>
          <p:spPr>
            <a:xfrm>
              <a:off x="407920" y="4511667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10423514" y="4511667"/>
            <a:ext cx="7772468" cy="4429156"/>
            <a:chOff x="407920" y="4511667"/>
            <a:chExt cx="7772468" cy="4429156"/>
          </a:xfrm>
        </p:grpSpPr>
        <p:graphicFrame>
          <p:nvGraphicFramePr>
            <p:cNvPr id="17" name="Object 4"/>
            <p:cNvGraphicFramePr>
              <a:graphicFrameLocks noChangeAspect="1"/>
            </p:cNvGraphicFramePr>
            <p:nvPr/>
          </p:nvGraphicFramePr>
          <p:xfrm>
            <a:off x="2125663" y="5002213"/>
            <a:ext cx="6054725" cy="1198562"/>
          </p:xfrm>
          <a:graphic>
            <a:graphicData uri="http://schemas.openxmlformats.org/presentationml/2006/ole">
              <p:oleObj spid="_x0000_s216068" name="Формула" r:id="rId5" imgW="1282680" imgH="253800" progId="Equation.3">
                <p:embed/>
              </p:oleObj>
            </a:graphicData>
          </a:graphic>
        </p:graphicFrame>
        <p:graphicFrame>
          <p:nvGraphicFramePr>
            <p:cNvPr id="19" name="Object 4"/>
            <p:cNvGraphicFramePr>
              <a:graphicFrameLocks noChangeAspect="1"/>
            </p:cNvGraphicFramePr>
            <p:nvPr/>
          </p:nvGraphicFramePr>
          <p:xfrm>
            <a:off x="2971800" y="7675563"/>
            <a:ext cx="4614863" cy="1138237"/>
          </p:xfrm>
          <a:graphic>
            <a:graphicData uri="http://schemas.openxmlformats.org/presentationml/2006/ole">
              <p:oleObj spid="_x0000_s216069" name="Формула" r:id="rId6" imgW="977760" imgH="241200" progId="Equation.3">
                <p:embed/>
              </p:oleObj>
            </a:graphicData>
          </a:graphic>
        </p:graphicFrame>
        <p:sp>
          <p:nvSpPr>
            <p:cNvPr id="20" name="Левая фигурная скобка 19"/>
            <p:cNvSpPr/>
            <p:nvPr/>
          </p:nvSpPr>
          <p:spPr>
            <a:xfrm>
              <a:off x="407920" y="4511667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21" name="Прямая со стрелкой 20"/>
          <p:cNvCxnSpPr/>
          <p:nvPr/>
        </p:nvCxnSpPr>
        <p:spPr>
          <a:xfrm>
            <a:off x="8909042" y="6869121"/>
            <a:ext cx="714380" cy="1588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7289944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215" dirty="0" smtClean="0"/>
              <a:t>Постановка задачи: как провести прямую, наиболее приближенную ко всем точкам выборки? </a:t>
            </a:r>
            <a:endParaRPr spc="-21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9673590" cy="2328201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 pitchFamily="34" charset="0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sp>
        <p:nvSpPr>
          <p:cNvPr id="13" name="object 7"/>
          <p:cNvSpPr txBox="1"/>
          <p:nvPr/>
        </p:nvSpPr>
        <p:spPr>
          <a:xfrm>
            <a:off x="1406104" y="3201862"/>
            <a:ext cx="9673590" cy="2836033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Найдем частные производный (чтобы найти экстремум)</a:t>
            </a: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grpSp>
        <p:nvGrpSpPr>
          <p:cNvPr id="3" name="Группа 15"/>
          <p:cNvGrpSpPr/>
          <p:nvPr/>
        </p:nvGrpSpPr>
        <p:grpSpPr>
          <a:xfrm>
            <a:off x="407920" y="4511667"/>
            <a:ext cx="7772468" cy="4429156"/>
            <a:chOff x="407920" y="4511667"/>
            <a:chExt cx="7772468" cy="4429156"/>
          </a:xfrm>
        </p:grpSpPr>
        <p:graphicFrame>
          <p:nvGraphicFramePr>
            <p:cNvPr id="186372" name="Object 4"/>
            <p:cNvGraphicFramePr>
              <a:graphicFrameLocks noChangeAspect="1"/>
            </p:cNvGraphicFramePr>
            <p:nvPr/>
          </p:nvGraphicFramePr>
          <p:xfrm>
            <a:off x="2125663" y="5002213"/>
            <a:ext cx="6054725" cy="1198562"/>
          </p:xfrm>
          <a:graphic>
            <a:graphicData uri="http://schemas.openxmlformats.org/presentationml/2006/ole">
              <p:oleObj spid="_x0000_s217090" name="Формула" r:id="rId3" imgW="1282680" imgH="253800" progId="Equation.3">
                <p:embed/>
              </p:oleObj>
            </a:graphicData>
          </a:graphic>
        </p:graphicFrame>
        <p:graphicFrame>
          <p:nvGraphicFramePr>
            <p:cNvPr id="187397" name="Object 4"/>
            <p:cNvGraphicFramePr>
              <a:graphicFrameLocks noChangeAspect="1"/>
            </p:cNvGraphicFramePr>
            <p:nvPr/>
          </p:nvGraphicFramePr>
          <p:xfrm>
            <a:off x="2971800" y="7675563"/>
            <a:ext cx="4614863" cy="1138237"/>
          </p:xfrm>
          <a:graphic>
            <a:graphicData uri="http://schemas.openxmlformats.org/presentationml/2006/ole">
              <p:oleObj spid="_x0000_s217091" name="Формула" r:id="rId4" imgW="977760" imgH="241200" progId="Equation.3">
                <p:embed/>
              </p:oleObj>
            </a:graphicData>
          </a:graphic>
        </p:graphicFrame>
        <p:sp>
          <p:nvSpPr>
            <p:cNvPr id="15" name="Левая фигурная скобка 14"/>
            <p:cNvSpPr/>
            <p:nvPr/>
          </p:nvSpPr>
          <p:spPr>
            <a:xfrm>
              <a:off x="407920" y="4511667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10815624" y="4511667"/>
            <a:ext cx="7023168" cy="4429156"/>
            <a:chOff x="407920" y="4511667"/>
            <a:chExt cx="7023168" cy="4429156"/>
          </a:xfrm>
        </p:grpSpPr>
        <p:graphicFrame>
          <p:nvGraphicFramePr>
            <p:cNvPr id="17" name="Object 4"/>
            <p:cNvGraphicFramePr>
              <a:graphicFrameLocks noChangeAspect="1"/>
            </p:cNvGraphicFramePr>
            <p:nvPr/>
          </p:nvGraphicFramePr>
          <p:xfrm>
            <a:off x="2874963" y="5002213"/>
            <a:ext cx="4556125" cy="1198562"/>
          </p:xfrm>
          <a:graphic>
            <a:graphicData uri="http://schemas.openxmlformats.org/presentationml/2006/ole">
              <p:oleObj spid="_x0000_s217092" name="Формула" r:id="rId5" imgW="965160" imgH="253800" progId="Equation.3">
                <p:embed/>
              </p:oleObj>
            </a:graphicData>
          </a:graphic>
        </p:graphicFrame>
        <p:graphicFrame>
          <p:nvGraphicFramePr>
            <p:cNvPr id="19" name="Object 4"/>
            <p:cNvGraphicFramePr>
              <a:graphicFrameLocks noChangeAspect="1"/>
            </p:cNvGraphicFramePr>
            <p:nvPr/>
          </p:nvGraphicFramePr>
          <p:xfrm>
            <a:off x="3721100" y="7675563"/>
            <a:ext cx="3116263" cy="1138237"/>
          </p:xfrm>
          <a:graphic>
            <a:graphicData uri="http://schemas.openxmlformats.org/presentationml/2006/ole">
              <p:oleObj spid="_x0000_s217093" name="Формула" r:id="rId6" imgW="660240" imgH="241200" progId="Equation.3">
                <p:embed/>
              </p:oleObj>
            </a:graphicData>
          </a:graphic>
        </p:graphicFrame>
        <p:sp>
          <p:nvSpPr>
            <p:cNvPr id="20" name="Левая фигурная скобка 19"/>
            <p:cNvSpPr/>
            <p:nvPr/>
          </p:nvSpPr>
          <p:spPr>
            <a:xfrm>
              <a:off x="407920" y="4511667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21" name="Прямая со стрелкой 20"/>
          <p:cNvCxnSpPr/>
          <p:nvPr/>
        </p:nvCxnSpPr>
        <p:spPr>
          <a:xfrm>
            <a:off x="8909042" y="6869121"/>
            <a:ext cx="714380" cy="1588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7289944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215" dirty="0" smtClean="0"/>
              <a:t>Постановка задачи: как провести прямую, наиболее приближенную ко всем точкам выборки? </a:t>
            </a:r>
            <a:endParaRPr spc="-21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9673590" cy="2328201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 pitchFamily="34" charset="0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sp>
        <p:nvSpPr>
          <p:cNvPr id="13" name="object 7"/>
          <p:cNvSpPr txBox="1"/>
          <p:nvPr/>
        </p:nvSpPr>
        <p:spPr>
          <a:xfrm>
            <a:off x="1406104" y="3201862"/>
            <a:ext cx="9673590" cy="2836033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Найдем частные производный (чтобы найти экстремум)</a:t>
            </a: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grpSp>
        <p:nvGrpSpPr>
          <p:cNvPr id="3" name="Группа 15"/>
          <p:cNvGrpSpPr/>
          <p:nvPr/>
        </p:nvGrpSpPr>
        <p:grpSpPr>
          <a:xfrm>
            <a:off x="407920" y="4511667"/>
            <a:ext cx="7023168" cy="4429156"/>
            <a:chOff x="407920" y="4511667"/>
            <a:chExt cx="7023168" cy="4429156"/>
          </a:xfrm>
        </p:grpSpPr>
        <p:graphicFrame>
          <p:nvGraphicFramePr>
            <p:cNvPr id="186372" name="Object 4"/>
            <p:cNvGraphicFramePr>
              <a:graphicFrameLocks noChangeAspect="1"/>
            </p:cNvGraphicFramePr>
            <p:nvPr/>
          </p:nvGraphicFramePr>
          <p:xfrm>
            <a:off x="2874963" y="5002213"/>
            <a:ext cx="4556125" cy="1198562"/>
          </p:xfrm>
          <a:graphic>
            <a:graphicData uri="http://schemas.openxmlformats.org/presentationml/2006/ole">
              <p:oleObj spid="_x0000_s218114" name="Формула" r:id="rId3" imgW="965160" imgH="253800" progId="Equation.3">
                <p:embed/>
              </p:oleObj>
            </a:graphicData>
          </a:graphic>
        </p:graphicFrame>
        <p:graphicFrame>
          <p:nvGraphicFramePr>
            <p:cNvPr id="187397" name="Object 4"/>
            <p:cNvGraphicFramePr>
              <a:graphicFrameLocks noChangeAspect="1"/>
            </p:cNvGraphicFramePr>
            <p:nvPr/>
          </p:nvGraphicFramePr>
          <p:xfrm>
            <a:off x="3721100" y="7675563"/>
            <a:ext cx="3116263" cy="1138237"/>
          </p:xfrm>
          <a:graphic>
            <a:graphicData uri="http://schemas.openxmlformats.org/presentationml/2006/ole">
              <p:oleObj spid="_x0000_s218115" name="Формула" r:id="rId4" imgW="660240" imgH="241200" progId="Equation.3">
                <p:embed/>
              </p:oleObj>
            </a:graphicData>
          </a:graphic>
        </p:graphicFrame>
        <p:sp>
          <p:nvSpPr>
            <p:cNvPr id="15" name="Левая фигурная скобка 14"/>
            <p:cNvSpPr/>
            <p:nvPr/>
          </p:nvSpPr>
          <p:spPr>
            <a:xfrm>
              <a:off x="407920" y="4511667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9709133" y="4491043"/>
            <a:ext cx="6486585" cy="4429156"/>
            <a:chOff x="452326" y="4491043"/>
            <a:chExt cx="6486585" cy="4429156"/>
          </a:xfrm>
        </p:grpSpPr>
        <p:graphicFrame>
          <p:nvGraphicFramePr>
            <p:cNvPr id="17" name="Object 4"/>
            <p:cNvGraphicFramePr>
              <a:graphicFrameLocks noChangeAspect="1"/>
            </p:cNvGraphicFramePr>
            <p:nvPr/>
          </p:nvGraphicFramePr>
          <p:xfrm>
            <a:off x="2622498" y="6369055"/>
            <a:ext cx="4316413" cy="2276475"/>
          </p:xfrm>
          <a:graphic>
            <a:graphicData uri="http://schemas.openxmlformats.org/presentationml/2006/ole">
              <p:oleObj spid="_x0000_s218116" name="Формула" r:id="rId5" imgW="914400" imgH="482400" progId="Equation.3">
                <p:embed/>
              </p:oleObj>
            </a:graphicData>
          </a:graphic>
        </p:graphicFrame>
        <p:graphicFrame>
          <p:nvGraphicFramePr>
            <p:cNvPr id="19" name="Object 4"/>
            <p:cNvGraphicFramePr>
              <a:graphicFrameLocks noChangeAspect="1"/>
            </p:cNvGraphicFramePr>
            <p:nvPr/>
          </p:nvGraphicFramePr>
          <p:xfrm>
            <a:off x="3122564" y="4725981"/>
            <a:ext cx="3116263" cy="1138237"/>
          </p:xfrm>
          <a:graphic>
            <a:graphicData uri="http://schemas.openxmlformats.org/presentationml/2006/ole">
              <p:oleObj spid="_x0000_s218117" name="Формула" r:id="rId6" imgW="660240" imgH="241200" progId="Equation.3">
                <p:embed/>
              </p:oleObj>
            </a:graphicData>
          </a:graphic>
        </p:graphicFrame>
        <p:sp>
          <p:nvSpPr>
            <p:cNvPr id="20" name="Левая фигурная скобка 19"/>
            <p:cNvSpPr/>
            <p:nvPr/>
          </p:nvSpPr>
          <p:spPr>
            <a:xfrm>
              <a:off x="452326" y="4491043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Прямоугольник 20"/>
          <p:cNvSpPr/>
          <p:nvPr/>
        </p:nvSpPr>
        <p:spPr>
          <a:xfrm>
            <a:off x="16910098" y="6654807"/>
            <a:ext cx="18573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spc="-90" dirty="0" smtClean="0">
                <a:solidFill>
                  <a:srgbClr val="1E1E1E"/>
                </a:solidFill>
                <a:latin typeface="Arial"/>
                <a:cs typeface="Arial"/>
              </a:rPr>
              <a:t>               </a:t>
            </a:r>
            <a:r>
              <a:rPr lang="en-US" b="1" spc="-90" dirty="0" smtClean="0">
                <a:solidFill>
                  <a:srgbClr val="1E1E1E"/>
                </a:solidFill>
                <a:latin typeface="Arial"/>
                <a:cs typeface="Arial"/>
              </a:rPr>
              <a:t>&lt;=</a:t>
            </a:r>
            <a:r>
              <a:rPr lang="en-US" b="1" spc="-90" dirty="0" err="1" smtClean="0">
                <a:solidFill>
                  <a:srgbClr val="1E1E1E"/>
                </a:solidFill>
                <a:latin typeface="Arial"/>
                <a:cs typeface="Arial"/>
              </a:rPr>
              <a:t>cov</a:t>
            </a:r>
            <a:r>
              <a:rPr lang="en-US" b="1" spc="-90" baseline="-25000" dirty="0" err="1" smtClean="0">
                <a:solidFill>
                  <a:srgbClr val="1E1E1E"/>
                </a:solidFill>
                <a:latin typeface="Arial"/>
                <a:cs typeface="Arial"/>
              </a:rPr>
              <a:t>xy</a:t>
            </a:r>
            <a:r>
              <a:rPr lang="en-US" b="1" spc="-90" dirty="0" smtClean="0">
                <a:solidFill>
                  <a:srgbClr val="1E1E1E"/>
                </a:solidFill>
                <a:latin typeface="Arial"/>
                <a:cs typeface="Arial"/>
              </a:rPr>
              <a:t>				&lt;=</a:t>
            </a:r>
            <a:r>
              <a:rPr lang="en-US" b="1" spc="-90" dirty="0" err="1" smtClean="0">
                <a:solidFill>
                  <a:srgbClr val="1E1E1E"/>
                </a:solidFill>
                <a:latin typeface="Arial"/>
                <a:cs typeface="Arial"/>
              </a:rPr>
              <a:t>D</a:t>
            </a:r>
            <a:r>
              <a:rPr lang="en-US" b="1" spc="-90" baseline="-25000" dirty="0" err="1" smtClean="0">
                <a:solidFill>
                  <a:srgbClr val="1E1E1E"/>
                </a:solidFill>
                <a:latin typeface="Arial"/>
                <a:cs typeface="Arial"/>
              </a:rPr>
              <a:t>x</a:t>
            </a:r>
            <a:endParaRPr lang="ru-RU" b="1" dirty="0"/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8909042" y="6869121"/>
            <a:ext cx="714380" cy="1588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7289944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215" dirty="0" smtClean="0"/>
              <a:t>Постановка задачи: как провести прямую, наиболее приближенную ко всем точкам выборки? </a:t>
            </a:r>
            <a:endParaRPr spc="-21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9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9673590" cy="2328201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 pitchFamily="34" charset="0"/>
              <a:buChar char="•"/>
              <a:tabLst>
                <a:tab pos="514984" algn="l"/>
                <a:tab pos="515620" algn="l"/>
              </a:tabLst>
            </a:pPr>
            <a:endParaRPr lang="ru-RU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grpSp>
        <p:nvGrpSpPr>
          <p:cNvPr id="2" name="Группа 13"/>
          <p:cNvGrpSpPr/>
          <p:nvPr/>
        </p:nvGrpSpPr>
        <p:grpSpPr>
          <a:xfrm>
            <a:off x="11695124" y="4083039"/>
            <a:ext cx="7500990" cy="5572164"/>
            <a:chOff x="11695124" y="4083039"/>
            <a:chExt cx="7500990" cy="5572164"/>
          </a:xfrm>
        </p:grpSpPr>
        <p:pic>
          <p:nvPicPr>
            <p:cNvPr id="5" name="Picture 2" descr="Линейная регрессия — Викиконспекты"/>
            <p:cNvPicPr>
              <a:picLocks noChangeAspect="1" noChangeArrowheads="1"/>
            </p:cNvPicPr>
            <p:nvPr/>
          </p:nvPicPr>
          <p:blipFill>
            <a:blip r:embed="rId3"/>
            <a:srcRect l="12000" t="11000" r="9250" b="11000"/>
            <a:stretch>
              <a:fillRect/>
            </a:stretch>
          </p:blipFill>
          <p:spPr bwMode="auto">
            <a:xfrm>
              <a:off x="11695124" y="4083039"/>
              <a:ext cx="7500990" cy="5572164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15195586" y="7369187"/>
              <a:ext cx="136127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/>
                <a:t>(x</a:t>
              </a:r>
              <a:r>
                <a:rPr lang="en-US" sz="4000" baseline="-25000" dirty="0" smtClean="0"/>
                <a:t>i</a:t>
              </a:r>
              <a:r>
                <a:rPr lang="en-US" sz="4000" dirty="0" smtClean="0"/>
                <a:t>; </a:t>
              </a:r>
              <a:r>
                <a:rPr lang="en-US" sz="4000" dirty="0" err="1" smtClean="0"/>
                <a:t>y</a:t>
              </a:r>
              <a:r>
                <a:rPr lang="en-US" sz="4000" baseline="-25000" dirty="0" err="1" smtClean="0"/>
                <a:t>i</a:t>
              </a:r>
              <a:r>
                <a:rPr lang="en-US" sz="4000" dirty="0" smtClean="0"/>
                <a:t>)</a:t>
              </a:r>
              <a:endParaRPr lang="ru-RU" sz="4000" dirty="0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 rot="16200000" flipV="1">
              <a:off x="15124149" y="7011996"/>
              <a:ext cx="857256" cy="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5267024" y="5868989"/>
              <a:ext cx="59503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 </a:t>
              </a:r>
              <a:r>
                <a:rPr lang="en-US" sz="4400" dirty="0" smtClean="0"/>
                <a:t>ỹ</a:t>
              </a:r>
              <a:r>
                <a:rPr lang="en-US" sz="4400" baseline="-25000" dirty="0" smtClean="0"/>
                <a:t>i</a:t>
              </a:r>
              <a:endParaRPr lang="ru-RU" sz="2400" dirty="0"/>
            </a:p>
          </p:txBody>
        </p:sp>
      </p:grpSp>
      <p:sp>
        <p:nvSpPr>
          <p:cNvPr id="13" name="object 7"/>
          <p:cNvSpPr txBox="1"/>
          <p:nvPr/>
        </p:nvSpPr>
        <p:spPr>
          <a:xfrm>
            <a:off x="1406104" y="3201862"/>
            <a:ext cx="9673590" cy="7229543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r>
              <a:rPr lang="ru-RU" sz="3300" spc="-90" dirty="0" smtClean="0">
                <a:solidFill>
                  <a:srgbClr val="1E1E1E"/>
                </a:solidFill>
                <a:latin typeface="Arial"/>
                <a:cs typeface="Arial"/>
              </a:rPr>
              <a:t>Найдем частные производный (чтобы найти экстремум)</a:t>
            </a:r>
            <a:endParaRPr lang="en-US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endParaRPr lang="en-US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endParaRPr lang="en-US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endParaRPr lang="en-US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>									&lt;=cov</a:t>
            </a:r>
            <a:r>
              <a:rPr lang="en-US" sz="3300" spc="-90" baseline="-25000" dirty="0" smtClean="0">
                <a:solidFill>
                  <a:srgbClr val="1E1E1E"/>
                </a:solidFill>
                <a:latin typeface="Arial"/>
                <a:cs typeface="Arial"/>
              </a:rPr>
              <a:t>xy</a:t>
            </a:r>
            <a:r>
              <a:rPr lang="en-US" sz="3300" spc="-90" dirty="0" smtClean="0">
                <a:solidFill>
                  <a:srgbClr val="1E1E1E"/>
                </a:solidFill>
                <a:latin typeface="Arial"/>
                <a:cs typeface="Arial"/>
              </a:rPr>
              <a:t>										&lt;=D</a:t>
            </a:r>
            <a:r>
              <a:rPr lang="en-US" sz="3300" spc="-90" baseline="-25000" dirty="0" smtClean="0">
                <a:solidFill>
                  <a:srgbClr val="1E1E1E"/>
                </a:solidFill>
                <a:latin typeface="Arial"/>
                <a:cs typeface="Arial"/>
              </a:rPr>
              <a:t>x</a:t>
            </a:r>
            <a:endParaRPr lang="en-US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endParaRPr lang="en-US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01650" lvl="7" indent="-501650">
              <a:spcBef>
                <a:spcPts val="2075"/>
              </a:spcBef>
              <a:buClr>
                <a:srgbClr val="BDD9DE"/>
              </a:buClr>
              <a:tabLst>
                <a:tab pos="539750" algn="l"/>
              </a:tabLst>
            </a:pPr>
            <a:endParaRPr lang="en-US" sz="3300" spc="-90" dirty="0" smtClean="0">
              <a:solidFill>
                <a:srgbClr val="1E1E1E"/>
              </a:solidFill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grpSp>
        <p:nvGrpSpPr>
          <p:cNvPr id="22" name="Группа 21"/>
          <p:cNvGrpSpPr/>
          <p:nvPr/>
        </p:nvGrpSpPr>
        <p:grpSpPr>
          <a:xfrm>
            <a:off x="452326" y="4491043"/>
            <a:ext cx="6486585" cy="4429156"/>
            <a:chOff x="452326" y="4491043"/>
            <a:chExt cx="6486585" cy="4429156"/>
          </a:xfrm>
        </p:grpSpPr>
        <p:graphicFrame>
          <p:nvGraphicFramePr>
            <p:cNvPr id="186372" name="Object 4"/>
            <p:cNvGraphicFramePr>
              <a:graphicFrameLocks noChangeAspect="1"/>
            </p:cNvGraphicFramePr>
            <p:nvPr/>
          </p:nvGraphicFramePr>
          <p:xfrm>
            <a:off x="2622498" y="6369055"/>
            <a:ext cx="4316413" cy="2276475"/>
          </p:xfrm>
          <a:graphic>
            <a:graphicData uri="http://schemas.openxmlformats.org/presentationml/2006/ole">
              <p:oleObj spid="_x0000_s219138" name="Формула" r:id="rId4" imgW="914400" imgH="482400" progId="Equation.3">
                <p:embed/>
              </p:oleObj>
            </a:graphicData>
          </a:graphic>
        </p:graphicFrame>
        <p:graphicFrame>
          <p:nvGraphicFramePr>
            <p:cNvPr id="187397" name="Object 4"/>
            <p:cNvGraphicFramePr>
              <a:graphicFrameLocks noChangeAspect="1"/>
            </p:cNvGraphicFramePr>
            <p:nvPr/>
          </p:nvGraphicFramePr>
          <p:xfrm>
            <a:off x="3122564" y="4725981"/>
            <a:ext cx="3116263" cy="1138237"/>
          </p:xfrm>
          <a:graphic>
            <a:graphicData uri="http://schemas.openxmlformats.org/presentationml/2006/ole">
              <p:oleObj spid="_x0000_s219139" name="Формула" r:id="rId5" imgW="660240" imgH="241200" progId="Equation.3">
                <p:embed/>
              </p:oleObj>
            </a:graphicData>
          </a:graphic>
        </p:graphicFrame>
        <p:sp>
          <p:nvSpPr>
            <p:cNvPr id="15" name="Левая фигурная скобка 14"/>
            <p:cNvSpPr/>
            <p:nvPr/>
          </p:nvSpPr>
          <p:spPr>
            <a:xfrm>
              <a:off x="452326" y="4491043"/>
              <a:ext cx="642942" cy="442915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360870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95" dirty="0"/>
              <a:t>К</a:t>
            </a:r>
            <a:r>
              <a:rPr spc="-320" dirty="0"/>
              <a:t>о</a:t>
            </a:r>
            <a:r>
              <a:rPr spc="-215" dirty="0"/>
              <a:t>в</a:t>
            </a:r>
            <a:r>
              <a:rPr spc="-200" dirty="0"/>
              <a:t>а</a:t>
            </a:r>
            <a:r>
              <a:rPr spc="-114" dirty="0"/>
              <a:t>ри</a:t>
            </a:r>
            <a:r>
              <a:rPr spc="-105" dirty="0"/>
              <a:t>а</a:t>
            </a:r>
            <a:r>
              <a:rPr spc="-155" dirty="0"/>
              <a:t>ц</a:t>
            </a:r>
            <a:r>
              <a:rPr spc="-305" dirty="0"/>
              <a:t>и</a:t>
            </a:r>
            <a:r>
              <a:rPr spc="-215" dirty="0"/>
              <a:t>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10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686" y="3201862"/>
            <a:ext cx="10777220" cy="354393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Мера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линейной</a:t>
            </a:r>
            <a:r>
              <a:rPr sz="3300" spc="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зависимости.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Математическое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ожидание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произведения</a:t>
            </a:r>
            <a:r>
              <a:rPr sz="3300" spc="2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отклонений: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BDD9DE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2054860">
              <a:lnSpc>
                <a:spcPct val="100000"/>
              </a:lnSpc>
            </a:pP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cov</a:t>
            </a:r>
            <a:r>
              <a:rPr sz="3300" b="1" spc="-5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X,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8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90" dirty="0">
                <a:solidFill>
                  <a:srgbClr val="1E1E1E"/>
                </a:solidFill>
                <a:latin typeface="Verdana"/>
                <a:cs typeface="Verdana"/>
              </a:rPr>
              <a:t>[(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])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7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2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72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])]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Положительная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отрицательная</a:t>
            </a:r>
            <a:r>
              <a:rPr sz="3300" spc="2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корреляция.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211969" name="Object 1"/>
          <p:cNvGraphicFramePr>
            <a:graphicFrameLocks noChangeAspect="1"/>
          </p:cNvGraphicFramePr>
          <p:nvPr/>
        </p:nvGraphicFramePr>
        <p:xfrm>
          <a:off x="2693936" y="6797683"/>
          <a:ext cx="9204325" cy="3321050"/>
        </p:xfrm>
        <a:graphic>
          <a:graphicData uri="http://schemas.openxmlformats.org/presentationml/2006/ole">
            <p:oleObj spid="_x0000_s211969" name="Формула" r:id="rId3" imgW="1688760" imgH="609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13066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185" dirty="0"/>
              <a:t>разложение</a:t>
            </a:r>
            <a:r>
              <a:rPr spc="110" dirty="0"/>
              <a:t> </a:t>
            </a:r>
            <a:r>
              <a:rPr spc="-280" dirty="0"/>
              <a:t>(SVD)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5453" y="4727604"/>
            <a:ext cx="2827655" cy="1607820"/>
          </a:xfrm>
          <a:prstGeom prst="rect">
            <a:avLst/>
          </a:prstGeom>
          <a:ln w="73296">
            <a:solidFill>
              <a:srgbClr val="1E1E1E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68580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7852" y="4727604"/>
            <a:ext cx="1641475" cy="1607820"/>
          </a:xfrm>
          <a:prstGeom prst="rect">
            <a:avLst/>
          </a:prstGeom>
          <a:ln w="73296">
            <a:solidFill>
              <a:srgbClr val="A8CFA6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31092" y="4727604"/>
            <a:ext cx="2827655" cy="2604770"/>
          </a:xfrm>
          <a:prstGeom prst="rect">
            <a:avLst/>
          </a:prstGeom>
          <a:ln w="73296">
            <a:solidFill>
              <a:srgbClr val="627AEB"/>
            </a:solidFill>
          </a:ln>
        </p:spPr>
        <p:txBody>
          <a:bodyPr vert="horz" wrap="square" lIns="0" tIns="252729" rIns="0" bIns="0" rtlCol="0">
            <a:spAutoFit/>
          </a:bodyPr>
          <a:lstStyle/>
          <a:p>
            <a:pPr marL="93345" algn="ctr">
              <a:lnSpc>
                <a:spcPct val="100000"/>
              </a:lnSpc>
              <a:spcBef>
                <a:spcPts val="1989"/>
              </a:spcBef>
            </a:pPr>
            <a:r>
              <a:rPr sz="4950" b="1" i="1" spc="-592" baseline="-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1900" b="1" i="1" spc="-395" dirty="0">
                <a:solidFill>
                  <a:srgbClr val="1E1E1E"/>
                </a:solidFill>
                <a:latin typeface="Verdana"/>
                <a:cs typeface="Verdana"/>
              </a:rPr>
              <a:t>T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4489" y="5120651"/>
            <a:ext cx="2755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9497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09396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27782" y="4269892"/>
            <a:ext cx="77724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94367" y="6337892"/>
            <a:ext cx="2609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61559" y="4727604"/>
            <a:ext cx="2827655" cy="1607820"/>
          </a:xfrm>
          <a:prstGeom prst="rect">
            <a:avLst/>
          </a:prstGeom>
          <a:ln w="73296">
            <a:solidFill>
              <a:srgbClr val="CB375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2410"/>
              </a:lnSpc>
            </a:pPr>
            <a:r>
              <a:rPr sz="2450" b="1" i="1" spc="-33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502" baseline="-24904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175" baseline="-24904">
              <a:latin typeface="Verdana"/>
              <a:cs typeface="Verdana"/>
            </a:endParaRPr>
          </a:p>
          <a:p>
            <a:pPr marL="309880">
              <a:lnSpc>
                <a:spcPts val="2695"/>
              </a:lnSpc>
            </a:pPr>
            <a:r>
              <a:rPr sz="2450" b="1" i="1" spc="-31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72" baseline="-24904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175" baseline="-24904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Times New Roman"/>
              <a:cs typeface="Times New Roman"/>
            </a:endParaRPr>
          </a:p>
          <a:p>
            <a:pPr marL="902969">
              <a:lnSpc>
                <a:spcPct val="100000"/>
              </a:lnSpc>
            </a:pPr>
            <a:r>
              <a:rPr sz="2450" b="1" i="1" spc="-30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50" baseline="-30651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175" baseline="-30651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609982" y="4269892"/>
            <a:ext cx="69088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9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0899" y="4269892"/>
            <a:ext cx="8629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35622" y="5592761"/>
            <a:ext cx="180340" cy="245745"/>
          </a:xfrm>
          <a:custGeom>
            <a:avLst/>
            <a:gdLst/>
            <a:ahLst/>
            <a:cxnLst/>
            <a:rect l="l" t="t" r="r" b="b"/>
            <a:pathLst>
              <a:path w="180340" h="245745">
                <a:moveTo>
                  <a:pt x="0" y="0"/>
                </a:moveTo>
                <a:lnTo>
                  <a:pt x="179963" y="245406"/>
                </a:lnTo>
              </a:path>
            </a:pathLst>
          </a:custGeom>
          <a:ln w="62825">
            <a:solidFill>
              <a:srgbClr val="1E1E1E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63634" y="54945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51584" y="58872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06104" y="3453163"/>
            <a:ext cx="2885306" cy="12176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5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W </a:t>
            </a:r>
            <a:r>
              <a:rPr sz="2850" b="1" i="1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 dirty="0">
              <a:latin typeface="Verdana"/>
              <a:cs typeface="Verdana"/>
            </a:endParaRPr>
          </a:p>
          <a:p>
            <a:pPr marL="1028065">
              <a:lnSpc>
                <a:spcPct val="100000"/>
              </a:lnSpc>
              <a:spcBef>
                <a:spcPts val="250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4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11</a:t>
            </a:fld>
            <a:endParaRPr spc="-3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13066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185" dirty="0"/>
              <a:t>разложение</a:t>
            </a:r>
            <a:r>
              <a:rPr spc="110" dirty="0"/>
              <a:t> </a:t>
            </a:r>
            <a:r>
              <a:rPr spc="-280" dirty="0"/>
              <a:t>(SVD)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7105408"/>
            <a:ext cx="8014970" cy="142049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300" b="1" spc="-19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b="1" spc="-185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3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4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1064" baseline="-32163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</a:t>
            </a: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100" b="1" i="1" spc="-1215" dirty="0">
                <a:solidFill>
                  <a:srgbClr val="1E1E1E"/>
                </a:solidFill>
                <a:latin typeface="Verdana"/>
                <a:cs typeface="Verdana"/>
              </a:rPr>
              <a:t>√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собственные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3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18762" y="7984049"/>
            <a:ext cx="6751955" cy="0"/>
          </a:xfrm>
          <a:custGeom>
            <a:avLst/>
            <a:gdLst/>
            <a:ahLst/>
            <a:cxnLst/>
            <a:rect l="l" t="t" r="r" b="b"/>
            <a:pathLst>
              <a:path w="6751955">
                <a:moveTo>
                  <a:pt x="0" y="0"/>
                </a:moveTo>
                <a:lnTo>
                  <a:pt x="675162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55453" y="4727604"/>
            <a:ext cx="2827655" cy="1607820"/>
          </a:xfrm>
          <a:prstGeom prst="rect">
            <a:avLst/>
          </a:prstGeom>
          <a:ln w="73296">
            <a:solidFill>
              <a:srgbClr val="1E1E1E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68580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77852" y="4727604"/>
            <a:ext cx="1641475" cy="1607820"/>
          </a:xfrm>
          <a:prstGeom prst="rect">
            <a:avLst/>
          </a:prstGeom>
          <a:ln w="73296">
            <a:solidFill>
              <a:srgbClr val="A8CFA6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31092" y="4727604"/>
            <a:ext cx="2827655" cy="2604770"/>
          </a:xfrm>
          <a:prstGeom prst="rect">
            <a:avLst/>
          </a:prstGeom>
          <a:ln w="73296">
            <a:solidFill>
              <a:srgbClr val="627AEB"/>
            </a:solidFill>
          </a:ln>
        </p:spPr>
        <p:txBody>
          <a:bodyPr vert="horz" wrap="square" lIns="0" tIns="252729" rIns="0" bIns="0" rtlCol="0">
            <a:spAutoFit/>
          </a:bodyPr>
          <a:lstStyle/>
          <a:p>
            <a:pPr marL="93345" algn="ctr">
              <a:lnSpc>
                <a:spcPct val="100000"/>
              </a:lnSpc>
              <a:spcBef>
                <a:spcPts val="1989"/>
              </a:spcBef>
            </a:pPr>
            <a:r>
              <a:rPr sz="4950" b="1" i="1" spc="-592" baseline="-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1900" b="1" i="1" spc="-395" dirty="0">
                <a:solidFill>
                  <a:srgbClr val="1E1E1E"/>
                </a:solidFill>
                <a:latin typeface="Verdana"/>
                <a:cs typeface="Verdana"/>
              </a:rPr>
              <a:t>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94489" y="5120651"/>
            <a:ext cx="2755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29497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09396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27782" y="4269892"/>
            <a:ext cx="77724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94367" y="6337892"/>
            <a:ext cx="2609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61559" y="4727604"/>
            <a:ext cx="2827655" cy="1607820"/>
          </a:xfrm>
          <a:prstGeom prst="rect">
            <a:avLst/>
          </a:prstGeom>
          <a:ln w="73296">
            <a:solidFill>
              <a:srgbClr val="CB375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2410"/>
              </a:lnSpc>
            </a:pPr>
            <a:r>
              <a:rPr sz="2450" b="1" i="1" spc="-33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502" baseline="-24904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175" baseline="-24904">
              <a:latin typeface="Verdana"/>
              <a:cs typeface="Verdana"/>
            </a:endParaRPr>
          </a:p>
          <a:p>
            <a:pPr marL="309880">
              <a:lnSpc>
                <a:spcPts val="2695"/>
              </a:lnSpc>
            </a:pPr>
            <a:r>
              <a:rPr sz="2450" b="1" i="1" spc="-31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72" baseline="-24904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175" baseline="-24904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Times New Roman"/>
              <a:cs typeface="Times New Roman"/>
            </a:endParaRPr>
          </a:p>
          <a:p>
            <a:pPr marL="902969">
              <a:lnSpc>
                <a:spcPct val="100000"/>
              </a:lnSpc>
            </a:pPr>
            <a:r>
              <a:rPr sz="2450" b="1" i="1" spc="-30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50" baseline="-30651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175" baseline="-30651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609982" y="4269892"/>
            <a:ext cx="69088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9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70899" y="4269892"/>
            <a:ext cx="8629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35622" y="5592761"/>
            <a:ext cx="180340" cy="245745"/>
          </a:xfrm>
          <a:custGeom>
            <a:avLst/>
            <a:gdLst/>
            <a:ahLst/>
            <a:cxnLst/>
            <a:rect l="l" t="t" r="r" b="b"/>
            <a:pathLst>
              <a:path w="180340" h="245745">
                <a:moveTo>
                  <a:pt x="0" y="0"/>
                </a:moveTo>
                <a:lnTo>
                  <a:pt x="179963" y="245406"/>
                </a:lnTo>
              </a:path>
            </a:pathLst>
          </a:custGeom>
          <a:ln w="62825">
            <a:solidFill>
              <a:srgbClr val="1E1E1E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63634" y="54945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51584" y="58872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406104" y="3453163"/>
            <a:ext cx="2402205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5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spc="-7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028065">
              <a:lnSpc>
                <a:spcPct val="100000"/>
              </a:lnSpc>
              <a:spcBef>
                <a:spcPts val="250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4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12</a:t>
            </a:fld>
            <a:endParaRPr spc="-3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13066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185" dirty="0"/>
              <a:t>разложение</a:t>
            </a:r>
            <a:r>
              <a:rPr spc="110" dirty="0"/>
              <a:t> </a:t>
            </a:r>
            <a:r>
              <a:rPr spc="-280" dirty="0"/>
              <a:t>(SVD)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7105408"/>
            <a:ext cx="8014970" cy="142049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300" b="1" spc="-19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b="1" spc="-185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3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4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1064" baseline="-32163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</a:t>
            </a: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100" b="1" i="1" spc="-1215" dirty="0">
                <a:solidFill>
                  <a:srgbClr val="1E1E1E"/>
                </a:solidFill>
                <a:latin typeface="Verdana"/>
                <a:cs typeface="Verdana"/>
              </a:rPr>
              <a:t>√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собственные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3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18762" y="7984049"/>
            <a:ext cx="6751955" cy="0"/>
          </a:xfrm>
          <a:custGeom>
            <a:avLst/>
            <a:gdLst/>
            <a:ahLst/>
            <a:cxnLst/>
            <a:rect l="l" t="t" r="r" b="b"/>
            <a:pathLst>
              <a:path w="6751955">
                <a:moveTo>
                  <a:pt x="0" y="0"/>
                </a:moveTo>
                <a:lnTo>
                  <a:pt x="675162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77111" y="9295827"/>
            <a:ext cx="927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104" y="8981790"/>
            <a:ext cx="37522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28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419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E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84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5453" y="4727604"/>
            <a:ext cx="2827655" cy="1607820"/>
          </a:xfrm>
          <a:prstGeom prst="rect">
            <a:avLst/>
          </a:prstGeom>
          <a:ln w="73296">
            <a:solidFill>
              <a:srgbClr val="1E1E1E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68580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77852" y="4727604"/>
            <a:ext cx="1641475" cy="1607820"/>
          </a:xfrm>
          <a:prstGeom prst="rect">
            <a:avLst/>
          </a:prstGeom>
          <a:ln w="73296">
            <a:solidFill>
              <a:srgbClr val="A8CFA6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31092" y="4727604"/>
            <a:ext cx="2827655" cy="2604770"/>
          </a:xfrm>
          <a:prstGeom prst="rect">
            <a:avLst/>
          </a:prstGeom>
          <a:ln w="73296">
            <a:solidFill>
              <a:srgbClr val="627AEB"/>
            </a:solidFill>
          </a:ln>
        </p:spPr>
        <p:txBody>
          <a:bodyPr vert="horz" wrap="square" lIns="0" tIns="252729" rIns="0" bIns="0" rtlCol="0">
            <a:spAutoFit/>
          </a:bodyPr>
          <a:lstStyle/>
          <a:p>
            <a:pPr marL="93345" algn="ctr">
              <a:lnSpc>
                <a:spcPct val="100000"/>
              </a:lnSpc>
              <a:spcBef>
                <a:spcPts val="1989"/>
              </a:spcBef>
            </a:pPr>
            <a:r>
              <a:rPr sz="4950" b="1" i="1" spc="-592" baseline="-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1900" b="1" i="1" spc="-395" dirty="0">
                <a:solidFill>
                  <a:srgbClr val="1E1E1E"/>
                </a:solidFill>
                <a:latin typeface="Verdana"/>
                <a:cs typeface="Verdana"/>
              </a:rPr>
              <a:t>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94489" y="5120651"/>
            <a:ext cx="2755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29497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09396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167" y="3453163"/>
            <a:ext cx="2402205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5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spc="-7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028065">
              <a:lnSpc>
                <a:spcPct val="100000"/>
              </a:lnSpc>
              <a:spcBef>
                <a:spcPts val="250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4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27782" y="4269892"/>
            <a:ext cx="77724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94367" y="6337892"/>
            <a:ext cx="2609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61559" y="4727604"/>
            <a:ext cx="2827655" cy="1607820"/>
          </a:xfrm>
          <a:prstGeom prst="rect">
            <a:avLst/>
          </a:prstGeom>
          <a:ln w="73296">
            <a:solidFill>
              <a:srgbClr val="CB375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2410"/>
              </a:lnSpc>
            </a:pPr>
            <a:r>
              <a:rPr sz="2450" b="1" i="1" spc="-33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502" baseline="-24904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175" baseline="-24904">
              <a:latin typeface="Verdana"/>
              <a:cs typeface="Verdana"/>
            </a:endParaRPr>
          </a:p>
          <a:p>
            <a:pPr marL="309880">
              <a:lnSpc>
                <a:spcPts val="2695"/>
              </a:lnSpc>
            </a:pPr>
            <a:r>
              <a:rPr sz="2450" b="1" i="1" spc="-31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72" baseline="-24904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175" baseline="-24904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Times New Roman"/>
              <a:cs typeface="Times New Roman"/>
            </a:endParaRPr>
          </a:p>
          <a:p>
            <a:pPr marL="902969">
              <a:lnSpc>
                <a:spcPct val="100000"/>
              </a:lnSpc>
            </a:pPr>
            <a:r>
              <a:rPr sz="2450" b="1" i="1" spc="-30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50" baseline="-30651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175" baseline="-30651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09982" y="4269892"/>
            <a:ext cx="69088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9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70899" y="4269892"/>
            <a:ext cx="8629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935622" y="5592761"/>
            <a:ext cx="180340" cy="245745"/>
          </a:xfrm>
          <a:custGeom>
            <a:avLst/>
            <a:gdLst/>
            <a:ahLst/>
            <a:cxnLst/>
            <a:rect l="l" t="t" r="r" b="b"/>
            <a:pathLst>
              <a:path w="180340" h="245745">
                <a:moveTo>
                  <a:pt x="0" y="0"/>
                </a:moveTo>
                <a:lnTo>
                  <a:pt x="179963" y="245406"/>
                </a:lnTo>
              </a:path>
            </a:pathLst>
          </a:custGeom>
          <a:ln w="62825">
            <a:solidFill>
              <a:srgbClr val="1E1E1E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63634" y="54945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51584" y="58872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13</a:t>
            </a:fld>
            <a:endParaRPr spc="-3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7788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Сингулярные </a:t>
            </a:r>
            <a:r>
              <a:rPr spc="-295" dirty="0"/>
              <a:t>числа </a:t>
            </a:r>
            <a:r>
              <a:rPr spc="-200" dirty="0"/>
              <a:t>и</a:t>
            </a:r>
            <a:r>
              <a:rPr spc="340" dirty="0"/>
              <a:t> </a:t>
            </a:r>
            <a:r>
              <a:rPr spc="-290" dirty="0"/>
              <a:t>векторы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14</a:t>
            </a:fld>
            <a:endParaRPr spc="-370" dirty="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418804" y="5706632"/>
          <a:ext cx="9617075" cy="1988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59935"/>
                <a:gridCol w="5057140"/>
              </a:tblGrid>
              <a:tr h="97345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3300" b="1" i="1" spc="-509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765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spc="6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3300" spc="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левый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3229"/>
                        </a:lnSpc>
                        <a:spcBef>
                          <a:spcPts val="1150"/>
                        </a:spcBef>
                      </a:pPr>
                      <a:r>
                        <a:rPr sz="3300" b="1" i="1" spc="-52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sz="3300" b="1" i="1" spc="-124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•</a:t>
                      </a:r>
                      <a:r>
                        <a:rPr sz="3300" b="1" i="1" spc="-46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3300" b="1" i="1" spc="-33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850" b="1" i="1" spc="-494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Т</a:t>
                      </a:r>
                      <a:r>
                        <a:rPr sz="3300" b="1" i="1" spc="-33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49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b="1" i="1" spc="-90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= </a:t>
                      </a:r>
                      <a:r>
                        <a:rPr sz="3300" b="1" i="1" spc="-47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σ </a:t>
                      </a:r>
                      <a:r>
                        <a:rPr sz="2850" b="1" spc="-652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sz="3300" b="1" i="1" spc="-434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65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sz="2850" b="1" i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  <a:p>
                      <a:pPr marR="194945" algn="ctr">
                        <a:lnSpc>
                          <a:spcPts val="1550"/>
                        </a:lnSpc>
                      </a:pPr>
                      <a:r>
                        <a:rPr sz="1900" b="1" i="1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endParaRPr sz="1900">
                        <a:latin typeface="Verdana"/>
                        <a:cs typeface="Verdana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</a:tr>
              <a:tr h="101536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3300" b="1" i="1" spc="-67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2850" b="1" spc="-101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2850" b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spc="6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3300" spc="3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8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правый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7716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3229"/>
                        </a:lnSpc>
                        <a:spcBef>
                          <a:spcPts val="1395"/>
                        </a:spcBef>
                      </a:pPr>
                      <a:r>
                        <a:rPr sz="3300" b="1" i="1" spc="-26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850" b="1" i="1" spc="-390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Т </a:t>
                      </a:r>
                      <a:r>
                        <a:rPr sz="3300" b="1" i="1" spc="-65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AW</a:t>
                      </a:r>
                      <a:r>
                        <a:rPr sz="2850" b="1" spc="-98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2850" b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b="1" i="1" spc="-90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= </a:t>
                      </a:r>
                      <a:r>
                        <a:rPr sz="3300" b="1" i="1" spc="-47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σ </a:t>
                      </a:r>
                      <a:r>
                        <a:rPr sz="2850" b="1" spc="-817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sz="3300" b="1" i="1" spc="-54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2850" b="1" spc="-817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sz="2850" b="1" i="1" spc="-49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  <a:p>
                      <a:pPr marR="618490" algn="ctr">
                        <a:lnSpc>
                          <a:spcPts val="1550"/>
                        </a:lnSpc>
                      </a:pPr>
                      <a:r>
                        <a:rPr sz="1900" b="1" i="1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endParaRPr sz="1900">
                        <a:latin typeface="Verdana"/>
                        <a:cs typeface="Verdana"/>
                      </a:endParaRPr>
                    </a:p>
                  </a:txBody>
                  <a:tcPr marL="0" marR="0" marT="17716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6104" y="3453163"/>
            <a:ext cx="7270115" cy="178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450" dirty="0">
                <a:solidFill>
                  <a:srgbClr val="1E1E1E"/>
                </a:solidFill>
                <a:latin typeface="Verdana"/>
                <a:cs typeface="Verdana"/>
              </a:rPr>
              <a:t>0,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450" dirty="0">
                <a:solidFill>
                  <a:srgbClr val="1E1E1E"/>
                </a:solidFill>
                <a:latin typeface="Verdana"/>
                <a:cs typeface="Verdana"/>
              </a:rPr>
              <a:t>0, </a:t>
            </a:r>
            <a:r>
              <a:rPr sz="3300" b="1" spc="-345" dirty="0">
                <a:solidFill>
                  <a:srgbClr val="1E1E1E"/>
                </a:solidFill>
                <a:latin typeface="Verdana"/>
                <a:cs typeface="Verdana"/>
              </a:rPr>
              <a:t>. . . ,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0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b="1" spc="-440" dirty="0">
                <a:solidFill>
                  <a:srgbClr val="1E1E1E"/>
                </a:solidFill>
                <a:latin typeface="Verdana"/>
                <a:cs typeface="Verdana"/>
              </a:rPr>
              <a:t>r:</a:t>
            </a:r>
            <a:r>
              <a:rPr sz="3300" b="1" spc="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rank(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векторы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2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7788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Сингулярные </a:t>
            </a:r>
            <a:r>
              <a:rPr spc="-295" dirty="0"/>
              <a:t>числа </a:t>
            </a:r>
            <a:r>
              <a:rPr spc="-200" dirty="0"/>
              <a:t>и</a:t>
            </a:r>
            <a:r>
              <a:rPr spc="340" dirty="0"/>
              <a:t> </a:t>
            </a:r>
            <a:r>
              <a:rPr spc="-290" dirty="0"/>
              <a:t>векторы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15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3945294" y="8618659"/>
            <a:ext cx="512000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i="1" spc="-787" baseline="18518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4950" b="1" i="1" spc="-1860" baseline="18518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4950" b="1" i="1" spc="-697" baseline="18518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1012" baseline="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1900" b="1" spc="-6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4950" b="1" i="1" spc="-1350" baseline="18518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950" b="1" i="1" spc="-660" baseline="18518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1900" b="1" i="1" spc="-4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4950" b="1" i="1" spc="-660" baseline="18518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1900" b="1" spc="-44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35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4950" b="1" i="1" spc="-525" baseline="18518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4950" b="1" i="1" spc="-727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27" baseline="64327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4950" b="1" i="1" spc="-727" baseline="18518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4950" b="1" i="1" spc="-1350" baseline="18518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950" b="1" i="1" spc="-547" baseline="18518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1900" b="1" i="1" spc="-365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4950" b="1" i="1" spc="-1012" baseline="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1900" b="1" spc="-6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18804" y="5706632"/>
          <a:ext cx="9617075" cy="1988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59935"/>
                <a:gridCol w="5057140"/>
              </a:tblGrid>
              <a:tr h="97345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3300" b="1" i="1" spc="-509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765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spc="6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3300" spc="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левый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3229"/>
                        </a:lnSpc>
                        <a:spcBef>
                          <a:spcPts val="1150"/>
                        </a:spcBef>
                      </a:pPr>
                      <a:r>
                        <a:rPr sz="3300" b="1" i="1" spc="-52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sz="3300" b="1" i="1" spc="-124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•</a:t>
                      </a:r>
                      <a:r>
                        <a:rPr sz="3300" b="1" i="1" spc="-46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3300" b="1" i="1" spc="-33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850" b="1" i="1" spc="-494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Т</a:t>
                      </a:r>
                      <a:r>
                        <a:rPr sz="3300" b="1" i="1" spc="-33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49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b="1" i="1" spc="-90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= </a:t>
                      </a:r>
                      <a:r>
                        <a:rPr sz="3300" b="1" i="1" spc="-47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σ </a:t>
                      </a:r>
                      <a:r>
                        <a:rPr sz="2850" b="1" spc="-652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sz="3300" b="1" i="1" spc="-434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65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sz="2850" b="1" i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  <a:p>
                      <a:pPr marR="194945" algn="ctr">
                        <a:lnSpc>
                          <a:spcPts val="1550"/>
                        </a:lnSpc>
                      </a:pPr>
                      <a:r>
                        <a:rPr sz="1900" b="1" i="1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endParaRPr sz="1900">
                        <a:latin typeface="Verdana"/>
                        <a:cs typeface="Verdana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</a:tr>
              <a:tr h="101536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3300" b="1" i="1" spc="-67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2850" b="1" spc="-101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2850" b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spc="6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3300" spc="3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8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правый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7716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3229"/>
                        </a:lnSpc>
                        <a:spcBef>
                          <a:spcPts val="1395"/>
                        </a:spcBef>
                      </a:pPr>
                      <a:r>
                        <a:rPr sz="3300" b="1" i="1" spc="-26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850" b="1" i="1" spc="-390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Т </a:t>
                      </a:r>
                      <a:r>
                        <a:rPr sz="3300" b="1" i="1" spc="-65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AW</a:t>
                      </a:r>
                      <a:r>
                        <a:rPr sz="2850" b="1" spc="-98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2850" b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b="1" i="1" spc="-90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= </a:t>
                      </a:r>
                      <a:r>
                        <a:rPr sz="3300" b="1" i="1" spc="-47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σ </a:t>
                      </a:r>
                      <a:r>
                        <a:rPr sz="2850" b="1" spc="-817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sz="3300" b="1" i="1" spc="-54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2850" b="1" spc="-817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sz="2850" b="1" i="1" spc="-49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  <a:p>
                      <a:pPr marR="618490" algn="ctr">
                        <a:lnSpc>
                          <a:spcPts val="1550"/>
                        </a:lnSpc>
                      </a:pPr>
                      <a:r>
                        <a:rPr sz="1900" b="1" i="1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endParaRPr sz="1900">
                        <a:latin typeface="Verdana"/>
                        <a:cs typeface="Verdana"/>
                      </a:endParaRPr>
                    </a:p>
                  </a:txBody>
                  <a:tcPr marL="0" marR="0" marT="17716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406104" y="3453163"/>
            <a:ext cx="7262495" cy="178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450" dirty="0">
                <a:solidFill>
                  <a:srgbClr val="1E1E1E"/>
                </a:solidFill>
                <a:latin typeface="Verdana"/>
                <a:cs typeface="Verdana"/>
              </a:rPr>
              <a:t>0,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450" dirty="0">
                <a:solidFill>
                  <a:srgbClr val="1E1E1E"/>
                </a:solidFill>
                <a:latin typeface="Verdana"/>
                <a:cs typeface="Verdana"/>
              </a:rPr>
              <a:t>0, </a:t>
            </a:r>
            <a:r>
              <a:rPr sz="3300" b="1" spc="-345" dirty="0">
                <a:solidFill>
                  <a:srgbClr val="1E1E1E"/>
                </a:solidFill>
                <a:latin typeface="Verdana"/>
                <a:cs typeface="Verdana"/>
              </a:rPr>
              <a:t>. . . ,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0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b="1" spc="-440" dirty="0">
                <a:solidFill>
                  <a:srgbClr val="1E1E1E"/>
                </a:solidFill>
                <a:latin typeface="Verdana"/>
                <a:cs typeface="Verdana"/>
              </a:rPr>
              <a:t>r:</a:t>
            </a:r>
            <a:r>
              <a:rPr sz="3300" b="1" spc="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rank(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векторы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2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444434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</a:t>
            </a:r>
            <a:r>
              <a:rPr spc="-204" dirty="0"/>
              <a:t>приближение</a:t>
            </a:r>
            <a:r>
              <a:rPr spc="2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16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47040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Пусть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200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0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0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7428" y="4207066"/>
            <a:ext cx="19157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0510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2501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1411" y="4521193"/>
            <a:ext cx="125730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8935" algn="l"/>
                <a:tab pos="995044" algn="l"/>
              </a:tabLst>
            </a:pP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55" dirty="0">
                <a:solidFill>
                  <a:srgbClr val="1E1E1E"/>
                </a:solidFill>
                <a:latin typeface="Verdana"/>
                <a:cs typeface="Verdana"/>
              </a:rPr>
              <a:t>[1]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29580" y="4207066"/>
            <a:ext cx="16046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2936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2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83301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06044" y="4521193"/>
            <a:ext cx="1304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9730" algn="l"/>
                <a:tab pos="1021715" algn="l"/>
              </a:tabLst>
            </a:pP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2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5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66602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66546" y="4521193"/>
            <a:ext cx="118935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47980" algn="l"/>
                <a:tab pos="944244" algn="l"/>
              </a:tabLst>
            </a:pP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45856" y="4207066"/>
            <a:ext cx="27901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6439" algn="l"/>
                <a:tab pos="2680335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444434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</a:t>
            </a:r>
            <a:r>
              <a:rPr spc="-204" dirty="0"/>
              <a:t>приближение</a:t>
            </a:r>
            <a:r>
              <a:rPr spc="2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17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47040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Пусть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200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0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0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7428" y="4207066"/>
            <a:ext cx="384682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0510" algn="l"/>
                <a:tab pos="2254250" algn="l"/>
                <a:tab pos="3471545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2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2501" y="4242248"/>
            <a:ext cx="208533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43100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66602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1411" y="4521193"/>
            <a:ext cx="58540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8935" algn="l"/>
                <a:tab pos="995044" algn="l"/>
                <a:tab pos="1917064" algn="l"/>
                <a:tab pos="2284730" algn="l"/>
                <a:tab pos="2926080" algn="l"/>
                <a:tab pos="4677410" algn="l"/>
                <a:tab pos="5013325" algn="l"/>
                <a:tab pos="5609590" algn="l"/>
              </a:tabLst>
            </a:pP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45856" y="4207066"/>
            <a:ext cx="27901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6439" algn="l"/>
                <a:tab pos="2680335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6104" y="5212271"/>
            <a:ext cx="40335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6910" algn="l"/>
                <a:tab pos="3888740" algn="l"/>
              </a:tabLst>
            </a:pPr>
            <a:r>
              <a:rPr sz="3300" spc="-19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r>
              <a:rPr sz="3300" spc="-204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-240" dirty="0">
                <a:solidFill>
                  <a:srgbClr val="1E1E1E"/>
                </a:solidFill>
                <a:latin typeface="Arial"/>
                <a:cs typeface="Arial"/>
              </a:rPr>
              <a:t>ы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39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</a:t>
            </a:r>
            <a:endParaRPr sz="33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47221" y="5247453"/>
            <a:ext cx="5245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1005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8885" y="5526398"/>
            <a:ext cx="16148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2625" algn="l"/>
                <a:tab pos="1149350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1900" b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21985" y="5212271"/>
            <a:ext cx="62464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очень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большие: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|элемент|</a:t>
            </a:r>
            <a:r>
              <a:rPr sz="3300" b="1" spc="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spc="-30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spc="-305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444434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</a:t>
            </a:r>
            <a:r>
              <a:rPr spc="-204" dirty="0"/>
              <a:t>приближение</a:t>
            </a:r>
            <a:r>
              <a:rPr spc="2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47040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Пусть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200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0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0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7428" y="4207066"/>
            <a:ext cx="384682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0510" algn="l"/>
                <a:tab pos="2254250" algn="l"/>
                <a:tab pos="3471545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2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2501" y="4242248"/>
            <a:ext cx="208533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43100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66602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1411" y="4521193"/>
            <a:ext cx="58540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8935" algn="l"/>
                <a:tab pos="995044" algn="l"/>
                <a:tab pos="1917064" algn="l"/>
                <a:tab pos="2284730" algn="l"/>
                <a:tab pos="2926080" algn="l"/>
                <a:tab pos="4677410" algn="l"/>
                <a:tab pos="5013325" algn="l"/>
                <a:tab pos="5609590" algn="l"/>
              </a:tabLst>
            </a:pP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45856" y="4207066"/>
            <a:ext cx="27901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6439" algn="l"/>
                <a:tab pos="2680335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47221" y="5247453"/>
            <a:ext cx="5245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1005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8885" y="5526398"/>
            <a:ext cx="16148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2625" algn="l"/>
                <a:tab pos="1149350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1900" b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6104" y="5212271"/>
            <a:ext cx="108623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6910" algn="l"/>
                <a:tab pos="3888740" algn="l"/>
                <a:tab pos="4628515" algn="l"/>
              </a:tabLst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Все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95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50" dirty="0">
                <a:solidFill>
                  <a:srgbClr val="1E1E1E"/>
                </a:solidFill>
                <a:latin typeface="Verdana"/>
                <a:cs typeface="Verdana"/>
              </a:rPr>
              <a:t>V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	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очень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большие: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|элемент|</a:t>
            </a:r>
            <a:r>
              <a:rPr sz="3300" b="1" spc="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spc="-30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spc="-305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6000" y="5725345"/>
            <a:ext cx="12186285" cy="307594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Основной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«взнос»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сумму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производится 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за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счет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множителей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381000" algn="ctr">
              <a:lnSpc>
                <a:spcPct val="100000"/>
              </a:lnSpc>
              <a:spcBef>
                <a:spcPts val="1889"/>
              </a:spcBef>
            </a:pPr>
            <a:r>
              <a:rPr sz="3300" spc="-114" dirty="0">
                <a:solidFill>
                  <a:srgbClr val="CB3757"/>
                </a:solidFill>
                <a:latin typeface="Arial"/>
                <a:cs typeface="Arial"/>
              </a:rPr>
              <a:t>большие</a:t>
            </a:r>
            <a:endParaRPr sz="3300">
              <a:latin typeface="Arial"/>
              <a:cs typeface="Arial"/>
            </a:endParaRPr>
          </a:p>
          <a:p>
            <a:pPr marL="5373370">
              <a:lnSpc>
                <a:spcPct val="100000"/>
              </a:lnSpc>
              <a:spcBef>
                <a:spcPts val="1925"/>
              </a:spcBef>
            </a:pP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50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2850" b="1" i="1" spc="-509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2850" b="1" i="1" spc="-390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2850" b="1" i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17" baseline="-32163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2850" baseline="-32163">
              <a:latin typeface="Verdana"/>
              <a:cs typeface="Verdana"/>
            </a:endParaRPr>
          </a:p>
          <a:p>
            <a:pPr marL="7561580">
              <a:lnSpc>
                <a:spcPct val="100000"/>
              </a:lnSpc>
              <a:spcBef>
                <a:spcPts val="2470"/>
              </a:spcBef>
            </a:pPr>
            <a:r>
              <a:rPr sz="3300" spc="-145" dirty="0">
                <a:solidFill>
                  <a:srgbClr val="627AEB"/>
                </a:solidFill>
                <a:latin typeface="Arial"/>
                <a:cs typeface="Arial"/>
              </a:rPr>
              <a:t>малые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17072" y="7270312"/>
            <a:ext cx="1726564" cy="347345"/>
          </a:xfrm>
          <a:custGeom>
            <a:avLst/>
            <a:gdLst/>
            <a:ahLst/>
            <a:cxnLst/>
            <a:rect l="l" t="t" r="r" b="b"/>
            <a:pathLst>
              <a:path w="1726565" h="347345">
                <a:moveTo>
                  <a:pt x="887480" y="0"/>
                </a:moveTo>
                <a:lnTo>
                  <a:pt x="840874" y="0"/>
                </a:lnTo>
                <a:lnTo>
                  <a:pt x="837339" y="36191"/>
                </a:lnTo>
                <a:lnTo>
                  <a:pt x="830235" y="66704"/>
                </a:lnTo>
                <a:lnTo>
                  <a:pt x="805326" y="110698"/>
                </a:lnTo>
                <a:lnTo>
                  <a:pt x="764683" y="135167"/>
                </a:lnTo>
                <a:lnTo>
                  <a:pt x="706858" y="143325"/>
                </a:lnTo>
                <a:lnTo>
                  <a:pt x="193439" y="143325"/>
                </a:lnTo>
                <a:lnTo>
                  <a:pt x="146685" y="146058"/>
                </a:lnTo>
                <a:lnTo>
                  <a:pt x="106628" y="154254"/>
                </a:lnTo>
                <a:lnTo>
                  <a:pt x="46605" y="187030"/>
                </a:lnTo>
                <a:lnTo>
                  <a:pt x="11656" y="243105"/>
                </a:lnTo>
                <a:lnTo>
                  <a:pt x="2914" y="280429"/>
                </a:lnTo>
                <a:lnTo>
                  <a:pt x="0" y="323948"/>
                </a:lnTo>
                <a:lnTo>
                  <a:pt x="0" y="347256"/>
                </a:lnTo>
                <a:lnTo>
                  <a:pt x="43108" y="347256"/>
                </a:lnTo>
                <a:lnTo>
                  <a:pt x="43108" y="321623"/>
                </a:lnTo>
                <a:lnTo>
                  <a:pt x="45330" y="289974"/>
                </a:lnTo>
                <a:lnTo>
                  <a:pt x="63106" y="239576"/>
                </a:lnTo>
                <a:lnTo>
                  <a:pt x="99017" y="206292"/>
                </a:lnTo>
                <a:lnTo>
                  <a:pt x="155235" y="189683"/>
                </a:lnTo>
                <a:lnTo>
                  <a:pt x="191104" y="187606"/>
                </a:lnTo>
                <a:lnTo>
                  <a:pt x="709193" y="187606"/>
                </a:lnTo>
                <a:lnTo>
                  <a:pt x="742036" y="186077"/>
                </a:lnTo>
                <a:lnTo>
                  <a:pt x="795057" y="173842"/>
                </a:lnTo>
                <a:lnTo>
                  <a:pt x="831758" y="148788"/>
                </a:lnTo>
                <a:lnTo>
                  <a:pt x="855648" y="107422"/>
                </a:lnTo>
                <a:lnTo>
                  <a:pt x="863010" y="80405"/>
                </a:lnTo>
                <a:lnTo>
                  <a:pt x="903996" y="80405"/>
                </a:lnTo>
                <a:lnTo>
                  <a:pt x="898111" y="66704"/>
                </a:lnTo>
                <a:lnTo>
                  <a:pt x="891013" y="36191"/>
                </a:lnTo>
                <a:lnTo>
                  <a:pt x="887480" y="0"/>
                </a:lnTo>
                <a:close/>
              </a:path>
              <a:path w="1726565" h="347345">
                <a:moveTo>
                  <a:pt x="903996" y="80405"/>
                </a:moveTo>
                <a:lnTo>
                  <a:pt x="865345" y="80405"/>
                </a:lnTo>
                <a:lnTo>
                  <a:pt x="872691" y="107422"/>
                </a:lnTo>
                <a:lnTo>
                  <a:pt x="896579" y="148788"/>
                </a:lnTo>
                <a:lnTo>
                  <a:pt x="933283" y="173842"/>
                </a:lnTo>
                <a:lnTo>
                  <a:pt x="986311" y="186077"/>
                </a:lnTo>
                <a:lnTo>
                  <a:pt x="1019162" y="187606"/>
                </a:lnTo>
                <a:lnTo>
                  <a:pt x="1534885" y="187606"/>
                </a:lnTo>
                <a:lnTo>
                  <a:pt x="1570748" y="189683"/>
                </a:lnTo>
                <a:lnTo>
                  <a:pt x="1626970" y="206292"/>
                </a:lnTo>
                <a:lnTo>
                  <a:pt x="1662877" y="239576"/>
                </a:lnTo>
                <a:lnTo>
                  <a:pt x="1680648" y="289974"/>
                </a:lnTo>
                <a:lnTo>
                  <a:pt x="1682870" y="321623"/>
                </a:lnTo>
                <a:lnTo>
                  <a:pt x="1682870" y="347256"/>
                </a:lnTo>
                <a:lnTo>
                  <a:pt x="1725989" y="347256"/>
                </a:lnTo>
                <a:lnTo>
                  <a:pt x="1725989" y="323948"/>
                </a:lnTo>
                <a:lnTo>
                  <a:pt x="1723074" y="280429"/>
                </a:lnTo>
                <a:lnTo>
                  <a:pt x="1714331" y="243105"/>
                </a:lnTo>
                <a:lnTo>
                  <a:pt x="1679372" y="187030"/>
                </a:lnTo>
                <a:lnTo>
                  <a:pt x="1619359" y="154254"/>
                </a:lnTo>
                <a:lnTo>
                  <a:pt x="1579304" y="146058"/>
                </a:lnTo>
                <a:lnTo>
                  <a:pt x="1532550" y="143325"/>
                </a:lnTo>
                <a:lnTo>
                  <a:pt x="1021487" y="143325"/>
                </a:lnTo>
                <a:lnTo>
                  <a:pt x="990424" y="141285"/>
                </a:lnTo>
                <a:lnTo>
                  <a:pt x="963657" y="135167"/>
                </a:lnTo>
                <a:lnTo>
                  <a:pt x="941189" y="124971"/>
                </a:lnTo>
                <a:lnTo>
                  <a:pt x="923019" y="110698"/>
                </a:lnTo>
                <a:lnTo>
                  <a:pt x="908778" y="91540"/>
                </a:lnTo>
                <a:lnTo>
                  <a:pt x="903996" y="80405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22774" y="8076570"/>
            <a:ext cx="1956435" cy="347345"/>
          </a:xfrm>
          <a:custGeom>
            <a:avLst/>
            <a:gdLst/>
            <a:ahLst/>
            <a:cxnLst/>
            <a:rect l="l" t="t" r="r" b="b"/>
            <a:pathLst>
              <a:path w="1956434" h="347345">
                <a:moveTo>
                  <a:pt x="43119" y="0"/>
                </a:moveTo>
                <a:lnTo>
                  <a:pt x="0" y="0"/>
                </a:lnTo>
                <a:lnTo>
                  <a:pt x="0" y="23308"/>
                </a:lnTo>
                <a:lnTo>
                  <a:pt x="2914" y="66826"/>
                </a:lnTo>
                <a:lnTo>
                  <a:pt x="11658" y="104151"/>
                </a:lnTo>
                <a:lnTo>
                  <a:pt x="46616" y="160225"/>
                </a:lnTo>
                <a:lnTo>
                  <a:pt x="106630" y="193001"/>
                </a:lnTo>
                <a:lnTo>
                  <a:pt x="146685" y="201198"/>
                </a:lnTo>
                <a:lnTo>
                  <a:pt x="193439" y="203930"/>
                </a:lnTo>
                <a:lnTo>
                  <a:pt x="819681" y="203930"/>
                </a:lnTo>
                <a:lnTo>
                  <a:pt x="850744" y="205970"/>
                </a:lnTo>
                <a:lnTo>
                  <a:pt x="899979" y="222285"/>
                </a:lnTo>
                <a:lnTo>
                  <a:pt x="932390" y="255716"/>
                </a:lnTo>
                <a:lnTo>
                  <a:pt x="950155" y="311065"/>
                </a:lnTo>
                <a:lnTo>
                  <a:pt x="953688" y="347256"/>
                </a:lnTo>
                <a:lnTo>
                  <a:pt x="1000294" y="347256"/>
                </a:lnTo>
                <a:lnTo>
                  <a:pt x="1003829" y="311065"/>
                </a:lnTo>
                <a:lnTo>
                  <a:pt x="1010933" y="280551"/>
                </a:lnTo>
                <a:lnTo>
                  <a:pt x="1016820" y="266850"/>
                </a:lnTo>
                <a:lnTo>
                  <a:pt x="975823" y="266850"/>
                </a:lnTo>
                <a:lnTo>
                  <a:pt x="958065" y="217039"/>
                </a:lnTo>
                <a:lnTo>
                  <a:pt x="928055" y="184120"/>
                </a:lnTo>
                <a:lnTo>
                  <a:pt x="883484" y="165767"/>
                </a:lnTo>
                <a:lnTo>
                  <a:pt x="822006" y="159649"/>
                </a:lnTo>
                <a:lnTo>
                  <a:pt x="191104" y="159649"/>
                </a:lnTo>
                <a:lnTo>
                  <a:pt x="155240" y="157572"/>
                </a:lnTo>
                <a:lnTo>
                  <a:pt x="99018" y="140963"/>
                </a:lnTo>
                <a:lnTo>
                  <a:pt x="63112" y="107680"/>
                </a:lnTo>
                <a:lnTo>
                  <a:pt x="45341" y="57281"/>
                </a:lnTo>
                <a:lnTo>
                  <a:pt x="43119" y="25632"/>
                </a:lnTo>
                <a:lnTo>
                  <a:pt x="43119" y="0"/>
                </a:lnTo>
                <a:close/>
              </a:path>
              <a:path w="1956434" h="347345">
                <a:moveTo>
                  <a:pt x="1956348" y="0"/>
                </a:moveTo>
                <a:lnTo>
                  <a:pt x="1913240" y="0"/>
                </a:lnTo>
                <a:lnTo>
                  <a:pt x="1913240" y="25632"/>
                </a:lnTo>
                <a:lnTo>
                  <a:pt x="1911017" y="57281"/>
                </a:lnTo>
                <a:lnTo>
                  <a:pt x="1893242" y="107680"/>
                </a:lnTo>
                <a:lnTo>
                  <a:pt x="1857331" y="140963"/>
                </a:lnTo>
                <a:lnTo>
                  <a:pt x="1801112" y="157572"/>
                </a:lnTo>
                <a:lnTo>
                  <a:pt x="1765244" y="159649"/>
                </a:lnTo>
                <a:lnTo>
                  <a:pt x="1131976" y="159649"/>
                </a:lnTo>
                <a:lnTo>
                  <a:pt x="1099132" y="161178"/>
                </a:lnTo>
                <a:lnTo>
                  <a:pt x="1046111" y="173414"/>
                </a:lnTo>
                <a:lnTo>
                  <a:pt x="1009410" y="198467"/>
                </a:lnTo>
                <a:lnTo>
                  <a:pt x="985521" y="239833"/>
                </a:lnTo>
                <a:lnTo>
                  <a:pt x="978158" y="266850"/>
                </a:lnTo>
                <a:lnTo>
                  <a:pt x="1016820" y="266850"/>
                </a:lnTo>
                <a:lnTo>
                  <a:pt x="1021605" y="255716"/>
                </a:lnTo>
                <a:lnTo>
                  <a:pt x="1035842" y="236558"/>
                </a:lnTo>
                <a:lnTo>
                  <a:pt x="1054017" y="222285"/>
                </a:lnTo>
                <a:lnTo>
                  <a:pt x="1076485" y="212089"/>
                </a:lnTo>
                <a:lnTo>
                  <a:pt x="1103249" y="205970"/>
                </a:lnTo>
                <a:lnTo>
                  <a:pt x="1134311" y="203930"/>
                </a:lnTo>
                <a:lnTo>
                  <a:pt x="1762909" y="203930"/>
                </a:lnTo>
                <a:lnTo>
                  <a:pt x="1809663" y="201198"/>
                </a:lnTo>
                <a:lnTo>
                  <a:pt x="1849719" y="193001"/>
                </a:lnTo>
                <a:lnTo>
                  <a:pt x="1909742" y="160225"/>
                </a:lnTo>
                <a:lnTo>
                  <a:pt x="1944692" y="104151"/>
                </a:lnTo>
                <a:lnTo>
                  <a:pt x="1953433" y="66826"/>
                </a:lnTo>
                <a:lnTo>
                  <a:pt x="1956348" y="23308"/>
                </a:lnTo>
                <a:lnTo>
                  <a:pt x="195634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18</a:t>
            </a:fld>
            <a:endParaRPr spc="-3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444434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</a:t>
            </a:r>
            <a:r>
              <a:rPr spc="-204" dirty="0"/>
              <a:t>приближение</a:t>
            </a:r>
            <a:r>
              <a:rPr spc="2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93932" y="8981790"/>
            <a:ext cx="289496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480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83733" y="9016972"/>
            <a:ext cx="27432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209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</a:pP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1]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28933" y="8981790"/>
            <a:ext cx="25304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551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1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1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71119" y="9016972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30468" y="9295917"/>
            <a:ext cx="126873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7985" algn="l"/>
                <a:tab pos="984885" algn="l"/>
              </a:tabLst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17072" y="7270312"/>
            <a:ext cx="1726564" cy="347345"/>
          </a:xfrm>
          <a:custGeom>
            <a:avLst/>
            <a:gdLst/>
            <a:ahLst/>
            <a:cxnLst/>
            <a:rect l="l" t="t" r="r" b="b"/>
            <a:pathLst>
              <a:path w="1726565" h="347345">
                <a:moveTo>
                  <a:pt x="887480" y="0"/>
                </a:moveTo>
                <a:lnTo>
                  <a:pt x="840874" y="0"/>
                </a:lnTo>
                <a:lnTo>
                  <a:pt x="837339" y="36191"/>
                </a:lnTo>
                <a:lnTo>
                  <a:pt x="830235" y="66704"/>
                </a:lnTo>
                <a:lnTo>
                  <a:pt x="805326" y="110698"/>
                </a:lnTo>
                <a:lnTo>
                  <a:pt x="764683" y="135167"/>
                </a:lnTo>
                <a:lnTo>
                  <a:pt x="706858" y="143325"/>
                </a:lnTo>
                <a:lnTo>
                  <a:pt x="193439" y="143325"/>
                </a:lnTo>
                <a:lnTo>
                  <a:pt x="146685" y="146058"/>
                </a:lnTo>
                <a:lnTo>
                  <a:pt x="106628" y="154254"/>
                </a:lnTo>
                <a:lnTo>
                  <a:pt x="46605" y="187030"/>
                </a:lnTo>
                <a:lnTo>
                  <a:pt x="11656" y="243105"/>
                </a:lnTo>
                <a:lnTo>
                  <a:pt x="2914" y="280429"/>
                </a:lnTo>
                <a:lnTo>
                  <a:pt x="0" y="323948"/>
                </a:lnTo>
                <a:lnTo>
                  <a:pt x="0" y="347256"/>
                </a:lnTo>
                <a:lnTo>
                  <a:pt x="43108" y="347256"/>
                </a:lnTo>
                <a:lnTo>
                  <a:pt x="43108" y="321623"/>
                </a:lnTo>
                <a:lnTo>
                  <a:pt x="45330" y="289974"/>
                </a:lnTo>
                <a:lnTo>
                  <a:pt x="63106" y="239576"/>
                </a:lnTo>
                <a:lnTo>
                  <a:pt x="99017" y="206292"/>
                </a:lnTo>
                <a:lnTo>
                  <a:pt x="155235" y="189683"/>
                </a:lnTo>
                <a:lnTo>
                  <a:pt x="191104" y="187606"/>
                </a:lnTo>
                <a:lnTo>
                  <a:pt x="709193" y="187606"/>
                </a:lnTo>
                <a:lnTo>
                  <a:pt x="742036" y="186077"/>
                </a:lnTo>
                <a:lnTo>
                  <a:pt x="795057" y="173842"/>
                </a:lnTo>
                <a:lnTo>
                  <a:pt x="831758" y="148788"/>
                </a:lnTo>
                <a:lnTo>
                  <a:pt x="855648" y="107422"/>
                </a:lnTo>
                <a:lnTo>
                  <a:pt x="863010" y="80405"/>
                </a:lnTo>
                <a:lnTo>
                  <a:pt x="903996" y="80405"/>
                </a:lnTo>
                <a:lnTo>
                  <a:pt x="898111" y="66704"/>
                </a:lnTo>
                <a:lnTo>
                  <a:pt x="891013" y="36191"/>
                </a:lnTo>
                <a:lnTo>
                  <a:pt x="887480" y="0"/>
                </a:lnTo>
                <a:close/>
              </a:path>
              <a:path w="1726565" h="347345">
                <a:moveTo>
                  <a:pt x="903996" y="80405"/>
                </a:moveTo>
                <a:lnTo>
                  <a:pt x="865345" y="80405"/>
                </a:lnTo>
                <a:lnTo>
                  <a:pt x="872691" y="107422"/>
                </a:lnTo>
                <a:lnTo>
                  <a:pt x="896579" y="148788"/>
                </a:lnTo>
                <a:lnTo>
                  <a:pt x="933283" y="173842"/>
                </a:lnTo>
                <a:lnTo>
                  <a:pt x="986311" y="186077"/>
                </a:lnTo>
                <a:lnTo>
                  <a:pt x="1019162" y="187606"/>
                </a:lnTo>
                <a:lnTo>
                  <a:pt x="1534885" y="187606"/>
                </a:lnTo>
                <a:lnTo>
                  <a:pt x="1570748" y="189683"/>
                </a:lnTo>
                <a:lnTo>
                  <a:pt x="1626970" y="206292"/>
                </a:lnTo>
                <a:lnTo>
                  <a:pt x="1662877" y="239576"/>
                </a:lnTo>
                <a:lnTo>
                  <a:pt x="1680648" y="289974"/>
                </a:lnTo>
                <a:lnTo>
                  <a:pt x="1682870" y="321623"/>
                </a:lnTo>
                <a:lnTo>
                  <a:pt x="1682870" y="347256"/>
                </a:lnTo>
                <a:lnTo>
                  <a:pt x="1725989" y="347256"/>
                </a:lnTo>
                <a:lnTo>
                  <a:pt x="1725989" y="323948"/>
                </a:lnTo>
                <a:lnTo>
                  <a:pt x="1723074" y="280429"/>
                </a:lnTo>
                <a:lnTo>
                  <a:pt x="1714331" y="243105"/>
                </a:lnTo>
                <a:lnTo>
                  <a:pt x="1679372" y="187030"/>
                </a:lnTo>
                <a:lnTo>
                  <a:pt x="1619359" y="154254"/>
                </a:lnTo>
                <a:lnTo>
                  <a:pt x="1579304" y="146058"/>
                </a:lnTo>
                <a:lnTo>
                  <a:pt x="1532550" y="143325"/>
                </a:lnTo>
                <a:lnTo>
                  <a:pt x="1021487" y="143325"/>
                </a:lnTo>
                <a:lnTo>
                  <a:pt x="990424" y="141285"/>
                </a:lnTo>
                <a:lnTo>
                  <a:pt x="963657" y="135167"/>
                </a:lnTo>
                <a:lnTo>
                  <a:pt x="941189" y="124971"/>
                </a:lnTo>
                <a:lnTo>
                  <a:pt x="923019" y="110698"/>
                </a:lnTo>
                <a:lnTo>
                  <a:pt x="908778" y="91540"/>
                </a:lnTo>
                <a:lnTo>
                  <a:pt x="903996" y="80405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22774" y="8076570"/>
            <a:ext cx="1956435" cy="347345"/>
          </a:xfrm>
          <a:custGeom>
            <a:avLst/>
            <a:gdLst/>
            <a:ahLst/>
            <a:cxnLst/>
            <a:rect l="l" t="t" r="r" b="b"/>
            <a:pathLst>
              <a:path w="1956434" h="347345">
                <a:moveTo>
                  <a:pt x="43119" y="0"/>
                </a:moveTo>
                <a:lnTo>
                  <a:pt x="0" y="0"/>
                </a:lnTo>
                <a:lnTo>
                  <a:pt x="0" y="23308"/>
                </a:lnTo>
                <a:lnTo>
                  <a:pt x="2914" y="66826"/>
                </a:lnTo>
                <a:lnTo>
                  <a:pt x="11658" y="104151"/>
                </a:lnTo>
                <a:lnTo>
                  <a:pt x="46616" y="160225"/>
                </a:lnTo>
                <a:lnTo>
                  <a:pt x="106630" y="193001"/>
                </a:lnTo>
                <a:lnTo>
                  <a:pt x="146685" y="201198"/>
                </a:lnTo>
                <a:lnTo>
                  <a:pt x="193439" y="203930"/>
                </a:lnTo>
                <a:lnTo>
                  <a:pt x="819681" y="203930"/>
                </a:lnTo>
                <a:lnTo>
                  <a:pt x="850744" y="205970"/>
                </a:lnTo>
                <a:lnTo>
                  <a:pt x="899979" y="222285"/>
                </a:lnTo>
                <a:lnTo>
                  <a:pt x="932390" y="255716"/>
                </a:lnTo>
                <a:lnTo>
                  <a:pt x="950155" y="311065"/>
                </a:lnTo>
                <a:lnTo>
                  <a:pt x="953688" y="347256"/>
                </a:lnTo>
                <a:lnTo>
                  <a:pt x="1000294" y="347256"/>
                </a:lnTo>
                <a:lnTo>
                  <a:pt x="1003829" y="311065"/>
                </a:lnTo>
                <a:lnTo>
                  <a:pt x="1010933" y="280551"/>
                </a:lnTo>
                <a:lnTo>
                  <a:pt x="1016820" y="266850"/>
                </a:lnTo>
                <a:lnTo>
                  <a:pt x="975823" y="266850"/>
                </a:lnTo>
                <a:lnTo>
                  <a:pt x="958065" y="217039"/>
                </a:lnTo>
                <a:lnTo>
                  <a:pt x="928055" y="184120"/>
                </a:lnTo>
                <a:lnTo>
                  <a:pt x="883484" y="165767"/>
                </a:lnTo>
                <a:lnTo>
                  <a:pt x="822006" y="159649"/>
                </a:lnTo>
                <a:lnTo>
                  <a:pt x="191104" y="159649"/>
                </a:lnTo>
                <a:lnTo>
                  <a:pt x="155240" y="157572"/>
                </a:lnTo>
                <a:lnTo>
                  <a:pt x="99018" y="140963"/>
                </a:lnTo>
                <a:lnTo>
                  <a:pt x="63112" y="107680"/>
                </a:lnTo>
                <a:lnTo>
                  <a:pt x="45341" y="57281"/>
                </a:lnTo>
                <a:lnTo>
                  <a:pt x="43119" y="25632"/>
                </a:lnTo>
                <a:lnTo>
                  <a:pt x="43119" y="0"/>
                </a:lnTo>
                <a:close/>
              </a:path>
              <a:path w="1956434" h="347345">
                <a:moveTo>
                  <a:pt x="1956348" y="0"/>
                </a:moveTo>
                <a:lnTo>
                  <a:pt x="1913240" y="0"/>
                </a:lnTo>
                <a:lnTo>
                  <a:pt x="1913240" y="25632"/>
                </a:lnTo>
                <a:lnTo>
                  <a:pt x="1911017" y="57281"/>
                </a:lnTo>
                <a:lnTo>
                  <a:pt x="1893242" y="107680"/>
                </a:lnTo>
                <a:lnTo>
                  <a:pt x="1857331" y="140963"/>
                </a:lnTo>
                <a:lnTo>
                  <a:pt x="1801112" y="157572"/>
                </a:lnTo>
                <a:lnTo>
                  <a:pt x="1765244" y="159649"/>
                </a:lnTo>
                <a:lnTo>
                  <a:pt x="1131976" y="159649"/>
                </a:lnTo>
                <a:lnTo>
                  <a:pt x="1099132" y="161178"/>
                </a:lnTo>
                <a:lnTo>
                  <a:pt x="1046111" y="173414"/>
                </a:lnTo>
                <a:lnTo>
                  <a:pt x="1009410" y="198467"/>
                </a:lnTo>
                <a:lnTo>
                  <a:pt x="985521" y="239833"/>
                </a:lnTo>
                <a:lnTo>
                  <a:pt x="978158" y="266850"/>
                </a:lnTo>
                <a:lnTo>
                  <a:pt x="1016820" y="266850"/>
                </a:lnTo>
                <a:lnTo>
                  <a:pt x="1021605" y="255716"/>
                </a:lnTo>
                <a:lnTo>
                  <a:pt x="1035842" y="236558"/>
                </a:lnTo>
                <a:lnTo>
                  <a:pt x="1054017" y="222285"/>
                </a:lnTo>
                <a:lnTo>
                  <a:pt x="1076485" y="212089"/>
                </a:lnTo>
                <a:lnTo>
                  <a:pt x="1103249" y="205970"/>
                </a:lnTo>
                <a:lnTo>
                  <a:pt x="1134311" y="203930"/>
                </a:lnTo>
                <a:lnTo>
                  <a:pt x="1762909" y="203930"/>
                </a:lnTo>
                <a:lnTo>
                  <a:pt x="1809663" y="201198"/>
                </a:lnTo>
                <a:lnTo>
                  <a:pt x="1849719" y="193001"/>
                </a:lnTo>
                <a:lnTo>
                  <a:pt x="1909742" y="160225"/>
                </a:lnTo>
                <a:lnTo>
                  <a:pt x="1944692" y="104151"/>
                </a:lnTo>
                <a:lnTo>
                  <a:pt x="1953433" y="66826"/>
                </a:lnTo>
                <a:lnTo>
                  <a:pt x="1956348" y="23308"/>
                </a:lnTo>
                <a:lnTo>
                  <a:pt x="195634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06104" y="3453163"/>
            <a:ext cx="47040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Пусть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200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0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0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19</a:t>
            </a:fld>
            <a:endParaRPr spc="-370" dirty="0"/>
          </a:p>
        </p:txBody>
      </p:sp>
      <p:sp>
        <p:nvSpPr>
          <p:cNvPr id="15" name="object 15"/>
          <p:cNvSpPr txBox="1"/>
          <p:nvPr/>
        </p:nvSpPr>
        <p:spPr>
          <a:xfrm>
            <a:off x="5387428" y="4207066"/>
            <a:ext cx="384682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0510" algn="l"/>
                <a:tab pos="2254250" algn="l"/>
                <a:tab pos="3471545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2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52501" y="4242248"/>
            <a:ext cx="208533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43100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66602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01411" y="4521193"/>
            <a:ext cx="58540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8935" algn="l"/>
                <a:tab pos="995044" algn="l"/>
                <a:tab pos="1917064" algn="l"/>
                <a:tab pos="2284730" algn="l"/>
                <a:tab pos="2926080" algn="l"/>
                <a:tab pos="4677410" algn="l"/>
                <a:tab pos="5013325" algn="l"/>
                <a:tab pos="5609590" algn="l"/>
              </a:tabLst>
            </a:pP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45856" y="4207066"/>
            <a:ext cx="27901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6439" algn="l"/>
                <a:tab pos="2680335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47221" y="5247453"/>
            <a:ext cx="5245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1005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08885" y="5526398"/>
            <a:ext cx="16148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2625" algn="l"/>
                <a:tab pos="1149350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1900" b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06104" y="5212271"/>
            <a:ext cx="108623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6910" algn="l"/>
                <a:tab pos="3888740" algn="l"/>
                <a:tab pos="4628515" algn="l"/>
              </a:tabLst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Все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95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50" dirty="0">
                <a:solidFill>
                  <a:srgbClr val="1E1E1E"/>
                </a:solidFill>
                <a:latin typeface="Verdana"/>
                <a:cs typeface="Verdana"/>
              </a:rPr>
              <a:t>V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	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очень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большие: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|элемент|</a:t>
            </a:r>
            <a:r>
              <a:rPr sz="3300" b="1" spc="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spc="-30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spc="-305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06000" y="5725345"/>
            <a:ext cx="12186285" cy="307594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Основной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«взнос»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сумму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производится 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за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счет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множителей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381000" algn="ctr">
              <a:lnSpc>
                <a:spcPct val="100000"/>
              </a:lnSpc>
              <a:spcBef>
                <a:spcPts val="1889"/>
              </a:spcBef>
            </a:pPr>
            <a:r>
              <a:rPr sz="3300" spc="-114" dirty="0">
                <a:solidFill>
                  <a:srgbClr val="CB3757"/>
                </a:solidFill>
                <a:latin typeface="Arial"/>
                <a:cs typeface="Arial"/>
              </a:rPr>
              <a:t>большие</a:t>
            </a:r>
            <a:endParaRPr sz="3300">
              <a:latin typeface="Arial"/>
              <a:cs typeface="Arial"/>
            </a:endParaRPr>
          </a:p>
          <a:p>
            <a:pPr marL="5373370">
              <a:lnSpc>
                <a:spcPct val="100000"/>
              </a:lnSpc>
              <a:spcBef>
                <a:spcPts val="1925"/>
              </a:spcBef>
            </a:pP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517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2850" b="1" i="1" spc="-509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2850" b="1" i="1" spc="-390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2850" b="1" i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17" baseline="-32163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2850" baseline="-32163">
              <a:latin typeface="Verdana"/>
              <a:cs typeface="Verdana"/>
            </a:endParaRPr>
          </a:p>
          <a:p>
            <a:pPr marL="7561580">
              <a:lnSpc>
                <a:spcPct val="100000"/>
              </a:lnSpc>
              <a:spcBef>
                <a:spcPts val="2470"/>
              </a:spcBef>
            </a:pPr>
            <a:r>
              <a:rPr sz="3300" spc="-145" dirty="0">
                <a:solidFill>
                  <a:srgbClr val="627AEB"/>
                </a:solidFill>
                <a:latin typeface="Arial"/>
                <a:cs typeface="Arial"/>
              </a:rPr>
              <a:t>малые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 </a:t>
            </a:r>
            <a:r>
              <a:rPr spc="-204" dirty="0"/>
              <a:t>приближение</a:t>
            </a:r>
            <a:r>
              <a:rPr spc="-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4709669"/>
            <a:ext cx="83546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Ошибка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приближения (норма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3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евклидова):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3545" y="6029000"/>
            <a:ext cx="15494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350" y="5610165"/>
            <a:ext cx="261112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00" b="1" spc="-775" dirty="0">
                <a:solidFill>
                  <a:srgbClr val="1E1E1E"/>
                </a:solidFill>
                <a:latin typeface="Verdana"/>
                <a:cs typeface="Verdana"/>
              </a:rPr>
              <a:t>||</a:t>
            </a:r>
            <a:r>
              <a:rPr sz="3300" b="1" i="1" spc="-77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spc="-910" dirty="0">
                <a:solidFill>
                  <a:srgbClr val="1E1E1E"/>
                </a:solidFill>
                <a:latin typeface="Verdana"/>
                <a:cs typeface="Verdana"/>
              </a:rPr>
              <a:t>||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100" b="1" spc="-1130" dirty="0">
                <a:solidFill>
                  <a:srgbClr val="1E1E1E"/>
                </a:solidFill>
                <a:latin typeface="Verdana"/>
                <a:cs typeface="Verdana"/>
              </a:rPr>
              <a:t>√</a:t>
            </a:r>
            <a:r>
              <a:rPr sz="4100" b="1" spc="-11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4747" y="5750056"/>
            <a:ext cx="54102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4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  <a:p>
            <a:pPr marL="13335">
              <a:lnSpc>
                <a:spcPts val="2240"/>
              </a:lnSpc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61493" y="5714874"/>
            <a:ext cx="1637664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2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36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38591" y="6028911"/>
            <a:ext cx="1162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71019" y="5719721"/>
            <a:ext cx="2672715" cy="0"/>
          </a:xfrm>
          <a:custGeom>
            <a:avLst/>
            <a:gdLst/>
            <a:ahLst/>
            <a:cxnLst/>
            <a:rect l="l" t="t" r="r" b="b"/>
            <a:pathLst>
              <a:path w="2672715">
                <a:moveTo>
                  <a:pt x="0" y="0"/>
                </a:moveTo>
                <a:lnTo>
                  <a:pt x="2672169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21750" y="3453163"/>
            <a:ext cx="29025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69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20</a:t>
            </a:fld>
            <a:endParaRPr spc="-370" dirty="0"/>
          </a:p>
        </p:txBody>
      </p:sp>
      <p:sp>
        <p:nvSpPr>
          <p:cNvPr id="15" name="object 15"/>
          <p:cNvSpPr txBox="1"/>
          <p:nvPr/>
        </p:nvSpPr>
        <p:spPr>
          <a:xfrm>
            <a:off x="6319090" y="3488345"/>
            <a:ext cx="27432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209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</a:pP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1]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64290" y="3453163"/>
            <a:ext cx="25304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551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1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1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0645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65836" y="3767289"/>
            <a:ext cx="12680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7985" algn="l"/>
                <a:tab pos="984885" algn="l"/>
              </a:tabLst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 </a:t>
            </a:r>
            <a:r>
              <a:rPr spc="-204" dirty="0"/>
              <a:t>приближение</a:t>
            </a:r>
            <a:r>
              <a:rPr spc="-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4709669"/>
            <a:ext cx="83546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Ошибка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приближения (норма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3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евклидова):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874" y="6971380"/>
            <a:ext cx="964120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Матрица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69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наилучшее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приближение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-25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во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множестве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матриц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ранга</a:t>
            </a:r>
            <a:r>
              <a:rPr sz="3300" spc="3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3545" y="6029000"/>
            <a:ext cx="15494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5120" y="5610165"/>
            <a:ext cx="261112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00" b="1" spc="-775" dirty="0">
                <a:solidFill>
                  <a:srgbClr val="1E1E1E"/>
                </a:solidFill>
                <a:latin typeface="Verdana"/>
                <a:cs typeface="Verdana"/>
              </a:rPr>
              <a:t>||</a:t>
            </a:r>
            <a:r>
              <a:rPr sz="3300" b="1" i="1" spc="-77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spc="-910" dirty="0">
                <a:solidFill>
                  <a:srgbClr val="1E1E1E"/>
                </a:solidFill>
                <a:latin typeface="Verdana"/>
                <a:cs typeface="Verdana"/>
              </a:rPr>
              <a:t>||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100" b="1" spc="-1130" dirty="0">
                <a:solidFill>
                  <a:srgbClr val="1E1E1E"/>
                </a:solidFill>
                <a:latin typeface="Verdana"/>
                <a:cs typeface="Verdana"/>
              </a:rPr>
              <a:t>√</a:t>
            </a:r>
            <a:r>
              <a:rPr sz="4100" b="1" spc="-11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54747" y="5750056"/>
            <a:ext cx="54102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4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  <a:p>
            <a:pPr marL="13335">
              <a:lnSpc>
                <a:spcPts val="2240"/>
              </a:lnSpc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1493" y="5714874"/>
            <a:ext cx="1637664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2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36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38591" y="6028911"/>
            <a:ext cx="1162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71019" y="5719721"/>
            <a:ext cx="2672715" cy="0"/>
          </a:xfrm>
          <a:custGeom>
            <a:avLst/>
            <a:gdLst/>
            <a:ahLst/>
            <a:cxnLst/>
            <a:rect l="l" t="t" r="r" b="b"/>
            <a:pathLst>
              <a:path w="2672715">
                <a:moveTo>
                  <a:pt x="0" y="0"/>
                </a:moveTo>
                <a:lnTo>
                  <a:pt x="2672169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21750" y="3453163"/>
            <a:ext cx="29025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69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21</a:t>
            </a:fld>
            <a:endParaRPr spc="-370" dirty="0"/>
          </a:p>
        </p:txBody>
      </p:sp>
      <p:sp>
        <p:nvSpPr>
          <p:cNvPr id="16" name="object 16"/>
          <p:cNvSpPr txBox="1"/>
          <p:nvPr/>
        </p:nvSpPr>
        <p:spPr>
          <a:xfrm>
            <a:off x="6319090" y="3488345"/>
            <a:ext cx="27432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209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</a:pP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1]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64290" y="3453163"/>
            <a:ext cx="25304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551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1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1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0645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65836" y="3767289"/>
            <a:ext cx="12680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7985" algn="l"/>
                <a:tab pos="984885" algn="l"/>
              </a:tabLst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z="4950" b="1" spc="-270" dirty="0">
                <a:solidFill>
                  <a:srgbClr val="1E1E1E"/>
                </a:solidFill>
                <a:latin typeface="Arial"/>
                <a:cs typeface="Arial"/>
              </a:rPr>
              <a:t>Сингулярное </a:t>
            </a:r>
            <a:r>
              <a:rPr sz="4950" b="1" spc="-215" dirty="0">
                <a:solidFill>
                  <a:srgbClr val="1E1E1E"/>
                </a:solidFill>
                <a:latin typeface="Arial"/>
                <a:cs typeface="Arial"/>
              </a:rPr>
              <a:t>разложение:  </a:t>
            </a:r>
            <a:r>
              <a:rPr sz="4950" b="1" spc="-300" dirty="0">
                <a:solidFill>
                  <a:srgbClr val="1E1E1E"/>
                </a:solidFill>
                <a:latin typeface="Arial"/>
                <a:cs typeface="Arial"/>
              </a:rPr>
              <a:t>основная</a:t>
            </a:r>
            <a:r>
              <a:rPr sz="4950" b="1" spc="-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spc="-285" dirty="0">
                <a:solidFill>
                  <a:srgbClr val="1E1E1E"/>
                </a:solidFill>
                <a:latin typeface="Arial"/>
                <a:cs typeface="Arial"/>
              </a:rPr>
              <a:t>идея</a:t>
            </a:r>
            <a:endParaRPr sz="49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22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704464"/>
            <a:ext cx="900430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заменять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ее 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приближением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малых величин</a:t>
            </a:r>
            <a:r>
              <a:rPr sz="3300" spc="5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 </a:t>
            </a:r>
            <a:r>
              <a:rPr spc="-300" dirty="0"/>
              <a:t>основная</a:t>
            </a:r>
            <a:r>
              <a:rPr spc="-80" dirty="0"/>
              <a:t> </a:t>
            </a:r>
            <a:r>
              <a:rPr spc="-285" dirty="0"/>
              <a:t>идея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23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947" y="3704464"/>
            <a:ext cx="9004300" cy="228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заменять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ее 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приближением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малых величин</a:t>
            </a:r>
            <a:r>
              <a:rPr sz="3300" spc="5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Почему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3300" spc="1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работает?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 </a:t>
            </a:r>
            <a:r>
              <a:rPr spc="-300" dirty="0"/>
              <a:t>основная</a:t>
            </a:r>
            <a:r>
              <a:rPr spc="-80" dirty="0"/>
              <a:t> </a:t>
            </a:r>
            <a:r>
              <a:rPr spc="-285" dirty="0"/>
              <a:t>идея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24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947" y="3704464"/>
            <a:ext cx="9004300" cy="304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заменять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ее 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приближением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малых величин</a:t>
            </a:r>
            <a:r>
              <a:rPr sz="3300" spc="5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Почему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3300" spc="1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работает?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Всегда ли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3300" spc="3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работает?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 </a:t>
            </a:r>
            <a:r>
              <a:rPr spc="-300" dirty="0"/>
              <a:t>основная</a:t>
            </a:r>
            <a:r>
              <a:rPr spc="-80" dirty="0"/>
              <a:t> </a:t>
            </a:r>
            <a:r>
              <a:rPr spc="-285" dirty="0"/>
              <a:t>идея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25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947" y="3704464"/>
            <a:ext cx="9004300" cy="3795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заменять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ее 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приближением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малых величин</a:t>
            </a:r>
            <a:r>
              <a:rPr sz="3300" spc="5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Почему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3300" spc="1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работает?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Всегда ли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3300" spc="3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работает?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Откуда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взялась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19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spc="-220" dirty="0">
                <a:solidFill>
                  <a:srgbClr val="1E1E1E"/>
                </a:solidFill>
                <a:latin typeface="Arial"/>
                <a:cs typeface="Arial"/>
              </a:rPr>
              <a:t>?!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71335" y="1233335"/>
            <a:ext cx="6457315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/>
              <a:t>Диаграмма </a:t>
            </a:r>
            <a:r>
              <a:rPr spc="-204" smtClean="0"/>
              <a:t>рас</a:t>
            </a:r>
            <a:r>
              <a:rPr lang="ru-RU" dirty="0" smtClean="0"/>
              <a:t>сеяния</a:t>
            </a:r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7631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Пример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(Ф. </a:t>
            </a:r>
            <a:r>
              <a:rPr sz="3300" spc="-200" dirty="0">
                <a:solidFill>
                  <a:srgbClr val="1E1E1E"/>
                </a:solidFill>
                <a:latin typeface="Arial"/>
                <a:cs typeface="Arial"/>
              </a:rPr>
              <a:t>Гальтон,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1886): </a:t>
            </a: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2, </a:t>
            </a:r>
            <a:r>
              <a:rPr sz="3300" b="1" i="1" spc="-755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8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5" dirty="0">
                <a:solidFill>
                  <a:srgbClr val="1E1E1E"/>
                </a:solidFill>
                <a:latin typeface="Verdana"/>
                <a:cs typeface="Verdana"/>
              </a:rPr>
              <a:t>898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85" y="5046810"/>
            <a:ext cx="389890" cy="3031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15"/>
              </a:lnSpc>
            </a:pPr>
            <a:r>
              <a:rPr sz="2450" b="1" spc="-175" dirty="0">
                <a:solidFill>
                  <a:srgbClr val="1E1E1E"/>
                </a:solidFill>
                <a:latin typeface="Arial"/>
                <a:cs typeface="Arial"/>
              </a:rPr>
              <a:t>Рост </a:t>
            </a:r>
            <a:r>
              <a:rPr sz="2450" b="1" spc="-155" dirty="0">
                <a:solidFill>
                  <a:srgbClr val="1E1E1E"/>
                </a:solidFill>
                <a:latin typeface="Arial"/>
                <a:cs typeface="Arial"/>
              </a:rPr>
              <a:t>взрослых</a:t>
            </a:r>
            <a:r>
              <a:rPr sz="2450" b="1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450" b="1" spc="-105" dirty="0">
                <a:solidFill>
                  <a:srgbClr val="1E1E1E"/>
                </a:solidFill>
                <a:latin typeface="Arial"/>
                <a:cs typeface="Arial"/>
              </a:rPr>
              <a:t>детей</a:t>
            </a:r>
            <a:endParaRPr sz="2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0778" y="4138617"/>
            <a:ext cx="2383349" cy="4624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77417" y="4259032"/>
            <a:ext cx="0" cy="4513580"/>
          </a:xfrm>
          <a:custGeom>
            <a:avLst/>
            <a:gdLst/>
            <a:ahLst/>
            <a:cxnLst/>
            <a:rect l="l" t="t" r="r" b="b"/>
            <a:pathLst>
              <a:path h="4513580">
                <a:moveTo>
                  <a:pt x="0" y="0"/>
                </a:moveTo>
                <a:lnTo>
                  <a:pt x="0" y="4512951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82328" y="8766748"/>
            <a:ext cx="4216400" cy="0"/>
          </a:xfrm>
          <a:custGeom>
            <a:avLst/>
            <a:gdLst/>
            <a:ahLst/>
            <a:cxnLst/>
            <a:rect l="l" t="t" r="r" b="b"/>
            <a:pathLst>
              <a:path w="4216400">
                <a:moveTo>
                  <a:pt x="4215923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13542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0017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86817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7345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6009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4672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33366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2000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0664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114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9807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8471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71354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5799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44462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3126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17903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045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891430" y="4885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75</a:t>
            </a:r>
            <a:endParaRPr sz="16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91430" y="5878219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70</a:t>
            </a:r>
            <a:endParaRPr sz="1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91430" y="6824788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65</a:t>
            </a:r>
            <a:endParaRPr sz="1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91430" y="7798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60</a:t>
            </a:r>
            <a:endParaRPr sz="16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207231" y="5442766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07231" y="582918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07231" y="6215611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07231" y="6602029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07231" y="698845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207231" y="7374874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07231" y="776130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207231" y="814772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207231" y="8534148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235534" y="564056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235534" y="6026978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235534" y="64133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235534" y="6799824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35534" y="718624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35534" y="7572670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35534" y="7959087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35534" y="834551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35534" y="873193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207231" y="4264812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207231" y="465123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07231" y="503764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35534" y="44625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235534" y="484902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235534" y="523544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2177913" y="8779353"/>
            <a:ext cx="4332605" cy="861694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  <a:tabLst>
                <a:tab pos="400050" algn="l"/>
                <a:tab pos="788035" algn="l"/>
                <a:tab pos="1176020" algn="l"/>
                <a:tab pos="1564005" algn="l"/>
                <a:tab pos="1951355" algn="l"/>
                <a:tab pos="2339340" algn="l"/>
                <a:tab pos="2727325" algn="l"/>
                <a:tab pos="3115310" algn="l"/>
              </a:tabLst>
            </a:pPr>
            <a:r>
              <a:rPr sz="1650" spc="5" dirty="0">
                <a:solidFill>
                  <a:srgbClr val="1E1E1E"/>
                </a:solidFill>
                <a:latin typeface="Arial"/>
                <a:cs typeface="Arial"/>
              </a:rPr>
              <a:t>58	60	62	64	66	68	70	72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74</a:t>
            </a:r>
            <a:endParaRPr sz="165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005"/>
              </a:spcBef>
            </a:pPr>
            <a:r>
              <a:rPr sz="2450" b="1" spc="-130" dirty="0">
                <a:solidFill>
                  <a:srgbClr val="1E1E1E"/>
                </a:solidFill>
                <a:latin typeface="Arial"/>
                <a:cs typeface="Arial"/>
              </a:rPr>
              <a:t>Усредненный </a:t>
            </a:r>
            <a:r>
              <a:rPr sz="2450" b="1" spc="-120" dirty="0">
                <a:solidFill>
                  <a:srgbClr val="1E1E1E"/>
                </a:solidFill>
                <a:latin typeface="Arial"/>
                <a:cs typeface="Arial"/>
              </a:rPr>
              <a:t>рост</a:t>
            </a:r>
            <a:r>
              <a:rPr sz="2450" b="1" spc="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450" b="1" spc="-110" dirty="0">
                <a:solidFill>
                  <a:srgbClr val="1E1E1E"/>
                </a:solidFill>
                <a:latin typeface="Arial"/>
                <a:cs typeface="Arial"/>
              </a:rPr>
              <a:t>родителей</a:t>
            </a:r>
            <a:endParaRPr sz="24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26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71335" y="1233335"/>
            <a:ext cx="6457315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/>
              <a:t>Диаграмма </a:t>
            </a:r>
            <a:r>
              <a:rPr spc="-204" smtClean="0"/>
              <a:t>рас</a:t>
            </a:r>
            <a:r>
              <a:rPr lang="ru-RU" spc="-204" dirty="0" smtClean="0"/>
              <a:t>с</a:t>
            </a:r>
            <a:r>
              <a:rPr spc="-280" smtClean="0"/>
              <a:t>еяния</a:t>
            </a:r>
            <a:endParaRPr spc="-28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7631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Пример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(Ф. </a:t>
            </a:r>
            <a:r>
              <a:rPr sz="3300" spc="-200" dirty="0">
                <a:solidFill>
                  <a:srgbClr val="1E1E1E"/>
                </a:solidFill>
                <a:latin typeface="Arial"/>
                <a:cs typeface="Arial"/>
              </a:rPr>
              <a:t>Гальтон,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1886): </a:t>
            </a: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2, </a:t>
            </a:r>
            <a:r>
              <a:rPr sz="3300" b="1" i="1" spc="-755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8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5" dirty="0">
                <a:solidFill>
                  <a:srgbClr val="1E1E1E"/>
                </a:solidFill>
                <a:latin typeface="Verdana"/>
                <a:cs typeface="Verdana"/>
              </a:rPr>
              <a:t>898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5836" y="8730489"/>
            <a:ext cx="39331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60" dirty="0" err="1">
                <a:solidFill>
                  <a:srgbClr val="1E1E1E"/>
                </a:solidFill>
                <a:latin typeface="Arial"/>
                <a:cs typeface="Arial"/>
              </a:rPr>
              <a:t>Напоминает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80" dirty="0" err="1" smtClean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85" y="5046810"/>
            <a:ext cx="389890" cy="3031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15"/>
              </a:lnSpc>
            </a:pPr>
            <a:r>
              <a:rPr sz="2450" b="1" spc="-175" dirty="0">
                <a:solidFill>
                  <a:srgbClr val="1E1E1E"/>
                </a:solidFill>
                <a:latin typeface="Arial"/>
                <a:cs typeface="Arial"/>
              </a:rPr>
              <a:t>Рост </a:t>
            </a:r>
            <a:r>
              <a:rPr sz="2450" b="1" spc="-155" dirty="0">
                <a:solidFill>
                  <a:srgbClr val="1E1E1E"/>
                </a:solidFill>
                <a:latin typeface="Arial"/>
                <a:cs typeface="Arial"/>
              </a:rPr>
              <a:t>взрослых</a:t>
            </a:r>
            <a:r>
              <a:rPr sz="2450" b="1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450" b="1" spc="-105" dirty="0">
                <a:solidFill>
                  <a:srgbClr val="1E1E1E"/>
                </a:solidFill>
                <a:latin typeface="Arial"/>
                <a:cs typeface="Arial"/>
              </a:rPr>
              <a:t>детей</a:t>
            </a:r>
            <a:endParaRPr sz="24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20778" y="4138617"/>
            <a:ext cx="2383349" cy="4624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77417" y="4259032"/>
            <a:ext cx="0" cy="4513580"/>
          </a:xfrm>
          <a:custGeom>
            <a:avLst/>
            <a:gdLst/>
            <a:ahLst/>
            <a:cxnLst/>
            <a:rect l="l" t="t" r="r" b="b"/>
            <a:pathLst>
              <a:path h="4513580">
                <a:moveTo>
                  <a:pt x="0" y="0"/>
                </a:moveTo>
                <a:lnTo>
                  <a:pt x="0" y="4512951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2328" y="8766748"/>
            <a:ext cx="4211955" cy="0"/>
          </a:xfrm>
          <a:custGeom>
            <a:avLst/>
            <a:gdLst/>
            <a:ahLst/>
            <a:cxnLst/>
            <a:rect l="l" t="t" r="r" b="b"/>
            <a:pathLst>
              <a:path w="4211955">
                <a:moveTo>
                  <a:pt x="4211746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13542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0017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86817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7345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6009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4672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33366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2000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0664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114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9807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8471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71354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5799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4462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3126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217903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045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891430" y="4885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75</a:t>
            </a:r>
            <a:endParaRPr sz="1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91430" y="5878219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70</a:t>
            </a:r>
            <a:endParaRPr sz="1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91430" y="6824788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65</a:t>
            </a:r>
            <a:endParaRPr sz="1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91430" y="7798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60</a:t>
            </a:r>
            <a:endParaRPr sz="16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77913" y="8779353"/>
            <a:ext cx="4332605" cy="861694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  <a:tabLst>
                <a:tab pos="400050" algn="l"/>
                <a:tab pos="788035" algn="l"/>
                <a:tab pos="1176020" algn="l"/>
                <a:tab pos="1564005" algn="l"/>
                <a:tab pos="1951355" algn="l"/>
                <a:tab pos="2339340" algn="l"/>
                <a:tab pos="2727325" algn="l"/>
                <a:tab pos="3115310" algn="l"/>
              </a:tabLst>
            </a:pPr>
            <a:r>
              <a:rPr sz="1650" spc="5" dirty="0">
                <a:solidFill>
                  <a:srgbClr val="1E1E1E"/>
                </a:solidFill>
                <a:latin typeface="Arial"/>
                <a:cs typeface="Arial"/>
              </a:rPr>
              <a:t>58	60	62	64	66	68	70	72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74</a:t>
            </a:r>
            <a:endParaRPr sz="165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005"/>
              </a:spcBef>
            </a:pPr>
            <a:r>
              <a:rPr sz="2450" b="1" spc="-130" dirty="0">
                <a:solidFill>
                  <a:srgbClr val="1E1E1E"/>
                </a:solidFill>
                <a:latin typeface="Arial"/>
                <a:cs typeface="Arial"/>
              </a:rPr>
              <a:t>Усредненный </a:t>
            </a:r>
            <a:r>
              <a:rPr sz="2450" b="1" spc="-120" dirty="0">
                <a:solidFill>
                  <a:srgbClr val="1E1E1E"/>
                </a:solidFill>
                <a:latin typeface="Arial"/>
                <a:cs typeface="Arial"/>
              </a:rPr>
              <a:t>рост</a:t>
            </a:r>
            <a:r>
              <a:rPr sz="2450" b="1" spc="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450" b="1" spc="-110" dirty="0">
                <a:solidFill>
                  <a:srgbClr val="1E1E1E"/>
                </a:solidFill>
                <a:latin typeface="Arial"/>
                <a:cs typeface="Arial"/>
              </a:rPr>
              <a:t>родителей</a:t>
            </a:r>
            <a:endParaRPr sz="24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207231" y="5442766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07231" y="582918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07231" y="6215611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207231" y="6602029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07231" y="698845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207231" y="7374874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207231" y="776130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207231" y="814772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207231" y="8534148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235534" y="564056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235534" y="6026978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35534" y="64133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35534" y="6799824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35534" y="718624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35534" y="7572670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35534" y="7959087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235534" y="834551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235534" y="873193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07231" y="4264812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07231" y="465123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207231" y="503764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235534" y="44625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235534" y="484902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235534" y="523544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27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3446298" y="4235473"/>
            <a:ext cx="2484715" cy="45234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631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</a:t>
            </a:r>
            <a:r>
              <a:rPr spc="-135" dirty="0"/>
              <a:t> </a:t>
            </a:r>
            <a:r>
              <a:rPr spc="-155" dirty="0"/>
              <a:t>матрица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06104" y="3453163"/>
            <a:ext cx="64573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20" dirty="0">
                <a:solidFill>
                  <a:srgbClr val="1E1E1E"/>
                </a:solidFill>
                <a:latin typeface="Arial"/>
                <a:cs typeface="Arial"/>
              </a:rPr>
              <a:t>К.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Пирсон,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1901: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r>
              <a:rPr sz="3300" spc="-2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2224" y="4458368"/>
            <a:ext cx="28168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68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8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i="1" spc="-4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95" dirty="0">
                <a:solidFill>
                  <a:srgbClr val="1E1E1E"/>
                </a:solidFill>
                <a:latin typeface="Verdana"/>
                <a:cs typeface="Verdana"/>
              </a:rPr>
              <a:t>]S</a:t>
            </a:r>
            <a:r>
              <a:rPr sz="2850" b="1" spc="-892" baseline="32163" dirty="0">
                <a:solidFill>
                  <a:srgbClr val="1E1E1E"/>
                </a:solidFill>
                <a:latin typeface="Verdana"/>
                <a:cs typeface="Verdana"/>
              </a:rPr>
              <a:t>−1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97521" y="4458368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4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89821" y="4623963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982806" y="4207066"/>
            <a:ext cx="86360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639466" y="4367908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39466" y="4871254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70416" y="4623963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47629" y="5319391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1323" y="0"/>
                </a:lnTo>
              </a:path>
            </a:pathLst>
          </a:custGeom>
          <a:ln w="520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77738" y="4329426"/>
            <a:ext cx="0" cy="963930"/>
          </a:xfrm>
          <a:custGeom>
            <a:avLst/>
            <a:gdLst/>
            <a:ahLst/>
            <a:cxnLst/>
            <a:rect l="l" t="t" r="r" b="b"/>
            <a:pathLst>
              <a:path h="963929">
                <a:moveTo>
                  <a:pt x="0" y="0"/>
                </a:moveTo>
                <a:lnTo>
                  <a:pt x="0" y="963929"/>
                </a:lnTo>
              </a:path>
            </a:pathLst>
          </a:custGeom>
          <a:ln w="60218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47629" y="4303391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1323" y="0"/>
                </a:lnTo>
              </a:path>
            </a:pathLst>
          </a:custGeom>
          <a:ln w="520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61446" y="5319352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1323" y="0"/>
                </a:lnTo>
              </a:path>
            </a:pathLst>
          </a:custGeom>
          <a:ln w="520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142666" y="4329386"/>
            <a:ext cx="0" cy="963930"/>
          </a:xfrm>
          <a:custGeom>
            <a:avLst/>
            <a:gdLst/>
            <a:ahLst/>
            <a:cxnLst/>
            <a:rect l="l" t="t" r="r" b="b"/>
            <a:pathLst>
              <a:path h="963929">
                <a:moveTo>
                  <a:pt x="0" y="0"/>
                </a:moveTo>
                <a:lnTo>
                  <a:pt x="0" y="963930"/>
                </a:lnTo>
              </a:path>
            </a:pathLst>
          </a:custGeom>
          <a:ln w="60207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961446" y="4303352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1323" y="0"/>
                </a:lnTo>
              </a:path>
            </a:pathLst>
          </a:custGeom>
          <a:ln w="52069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77417" y="4259032"/>
            <a:ext cx="0" cy="4513580"/>
          </a:xfrm>
          <a:custGeom>
            <a:avLst/>
            <a:gdLst/>
            <a:ahLst/>
            <a:cxnLst/>
            <a:rect l="l" t="t" r="r" b="b"/>
            <a:pathLst>
              <a:path h="4513580">
                <a:moveTo>
                  <a:pt x="0" y="0"/>
                </a:moveTo>
                <a:lnTo>
                  <a:pt x="0" y="4512951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2328" y="8766748"/>
            <a:ext cx="4212590" cy="0"/>
          </a:xfrm>
          <a:custGeom>
            <a:avLst/>
            <a:gdLst/>
            <a:ahLst/>
            <a:cxnLst/>
            <a:rect l="l" t="t" r="r" b="b"/>
            <a:pathLst>
              <a:path w="4212590">
                <a:moveTo>
                  <a:pt x="421223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13542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0017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86817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7345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86009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4672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33366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2000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0664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114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89807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28471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71354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05799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4462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3126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17903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045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891430" y="4885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75</a:t>
            </a:r>
            <a:endParaRPr sz="1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91430" y="5878219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70</a:t>
            </a:r>
            <a:endParaRPr sz="1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91430" y="6824788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65</a:t>
            </a:r>
            <a:endParaRPr sz="1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91430" y="7798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60</a:t>
            </a:r>
            <a:endParaRPr sz="1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177913" y="8862422"/>
            <a:ext cx="3351529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0050" algn="l"/>
                <a:tab pos="788035" algn="l"/>
                <a:tab pos="1176020" algn="l"/>
                <a:tab pos="1564005" algn="l"/>
                <a:tab pos="1951355" algn="l"/>
                <a:tab pos="2339340" algn="l"/>
                <a:tab pos="2727325" algn="l"/>
                <a:tab pos="3115310" algn="l"/>
              </a:tabLst>
            </a:pP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8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0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4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8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7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0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7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74</a:t>
            </a:r>
            <a:endParaRPr sz="16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207231" y="5442766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07231" y="582918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07231" y="6215611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07231" y="6602029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07231" y="698845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207231" y="7374874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207231" y="776130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07231" y="814772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07231" y="8534148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235534" y="564056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235534" y="6026978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235534" y="64133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235534" y="6799824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235534" y="718624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235534" y="7572670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235534" y="7959087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235534" y="834551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235534" y="873193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207231" y="4264812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207231" y="465123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207231" y="503764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235534" y="44625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235534" y="484902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235534" y="523544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28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1873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Оптимизационная </a:t>
            </a:r>
            <a:r>
              <a:rPr spc="-120" dirty="0"/>
              <a:t>задача</a:t>
            </a:r>
            <a:r>
              <a:rPr spc="75" dirty="0"/>
              <a:t> </a:t>
            </a:r>
            <a:r>
              <a:rPr spc="-235" dirty="0"/>
              <a:t>Пирсона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8749665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Найти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прямую,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дающую 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min(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430" dirty="0">
                <a:solidFill>
                  <a:srgbClr val="1E1E1E"/>
                </a:solidFill>
                <a:latin typeface="Verdana"/>
                <a:cs typeface="Verdana"/>
              </a:rPr>
              <a:t>…)</a:t>
            </a:r>
            <a:r>
              <a:rPr sz="3300" spc="-4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5809615">
              <a:lnSpc>
                <a:spcPts val="1550"/>
              </a:lnSpc>
              <a:tabLst>
                <a:tab pos="6646545" algn="l"/>
                <a:tab pos="7482205" algn="l"/>
              </a:tabLst>
            </a:pP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	2	3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05707" y="4629680"/>
            <a:ext cx="0" cy="3423920"/>
          </a:xfrm>
          <a:custGeom>
            <a:avLst/>
            <a:gdLst/>
            <a:ahLst/>
            <a:cxnLst/>
            <a:rect l="l" t="t" r="r" b="b"/>
            <a:pathLst>
              <a:path h="3423920">
                <a:moveTo>
                  <a:pt x="0" y="0"/>
                </a:moveTo>
                <a:lnTo>
                  <a:pt x="0" y="3423487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07246" y="8047922"/>
            <a:ext cx="5269230" cy="0"/>
          </a:xfrm>
          <a:custGeom>
            <a:avLst/>
            <a:gdLst/>
            <a:ahLst/>
            <a:cxnLst/>
            <a:rect l="l" t="t" r="r" b="b"/>
            <a:pathLst>
              <a:path w="5269230">
                <a:moveTo>
                  <a:pt x="5268740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45370" y="5569538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4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5370" y="4984425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5370" y="6149416"/>
            <a:ext cx="151130" cy="144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3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1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5370" y="8097000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0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27964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1</a:t>
            </a:r>
            <a:endParaRPr sz="1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0355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92746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3</a:t>
            </a:r>
            <a:endParaRPr sz="1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5136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4</a:t>
            </a:r>
            <a:endParaRPr sz="16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7527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39918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endParaRPr sz="1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22308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7</a:t>
            </a:r>
            <a:endParaRPr sz="1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04699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8</a:t>
            </a:r>
            <a:endParaRPr sz="1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87089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9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32882" y="6299661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32882" y="6882418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32882" y="7465176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32882" y="8047922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61185" y="659104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61185" y="717379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61185" y="7756549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32882" y="513415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32882" y="5716914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61185" y="4842784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61185" y="542554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61185" y="6008288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5919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04445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2972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21499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75182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3709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2236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28865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87392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9601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58128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6655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97080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80026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8553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50763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09290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67817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064125" y="4982099"/>
            <a:ext cx="154940" cy="284480"/>
          </a:xfrm>
          <a:custGeom>
            <a:avLst/>
            <a:gdLst/>
            <a:ahLst/>
            <a:cxnLst/>
            <a:rect l="l" t="t" r="r" b="b"/>
            <a:pathLst>
              <a:path w="154939" h="284479">
                <a:moveTo>
                  <a:pt x="154403" y="0"/>
                </a:moveTo>
                <a:lnTo>
                  <a:pt x="0" y="284347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769790" y="5321503"/>
            <a:ext cx="74295" cy="133350"/>
          </a:xfrm>
          <a:custGeom>
            <a:avLst/>
            <a:gdLst/>
            <a:ahLst/>
            <a:cxnLst/>
            <a:rect l="l" t="t" r="r" b="b"/>
            <a:pathLst>
              <a:path w="74294" h="133350">
                <a:moveTo>
                  <a:pt x="74060" y="0"/>
                </a:moveTo>
                <a:lnTo>
                  <a:pt x="0" y="133262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226006" y="5089918"/>
            <a:ext cx="212090" cy="375285"/>
          </a:xfrm>
          <a:custGeom>
            <a:avLst/>
            <a:gdLst/>
            <a:ahLst/>
            <a:cxnLst/>
            <a:rect l="l" t="t" r="r" b="b"/>
            <a:pathLst>
              <a:path w="212089" h="375285">
                <a:moveTo>
                  <a:pt x="211585" y="0"/>
                </a:moveTo>
                <a:lnTo>
                  <a:pt x="0" y="374993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637575" y="5809048"/>
            <a:ext cx="97790" cy="172085"/>
          </a:xfrm>
          <a:custGeom>
            <a:avLst/>
            <a:gdLst/>
            <a:ahLst/>
            <a:cxnLst/>
            <a:rect l="l" t="t" r="r" b="b"/>
            <a:pathLst>
              <a:path w="97789" h="172085">
                <a:moveTo>
                  <a:pt x="97473" y="0"/>
                </a:moveTo>
                <a:lnTo>
                  <a:pt x="0" y="171952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659386" y="6410307"/>
            <a:ext cx="180340" cy="303530"/>
          </a:xfrm>
          <a:custGeom>
            <a:avLst/>
            <a:gdLst/>
            <a:ahLst/>
            <a:cxnLst/>
            <a:rect l="l" t="t" r="r" b="b"/>
            <a:pathLst>
              <a:path w="180339" h="303529">
                <a:moveTo>
                  <a:pt x="179868" y="0"/>
                </a:moveTo>
                <a:lnTo>
                  <a:pt x="0" y="303488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210029" y="5912940"/>
            <a:ext cx="55244" cy="92710"/>
          </a:xfrm>
          <a:custGeom>
            <a:avLst/>
            <a:gdLst/>
            <a:ahLst/>
            <a:cxnLst/>
            <a:rect l="l" t="t" r="r" b="b"/>
            <a:pathLst>
              <a:path w="55245" h="92710">
                <a:moveTo>
                  <a:pt x="54762" y="0"/>
                </a:moveTo>
                <a:lnTo>
                  <a:pt x="0" y="92279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199454" y="6444829"/>
            <a:ext cx="63500" cy="107950"/>
          </a:xfrm>
          <a:custGeom>
            <a:avLst/>
            <a:gdLst/>
            <a:ahLst/>
            <a:cxnLst/>
            <a:rect l="l" t="t" r="r" b="b"/>
            <a:pathLst>
              <a:path w="63500" h="107950">
                <a:moveTo>
                  <a:pt x="63076" y="0"/>
                </a:moveTo>
                <a:lnTo>
                  <a:pt x="0" y="107734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045239" y="7071533"/>
            <a:ext cx="50165" cy="76835"/>
          </a:xfrm>
          <a:custGeom>
            <a:avLst/>
            <a:gdLst/>
            <a:ahLst/>
            <a:cxnLst/>
            <a:rect l="l" t="t" r="r" b="b"/>
            <a:pathLst>
              <a:path w="50164" h="76834">
                <a:moveTo>
                  <a:pt x="50008" y="0"/>
                </a:moveTo>
                <a:lnTo>
                  <a:pt x="0" y="76489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632498" y="6106075"/>
            <a:ext cx="381635" cy="673100"/>
          </a:xfrm>
          <a:custGeom>
            <a:avLst/>
            <a:gdLst/>
            <a:ahLst/>
            <a:cxnLst/>
            <a:rect l="l" t="t" r="r" b="b"/>
            <a:pathLst>
              <a:path w="381635" h="673100">
                <a:moveTo>
                  <a:pt x="381255" y="0"/>
                </a:moveTo>
                <a:lnTo>
                  <a:pt x="0" y="672838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124009" y="4988195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315668" y="5302321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94125" y="5327451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993575" y="5641578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396620" y="5017251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596530" y="5331378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2005174" y="5241735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717194" y="5434389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410891" y="5019480"/>
            <a:ext cx="83767" cy="861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579733" y="5967504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237410" y="5846680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603001" y="6705534"/>
            <a:ext cx="83767" cy="861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239369" y="6374151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980980" y="6043009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986477" y="7134840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632934" y="4629680"/>
            <a:ext cx="5414010" cy="2951480"/>
          </a:xfrm>
          <a:custGeom>
            <a:avLst/>
            <a:gdLst/>
            <a:ahLst/>
            <a:cxnLst/>
            <a:rect l="l" t="t" r="r" b="b"/>
            <a:pathLst>
              <a:path w="5414009" h="2951479">
                <a:moveTo>
                  <a:pt x="0" y="0"/>
                </a:moveTo>
                <a:lnTo>
                  <a:pt x="5413971" y="2951239"/>
                </a:lnTo>
              </a:path>
            </a:pathLst>
          </a:custGeom>
          <a:ln w="62825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29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1873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Оптимизационная </a:t>
            </a:r>
            <a:r>
              <a:rPr spc="-120" dirty="0"/>
              <a:t>задача</a:t>
            </a:r>
            <a:r>
              <a:rPr spc="75" dirty="0"/>
              <a:t> </a:t>
            </a:r>
            <a:r>
              <a:rPr spc="-235" dirty="0"/>
              <a:t>Пирсона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8730489"/>
            <a:ext cx="64166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885" dirty="0">
                <a:solidFill>
                  <a:srgbClr val="CB3757"/>
                </a:solidFill>
                <a:latin typeface="Verdana"/>
                <a:cs typeface="Verdana"/>
              </a:rPr>
              <a:t>≠ </a:t>
            </a:r>
            <a:r>
              <a:rPr sz="3300" b="1" spc="-180" dirty="0">
                <a:solidFill>
                  <a:srgbClr val="1E1E1E"/>
                </a:solidFill>
                <a:latin typeface="Arial"/>
                <a:cs typeface="Arial"/>
              </a:rPr>
              <a:t>метод </a:t>
            </a:r>
            <a:r>
              <a:rPr sz="3300" b="1" spc="-145" dirty="0">
                <a:solidFill>
                  <a:srgbClr val="1E1E1E"/>
                </a:solidFill>
                <a:latin typeface="Arial"/>
                <a:cs typeface="Arial"/>
              </a:rPr>
              <a:t>наименьших</a:t>
            </a:r>
            <a:r>
              <a:rPr sz="3300" b="1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05" dirty="0">
                <a:solidFill>
                  <a:srgbClr val="1E1E1E"/>
                </a:solidFill>
                <a:latin typeface="Arial"/>
                <a:cs typeface="Arial"/>
              </a:rPr>
              <a:t>квадратов!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3453163"/>
            <a:ext cx="8749665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Найти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прямую,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дающую 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min(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430" dirty="0">
                <a:solidFill>
                  <a:srgbClr val="1E1E1E"/>
                </a:solidFill>
                <a:latin typeface="Verdana"/>
                <a:cs typeface="Verdana"/>
              </a:rPr>
              <a:t>…)</a:t>
            </a:r>
            <a:r>
              <a:rPr sz="3300" spc="-4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5809615">
              <a:lnSpc>
                <a:spcPts val="1550"/>
              </a:lnSpc>
              <a:tabLst>
                <a:tab pos="6646545" algn="l"/>
                <a:tab pos="7482205" algn="l"/>
              </a:tabLst>
            </a:pP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	2	3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05707" y="4629680"/>
            <a:ext cx="0" cy="3423920"/>
          </a:xfrm>
          <a:custGeom>
            <a:avLst/>
            <a:gdLst/>
            <a:ahLst/>
            <a:cxnLst/>
            <a:rect l="l" t="t" r="r" b="b"/>
            <a:pathLst>
              <a:path h="3423920">
                <a:moveTo>
                  <a:pt x="0" y="0"/>
                </a:moveTo>
                <a:lnTo>
                  <a:pt x="0" y="3423487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07246" y="8047922"/>
            <a:ext cx="5269230" cy="0"/>
          </a:xfrm>
          <a:custGeom>
            <a:avLst/>
            <a:gdLst/>
            <a:ahLst/>
            <a:cxnLst/>
            <a:rect l="l" t="t" r="r" b="b"/>
            <a:pathLst>
              <a:path w="5269230">
                <a:moveTo>
                  <a:pt x="5268740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45370" y="5569538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4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5370" y="4984425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5370" y="6149416"/>
            <a:ext cx="151130" cy="144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3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1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5370" y="8097000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0</a:t>
            </a:r>
            <a:endParaRPr sz="1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7964" y="8123177"/>
            <a:ext cx="481076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4995" algn="l"/>
                <a:tab pos="1177290" algn="l"/>
                <a:tab pos="1759585" algn="l"/>
                <a:tab pos="2341880" algn="l"/>
                <a:tab pos="2924175" algn="l"/>
                <a:tab pos="3506470" algn="l"/>
                <a:tab pos="4088765" algn="l"/>
                <a:tab pos="4671695" algn="l"/>
              </a:tabLst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1	2	3	4	5	6	7	8	9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32882" y="6299661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32882" y="6882418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32882" y="7465176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32882" y="8047922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61185" y="659104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61185" y="717379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61185" y="7756549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2882" y="513415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32882" y="5716914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61185" y="4842784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61185" y="542554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61185" y="6008288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5919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4445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2972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1499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5182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3709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2236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8865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87392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9601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58128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16655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7080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0026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8553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0763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9290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7817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064125" y="4982099"/>
            <a:ext cx="154940" cy="284480"/>
          </a:xfrm>
          <a:custGeom>
            <a:avLst/>
            <a:gdLst/>
            <a:ahLst/>
            <a:cxnLst/>
            <a:rect l="l" t="t" r="r" b="b"/>
            <a:pathLst>
              <a:path w="154939" h="284479">
                <a:moveTo>
                  <a:pt x="154403" y="0"/>
                </a:moveTo>
                <a:lnTo>
                  <a:pt x="0" y="284347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769790" y="5321503"/>
            <a:ext cx="74295" cy="133350"/>
          </a:xfrm>
          <a:custGeom>
            <a:avLst/>
            <a:gdLst/>
            <a:ahLst/>
            <a:cxnLst/>
            <a:rect l="l" t="t" r="r" b="b"/>
            <a:pathLst>
              <a:path w="74294" h="133350">
                <a:moveTo>
                  <a:pt x="74060" y="0"/>
                </a:moveTo>
                <a:lnTo>
                  <a:pt x="0" y="133262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26006" y="5089918"/>
            <a:ext cx="212090" cy="375285"/>
          </a:xfrm>
          <a:custGeom>
            <a:avLst/>
            <a:gdLst/>
            <a:ahLst/>
            <a:cxnLst/>
            <a:rect l="l" t="t" r="r" b="b"/>
            <a:pathLst>
              <a:path w="212089" h="375285">
                <a:moveTo>
                  <a:pt x="211585" y="0"/>
                </a:moveTo>
                <a:lnTo>
                  <a:pt x="0" y="374993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637575" y="5809048"/>
            <a:ext cx="97790" cy="172085"/>
          </a:xfrm>
          <a:custGeom>
            <a:avLst/>
            <a:gdLst/>
            <a:ahLst/>
            <a:cxnLst/>
            <a:rect l="l" t="t" r="r" b="b"/>
            <a:pathLst>
              <a:path w="97789" h="172085">
                <a:moveTo>
                  <a:pt x="97473" y="0"/>
                </a:moveTo>
                <a:lnTo>
                  <a:pt x="0" y="171952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659386" y="6410307"/>
            <a:ext cx="180340" cy="303530"/>
          </a:xfrm>
          <a:custGeom>
            <a:avLst/>
            <a:gdLst/>
            <a:ahLst/>
            <a:cxnLst/>
            <a:rect l="l" t="t" r="r" b="b"/>
            <a:pathLst>
              <a:path w="180339" h="303529">
                <a:moveTo>
                  <a:pt x="179868" y="0"/>
                </a:moveTo>
                <a:lnTo>
                  <a:pt x="0" y="303488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210029" y="5912940"/>
            <a:ext cx="55244" cy="92710"/>
          </a:xfrm>
          <a:custGeom>
            <a:avLst/>
            <a:gdLst/>
            <a:ahLst/>
            <a:cxnLst/>
            <a:rect l="l" t="t" r="r" b="b"/>
            <a:pathLst>
              <a:path w="55245" h="92710">
                <a:moveTo>
                  <a:pt x="54762" y="0"/>
                </a:moveTo>
                <a:lnTo>
                  <a:pt x="0" y="92279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199454" y="6444829"/>
            <a:ext cx="63500" cy="107950"/>
          </a:xfrm>
          <a:custGeom>
            <a:avLst/>
            <a:gdLst/>
            <a:ahLst/>
            <a:cxnLst/>
            <a:rect l="l" t="t" r="r" b="b"/>
            <a:pathLst>
              <a:path w="63500" h="107950">
                <a:moveTo>
                  <a:pt x="63076" y="0"/>
                </a:moveTo>
                <a:lnTo>
                  <a:pt x="0" y="107734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045239" y="7071533"/>
            <a:ext cx="50165" cy="76835"/>
          </a:xfrm>
          <a:custGeom>
            <a:avLst/>
            <a:gdLst/>
            <a:ahLst/>
            <a:cxnLst/>
            <a:rect l="l" t="t" r="r" b="b"/>
            <a:pathLst>
              <a:path w="50164" h="76834">
                <a:moveTo>
                  <a:pt x="50008" y="0"/>
                </a:moveTo>
                <a:lnTo>
                  <a:pt x="0" y="76489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632498" y="6106075"/>
            <a:ext cx="381635" cy="673100"/>
          </a:xfrm>
          <a:custGeom>
            <a:avLst/>
            <a:gdLst/>
            <a:ahLst/>
            <a:cxnLst/>
            <a:rect l="l" t="t" r="r" b="b"/>
            <a:pathLst>
              <a:path w="381635" h="673100">
                <a:moveTo>
                  <a:pt x="381255" y="0"/>
                </a:moveTo>
                <a:lnTo>
                  <a:pt x="0" y="672838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124009" y="4988195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15668" y="5302321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794125" y="5327451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93575" y="5641578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396620" y="5017251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596530" y="5331378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005174" y="5241735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717194" y="5434389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410891" y="5019480"/>
            <a:ext cx="83767" cy="861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579733" y="5967504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237410" y="5846680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603001" y="6705534"/>
            <a:ext cx="83767" cy="861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239369" y="6374151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980980" y="6043009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986477" y="7134840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632934" y="4629680"/>
            <a:ext cx="5414010" cy="2951480"/>
          </a:xfrm>
          <a:custGeom>
            <a:avLst/>
            <a:gdLst/>
            <a:ahLst/>
            <a:cxnLst/>
            <a:rect l="l" t="t" r="r" b="b"/>
            <a:pathLst>
              <a:path w="5414009" h="2951479">
                <a:moveTo>
                  <a:pt x="0" y="0"/>
                </a:moveTo>
                <a:lnTo>
                  <a:pt x="5413971" y="2951239"/>
                </a:lnTo>
              </a:path>
            </a:pathLst>
          </a:custGeom>
          <a:ln w="62825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30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631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</a:t>
            </a:r>
            <a:r>
              <a:rPr spc="-135" dirty="0"/>
              <a:t> </a:t>
            </a:r>
            <a:r>
              <a:rPr spc="-155" dirty="0"/>
              <a:t>матрица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8989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Центрируем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данные: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4383" y="4709669"/>
            <a:ext cx="7442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F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:</a:t>
            </a:r>
            <a:r>
              <a:rPr sz="3300" b="1" i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65817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83507" y="4458368"/>
            <a:ext cx="9912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65817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70480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88159" y="4458368"/>
            <a:ext cx="9975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70480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00252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00252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33153" y="4458368"/>
            <a:ext cx="18783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248285" y="0"/>
                </a:moveTo>
                <a:lnTo>
                  <a:pt x="162623" y="0"/>
                </a:lnTo>
                <a:lnTo>
                  <a:pt x="141236" y="29817"/>
                </a:ln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162623" y="0"/>
                </a:move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lnTo>
                  <a:pt x="162623" y="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0"/>
                </a:move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1011770"/>
                </a:move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564547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31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631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</a:t>
            </a:r>
            <a:r>
              <a:rPr spc="-135" dirty="0"/>
              <a:t> </a:t>
            </a:r>
            <a:r>
              <a:rPr spc="-155" dirty="0"/>
              <a:t>матрица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8989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Центрируем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данные: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6217477"/>
            <a:ext cx="49479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Ковариационная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8808" y="7222681"/>
            <a:ext cx="20173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4950" b="1" i="1" u="heavy" spc="-1350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u="heavy" spc="-780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4950" b="1" spc="-397" baseline="336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1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2850" b="1" i="1" spc="-32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3300" b="1" i="1" spc="-21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6897" y="7473983"/>
            <a:ext cx="3740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755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4383" y="4709669"/>
            <a:ext cx="7442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F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:</a:t>
            </a:r>
            <a:r>
              <a:rPr sz="3300" b="1" i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65817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83507" y="4458368"/>
            <a:ext cx="9912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65817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70480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88159" y="4458368"/>
            <a:ext cx="9975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70480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00252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00252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233153" y="4458368"/>
            <a:ext cx="18783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248285" y="0"/>
                </a:moveTo>
                <a:lnTo>
                  <a:pt x="162623" y="0"/>
                </a:lnTo>
                <a:lnTo>
                  <a:pt x="141236" y="29817"/>
                </a:ln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162623" y="0"/>
                </a:move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lnTo>
                  <a:pt x="162623" y="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0"/>
                </a:move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1011770"/>
                </a:move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564547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32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631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</a:t>
            </a:r>
            <a:r>
              <a:rPr spc="-135" dirty="0"/>
              <a:t> </a:t>
            </a:r>
            <a:r>
              <a:rPr spc="-155" dirty="0"/>
              <a:t>матрица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8989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Центрируем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данные: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6217477"/>
            <a:ext cx="49479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Ковариационная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6104" y="8479187"/>
            <a:ext cx="88607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Вдоль 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какого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направления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шире</a:t>
            </a:r>
            <a:r>
              <a:rPr sz="3300" spc="5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всего?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8808" y="7222681"/>
            <a:ext cx="3791154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S : =</a:t>
            </a:r>
            <a:r>
              <a:rPr sz="4950" b="1" i="1" u="heavy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u="heavy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4950" b="1" baseline="336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2850" b="1" i="1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endParaRPr sz="33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95666" y="7454875"/>
            <a:ext cx="3740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755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33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4383" y="4709669"/>
            <a:ext cx="7442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F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:</a:t>
            </a:r>
            <a:r>
              <a:rPr sz="3300" b="1" i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65817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83507" y="4458368"/>
            <a:ext cx="9912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65817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70480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88159" y="4458368"/>
            <a:ext cx="9975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70480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00252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900252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33153" y="4458368"/>
            <a:ext cx="18783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248285" y="0"/>
                </a:moveTo>
                <a:lnTo>
                  <a:pt x="162623" y="0"/>
                </a:lnTo>
                <a:lnTo>
                  <a:pt x="141236" y="29817"/>
                </a:ln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162623" y="0"/>
                </a:move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lnTo>
                  <a:pt x="162623" y="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0"/>
                </a:move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1011770"/>
                </a:move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564547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33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9270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 </a:t>
            </a:r>
            <a:r>
              <a:rPr spc="-190" dirty="0"/>
              <a:t>матрица:</a:t>
            </a:r>
            <a:r>
              <a:rPr spc="-50" dirty="0"/>
              <a:t> </a:t>
            </a:r>
            <a:r>
              <a:rPr spc="-275" dirty="0"/>
              <a:t>геометрия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40867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18804" y="4345417"/>
          <a:ext cx="11141710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7960"/>
                <a:gridCol w="8413750"/>
              </a:tblGrid>
              <a:tr h="75374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2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Главные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оси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векторы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2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1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Длины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осей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1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const </a:t>
                      </a:r>
                      <a:r>
                        <a:rPr sz="3300" b="1" spc="50" dirty="0">
                          <a:solidFill>
                            <a:srgbClr val="CB3757"/>
                          </a:solidFill>
                          <a:latin typeface="Arial"/>
                          <a:cs typeface="Arial"/>
                        </a:rPr>
                        <a:t>× </a:t>
                      </a:r>
                      <a:r>
                        <a:rPr sz="41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√</a:t>
                      </a:r>
                      <a:r>
                        <a:rPr sz="33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114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числа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1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6373104" y="5290090"/>
            <a:ext cx="5832475" cy="0"/>
          </a:xfrm>
          <a:custGeom>
            <a:avLst/>
            <a:gdLst/>
            <a:ahLst/>
            <a:cxnLst/>
            <a:rect l="l" t="t" r="r" b="b"/>
            <a:pathLst>
              <a:path w="5832475">
                <a:moveTo>
                  <a:pt x="0" y="0"/>
                </a:moveTo>
                <a:lnTo>
                  <a:pt x="5832283" y="0"/>
                </a:lnTo>
              </a:path>
            </a:pathLst>
          </a:custGeom>
          <a:ln w="41883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34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9270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 </a:t>
            </a:r>
            <a:r>
              <a:rPr spc="-190" dirty="0"/>
              <a:t>матрица:</a:t>
            </a:r>
            <a:r>
              <a:rPr spc="-50" dirty="0"/>
              <a:t> </a:t>
            </a:r>
            <a:r>
              <a:rPr spc="-275" dirty="0"/>
              <a:t>геометрия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40867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6468778"/>
            <a:ext cx="88646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что,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1010" dirty="0">
                <a:solidFill>
                  <a:srgbClr val="1E1E1E"/>
                </a:solidFill>
                <a:latin typeface="Verdana"/>
                <a:cs typeface="Verdana"/>
              </a:rPr>
              <a:t>&lt;&lt; </a:t>
            </a:r>
            <a:r>
              <a:rPr sz="3300" b="1" i="1" spc="-420" dirty="0" smtClean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lang="en-US" sz="2850" b="1" spc="-630" baseline="-32163" dirty="0" smtClean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spc="-420" dirty="0" smtClean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 </a:t>
            </a:r>
            <a:r>
              <a:rPr sz="3300" spc="-605" dirty="0">
                <a:solidFill>
                  <a:srgbClr val="1E1E1E"/>
                </a:solidFill>
                <a:latin typeface="Arial"/>
                <a:cs typeface="Arial"/>
              </a:rPr>
              <a:t>→ </a:t>
            </a:r>
            <a:r>
              <a:rPr sz="3300" spc="-25" dirty="0" err="1">
                <a:solidFill>
                  <a:srgbClr val="1E1E1E"/>
                </a:solidFill>
                <a:latin typeface="Arial"/>
                <a:cs typeface="Arial"/>
              </a:rPr>
              <a:t>отрезок</a:t>
            </a:r>
            <a:r>
              <a:rPr sz="3300" spc="48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 smtClean="0">
                <a:solidFill>
                  <a:srgbClr val="1E1E1E"/>
                </a:solidFill>
                <a:latin typeface="Arial"/>
                <a:cs typeface="Arial"/>
              </a:rPr>
              <a:t>прямой.</a:t>
            </a:r>
            <a:r>
              <a:rPr lang="en-US" sz="3300" spc="-95" dirty="0" smtClean="0">
                <a:solidFill>
                  <a:srgbClr val="1E1E1E"/>
                </a:solidFill>
                <a:latin typeface="Arial"/>
                <a:cs typeface="Arial"/>
              </a:rPr>
              <a:t>1</a:t>
            </a:r>
            <a:endParaRPr sz="3300" dirty="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18804" y="4345417"/>
          <a:ext cx="11141710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7960"/>
                <a:gridCol w="8413750"/>
              </a:tblGrid>
              <a:tr h="75374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2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Главные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оси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векторы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2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1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Длины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осей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1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const </a:t>
                      </a:r>
                      <a:r>
                        <a:rPr sz="3300" b="1" spc="50" dirty="0">
                          <a:solidFill>
                            <a:srgbClr val="CB3757"/>
                          </a:solidFill>
                          <a:latin typeface="Arial"/>
                          <a:cs typeface="Arial"/>
                        </a:rPr>
                        <a:t>× </a:t>
                      </a:r>
                      <a:r>
                        <a:rPr sz="41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√</a:t>
                      </a:r>
                      <a:r>
                        <a:rPr sz="33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114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числа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1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6373104" y="5290090"/>
            <a:ext cx="5832475" cy="0"/>
          </a:xfrm>
          <a:custGeom>
            <a:avLst/>
            <a:gdLst/>
            <a:ahLst/>
            <a:cxnLst/>
            <a:rect l="l" t="t" r="r" b="b"/>
            <a:pathLst>
              <a:path w="5832475">
                <a:moveTo>
                  <a:pt x="0" y="0"/>
                </a:moveTo>
                <a:lnTo>
                  <a:pt x="5832283" y="0"/>
                </a:lnTo>
              </a:path>
            </a:pathLst>
          </a:custGeom>
          <a:ln w="41883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35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9270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 </a:t>
            </a:r>
            <a:r>
              <a:rPr spc="-190" dirty="0"/>
              <a:t>матрица:</a:t>
            </a:r>
            <a:r>
              <a:rPr spc="-50" dirty="0"/>
              <a:t> </a:t>
            </a:r>
            <a:r>
              <a:rPr spc="-275" dirty="0"/>
              <a:t>геометрия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40867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958" y="6468778"/>
            <a:ext cx="8989695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что,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1010" dirty="0">
                <a:solidFill>
                  <a:srgbClr val="1E1E1E"/>
                </a:solidFill>
                <a:latin typeface="Verdana"/>
                <a:cs typeface="Verdana"/>
              </a:rPr>
              <a:t>&lt;&lt;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spc="-420" dirty="0">
                <a:solidFill>
                  <a:srgbClr val="1E1E1E"/>
                </a:solidFill>
                <a:latin typeface="Arial"/>
                <a:cs typeface="Arial"/>
              </a:rPr>
              <a:t>?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 </a:t>
            </a:r>
            <a:r>
              <a:rPr sz="3300" spc="-605" dirty="0">
                <a:solidFill>
                  <a:srgbClr val="1E1E1E"/>
                </a:solidFill>
                <a:latin typeface="Arial"/>
                <a:cs typeface="Arial"/>
              </a:rPr>
              <a:t>→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отрезок</a:t>
            </a:r>
            <a:r>
              <a:rPr sz="3300" spc="48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прямой.</a:t>
            </a:r>
            <a:endParaRPr sz="3300">
              <a:latin typeface="Arial"/>
              <a:cs typeface="Arial"/>
            </a:endParaRPr>
          </a:p>
          <a:p>
            <a:pPr marL="12700" marR="5080" indent="-635">
              <a:lnSpc>
                <a:spcPct val="100000"/>
              </a:lnSpc>
              <a:spcBef>
                <a:spcPts val="3954"/>
              </a:spcBef>
            </a:pPr>
            <a:r>
              <a:rPr sz="3300" b="1" spc="-185" dirty="0">
                <a:solidFill>
                  <a:srgbClr val="1E1E1E"/>
                </a:solidFill>
                <a:latin typeface="Arial"/>
                <a:cs typeface="Arial"/>
              </a:rPr>
              <a:t>Гипотеза: 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закон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связи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между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линейный,  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рассеяние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вызвано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ошибками</a:t>
            </a:r>
            <a:r>
              <a:rPr sz="3300" spc="3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наблюдений.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18804" y="4345417"/>
          <a:ext cx="11141710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7960"/>
                <a:gridCol w="8413750"/>
              </a:tblGrid>
              <a:tr h="75374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2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Главные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оси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векторы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2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1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Длины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осей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1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const </a:t>
                      </a:r>
                      <a:r>
                        <a:rPr sz="3300" b="1" spc="50" dirty="0">
                          <a:solidFill>
                            <a:srgbClr val="CB3757"/>
                          </a:solidFill>
                          <a:latin typeface="Arial"/>
                          <a:cs typeface="Arial"/>
                        </a:rPr>
                        <a:t>× </a:t>
                      </a:r>
                      <a:r>
                        <a:rPr sz="41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√</a:t>
                      </a:r>
                      <a:r>
                        <a:rPr sz="33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114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числа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1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6373104" y="5290090"/>
            <a:ext cx="5832475" cy="0"/>
          </a:xfrm>
          <a:custGeom>
            <a:avLst/>
            <a:gdLst/>
            <a:ahLst/>
            <a:cxnLst/>
            <a:rect l="l" t="t" r="r" b="b"/>
            <a:pathLst>
              <a:path w="5832475">
                <a:moveTo>
                  <a:pt x="0" y="0"/>
                </a:moveTo>
                <a:lnTo>
                  <a:pt x="5832283" y="0"/>
                </a:lnTo>
              </a:path>
            </a:pathLst>
          </a:custGeom>
          <a:ln w="41883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36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9270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 </a:t>
            </a:r>
            <a:r>
              <a:rPr spc="-190" dirty="0"/>
              <a:t>матрица:</a:t>
            </a:r>
            <a:r>
              <a:rPr spc="-50" dirty="0"/>
              <a:t> </a:t>
            </a:r>
            <a:r>
              <a:rPr spc="-275" dirty="0"/>
              <a:t>геометрия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40867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958" y="6468778"/>
            <a:ext cx="10966450" cy="304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что,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1010" dirty="0">
                <a:solidFill>
                  <a:srgbClr val="1E1E1E"/>
                </a:solidFill>
                <a:latin typeface="Verdana"/>
                <a:cs typeface="Verdana"/>
              </a:rPr>
              <a:t>&lt;&lt;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spc="-420" dirty="0">
                <a:solidFill>
                  <a:srgbClr val="1E1E1E"/>
                </a:solidFill>
                <a:latin typeface="Arial"/>
                <a:cs typeface="Arial"/>
              </a:rPr>
              <a:t>?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 </a:t>
            </a:r>
            <a:r>
              <a:rPr sz="3300" spc="-605" dirty="0">
                <a:solidFill>
                  <a:srgbClr val="1E1E1E"/>
                </a:solidFill>
                <a:latin typeface="Arial"/>
                <a:cs typeface="Arial"/>
              </a:rPr>
              <a:t>→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отрезок</a:t>
            </a:r>
            <a:r>
              <a:rPr sz="3300" spc="48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прямой.</a:t>
            </a:r>
            <a:endParaRPr sz="3300">
              <a:latin typeface="Arial"/>
              <a:cs typeface="Arial"/>
            </a:endParaRPr>
          </a:p>
          <a:p>
            <a:pPr marL="12700" marR="1981835" indent="-635">
              <a:lnSpc>
                <a:spcPct val="100000"/>
              </a:lnSpc>
              <a:spcBef>
                <a:spcPts val="3954"/>
              </a:spcBef>
            </a:pPr>
            <a:r>
              <a:rPr sz="3300" b="1" spc="-185" dirty="0">
                <a:solidFill>
                  <a:srgbClr val="1E1E1E"/>
                </a:solidFill>
                <a:latin typeface="Arial"/>
                <a:cs typeface="Arial"/>
              </a:rPr>
              <a:t>Гипотеза: 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закон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связи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между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линейный,  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рассеяние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вызвано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ошибками</a:t>
            </a:r>
            <a:r>
              <a:rPr sz="3300" spc="3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наблюдений.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Вместо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эллипса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достаточно рассматривать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его</a:t>
            </a:r>
            <a:r>
              <a:rPr sz="3300" spc="5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проекцию.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18804" y="4345417"/>
          <a:ext cx="11141710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7960"/>
                <a:gridCol w="8413750"/>
              </a:tblGrid>
              <a:tr h="75374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2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Главные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оси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векторы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2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1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Длины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осей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1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const </a:t>
                      </a:r>
                      <a:r>
                        <a:rPr sz="3300" b="1" spc="50" dirty="0">
                          <a:solidFill>
                            <a:srgbClr val="CB3757"/>
                          </a:solidFill>
                          <a:latin typeface="Arial"/>
                          <a:cs typeface="Arial"/>
                        </a:rPr>
                        <a:t>× </a:t>
                      </a:r>
                      <a:r>
                        <a:rPr sz="41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√</a:t>
                      </a:r>
                      <a:r>
                        <a:rPr sz="33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114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числа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1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6373104" y="5290090"/>
            <a:ext cx="5832475" cy="0"/>
          </a:xfrm>
          <a:custGeom>
            <a:avLst/>
            <a:gdLst/>
            <a:ahLst/>
            <a:cxnLst/>
            <a:rect l="l" t="t" r="r" b="b"/>
            <a:pathLst>
              <a:path w="5832475">
                <a:moveTo>
                  <a:pt x="0" y="0"/>
                </a:moveTo>
                <a:lnTo>
                  <a:pt x="5832283" y="0"/>
                </a:lnTo>
              </a:path>
            </a:pathLst>
          </a:custGeom>
          <a:ln w="41883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37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454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Метод </a:t>
            </a:r>
            <a:r>
              <a:rPr spc="-310" dirty="0"/>
              <a:t>главных</a:t>
            </a:r>
            <a:r>
              <a:rPr spc="-45" dirty="0"/>
              <a:t> </a:t>
            </a:r>
            <a:r>
              <a:rPr spc="-260" dirty="0"/>
              <a:t>компонент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8046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Данные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19626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10582" y="3313691"/>
            <a:ext cx="2571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4950" spc="-247" baseline="-18518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38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4400" y="3453163"/>
            <a:ext cx="20300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6385" algn="l"/>
              </a:tabLst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3300" b="1" i="1" spc="-1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849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9422" y="3767289"/>
            <a:ext cx="27495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  <a:tab pos="1195705" algn="l"/>
                <a:tab pos="2081530" algn="l"/>
                <a:tab pos="246380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4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0988" y="3453163"/>
            <a:ext cx="487934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1296035" algn="l"/>
                <a:tab pos="42379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760220">
              <a:lnSpc>
                <a:spcPts val="1550"/>
              </a:lnSpc>
              <a:tabLst>
                <a:tab pos="3500754" algn="l"/>
                <a:tab pos="3878579" algn="l"/>
              </a:tabLst>
            </a:pP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[2]	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	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70705" y="3767199"/>
            <a:ext cx="3009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34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89844" y="4458368"/>
            <a:ext cx="280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spc="-3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70104" y="4772494"/>
            <a:ext cx="3168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314" y="4458368"/>
            <a:ext cx="12039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1360" algn="l"/>
              </a:tabLst>
            </a:pPr>
            <a:r>
              <a:rPr sz="3300" b="1" spc="-975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75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spc="-1235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3743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63062" y="4458368"/>
            <a:ext cx="52882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7725" algn="l"/>
              </a:tabLst>
            </a:pP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главные</a:t>
            </a:r>
            <a:r>
              <a:rPr sz="3300" spc="-6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компоненты;</a:t>
            </a:r>
            <a:endParaRPr sz="3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25780" y="4493549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12755" y="4772404"/>
            <a:ext cx="97281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4984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454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Метод </a:t>
            </a:r>
            <a:r>
              <a:rPr spc="-310" dirty="0"/>
              <a:t>главных</a:t>
            </a:r>
            <a:r>
              <a:rPr spc="-45" dirty="0"/>
              <a:t> </a:t>
            </a:r>
            <a:r>
              <a:rPr spc="-260" dirty="0"/>
              <a:t>компонент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8046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Данные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19626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10582" y="3313691"/>
            <a:ext cx="2571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4950" spc="-247" baseline="-18518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4400" y="3453163"/>
            <a:ext cx="20300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6385" algn="l"/>
              </a:tabLst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3300" b="1" i="1" spc="-1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849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9422" y="3767289"/>
            <a:ext cx="27495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  <a:tab pos="1195705" algn="l"/>
                <a:tab pos="2081530" algn="l"/>
                <a:tab pos="246380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4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0988" y="3453163"/>
            <a:ext cx="487934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1296035" algn="l"/>
                <a:tab pos="42379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760220">
              <a:lnSpc>
                <a:spcPts val="1550"/>
              </a:lnSpc>
              <a:tabLst>
                <a:tab pos="3500754" algn="l"/>
                <a:tab pos="3878579" algn="l"/>
              </a:tabLst>
            </a:pP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[2]	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	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70705" y="3767199"/>
            <a:ext cx="3009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34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89844" y="4458368"/>
            <a:ext cx="280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spc="-3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70104" y="4772494"/>
            <a:ext cx="3168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314" y="4458368"/>
            <a:ext cx="12039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1360" algn="l"/>
              </a:tabLst>
            </a:pPr>
            <a:r>
              <a:rPr sz="3300" b="1" spc="-975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75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spc="-1235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3743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5780" y="4493549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2755" y="4772404"/>
            <a:ext cx="97281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4984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63062" y="4279053"/>
            <a:ext cx="5288280" cy="138938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  <a:tabLst>
                <a:tab pos="847725" algn="l"/>
              </a:tabLst>
            </a:pP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главные</a:t>
            </a:r>
            <a:r>
              <a:rPr sz="3300" spc="-6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компоненты;</a:t>
            </a:r>
            <a:endParaRPr sz="3300">
              <a:latin typeface="Arial"/>
              <a:cs typeface="Arial"/>
            </a:endParaRPr>
          </a:p>
          <a:p>
            <a:pPr marL="2638425">
              <a:lnSpc>
                <a:spcPct val="100000"/>
              </a:lnSpc>
              <a:spcBef>
                <a:spcPts val="1410"/>
              </a:spcBef>
            </a:pPr>
            <a:r>
              <a:rPr sz="3300" spc="-114" dirty="0">
                <a:solidFill>
                  <a:srgbClr val="CB3757"/>
                </a:solidFill>
                <a:latin typeface="Arial"/>
                <a:cs typeface="Arial"/>
              </a:rPr>
              <a:t>большие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42104" y="5887235"/>
            <a:ext cx="3689985" cy="1344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562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2850" b="1" i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2850" b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8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1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2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850" baseline="-32163">
              <a:latin typeface="Verdana"/>
              <a:cs typeface="Verdana"/>
            </a:endParaRPr>
          </a:p>
          <a:p>
            <a:pPr marL="2106295">
              <a:lnSpc>
                <a:spcPct val="100000"/>
              </a:lnSpc>
              <a:spcBef>
                <a:spcPts val="2470"/>
              </a:spcBef>
            </a:pPr>
            <a:r>
              <a:rPr sz="3300" spc="-145" dirty="0">
                <a:solidFill>
                  <a:srgbClr val="627AEB"/>
                </a:solidFill>
                <a:latin typeface="Arial"/>
                <a:cs typeface="Arial"/>
              </a:rPr>
              <a:t>малые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481508" y="5700988"/>
            <a:ext cx="1726564" cy="347345"/>
          </a:xfrm>
          <a:custGeom>
            <a:avLst/>
            <a:gdLst/>
            <a:ahLst/>
            <a:cxnLst/>
            <a:rect l="l" t="t" r="r" b="b"/>
            <a:pathLst>
              <a:path w="1726565" h="347345">
                <a:moveTo>
                  <a:pt x="887480" y="0"/>
                </a:moveTo>
                <a:lnTo>
                  <a:pt x="840874" y="0"/>
                </a:lnTo>
                <a:lnTo>
                  <a:pt x="837339" y="36191"/>
                </a:lnTo>
                <a:lnTo>
                  <a:pt x="830235" y="66704"/>
                </a:lnTo>
                <a:lnTo>
                  <a:pt x="805326" y="110698"/>
                </a:lnTo>
                <a:lnTo>
                  <a:pt x="764683" y="135167"/>
                </a:lnTo>
                <a:lnTo>
                  <a:pt x="706858" y="143325"/>
                </a:lnTo>
                <a:lnTo>
                  <a:pt x="193439" y="143325"/>
                </a:lnTo>
                <a:lnTo>
                  <a:pt x="146685" y="146058"/>
                </a:lnTo>
                <a:lnTo>
                  <a:pt x="106628" y="154254"/>
                </a:lnTo>
                <a:lnTo>
                  <a:pt x="46605" y="187030"/>
                </a:lnTo>
                <a:lnTo>
                  <a:pt x="11656" y="243105"/>
                </a:lnTo>
                <a:lnTo>
                  <a:pt x="2914" y="280429"/>
                </a:lnTo>
                <a:lnTo>
                  <a:pt x="0" y="323948"/>
                </a:lnTo>
                <a:lnTo>
                  <a:pt x="0" y="347256"/>
                </a:lnTo>
                <a:lnTo>
                  <a:pt x="43108" y="347256"/>
                </a:lnTo>
                <a:lnTo>
                  <a:pt x="43108" y="321623"/>
                </a:lnTo>
                <a:lnTo>
                  <a:pt x="45330" y="289974"/>
                </a:lnTo>
                <a:lnTo>
                  <a:pt x="63106" y="239576"/>
                </a:lnTo>
                <a:lnTo>
                  <a:pt x="99017" y="206292"/>
                </a:lnTo>
                <a:lnTo>
                  <a:pt x="155235" y="189683"/>
                </a:lnTo>
                <a:lnTo>
                  <a:pt x="191104" y="187606"/>
                </a:lnTo>
                <a:lnTo>
                  <a:pt x="709193" y="187606"/>
                </a:lnTo>
                <a:lnTo>
                  <a:pt x="742036" y="186077"/>
                </a:lnTo>
                <a:lnTo>
                  <a:pt x="795057" y="173842"/>
                </a:lnTo>
                <a:lnTo>
                  <a:pt x="831758" y="148788"/>
                </a:lnTo>
                <a:lnTo>
                  <a:pt x="855648" y="107422"/>
                </a:lnTo>
                <a:lnTo>
                  <a:pt x="863010" y="80405"/>
                </a:lnTo>
                <a:lnTo>
                  <a:pt x="903996" y="80405"/>
                </a:lnTo>
                <a:lnTo>
                  <a:pt x="898111" y="66704"/>
                </a:lnTo>
                <a:lnTo>
                  <a:pt x="891013" y="36191"/>
                </a:lnTo>
                <a:lnTo>
                  <a:pt x="887480" y="0"/>
                </a:lnTo>
                <a:close/>
              </a:path>
              <a:path w="1726565" h="347345">
                <a:moveTo>
                  <a:pt x="903996" y="80405"/>
                </a:moveTo>
                <a:lnTo>
                  <a:pt x="865345" y="80405"/>
                </a:lnTo>
                <a:lnTo>
                  <a:pt x="872691" y="107422"/>
                </a:lnTo>
                <a:lnTo>
                  <a:pt x="896579" y="148788"/>
                </a:lnTo>
                <a:lnTo>
                  <a:pt x="933283" y="173842"/>
                </a:lnTo>
                <a:lnTo>
                  <a:pt x="986311" y="186077"/>
                </a:lnTo>
                <a:lnTo>
                  <a:pt x="1019162" y="187606"/>
                </a:lnTo>
                <a:lnTo>
                  <a:pt x="1534885" y="187606"/>
                </a:lnTo>
                <a:lnTo>
                  <a:pt x="1570748" y="189683"/>
                </a:lnTo>
                <a:lnTo>
                  <a:pt x="1626970" y="206292"/>
                </a:lnTo>
                <a:lnTo>
                  <a:pt x="1662877" y="239576"/>
                </a:lnTo>
                <a:lnTo>
                  <a:pt x="1680648" y="289974"/>
                </a:lnTo>
                <a:lnTo>
                  <a:pt x="1682870" y="321623"/>
                </a:lnTo>
                <a:lnTo>
                  <a:pt x="1682870" y="347256"/>
                </a:lnTo>
                <a:lnTo>
                  <a:pt x="1725989" y="347256"/>
                </a:lnTo>
                <a:lnTo>
                  <a:pt x="1725989" y="323948"/>
                </a:lnTo>
                <a:lnTo>
                  <a:pt x="1723074" y="280429"/>
                </a:lnTo>
                <a:lnTo>
                  <a:pt x="1714331" y="243105"/>
                </a:lnTo>
                <a:lnTo>
                  <a:pt x="1679372" y="187030"/>
                </a:lnTo>
                <a:lnTo>
                  <a:pt x="1619359" y="154254"/>
                </a:lnTo>
                <a:lnTo>
                  <a:pt x="1579304" y="146058"/>
                </a:lnTo>
                <a:lnTo>
                  <a:pt x="1532550" y="143325"/>
                </a:lnTo>
                <a:lnTo>
                  <a:pt x="1021487" y="143325"/>
                </a:lnTo>
                <a:lnTo>
                  <a:pt x="990424" y="141285"/>
                </a:lnTo>
                <a:lnTo>
                  <a:pt x="963657" y="135167"/>
                </a:lnTo>
                <a:lnTo>
                  <a:pt x="941189" y="124971"/>
                </a:lnTo>
                <a:lnTo>
                  <a:pt x="923019" y="110698"/>
                </a:lnTo>
                <a:lnTo>
                  <a:pt x="908778" y="91540"/>
                </a:lnTo>
                <a:lnTo>
                  <a:pt x="903996" y="80405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92971" y="6507246"/>
            <a:ext cx="1956435" cy="347345"/>
          </a:xfrm>
          <a:custGeom>
            <a:avLst/>
            <a:gdLst/>
            <a:ahLst/>
            <a:cxnLst/>
            <a:rect l="l" t="t" r="r" b="b"/>
            <a:pathLst>
              <a:path w="1956434" h="347345">
                <a:moveTo>
                  <a:pt x="43119" y="0"/>
                </a:moveTo>
                <a:lnTo>
                  <a:pt x="0" y="0"/>
                </a:lnTo>
                <a:lnTo>
                  <a:pt x="0" y="23308"/>
                </a:lnTo>
                <a:lnTo>
                  <a:pt x="2914" y="66826"/>
                </a:lnTo>
                <a:lnTo>
                  <a:pt x="11658" y="104151"/>
                </a:lnTo>
                <a:lnTo>
                  <a:pt x="46616" y="160225"/>
                </a:lnTo>
                <a:lnTo>
                  <a:pt x="106630" y="193001"/>
                </a:lnTo>
                <a:lnTo>
                  <a:pt x="146685" y="201198"/>
                </a:lnTo>
                <a:lnTo>
                  <a:pt x="193439" y="203930"/>
                </a:lnTo>
                <a:lnTo>
                  <a:pt x="819681" y="203930"/>
                </a:lnTo>
                <a:lnTo>
                  <a:pt x="850744" y="205970"/>
                </a:lnTo>
                <a:lnTo>
                  <a:pt x="899979" y="222285"/>
                </a:lnTo>
                <a:lnTo>
                  <a:pt x="932390" y="255716"/>
                </a:lnTo>
                <a:lnTo>
                  <a:pt x="950155" y="311065"/>
                </a:lnTo>
                <a:lnTo>
                  <a:pt x="953688" y="347256"/>
                </a:lnTo>
                <a:lnTo>
                  <a:pt x="1000294" y="347256"/>
                </a:lnTo>
                <a:lnTo>
                  <a:pt x="1003829" y="311065"/>
                </a:lnTo>
                <a:lnTo>
                  <a:pt x="1010933" y="280551"/>
                </a:lnTo>
                <a:lnTo>
                  <a:pt x="1016820" y="266850"/>
                </a:lnTo>
                <a:lnTo>
                  <a:pt x="975823" y="266850"/>
                </a:lnTo>
                <a:lnTo>
                  <a:pt x="958065" y="217039"/>
                </a:lnTo>
                <a:lnTo>
                  <a:pt x="928055" y="184120"/>
                </a:lnTo>
                <a:lnTo>
                  <a:pt x="883484" y="165767"/>
                </a:lnTo>
                <a:lnTo>
                  <a:pt x="822006" y="159649"/>
                </a:lnTo>
                <a:lnTo>
                  <a:pt x="191104" y="159649"/>
                </a:lnTo>
                <a:lnTo>
                  <a:pt x="155240" y="157572"/>
                </a:lnTo>
                <a:lnTo>
                  <a:pt x="99018" y="140963"/>
                </a:lnTo>
                <a:lnTo>
                  <a:pt x="63112" y="107680"/>
                </a:lnTo>
                <a:lnTo>
                  <a:pt x="45341" y="57281"/>
                </a:lnTo>
                <a:lnTo>
                  <a:pt x="43119" y="25632"/>
                </a:lnTo>
                <a:lnTo>
                  <a:pt x="43119" y="0"/>
                </a:lnTo>
                <a:close/>
              </a:path>
              <a:path w="1956434" h="347345">
                <a:moveTo>
                  <a:pt x="1956348" y="0"/>
                </a:moveTo>
                <a:lnTo>
                  <a:pt x="1913240" y="0"/>
                </a:lnTo>
                <a:lnTo>
                  <a:pt x="1913240" y="25632"/>
                </a:lnTo>
                <a:lnTo>
                  <a:pt x="1911017" y="57281"/>
                </a:lnTo>
                <a:lnTo>
                  <a:pt x="1893242" y="107680"/>
                </a:lnTo>
                <a:lnTo>
                  <a:pt x="1857331" y="140963"/>
                </a:lnTo>
                <a:lnTo>
                  <a:pt x="1801112" y="157572"/>
                </a:lnTo>
                <a:lnTo>
                  <a:pt x="1765244" y="159649"/>
                </a:lnTo>
                <a:lnTo>
                  <a:pt x="1131976" y="159649"/>
                </a:lnTo>
                <a:lnTo>
                  <a:pt x="1099132" y="161178"/>
                </a:lnTo>
                <a:lnTo>
                  <a:pt x="1046111" y="173414"/>
                </a:lnTo>
                <a:lnTo>
                  <a:pt x="1009410" y="198467"/>
                </a:lnTo>
                <a:lnTo>
                  <a:pt x="985521" y="239833"/>
                </a:lnTo>
                <a:lnTo>
                  <a:pt x="978158" y="266850"/>
                </a:lnTo>
                <a:lnTo>
                  <a:pt x="1016820" y="266850"/>
                </a:lnTo>
                <a:lnTo>
                  <a:pt x="1021605" y="255716"/>
                </a:lnTo>
                <a:lnTo>
                  <a:pt x="1035842" y="236558"/>
                </a:lnTo>
                <a:lnTo>
                  <a:pt x="1054017" y="222285"/>
                </a:lnTo>
                <a:lnTo>
                  <a:pt x="1076485" y="212089"/>
                </a:lnTo>
                <a:lnTo>
                  <a:pt x="1103249" y="205970"/>
                </a:lnTo>
                <a:lnTo>
                  <a:pt x="1134311" y="203930"/>
                </a:lnTo>
                <a:lnTo>
                  <a:pt x="1762909" y="203930"/>
                </a:lnTo>
                <a:lnTo>
                  <a:pt x="1809663" y="201198"/>
                </a:lnTo>
                <a:lnTo>
                  <a:pt x="1849719" y="193001"/>
                </a:lnTo>
                <a:lnTo>
                  <a:pt x="1909742" y="160225"/>
                </a:lnTo>
                <a:lnTo>
                  <a:pt x="1944692" y="104151"/>
                </a:lnTo>
                <a:lnTo>
                  <a:pt x="1953433" y="66826"/>
                </a:lnTo>
                <a:lnTo>
                  <a:pt x="1956348" y="23308"/>
                </a:lnTo>
                <a:lnTo>
                  <a:pt x="195634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39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454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Метод </a:t>
            </a:r>
            <a:r>
              <a:rPr spc="-310" dirty="0"/>
              <a:t>главных</a:t>
            </a:r>
            <a:r>
              <a:rPr spc="-45" dirty="0"/>
              <a:t> </a:t>
            </a:r>
            <a:r>
              <a:rPr spc="-260" dirty="0"/>
              <a:t>компонент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8046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Данные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19626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10582" y="3313691"/>
            <a:ext cx="2571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4950" spc="-247" baseline="-18518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4400" y="3453163"/>
            <a:ext cx="20300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6385" algn="l"/>
              </a:tabLst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3300" b="1" i="1" spc="-1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849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9422" y="3767289"/>
            <a:ext cx="27495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  <a:tab pos="1195705" algn="l"/>
                <a:tab pos="2081530" algn="l"/>
                <a:tab pos="246380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4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0988" y="3453163"/>
            <a:ext cx="487934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1296035" algn="l"/>
                <a:tab pos="42379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760220">
              <a:lnSpc>
                <a:spcPts val="1550"/>
              </a:lnSpc>
              <a:tabLst>
                <a:tab pos="3500754" algn="l"/>
                <a:tab pos="3878579" algn="l"/>
              </a:tabLst>
            </a:pP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[2]	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	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70705" y="3767199"/>
            <a:ext cx="3009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34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89844" y="4458368"/>
            <a:ext cx="280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spc="-3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70104" y="4772494"/>
            <a:ext cx="3168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314" y="4458368"/>
            <a:ext cx="12039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1360" algn="l"/>
              </a:tabLst>
            </a:pPr>
            <a:r>
              <a:rPr sz="3300" b="1" spc="-975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75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spc="-1235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3743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5780" y="4493549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2755" y="4772404"/>
            <a:ext cx="97281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4984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63062" y="4279053"/>
            <a:ext cx="5288280" cy="138938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  <a:tabLst>
                <a:tab pos="847725" algn="l"/>
              </a:tabLst>
            </a:pP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главные</a:t>
            </a:r>
            <a:r>
              <a:rPr sz="3300" spc="-6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компоненты;</a:t>
            </a:r>
            <a:endParaRPr sz="3300">
              <a:latin typeface="Arial"/>
              <a:cs typeface="Arial"/>
            </a:endParaRPr>
          </a:p>
          <a:p>
            <a:pPr marL="2638425">
              <a:lnSpc>
                <a:spcPct val="100000"/>
              </a:lnSpc>
              <a:spcBef>
                <a:spcPts val="1410"/>
              </a:spcBef>
            </a:pPr>
            <a:r>
              <a:rPr sz="3300" spc="-114" dirty="0">
                <a:solidFill>
                  <a:srgbClr val="CB3757"/>
                </a:solidFill>
                <a:latin typeface="Arial"/>
                <a:cs typeface="Arial"/>
              </a:rPr>
              <a:t>большие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42104" y="5887235"/>
            <a:ext cx="3689985" cy="1344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562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2850" b="1" i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2850" b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8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1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2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850" baseline="-32163">
              <a:latin typeface="Verdana"/>
              <a:cs typeface="Verdana"/>
            </a:endParaRPr>
          </a:p>
          <a:p>
            <a:pPr marL="2106295">
              <a:lnSpc>
                <a:spcPct val="100000"/>
              </a:lnSpc>
              <a:spcBef>
                <a:spcPts val="2470"/>
              </a:spcBef>
            </a:pPr>
            <a:r>
              <a:rPr sz="3300" spc="-145" dirty="0">
                <a:solidFill>
                  <a:srgbClr val="627AEB"/>
                </a:solidFill>
                <a:latin typeface="Arial"/>
                <a:cs typeface="Arial"/>
              </a:rPr>
              <a:t>малые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481508" y="5700988"/>
            <a:ext cx="1726564" cy="347345"/>
          </a:xfrm>
          <a:custGeom>
            <a:avLst/>
            <a:gdLst/>
            <a:ahLst/>
            <a:cxnLst/>
            <a:rect l="l" t="t" r="r" b="b"/>
            <a:pathLst>
              <a:path w="1726565" h="347345">
                <a:moveTo>
                  <a:pt x="887480" y="0"/>
                </a:moveTo>
                <a:lnTo>
                  <a:pt x="840874" y="0"/>
                </a:lnTo>
                <a:lnTo>
                  <a:pt x="837339" y="36191"/>
                </a:lnTo>
                <a:lnTo>
                  <a:pt x="830235" y="66704"/>
                </a:lnTo>
                <a:lnTo>
                  <a:pt x="805326" y="110698"/>
                </a:lnTo>
                <a:lnTo>
                  <a:pt x="764683" y="135167"/>
                </a:lnTo>
                <a:lnTo>
                  <a:pt x="706858" y="143325"/>
                </a:lnTo>
                <a:lnTo>
                  <a:pt x="193439" y="143325"/>
                </a:lnTo>
                <a:lnTo>
                  <a:pt x="146685" y="146058"/>
                </a:lnTo>
                <a:lnTo>
                  <a:pt x="106628" y="154254"/>
                </a:lnTo>
                <a:lnTo>
                  <a:pt x="46605" y="187030"/>
                </a:lnTo>
                <a:lnTo>
                  <a:pt x="11656" y="243105"/>
                </a:lnTo>
                <a:lnTo>
                  <a:pt x="2914" y="280429"/>
                </a:lnTo>
                <a:lnTo>
                  <a:pt x="0" y="323948"/>
                </a:lnTo>
                <a:lnTo>
                  <a:pt x="0" y="347256"/>
                </a:lnTo>
                <a:lnTo>
                  <a:pt x="43108" y="347256"/>
                </a:lnTo>
                <a:lnTo>
                  <a:pt x="43108" y="321623"/>
                </a:lnTo>
                <a:lnTo>
                  <a:pt x="45330" y="289974"/>
                </a:lnTo>
                <a:lnTo>
                  <a:pt x="63106" y="239576"/>
                </a:lnTo>
                <a:lnTo>
                  <a:pt x="99017" y="206292"/>
                </a:lnTo>
                <a:lnTo>
                  <a:pt x="155235" y="189683"/>
                </a:lnTo>
                <a:lnTo>
                  <a:pt x="191104" y="187606"/>
                </a:lnTo>
                <a:lnTo>
                  <a:pt x="709193" y="187606"/>
                </a:lnTo>
                <a:lnTo>
                  <a:pt x="742036" y="186077"/>
                </a:lnTo>
                <a:lnTo>
                  <a:pt x="795057" y="173842"/>
                </a:lnTo>
                <a:lnTo>
                  <a:pt x="831758" y="148788"/>
                </a:lnTo>
                <a:lnTo>
                  <a:pt x="855648" y="107422"/>
                </a:lnTo>
                <a:lnTo>
                  <a:pt x="863010" y="80405"/>
                </a:lnTo>
                <a:lnTo>
                  <a:pt x="903996" y="80405"/>
                </a:lnTo>
                <a:lnTo>
                  <a:pt x="898111" y="66704"/>
                </a:lnTo>
                <a:lnTo>
                  <a:pt x="891013" y="36191"/>
                </a:lnTo>
                <a:lnTo>
                  <a:pt x="887480" y="0"/>
                </a:lnTo>
                <a:close/>
              </a:path>
              <a:path w="1726565" h="347345">
                <a:moveTo>
                  <a:pt x="903996" y="80405"/>
                </a:moveTo>
                <a:lnTo>
                  <a:pt x="865345" y="80405"/>
                </a:lnTo>
                <a:lnTo>
                  <a:pt x="872691" y="107422"/>
                </a:lnTo>
                <a:lnTo>
                  <a:pt x="896579" y="148788"/>
                </a:lnTo>
                <a:lnTo>
                  <a:pt x="933283" y="173842"/>
                </a:lnTo>
                <a:lnTo>
                  <a:pt x="986311" y="186077"/>
                </a:lnTo>
                <a:lnTo>
                  <a:pt x="1019162" y="187606"/>
                </a:lnTo>
                <a:lnTo>
                  <a:pt x="1534885" y="187606"/>
                </a:lnTo>
                <a:lnTo>
                  <a:pt x="1570748" y="189683"/>
                </a:lnTo>
                <a:lnTo>
                  <a:pt x="1626970" y="206292"/>
                </a:lnTo>
                <a:lnTo>
                  <a:pt x="1662877" y="239576"/>
                </a:lnTo>
                <a:lnTo>
                  <a:pt x="1680648" y="289974"/>
                </a:lnTo>
                <a:lnTo>
                  <a:pt x="1682870" y="321623"/>
                </a:lnTo>
                <a:lnTo>
                  <a:pt x="1682870" y="347256"/>
                </a:lnTo>
                <a:lnTo>
                  <a:pt x="1725989" y="347256"/>
                </a:lnTo>
                <a:lnTo>
                  <a:pt x="1725989" y="323948"/>
                </a:lnTo>
                <a:lnTo>
                  <a:pt x="1723074" y="280429"/>
                </a:lnTo>
                <a:lnTo>
                  <a:pt x="1714331" y="243105"/>
                </a:lnTo>
                <a:lnTo>
                  <a:pt x="1679372" y="187030"/>
                </a:lnTo>
                <a:lnTo>
                  <a:pt x="1619359" y="154254"/>
                </a:lnTo>
                <a:lnTo>
                  <a:pt x="1579304" y="146058"/>
                </a:lnTo>
                <a:lnTo>
                  <a:pt x="1532550" y="143325"/>
                </a:lnTo>
                <a:lnTo>
                  <a:pt x="1021487" y="143325"/>
                </a:lnTo>
                <a:lnTo>
                  <a:pt x="990424" y="141285"/>
                </a:lnTo>
                <a:lnTo>
                  <a:pt x="963657" y="135167"/>
                </a:lnTo>
                <a:lnTo>
                  <a:pt x="941189" y="124971"/>
                </a:lnTo>
                <a:lnTo>
                  <a:pt x="923019" y="110698"/>
                </a:lnTo>
                <a:lnTo>
                  <a:pt x="908778" y="91540"/>
                </a:lnTo>
                <a:lnTo>
                  <a:pt x="903996" y="80405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92971" y="6507246"/>
            <a:ext cx="1956435" cy="347345"/>
          </a:xfrm>
          <a:custGeom>
            <a:avLst/>
            <a:gdLst/>
            <a:ahLst/>
            <a:cxnLst/>
            <a:rect l="l" t="t" r="r" b="b"/>
            <a:pathLst>
              <a:path w="1956434" h="347345">
                <a:moveTo>
                  <a:pt x="43119" y="0"/>
                </a:moveTo>
                <a:lnTo>
                  <a:pt x="0" y="0"/>
                </a:lnTo>
                <a:lnTo>
                  <a:pt x="0" y="23308"/>
                </a:lnTo>
                <a:lnTo>
                  <a:pt x="2914" y="66826"/>
                </a:lnTo>
                <a:lnTo>
                  <a:pt x="11658" y="104151"/>
                </a:lnTo>
                <a:lnTo>
                  <a:pt x="46616" y="160225"/>
                </a:lnTo>
                <a:lnTo>
                  <a:pt x="106630" y="193001"/>
                </a:lnTo>
                <a:lnTo>
                  <a:pt x="146685" y="201198"/>
                </a:lnTo>
                <a:lnTo>
                  <a:pt x="193439" y="203930"/>
                </a:lnTo>
                <a:lnTo>
                  <a:pt x="819681" y="203930"/>
                </a:lnTo>
                <a:lnTo>
                  <a:pt x="850744" y="205970"/>
                </a:lnTo>
                <a:lnTo>
                  <a:pt x="899979" y="222285"/>
                </a:lnTo>
                <a:lnTo>
                  <a:pt x="932390" y="255716"/>
                </a:lnTo>
                <a:lnTo>
                  <a:pt x="950155" y="311065"/>
                </a:lnTo>
                <a:lnTo>
                  <a:pt x="953688" y="347256"/>
                </a:lnTo>
                <a:lnTo>
                  <a:pt x="1000294" y="347256"/>
                </a:lnTo>
                <a:lnTo>
                  <a:pt x="1003829" y="311065"/>
                </a:lnTo>
                <a:lnTo>
                  <a:pt x="1010933" y="280551"/>
                </a:lnTo>
                <a:lnTo>
                  <a:pt x="1016820" y="266850"/>
                </a:lnTo>
                <a:lnTo>
                  <a:pt x="975823" y="266850"/>
                </a:lnTo>
                <a:lnTo>
                  <a:pt x="958065" y="217039"/>
                </a:lnTo>
                <a:lnTo>
                  <a:pt x="928055" y="184120"/>
                </a:lnTo>
                <a:lnTo>
                  <a:pt x="883484" y="165767"/>
                </a:lnTo>
                <a:lnTo>
                  <a:pt x="822006" y="159649"/>
                </a:lnTo>
                <a:lnTo>
                  <a:pt x="191104" y="159649"/>
                </a:lnTo>
                <a:lnTo>
                  <a:pt x="155240" y="157572"/>
                </a:lnTo>
                <a:lnTo>
                  <a:pt x="99018" y="140963"/>
                </a:lnTo>
                <a:lnTo>
                  <a:pt x="63112" y="107680"/>
                </a:lnTo>
                <a:lnTo>
                  <a:pt x="45341" y="57281"/>
                </a:lnTo>
                <a:lnTo>
                  <a:pt x="43119" y="25632"/>
                </a:lnTo>
                <a:lnTo>
                  <a:pt x="43119" y="0"/>
                </a:lnTo>
                <a:close/>
              </a:path>
              <a:path w="1956434" h="347345">
                <a:moveTo>
                  <a:pt x="1956348" y="0"/>
                </a:moveTo>
                <a:lnTo>
                  <a:pt x="1913240" y="0"/>
                </a:lnTo>
                <a:lnTo>
                  <a:pt x="1913240" y="25632"/>
                </a:lnTo>
                <a:lnTo>
                  <a:pt x="1911017" y="57281"/>
                </a:lnTo>
                <a:lnTo>
                  <a:pt x="1893242" y="107680"/>
                </a:lnTo>
                <a:lnTo>
                  <a:pt x="1857331" y="140963"/>
                </a:lnTo>
                <a:lnTo>
                  <a:pt x="1801112" y="157572"/>
                </a:lnTo>
                <a:lnTo>
                  <a:pt x="1765244" y="159649"/>
                </a:lnTo>
                <a:lnTo>
                  <a:pt x="1131976" y="159649"/>
                </a:lnTo>
                <a:lnTo>
                  <a:pt x="1099132" y="161178"/>
                </a:lnTo>
                <a:lnTo>
                  <a:pt x="1046111" y="173414"/>
                </a:lnTo>
                <a:lnTo>
                  <a:pt x="1009410" y="198467"/>
                </a:lnTo>
                <a:lnTo>
                  <a:pt x="985521" y="239833"/>
                </a:lnTo>
                <a:lnTo>
                  <a:pt x="978158" y="266850"/>
                </a:lnTo>
                <a:lnTo>
                  <a:pt x="1016820" y="266850"/>
                </a:lnTo>
                <a:lnTo>
                  <a:pt x="1021605" y="255716"/>
                </a:lnTo>
                <a:lnTo>
                  <a:pt x="1035842" y="236558"/>
                </a:lnTo>
                <a:lnTo>
                  <a:pt x="1054017" y="222285"/>
                </a:lnTo>
                <a:lnTo>
                  <a:pt x="1076485" y="212089"/>
                </a:lnTo>
                <a:lnTo>
                  <a:pt x="1103249" y="205970"/>
                </a:lnTo>
                <a:lnTo>
                  <a:pt x="1134311" y="203930"/>
                </a:lnTo>
                <a:lnTo>
                  <a:pt x="1762909" y="203930"/>
                </a:lnTo>
                <a:lnTo>
                  <a:pt x="1809663" y="201198"/>
                </a:lnTo>
                <a:lnTo>
                  <a:pt x="1849719" y="193001"/>
                </a:lnTo>
                <a:lnTo>
                  <a:pt x="1909742" y="160225"/>
                </a:lnTo>
                <a:lnTo>
                  <a:pt x="1944692" y="104151"/>
                </a:lnTo>
                <a:lnTo>
                  <a:pt x="1953433" y="66826"/>
                </a:lnTo>
                <a:lnTo>
                  <a:pt x="1956348" y="23308"/>
                </a:lnTo>
                <a:lnTo>
                  <a:pt x="195634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26730" y="7788109"/>
            <a:ext cx="15494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40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79279" y="7473983"/>
            <a:ext cx="13360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</a:t>
            </a:r>
            <a:r>
              <a:rPr sz="3300" b="1" i="1" spc="-2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16784" y="7788109"/>
            <a:ext cx="6584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54330" algn="l"/>
              </a:tabLst>
            </a:pP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	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62436" y="7473983"/>
            <a:ext cx="14325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3615" algn="l"/>
              </a:tabLst>
            </a:pP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4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97949" y="7509164"/>
            <a:ext cx="316865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3495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56200" y="7254094"/>
            <a:ext cx="41211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15096" y="7076089"/>
            <a:ext cx="19240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3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61910" y="8046426"/>
            <a:ext cx="60198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1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2450" b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spc="-6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454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Метод </a:t>
            </a:r>
            <a:r>
              <a:rPr spc="-310" dirty="0"/>
              <a:t>главных</a:t>
            </a:r>
            <a:r>
              <a:rPr spc="-45" dirty="0"/>
              <a:t> </a:t>
            </a:r>
            <a:r>
              <a:rPr spc="-260" dirty="0"/>
              <a:t>компонент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8046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Данные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19626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10582" y="3313691"/>
            <a:ext cx="2571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4950" spc="-247" baseline="-18518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4400" y="3453163"/>
            <a:ext cx="20300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6385" algn="l"/>
              </a:tabLst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3300" b="1" i="1" spc="-1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849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9422" y="3767289"/>
            <a:ext cx="27495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  <a:tab pos="1195705" algn="l"/>
                <a:tab pos="2081530" algn="l"/>
                <a:tab pos="246380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4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0988" y="3453163"/>
            <a:ext cx="487934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1296035" algn="l"/>
                <a:tab pos="42379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760220">
              <a:lnSpc>
                <a:spcPts val="1550"/>
              </a:lnSpc>
              <a:tabLst>
                <a:tab pos="3500754" algn="l"/>
                <a:tab pos="3878579" algn="l"/>
              </a:tabLst>
            </a:pP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[2]	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	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70705" y="3767199"/>
            <a:ext cx="3009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34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89844" y="4458368"/>
            <a:ext cx="280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spc="-3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70104" y="4772494"/>
            <a:ext cx="3168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314" y="4458368"/>
            <a:ext cx="12039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1360" algn="l"/>
              </a:tabLst>
            </a:pPr>
            <a:r>
              <a:rPr sz="3300" b="1" spc="-975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75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spc="-1235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3743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5780" y="4493549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2755" y="4772404"/>
            <a:ext cx="97281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4984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311502" y="9016972"/>
            <a:ext cx="15494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50363" y="9295917"/>
            <a:ext cx="92011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4659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1900" b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06104" y="8981790"/>
            <a:ext cx="124567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56390" algn="l"/>
                <a:tab pos="12347575" algn="l"/>
              </a:tabLst>
            </a:pPr>
            <a:r>
              <a:rPr sz="3300" spc="-35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r>
              <a:rPr sz="3300" spc="-5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20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110" dirty="0">
                <a:solidFill>
                  <a:srgbClr val="1E1E1E"/>
                </a:solidFill>
                <a:latin typeface="Arial"/>
                <a:cs typeface="Arial"/>
              </a:rPr>
              <a:t>к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й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н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п</a:t>
            </a:r>
            <a:r>
              <a:rPr sz="3300" spc="-215" dirty="0">
                <a:solidFill>
                  <a:srgbClr val="1E1E1E"/>
                </a:solidFill>
                <a:latin typeface="Arial"/>
                <a:cs typeface="Arial"/>
              </a:rPr>
              <a:t>л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к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200" dirty="0">
                <a:solidFill>
                  <a:srgbClr val="1E1E1E"/>
                </a:solidFill>
                <a:latin typeface="Arial"/>
                <a:cs typeface="Arial"/>
              </a:rPr>
              <a:t>ь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н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r>
              <a:rPr sz="3300" spc="-210" dirty="0">
                <a:solidFill>
                  <a:srgbClr val="1E1E1E"/>
                </a:solidFill>
                <a:latin typeface="Arial"/>
                <a:cs typeface="Arial"/>
              </a:rPr>
              <a:t>л</a:t>
            </a:r>
            <a:r>
              <a:rPr sz="3300" spc="-195" dirty="0">
                <a:solidFill>
                  <a:srgbClr val="1E1E1E"/>
                </a:solidFill>
                <a:latin typeface="Arial"/>
                <a:cs typeface="Arial"/>
              </a:rPr>
              <a:t>я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ю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щи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170" dirty="0">
                <a:solidFill>
                  <a:srgbClr val="1E1E1E"/>
                </a:solidFill>
                <a:latin typeface="Arial"/>
                <a:cs typeface="Arial"/>
              </a:rPr>
              <a:t>к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37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63062" y="4279053"/>
            <a:ext cx="5288280" cy="138938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  <a:tabLst>
                <a:tab pos="847725" algn="l"/>
              </a:tabLst>
            </a:pP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главные</a:t>
            </a:r>
            <a:r>
              <a:rPr sz="3300" spc="-6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компоненты;</a:t>
            </a:r>
            <a:endParaRPr sz="3300">
              <a:latin typeface="Arial"/>
              <a:cs typeface="Arial"/>
            </a:endParaRPr>
          </a:p>
          <a:p>
            <a:pPr marL="2638425">
              <a:lnSpc>
                <a:spcPct val="100000"/>
              </a:lnSpc>
              <a:spcBef>
                <a:spcPts val="1410"/>
              </a:spcBef>
            </a:pPr>
            <a:r>
              <a:rPr sz="3300" spc="-114" dirty="0">
                <a:solidFill>
                  <a:srgbClr val="CB3757"/>
                </a:solidFill>
                <a:latin typeface="Arial"/>
                <a:cs typeface="Arial"/>
              </a:rPr>
              <a:t>большие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42209" y="5887434"/>
            <a:ext cx="3689350" cy="1344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562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2850" b="1" i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2850" b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8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1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2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850" baseline="-32163">
              <a:latin typeface="Verdana"/>
              <a:cs typeface="Verdana"/>
            </a:endParaRPr>
          </a:p>
          <a:p>
            <a:pPr marL="2106295">
              <a:lnSpc>
                <a:spcPct val="100000"/>
              </a:lnSpc>
              <a:spcBef>
                <a:spcPts val="2470"/>
              </a:spcBef>
            </a:pPr>
            <a:r>
              <a:rPr sz="3300" spc="-145" dirty="0">
                <a:solidFill>
                  <a:srgbClr val="627AEB"/>
                </a:solidFill>
                <a:latin typeface="Arial"/>
                <a:cs typeface="Arial"/>
              </a:rPr>
              <a:t>малые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481508" y="5700988"/>
            <a:ext cx="1726564" cy="347345"/>
          </a:xfrm>
          <a:custGeom>
            <a:avLst/>
            <a:gdLst/>
            <a:ahLst/>
            <a:cxnLst/>
            <a:rect l="l" t="t" r="r" b="b"/>
            <a:pathLst>
              <a:path w="1726565" h="347345">
                <a:moveTo>
                  <a:pt x="887480" y="0"/>
                </a:moveTo>
                <a:lnTo>
                  <a:pt x="840874" y="0"/>
                </a:lnTo>
                <a:lnTo>
                  <a:pt x="837339" y="36191"/>
                </a:lnTo>
                <a:lnTo>
                  <a:pt x="830235" y="66704"/>
                </a:lnTo>
                <a:lnTo>
                  <a:pt x="805326" y="110698"/>
                </a:lnTo>
                <a:lnTo>
                  <a:pt x="764683" y="135167"/>
                </a:lnTo>
                <a:lnTo>
                  <a:pt x="706858" y="143325"/>
                </a:lnTo>
                <a:lnTo>
                  <a:pt x="193439" y="143325"/>
                </a:lnTo>
                <a:lnTo>
                  <a:pt x="146685" y="146058"/>
                </a:lnTo>
                <a:lnTo>
                  <a:pt x="106628" y="154254"/>
                </a:lnTo>
                <a:lnTo>
                  <a:pt x="46605" y="187030"/>
                </a:lnTo>
                <a:lnTo>
                  <a:pt x="11656" y="243105"/>
                </a:lnTo>
                <a:lnTo>
                  <a:pt x="2914" y="280429"/>
                </a:lnTo>
                <a:lnTo>
                  <a:pt x="0" y="323948"/>
                </a:lnTo>
                <a:lnTo>
                  <a:pt x="0" y="347256"/>
                </a:lnTo>
                <a:lnTo>
                  <a:pt x="43108" y="347256"/>
                </a:lnTo>
                <a:lnTo>
                  <a:pt x="43108" y="321623"/>
                </a:lnTo>
                <a:lnTo>
                  <a:pt x="45330" y="289974"/>
                </a:lnTo>
                <a:lnTo>
                  <a:pt x="63106" y="239576"/>
                </a:lnTo>
                <a:lnTo>
                  <a:pt x="99017" y="206292"/>
                </a:lnTo>
                <a:lnTo>
                  <a:pt x="155235" y="189683"/>
                </a:lnTo>
                <a:lnTo>
                  <a:pt x="191104" y="187606"/>
                </a:lnTo>
                <a:lnTo>
                  <a:pt x="709193" y="187606"/>
                </a:lnTo>
                <a:lnTo>
                  <a:pt x="742036" y="186077"/>
                </a:lnTo>
                <a:lnTo>
                  <a:pt x="795057" y="173842"/>
                </a:lnTo>
                <a:lnTo>
                  <a:pt x="831758" y="148788"/>
                </a:lnTo>
                <a:lnTo>
                  <a:pt x="855648" y="107422"/>
                </a:lnTo>
                <a:lnTo>
                  <a:pt x="863010" y="80405"/>
                </a:lnTo>
                <a:lnTo>
                  <a:pt x="903996" y="80405"/>
                </a:lnTo>
                <a:lnTo>
                  <a:pt x="898111" y="66704"/>
                </a:lnTo>
                <a:lnTo>
                  <a:pt x="891013" y="36191"/>
                </a:lnTo>
                <a:lnTo>
                  <a:pt x="887480" y="0"/>
                </a:lnTo>
                <a:close/>
              </a:path>
              <a:path w="1726565" h="347345">
                <a:moveTo>
                  <a:pt x="903996" y="80405"/>
                </a:moveTo>
                <a:lnTo>
                  <a:pt x="865345" y="80405"/>
                </a:lnTo>
                <a:lnTo>
                  <a:pt x="872691" y="107422"/>
                </a:lnTo>
                <a:lnTo>
                  <a:pt x="896579" y="148788"/>
                </a:lnTo>
                <a:lnTo>
                  <a:pt x="933283" y="173842"/>
                </a:lnTo>
                <a:lnTo>
                  <a:pt x="986311" y="186077"/>
                </a:lnTo>
                <a:lnTo>
                  <a:pt x="1019162" y="187606"/>
                </a:lnTo>
                <a:lnTo>
                  <a:pt x="1534885" y="187606"/>
                </a:lnTo>
                <a:lnTo>
                  <a:pt x="1570748" y="189683"/>
                </a:lnTo>
                <a:lnTo>
                  <a:pt x="1626970" y="206292"/>
                </a:lnTo>
                <a:lnTo>
                  <a:pt x="1662877" y="239576"/>
                </a:lnTo>
                <a:lnTo>
                  <a:pt x="1680648" y="289974"/>
                </a:lnTo>
                <a:lnTo>
                  <a:pt x="1682870" y="321623"/>
                </a:lnTo>
                <a:lnTo>
                  <a:pt x="1682870" y="347256"/>
                </a:lnTo>
                <a:lnTo>
                  <a:pt x="1725989" y="347256"/>
                </a:lnTo>
                <a:lnTo>
                  <a:pt x="1725989" y="323948"/>
                </a:lnTo>
                <a:lnTo>
                  <a:pt x="1723074" y="280429"/>
                </a:lnTo>
                <a:lnTo>
                  <a:pt x="1714331" y="243105"/>
                </a:lnTo>
                <a:lnTo>
                  <a:pt x="1679372" y="187030"/>
                </a:lnTo>
                <a:lnTo>
                  <a:pt x="1619359" y="154254"/>
                </a:lnTo>
                <a:lnTo>
                  <a:pt x="1579304" y="146058"/>
                </a:lnTo>
                <a:lnTo>
                  <a:pt x="1532550" y="143325"/>
                </a:lnTo>
                <a:lnTo>
                  <a:pt x="1021487" y="143325"/>
                </a:lnTo>
                <a:lnTo>
                  <a:pt x="990424" y="141285"/>
                </a:lnTo>
                <a:lnTo>
                  <a:pt x="963657" y="135167"/>
                </a:lnTo>
                <a:lnTo>
                  <a:pt x="941189" y="124971"/>
                </a:lnTo>
                <a:lnTo>
                  <a:pt x="923019" y="110698"/>
                </a:lnTo>
                <a:lnTo>
                  <a:pt x="908778" y="91540"/>
                </a:lnTo>
                <a:lnTo>
                  <a:pt x="903996" y="80405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92971" y="6507246"/>
            <a:ext cx="1956435" cy="347345"/>
          </a:xfrm>
          <a:custGeom>
            <a:avLst/>
            <a:gdLst/>
            <a:ahLst/>
            <a:cxnLst/>
            <a:rect l="l" t="t" r="r" b="b"/>
            <a:pathLst>
              <a:path w="1956434" h="347345">
                <a:moveTo>
                  <a:pt x="43119" y="0"/>
                </a:moveTo>
                <a:lnTo>
                  <a:pt x="0" y="0"/>
                </a:lnTo>
                <a:lnTo>
                  <a:pt x="0" y="23308"/>
                </a:lnTo>
                <a:lnTo>
                  <a:pt x="2914" y="66826"/>
                </a:lnTo>
                <a:lnTo>
                  <a:pt x="11658" y="104151"/>
                </a:lnTo>
                <a:lnTo>
                  <a:pt x="46616" y="160225"/>
                </a:lnTo>
                <a:lnTo>
                  <a:pt x="106630" y="193001"/>
                </a:lnTo>
                <a:lnTo>
                  <a:pt x="146685" y="201198"/>
                </a:lnTo>
                <a:lnTo>
                  <a:pt x="193439" y="203930"/>
                </a:lnTo>
                <a:lnTo>
                  <a:pt x="819681" y="203930"/>
                </a:lnTo>
                <a:lnTo>
                  <a:pt x="850744" y="205970"/>
                </a:lnTo>
                <a:lnTo>
                  <a:pt x="899979" y="222285"/>
                </a:lnTo>
                <a:lnTo>
                  <a:pt x="932390" y="255716"/>
                </a:lnTo>
                <a:lnTo>
                  <a:pt x="950155" y="311065"/>
                </a:lnTo>
                <a:lnTo>
                  <a:pt x="953688" y="347256"/>
                </a:lnTo>
                <a:lnTo>
                  <a:pt x="1000294" y="347256"/>
                </a:lnTo>
                <a:lnTo>
                  <a:pt x="1003829" y="311065"/>
                </a:lnTo>
                <a:lnTo>
                  <a:pt x="1010933" y="280551"/>
                </a:lnTo>
                <a:lnTo>
                  <a:pt x="1016820" y="266850"/>
                </a:lnTo>
                <a:lnTo>
                  <a:pt x="975823" y="266850"/>
                </a:lnTo>
                <a:lnTo>
                  <a:pt x="958065" y="217039"/>
                </a:lnTo>
                <a:lnTo>
                  <a:pt x="928055" y="184120"/>
                </a:lnTo>
                <a:lnTo>
                  <a:pt x="883484" y="165767"/>
                </a:lnTo>
                <a:lnTo>
                  <a:pt x="822006" y="159649"/>
                </a:lnTo>
                <a:lnTo>
                  <a:pt x="191104" y="159649"/>
                </a:lnTo>
                <a:lnTo>
                  <a:pt x="155240" y="157572"/>
                </a:lnTo>
                <a:lnTo>
                  <a:pt x="99018" y="140963"/>
                </a:lnTo>
                <a:lnTo>
                  <a:pt x="63112" y="107680"/>
                </a:lnTo>
                <a:lnTo>
                  <a:pt x="45341" y="57281"/>
                </a:lnTo>
                <a:lnTo>
                  <a:pt x="43119" y="25632"/>
                </a:lnTo>
                <a:lnTo>
                  <a:pt x="43119" y="0"/>
                </a:lnTo>
                <a:close/>
              </a:path>
              <a:path w="1956434" h="347345">
                <a:moveTo>
                  <a:pt x="1956348" y="0"/>
                </a:moveTo>
                <a:lnTo>
                  <a:pt x="1913240" y="0"/>
                </a:lnTo>
                <a:lnTo>
                  <a:pt x="1913240" y="25632"/>
                </a:lnTo>
                <a:lnTo>
                  <a:pt x="1911017" y="57281"/>
                </a:lnTo>
                <a:lnTo>
                  <a:pt x="1893242" y="107680"/>
                </a:lnTo>
                <a:lnTo>
                  <a:pt x="1857331" y="140963"/>
                </a:lnTo>
                <a:lnTo>
                  <a:pt x="1801112" y="157572"/>
                </a:lnTo>
                <a:lnTo>
                  <a:pt x="1765244" y="159649"/>
                </a:lnTo>
                <a:lnTo>
                  <a:pt x="1131976" y="159649"/>
                </a:lnTo>
                <a:lnTo>
                  <a:pt x="1099132" y="161178"/>
                </a:lnTo>
                <a:lnTo>
                  <a:pt x="1046111" y="173414"/>
                </a:lnTo>
                <a:lnTo>
                  <a:pt x="1009410" y="198467"/>
                </a:lnTo>
                <a:lnTo>
                  <a:pt x="985521" y="239833"/>
                </a:lnTo>
                <a:lnTo>
                  <a:pt x="978158" y="266850"/>
                </a:lnTo>
                <a:lnTo>
                  <a:pt x="1016820" y="266850"/>
                </a:lnTo>
                <a:lnTo>
                  <a:pt x="1021605" y="255716"/>
                </a:lnTo>
                <a:lnTo>
                  <a:pt x="1035842" y="236558"/>
                </a:lnTo>
                <a:lnTo>
                  <a:pt x="1054017" y="222285"/>
                </a:lnTo>
                <a:lnTo>
                  <a:pt x="1076485" y="212089"/>
                </a:lnTo>
                <a:lnTo>
                  <a:pt x="1103249" y="205970"/>
                </a:lnTo>
                <a:lnTo>
                  <a:pt x="1134311" y="203930"/>
                </a:lnTo>
                <a:lnTo>
                  <a:pt x="1762909" y="203930"/>
                </a:lnTo>
                <a:lnTo>
                  <a:pt x="1809663" y="201198"/>
                </a:lnTo>
                <a:lnTo>
                  <a:pt x="1849719" y="193001"/>
                </a:lnTo>
                <a:lnTo>
                  <a:pt x="1909742" y="160225"/>
                </a:lnTo>
                <a:lnTo>
                  <a:pt x="1944692" y="104151"/>
                </a:lnTo>
                <a:lnTo>
                  <a:pt x="1953433" y="66826"/>
                </a:lnTo>
                <a:lnTo>
                  <a:pt x="1956348" y="23308"/>
                </a:lnTo>
                <a:lnTo>
                  <a:pt x="195634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26730" y="7788109"/>
            <a:ext cx="15494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41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9279" y="7473983"/>
            <a:ext cx="13360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</a:t>
            </a:r>
            <a:r>
              <a:rPr sz="3300" b="1" i="1" spc="-2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62436" y="7473983"/>
            <a:ext cx="14325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2850" b="1" i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2850" b="1" i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2850" b="1" spc="-644" baseline="-32163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spc="-9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97949" y="7509164"/>
            <a:ext cx="316865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3495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56200" y="7254094"/>
            <a:ext cx="41211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15096" y="7076089"/>
            <a:ext cx="19240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3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06104" y="8004568"/>
            <a:ext cx="11536680" cy="100266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R="215265" algn="ctr">
              <a:lnSpc>
                <a:spcPct val="100000"/>
              </a:lnSpc>
              <a:spcBef>
                <a:spcPts val="450"/>
              </a:spcBef>
            </a:pPr>
            <a:r>
              <a:rPr sz="2450" b="1" i="1" spc="-31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2450" b="1" spc="-65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245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Эллипсоид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адекватно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оценивается своей</a:t>
            </a:r>
            <a:r>
              <a:rPr sz="3300" spc="6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«тенью»,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71335" y="1233335"/>
            <a:ext cx="1600771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spc="-270" dirty="0">
                <a:solidFill>
                  <a:srgbClr val="1E1E1E"/>
                </a:solidFill>
                <a:latin typeface="Arial"/>
                <a:cs typeface="Arial"/>
              </a:rPr>
              <a:t>Сингулярное </a:t>
            </a:r>
            <a:r>
              <a:rPr sz="4950" b="1" spc="-215" dirty="0">
                <a:solidFill>
                  <a:srgbClr val="1E1E1E"/>
                </a:solidFill>
                <a:latin typeface="Arial"/>
                <a:cs typeface="Arial"/>
              </a:rPr>
              <a:t>разложение: </a:t>
            </a:r>
            <a:r>
              <a:rPr sz="4950" b="1" spc="-229" dirty="0">
                <a:solidFill>
                  <a:srgbClr val="1E1E1E"/>
                </a:solidFill>
                <a:latin typeface="Arial"/>
                <a:cs typeface="Arial"/>
              </a:rPr>
              <a:t>распознавание</a:t>
            </a:r>
            <a:r>
              <a:rPr sz="4950" b="1" spc="3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spc="-170" dirty="0">
                <a:solidFill>
                  <a:srgbClr val="1E1E1E"/>
                </a:solidFill>
                <a:latin typeface="Arial"/>
                <a:cs typeface="Arial"/>
              </a:rPr>
              <a:t>фотографий</a:t>
            </a:r>
            <a:endParaRPr sz="4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42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17024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Облако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данных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может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состоять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нескольких</a:t>
            </a:r>
            <a:r>
              <a:rPr sz="3300" spc="5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«эллипсоидов».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71335" y="1233335"/>
            <a:ext cx="1600771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</a:t>
            </a:r>
            <a:r>
              <a:rPr spc="-229" dirty="0"/>
              <a:t>распознавание</a:t>
            </a:r>
            <a:r>
              <a:rPr spc="300" dirty="0"/>
              <a:t> </a:t>
            </a:r>
            <a:r>
              <a:rPr spc="-170" dirty="0"/>
              <a:t>фотографий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170241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Облако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данных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может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состоять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нескольких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«эллипсоидов». 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Сингулярное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разложение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часто</a:t>
            </a:r>
            <a:r>
              <a:rPr sz="3300" spc="2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срабатывает.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686" y="4960970"/>
            <a:ext cx="13901419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spc="-165" dirty="0">
                <a:solidFill>
                  <a:srgbClr val="1E1E1E"/>
                </a:solidFill>
                <a:latin typeface="Arial"/>
                <a:cs typeface="Arial"/>
              </a:rPr>
              <a:t>Пример: </a:t>
            </a:r>
            <a:r>
              <a:rPr sz="3300" b="1" spc="55" dirty="0">
                <a:solidFill>
                  <a:srgbClr val="1E1E1E"/>
                </a:solidFill>
                <a:latin typeface="Arial"/>
                <a:cs typeface="Arial"/>
              </a:rPr>
              <a:t>10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человек, </a:t>
            </a:r>
            <a:r>
              <a:rPr sz="3300" b="1" spc="100" dirty="0">
                <a:solidFill>
                  <a:srgbClr val="1E1E1E"/>
                </a:solidFill>
                <a:latin typeface="Arial"/>
                <a:cs typeface="Arial"/>
              </a:rPr>
              <a:t>80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оцифрованных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векторизованных</a:t>
            </a:r>
            <a:r>
              <a:rPr sz="3300" spc="3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фотографий,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b="1" spc="55" dirty="0">
                <a:solidFill>
                  <a:srgbClr val="1E1E1E"/>
                </a:solidFill>
                <a:latin typeface="Arial"/>
                <a:cs typeface="Arial"/>
              </a:rPr>
              <a:t>10 </a:t>
            </a:r>
            <a:r>
              <a:rPr sz="3300" b="1" spc="125" dirty="0">
                <a:solidFill>
                  <a:srgbClr val="1E1E1E"/>
                </a:solidFill>
                <a:latin typeface="Arial"/>
                <a:cs typeface="Arial"/>
              </a:rPr>
              <a:t>000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пикселей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каждая.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Сингулярное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разложение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данных 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1065" dirty="0">
                <a:solidFill>
                  <a:srgbClr val="1E1E1E"/>
                </a:solidFill>
                <a:latin typeface="DejaVu Sans"/>
                <a:cs typeface="DejaVu Sans"/>
              </a:rPr>
              <a:t>∈</a:t>
            </a:r>
            <a:endParaRPr sz="3300">
              <a:latin typeface="DejaVu Sans"/>
              <a:cs typeface="DejaVu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050526" y="560610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5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5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5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5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45" y="16365"/>
                </a:lnTo>
                <a:lnTo>
                  <a:pt x="128446" y="14743"/>
                </a:lnTo>
                <a:close/>
              </a:path>
              <a:path w="304165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2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5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5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9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402222" y="5498755"/>
            <a:ext cx="115062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360" dirty="0">
                <a:solidFill>
                  <a:srgbClr val="1E1E1E"/>
                </a:solidFill>
                <a:latin typeface="Verdana"/>
                <a:cs typeface="Verdana"/>
              </a:rPr>
              <a:t>80×10</a:t>
            </a:r>
            <a:r>
              <a:rPr sz="1900" b="1" spc="-4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54" dirty="0">
                <a:solidFill>
                  <a:srgbClr val="1E1E1E"/>
                </a:solidFill>
                <a:latin typeface="Verdana"/>
                <a:cs typeface="Verdana"/>
              </a:rPr>
              <a:t>000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43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58158" y="8591017"/>
            <a:ext cx="4089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i="1" spc="-225" baseline="-18518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1476" y="9044526"/>
            <a:ext cx="3168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76506" y="8730489"/>
            <a:ext cx="575056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3307079" algn="l"/>
                <a:tab pos="497840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  </a:t>
            </a:r>
            <a:r>
              <a:rPr sz="3300" b="1" i="1" spc="-325" dirty="0">
                <a:solidFill>
                  <a:srgbClr val="1E1E1E"/>
                </a:solidFill>
                <a:latin typeface="Verdana"/>
                <a:cs typeface="Verdana"/>
              </a:rPr>
              <a:t>α</a:t>
            </a:r>
            <a:r>
              <a:rPr sz="2850" b="1" i="1" spc="-487" baseline="-32163" dirty="0">
                <a:solidFill>
                  <a:srgbClr val="1E1E1E"/>
                </a:solidFill>
                <a:latin typeface="Verdana"/>
                <a:cs typeface="Verdana"/>
              </a:rPr>
              <a:t>j  </a:t>
            </a:r>
            <a:r>
              <a:rPr sz="2850" b="1" spc="-862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spc="-862" baseline="-32163" dirty="0">
                <a:solidFill>
                  <a:srgbClr val="1E1E1E"/>
                </a:solidFill>
                <a:latin typeface="Verdana"/>
                <a:cs typeface="Verdana"/>
              </a:rPr>
              <a:t>[    </a:t>
            </a:r>
            <a:r>
              <a:rPr sz="2850" b="1" spc="-42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2850" b="1" spc="-644" baseline="-32163" dirty="0">
                <a:solidFill>
                  <a:srgbClr val="1E1E1E"/>
                </a:solidFill>
                <a:latin typeface="Verdana"/>
                <a:cs typeface="Verdana"/>
              </a:rPr>
              <a:t>]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25" dirty="0">
                <a:solidFill>
                  <a:srgbClr val="1E1E1E"/>
                </a:solidFill>
                <a:latin typeface="Verdana"/>
                <a:cs typeface="Verdana"/>
              </a:rPr>
              <a:t>α</a:t>
            </a:r>
            <a:r>
              <a:rPr sz="2850" b="1" i="1" spc="-487" baseline="-32163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2850" b="1" i="1" spc="-270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i="1" spc="-547" baseline="32163" dirty="0">
                <a:solidFill>
                  <a:srgbClr val="1E1E1E"/>
                </a:solidFill>
                <a:latin typeface="Verdana"/>
                <a:cs typeface="Verdana"/>
              </a:rPr>
              <a:t>Т	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α	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i="1" spc="-59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2863215">
              <a:lnSpc>
                <a:spcPts val="1550"/>
              </a:lnSpc>
              <a:tabLst>
                <a:tab pos="4722495" algn="l"/>
                <a:tab pos="5377180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1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9	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9</a:t>
            </a:r>
            <a:r>
              <a:rPr sz="1900" b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79264" y="6547592"/>
            <a:ext cx="5664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35770" y="6687064"/>
            <a:ext cx="17462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90"/>
              </a:lnSpc>
              <a:spcBef>
                <a:spcPts val="95"/>
              </a:spcBef>
            </a:pPr>
            <a:r>
              <a:rPr sz="4950" b="1" i="1" spc="-322" baseline="18518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1900" b="1" i="1" spc="-215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4950" b="1" i="1" spc="-540" baseline="18518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1900" b="1" spc="-36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4950" b="1" i="1" spc="-592" baseline="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i="1" spc="-592" baseline="64327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2850" b="1" i="1" spc="-660" baseline="64327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  <a:p>
            <a:pPr marR="116839" algn="r">
              <a:lnSpc>
                <a:spcPts val="1090"/>
              </a:lnSpc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07517" y="6294940"/>
            <a:ext cx="41211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42793" y="6128474"/>
            <a:ext cx="37909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55" dirty="0">
                <a:solidFill>
                  <a:srgbClr val="1E1E1E"/>
                </a:solidFill>
                <a:latin typeface="Verdana"/>
                <a:cs typeface="Verdana"/>
              </a:rPr>
              <a:t>80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06104" y="6911670"/>
            <a:ext cx="11198225" cy="1341755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R="374015" algn="ctr">
              <a:lnSpc>
                <a:spcPct val="100000"/>
              </a:lnSpc>
              <a:spcBef>
                <a:spcPts val="1595"/>
              </a:spcBef>
            </a:pPr>
            <a:r>
              <a:rPr sz="2450" b="1" i="1" spc="-31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2450" b="1" spc="-65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245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70"/>
              </a:spcBef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Что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произойдет,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оставим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только </a:t>
            </a:r>
            <a:r>
              <a:rPr sz="3300" b="1" spc="140" dirty="0">
                <a:solidFill>
                  <a:srgbClr val="1E1E1E"/>
                </a:solidFill>
                <a:latin typeface="Arial"/>
                <a:cs typeface="Arial"/>
              </a:rPr>
              <a:t>9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первых</a:t>
            </a:r>
            <a:r>
              <a:rPr sz="3300" spc="5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слагаемых?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9353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395" dirty="0">
                <a:latin typeface="Arial"/>
                <a:cs typeface="Arial"/>
              </a:rPr>
              <a:t>«</a:t>
            </a:r>
            <a:r>
              <a:rPr spc="-395" dirty="0"/>
              <a:t>Собственные</a:t>
            </a:r>
            <a:r>
              <a:rPr b="0" spc="-395" dirty="0">
                <a:latin typeface="Arial"/>
                <a:cs typeface="Arial"/>
              </a:rPr>
              <a:t>»</a:t>
            </a:r>
            <a:r>
              <a:rPr b="0" spc="-130" dirty="0">
                <a:latin typeface="Arial"/>
                <a:cs typeface="Arial"/>
              </a:rPr>
              <a:t> </a:t>
            </a:r>
            <a:r>
              <a:rPr spc="-195" dirty="0"/>
              <a:t>лица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132395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spc="-802" baseline="-32163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r>
              <a:rPr sz="3300" spc="-535" dirty="0">
                <a:solidFill>
                  <a:srgbClr val="1E1E1E"/>
                </a:solidFill>
                <a:latin typeface="Arial"/>
                <a:cs typeface="Arial"/>
              </a:rPr>
              <a:t>, 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[2]</a:t>
            </a:r>
            <a:r>
              <a:rPr sz="3300" spc="-505" dirty="0">
                <a:solidFill>
                  <a:srgbClr val="1E1E1E"/>
                </a:solidFill>
                <a:latin typeface="Arial"/>
                <a:cs typeface="Arial"/>
              </a:rPr>
              <a:t>,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-509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тоже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векторизованные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фотографии, </a:t>
            </a: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Eigenfaces.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18804" y="4345417"/>
            <a:ext cx="5219767" cy="5066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90490" y="5706632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5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23862" y="5631107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91014" y="74305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5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24386" y="73759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91014" y="91703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5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24386" y="91157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7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13472" y="5706632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46843" y="5631107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13472" y="74305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646843" y="73759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5</a:t>
            </a:r>
            <a:endParaRPr sz="19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13472" y="91703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46843" y="91157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8</a:t>
            </a:r>
            <a:endParaRPr sz="19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95648" y="5706632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29030" y="5631107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97187" y="74305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430559" y="73759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97187" y="91703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30559" y="91157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9</a:t>
            </a:r>
            <a:endParaRPr sz="1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44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9353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395" dirty="0">
                <a:latin typeface="Arial"/>
                <a:cs typeface="Arial"/>
              </a:rPr>
              <a:t>«</a:t>
            </a:r>
            <a:r>
              <a:rPr spc="-395" dirty="0"/>
              <a:t>Собственные</a:t>
            </a:r>
            <a:r>
              <a:rPr b="0" spc="-395" dirty="0">
                <a:latin typeface="Arial"/>
                <a:cs typeface="Arial"/>
              </a:rPr>
              <a:t>»</a:t>
            </a:r>
            <a:r>
              <a:rPr b="0" spc="-130" dirty="0">
                <a:latin typeface="Arial"/>
                <a:cs typeface="Arial"/>
              </a:rPr>
              <a:t> </a:t>
            </a:r>
            <a:r>
              <a:rPr spc="-195" dirty="0"/>
              <a:t>лица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80251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Фотография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коллекции </a:t>
            </a:r>
            <a:r>
              <a:rPr sz="3300" b="1" spc="50" dirty="0">
                <a:solidFill>
                  <a:srgbClr val="CB3757"/>
                </a:solidFill>
                <a:latin typeface="Arial"/>
                <a:cs typeface="Arial"/>
              </a:rPr>
              <a:t>=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сумма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масок, 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домноженных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</a:t>
            </a:r>
            <a:r>
              <a:rPr sz="3300" spc="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координаты: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8978" y="4832813"/>
            <a:ext cx="4988391" cy="1512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78978" y="8292941"/>
            <a:ext cx="4999355" cy="1523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68015" y="6565693"/>
            <a:ext cx="5010318" cy="15178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97154" y="8303881"/>
            <a:ext cx="1537125" cy="152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18804" y="4711898"/>
            <a:ext cx="6000750" cy="4251325"/>
          </a:xfrm>
          <a:custGeom>
            <a:avLst/>
            <a:gdLst/>
            <a:ahLst/>
            <a:cxnLst/>
            <a:rect l="l" t="t" r="r" b="b"/>
            <a:pathLst>
              <a:path w="6000750" h="4251325">
                <a:moveTo>
                  <a:pt x="0" y="0"/>
                </a:moveTo>
                <a:lnTo>
                  <a:pt x="5288373" y="0"/>
                </a:lnTo>
                <a:lnTo>
                  <a:pt x="5288373" y="1737507"/>
                </a:lnTo>
                <a:lnTo>
                  <a:pt x="26177" y="1737507"/>
                </a:lnTo>
                <a:lnTo>
                  <a:pt x="26177" y="3475349"/>
                </a:lnTo>
                <a:lnTo>
                  <a:pt x="5288373" y="3475349"/>
                </a:lnTo>
                <a:lnTo>
                  <a:pt x="5288373" y="4251179"/>
                </a:lnTo>
                <a:lnTo>
                  <a:pt x="6000634" y="425117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32457" y="8882253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67847" y="4664779"/>
            <a:ext cx="0" cy="4146550"/>
          </a:xfrm>
          <a:custGeom>
            <a:avLst/>
            <a:gdLst/>
            <a:ahLst/>
            <a:cxnLst/>
            <a:rect l="l" t="t" r="r" b="b"/>
            <a:pathLst>
              <a:path h="4146550">
                <a:moveTo>
                  <a:pt x="0" y="0"/>
                </a:moveTo>
                <a:lnTo>
                  <a:pt x="0" y="4146470"/>
                </a:lnTo>
              </a:path>
            </a:pathLst>
          </a:custGeom>
          <a:ln w="52354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67847" y="9101817"/>
            <a:ext cx="0" cy="723265"/>
          </a:xfrm>
          <a:custGeom>
            <a:avLst/>
            <a:gdLst/>
            <a:ahLst/>
            <a:cxnLst/>
            <a:rect l="l" t="t" r="r" b="b"/>
            <a:pathLst>
              <a:path h="723265">
                <a:moveTo>
                  <a:pt x="0" y="0"/>
                </a:moveTo>
                <a:lnTo>
                  <a:pt x="0" y="722815"/>
                </a:lnTo>
              </a:path>
            </a:pathLst>
          </a:custGeom>
          <a:ln w="52354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22715" y="4711898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95187" y="4631073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91263" y="8186756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63734" y="8105941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07094" y="5507486"/>
            <a:ext cx="0" cy="59690"/>
          </a:xfrm>
          <a:custGeom>
            <a:avLst/>
            <a:gdLst/>
            <a:ahLst/>
            <a:cxnLst/>
            <a:rect l="l" t="t" r="r" b="b"/>
            <a:pathLst>
              <a:path h="59689">
                <a:moveTo>
                  <a:pt x="0" y="0"/>
                </a:moveTo>
                <a:lnTo>
                  <a:pt x="0" y="59453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26269" y="5479958"/>
            <a:ext cx="161925" cy="86995"/>
          </a:xfrm>
          <a:custGeom>
            <a:avLst/>
            <a:gdLst/>
            <a:ahLst/>
            <a:cxnLst/>
            <a:rect l="l" t="t" r="r" b="b"/>
            <a:pathLst>
              <a:path w="161925" h="86995">
                <a:moveTo>
                  <a:pt x="161649" y="0"/>
                </a:moveTo>
                <a:lnTo>
                  <a:pt x="80824" y="86981"/>
                </a:lnTo>
                <a:lnTo>
                  <a:pt x="0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43505" y="7345650"/>
            <a:ext cx="0" cy="59690"/>
          </a:xfrm>
          <a:custGeom>
            <a:avLst/>
            <a:gdLst/>
            <a:ahLst/>
            <a:cxnLst/>
            <a:rect l="l" t="t" r="r" b="b"/>
            <a:pathLst>
              <a:path h="59690">
                <a:moveTo>
                  <a:pt x="0" y="0"/>
                </a:moveTo>
                <a:lnTo>
                  <a:pt x="0" y="59453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62681" y="7318123"/>
            <a:ext cx="161925" cy="86995"/>
          </a:xfrm>
          <a:custGeom>
            <a:avLst/>
            <a:gdLst/>
            <a:ahLst/>
            <a:cxnLst/>
            <a:rect l="l" t="t" r="r" b="b"/>
            <a:pathLst>
              <a:path w="161925" h="86995">
                <a:moveTo>
                  <a:pt x="161649" y="0"/>
                </a:moveTo>
                <a:lnTo>
                  <a:pt x="80824" y="86981"/>
                </a:lnTo>
                <a:lnTo>
                  <a:pt x="0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39410" y="6448588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39410" y="6367764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4" h="161925">
                <a:moveTo>
                  <a:pt x="86981" y="161649"/>
                </a:moveTo>
                <a:lnTo>
                  <a:pt x="0" y="80824"/>
                </a:lnTo>
                <a:lnTo>
                  <a:pt x="86981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45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9353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395" dirty="0">
                <a:latin typeface="Arial"/>
                <a:cs typeface="Arial"/>
              </a:rPr>
              <a:t>«</a:t>
            </a:r>
            <a:r>
              <a:rPr spc="-395" dirty="0"/>
              <a:t>Собственные</a:t>
            </a:r>
            <a:r>
              <a:rPr b="0" spc="-395" dirty="0">
                <a:latin typeface="Arial"/>
                <a:cs typeface="Arial"/>
              </a:rPr>
              <a:t>»</a:t>
            </a:r>
            <a:r>
              <a:rPr b="0" spc="-130" dirty="0">
                <a:latin typeface="Arial"/>
                <a:cs typeface="Arial"/>
              </a:rPr>
              <a:t> </a:t>
            </a:r>
            <a:r>
              <a:rPr spc="-195" dirty="0"/>
              <a:t>лица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80251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Фотография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коллекции </a:t>
            </a:r>
            <a:r>
              <a:rPr sz="3300" b="1" spc="50" dirty="0">
                <a:solidFill>
                  <a:srgbClr val="CB3757"/>
                </a:solidFill>
                <a:latin typeface="Arial"/>
                <a:cs typeface="Arial"/>
              </a:rPr>
              <a:t>=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сумма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масок, 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домноженных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</a:t>
            </a:r>
            <a:r>
              <a:rPr sz="3300" spc="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координаты: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68015" y="4821853"/>
            <a:ext cx="5010318" cy="15235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68015" y="8292941"/>
            <a:ext cx="5010318" cy="1523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79026" y="6554774"/>
            <a:ext cx="4999306" cy="1528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97154" y="8292941"/>
            <a:ext cx="1537125" cy="15316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18804" y="4711898"/>
            <a:ext cx="6000750" cy="4251325"/>
          </a:xfrm>
          <a:custGeom>
            <a:avLst/>
            <a:gdLst/>
            <a:ahLst/>
            <a:cxnLst/>
            <a:rect l="l" t="t" r="r" b="b"/>
            <a:pathLst>
              <a:path w="6000750" h="4251325">
                <a:moveTo>
                  <a:pt x="0" y="0"/>
                </a:moveTo>
                <a:lnTo>
                  <a:pt x="5288373" y="0"/>
                </a:lnTo>
                <a:lnTo>
                  <a:pt x="5288373" y="1737507"/>
                </a:lnTo>
                <a:lnTo>
                  <a:pt x="26177" y="1737507"/>
                </a:lnTo>
                <a:lnTo>
                  <a:pt x="26177" y="3475349"/>
                </a:lnTo>
                <a:lnTo>
                  <a:pt x="5288373" y="3475349"/>
                </a:lnTo>
                <a:lnTo>
                  <a:pt x="5288373" y="4251179"/>
                </a:lnTo>
                <a:lnTo>
                  <a:pt x="6000634" y="425117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32457" y="8882253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67847" y="4664779"/>
            <a:ext cx="0" cy="4146550"/>
          </a:xfrm>
          <a:custGeom>
            <a:avLst/>
            <a:gdLst/>
            <a:ahLst/>
            <a:cxnLst/>
            <a:rect l="l" t="t" r="r" b="b"/>
            <a:pathLst>
              <a:path h="4146550">
                <a:moveTo>
                  <a:pt x="0" y="0"/>
                </a:moveTo>
                <a:lnTo>
                  <a:pt x="0" y="4146470"/>
                </a:lnTo>
              </a:path>
            </a:pathLst>
          </a:custGeom>
          <a:ln w="52354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67847" y="9101817"/>
            <a:ext cx="0" cy="723265"/>
          </a:xfrm>
          <a:custGeom>
            <a:avLst/>
            <a:gdLst/>
            <a:ahLst/>
            <a:cxnLst/>
            <a:rect l="l" t="t" r="r" b="b"/>
            <a:pathLst>
              <a:path h="723265">
                <a:moveTo>
                  <a:pt x="0" y="0"/>
                </a:moveTo>
                <a:lnTo>
                  <a:pt x="0" y="722815"/>
                </a:lnTo>
              </a:path>
            </a:pathLst>
          </a:custGeom>
          <a:ln w="52354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22715" y="4711898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95187" y="4631073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91263" y="8186756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63734" y="8105941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07094" y="5507486"/>
            <a:ext cx="0" cy="59690"/>
          </a:xfrm>
          <a:custGeom>
            <a:avLst/>
            <a:gdLst/>
            <a:ahLst/>
            <a:cxnLst/>
            <a:rect l="l" t="t" r="r" b="b"/>
            <a:pathLst>
              <a:path h="59689">
                <a:moveTo>
                  <a:pt x="0" y="0"/>
                </a:moveTo>
                <a:lnTo>
                  <a:pt x="0" y="59453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26269" y="5479958"/>
            <a:ext cx="161925" cy="86995"/>
          </a:xfrm>
          <a:custGeom>
            <a:avLst/>
            <a:gdLst/>
            <a:ahLst/>
            <a:cxnLst/>
            <a:rect l="l" t="t" r="r" b="b"/>
            <a:pathLst>
              <a:path w="161925" h="86995">
                <a:moveTo>
                  <a:pt x="161649" y="0"/>
                </a:moveTo>
                <a:lnTo>
                  <a:pt x="80824" y="86981"/>
                </a:lnTo>
                <a:lnTo>
                  <a:pt x="0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43505" y="7345650"/>
            <a:ext cx="0" cy="59690"/>
          </a:xfrm>
          <a:custGeom>
            <a:avLst/>
            <a:gdLst/>
            <a:ahLst/>
            <a:cxnLst/>
            <a:rect l="l" t="t" r="r" b="b"/>
            <a:pathLst>
              <a:path h="59690">
                <a:moveTo>
                  <a:pt x="0" y="0"/>
                </a:moveTo>
                <a:lnTo>
                  <a:pt x="0" y="59453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62681" y="7318123"/>
            <a:ext cx="161925" cy="86995"/>
          </a:xfrm>
          <a:custGeom>
            <a:avLst/>
            <a:gdLst/>
            <a:ahLst/>
            <a:cxnLst/>
            <a:rect l="l" t="t" r="r" b="b"/>
            <a:pathLst>
              <a:path w="161925" h="86995">
                <a:moveTo>
                  <a:pt x="161649" y="0"/>
                </a:moveTo>
                <a:lnTo>
                  <a:pt x="80824" y="86981"/>
                </a:lnTo>
                <a:lnTo>
                  <a:pt x="0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39410" y="6448588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39410" y="6367764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4" h="161925">
                <a:moveTo>
                  <a:pt x="86981" y="161649"/>
                </a:moveTo>
                <a:lnTo>
                  <a:pt x="0" y="80824"/>
                </a:lnTo>
                <a:lnTo>
                  <a:pt x="86981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46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1233335"/>
            <a:ext cx="59353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spc="-395" dirty="0">
                <a:solidFill>
                  <a:srgbClr val="1E1E1E"/>
                </a:solidFill>
                <a:latin typeface="Arial"/>
                <a:cs typeface="Arial"/>
              </a:rPr>
              <a:t>«</a:t>
            </a:r>
            <a:r>
              <a:rPr sz="4950" b="1" spc="-395" dirty="0">
                <a:solidFill>
                  <a:srgbClr val="1E1E1E"/>
                </a:solidFill>
                <a:latin typeface="Arial"/>
                <a:cs typeface="Arial"/>
              </a:rPr>
              <a:t>Собственные</a:t>
            </a:r>
            <a:r>
              <a:rPr sz="4950" spc="-395" dirty="0">
                <a:solidFill>
                  <a:srgbClr val="1E1E1E"/>
                </a:solidFill>
                <a:latin typeface="Arial"/>
                <a:cs typeface="Arial"/>
              </a:rPr>
              <a:t>»</a:t>
            </a:r>
            <a:r>
              <a:rPr sz="4950" spc="-1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spc="-195" dirty="0">
                <a:solidFill>
                  <a:srgbClr val="1E1E1E"/>
                </a:solidFill>
                <a:latin typeface="Arial"/>
                <a:cs typeface="Arial"/>
              </a:rPr>
              <a:t>лица</a:t>
            </a:r>
            <a:endParaRPr sz="4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47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760095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Тестовая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фотография </a:t>
            </a:r>
            <a:r>
              <a:rPr sz="3300" b="1" spc="50" dirty="0">
                <a:solidFill>
                  <a:srgbClr val="CB3757"/>
                </a:solidFill>
                <a:latin typeface="Arial"/>
                <a:cs typeface="Arial"/>
              </a:rPr>
              <a:t>=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сумма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«масок», 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домноженных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</a:t>
            </a:r>
            <a:r>
              <a:rPr sz="3300" spc="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координаты.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9353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395" dirty="0">
                <a:latin typeface="Arial"/>
                <a:cs typeface="Arial"/>
              </a:rPr>
              <a:t>«</a:t>
            </a:r>
            <a:r>
              <a:rPr spc="-395" dirty="0"/>
              <a:t>Собственные</a:t>
            </a:r>
            <a:r>
              <a:rPr b="0" spc="-395" dirty="0">
                <a:latin typeface="Arial"/>
                <a:cs typeface="Arial"/>
              </a:rPr>
              <a:t>»</a:t>
            </a:r>
            <a:r>
              <a:rPr b="0" spc="-130" dirty="0">
                <a:latin typeface="Arial"/>
                <a:cs typeface="Arial"/>
              </a:rPr>
              <a:t> </a:t>
            </a:r>
            <a:r>
              <a:rPr spc="-195" dirty="0"/>
              <a:t>лица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48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9553575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57705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Тестовая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фотография </a:t>
            </a:r>
            <a:r>
              <a:rPr sz="3300" b="1" spc="50" dirty="0">
                <a:solidFill>
                  <a:srgbClr val="CB3757"/>
                </a:solidFill>
                <a:latin typeface="Arial"/>
                <a:cs typeface="Arial"/>
              </a:rPr>
              <a:t>=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сумма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«масок», 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домноженных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</a:t>
            </a:r>
            <a:r>
              <a:rPr sz="3300" spc="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координаты.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300" spc="-250" dirty="0">
                <a:solidFill>
                  <a:srgbClr val="1E1E1E"/>
                </a:solidFill>
                <a:latin typeface="Arial"/>
                <a:cs typeface="Arial"/>
              </a:rPr>
              <a:t>Чья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фотография?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Сравните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векторы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координат.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509649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34" dirty="0"/>
              <a:t>Вычислительные </a:t>
            </a:r>
            <a:r>
              <a:rPr spc="-254" dirty="0"/>
              <a:t>аспекты </a:t>
            </a:r>
            <a:r>
              <a:rPr spc="-285" dirty="0"/>
              <a:t>сингулярного</a:t>
            </a:r>
            <a:r>
              <a:rPr spc="-480" dirty="0"/>
              <a:t> </a:t>
            </a:r>
            <a:r>
              <a:rPr spc="-185" dirty="0"/>
              <a:t>разложения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49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937" y="3201862"/>
            <a:ext cx="11071860" cy="228727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корни</a:t>
            </a:r>
            <a:r>
              <a:rPr sz="3300" spc="-2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уравнения</a:t>
            </a:r>
            <a:endParaRPr sz="3300">
              <a:latin typeface="Arial"/>
              <a:cs typeface="Arial"/>
            </a:endParaRPr>
          </a:p>
          <a:p>
            <a:pPr marL="4629785">
              <a:lnSpc>
                <a:spcPct val="100000"/>
              </a:lnSpc>
              <a:spcBef>
                <a:spcPts val="197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19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Нереально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вычислить </a:t>
            </a:r>
            <a:r>
              <a:rPr sz="3300" b="1" spc="-365" dirty="0">
                <a:solidFill>
                  <a:srgbClr val="CB3757"/>
                </a:solidFill>
                <a:latin typeface="Arial"/>
                <a:cs typeface="Arial"/>
              </a:rPr>
              <a:t>ВСЕ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</a:t>
            </a:r>
            <a:r>
              <a:rPr sz="3300" spc="4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матриц.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509649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34" dirty="0"/>
              <a:t>Вычислительные </a:t>
            </a:r>
            <a:r>
              <a:rPr spc="-254" dirty="0"/>
              <a:t>аспекты </a:t>
            </a:r>
            <a:r>
              <a:rPr spc="-285" dirty="0"/>
              <a:t>сингулярного</a:t>
            </a:r>
            <a:r>
              <a:rPr spc="-480" dirty="0"/>
              <a:t> </a:t>
            </a:r>
            <a:r>
              <a:rPr spc="-185" dirty="0"/>
              <a:t>разложения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50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937" y="3201862"/>
            <a:ext cx="11071860" cy="304101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корни</a:t>
            </a:r>
            <a:r>
              <a:rPr sz="3300" spc="-2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уравнения</a:t>
            </a:r>
            <a:endParaRPr sz="3300">
              <a:latin typeface="Arial"/>
              <a:cs typeface="Arial"/>
            </a:endParaRPr>
          </a:p>
          <a:p>
            <a:pPr marL="4629785">
              <a:lnSpc>
                <a:spcPct val="100000"/>
              </a:lnSpc>
              <a:spcBef>
                <a:spcPts val="197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19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 marR="5080">
              <a:lnSpc>
                <a:spcPct val="149900"/>
              </a:lnSpc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Нереально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вычислить </a:t>
            </a:r>
            <a:r>
              <a:rPr sz="3300" b="1" spc="-365" dirty="0">
                <a:solidFill>
                  <a:srgbClr val="CB3757"/>
                </a:solidFill>
                <a:latin typeface="Arial"/>
                <a:cs typeface="Arial"/>
              </a:rPr>
              <a:t>ВСЕ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матриц.  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Но 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ограничиться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только </a:t>
            </a:r>
            <a:r>
              <a:rPr sz="3300" b="1" spc="-229" dirty="0">
                <a:solidFill>
                  <a:srgbClr val="1E1E1E"/>
                </a:solidFill>
                <a:latin typeface="Arial"/>
                <a:cs typeface="Arial"/>
              </a:rPr>
              <a:t>самыми</a:t>
            </a:r>
            <a:r>
              <a:rPr sz="3300" b="1" spc="3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Arial"/>
                <a:cs typeface="Arial"/>
              </a:rPr>
              <a:t>большими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!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509649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34" dirty="0"/>
              <a:t>Вычислительные </a:t>
            </a:r>
            <a:r>
              <a:rPr spc="-254" dirty="0"/>
              <a:t>аспекты </a:t>
            </a:r>
            <a:r>
              <a:rPr spc="-285" dirty="0"/>
              <a:t>сингулярного</a:t>
            </a:r>
            <a:r>
              <a:rPr spc="-480" dirty="0"/>
              <a:t> </a:t>
            </a:r>
            <a:r>
              <a:rPr spc="-185" dirty="0"/>
              <a:t>разложения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51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937" y="3201862"/>
            <a:ext cx="13022580" cy="429768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корни</a:t>
            </a:r>
            <a:r>
              <a:rPr sz="3300" spc="-2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уравнения</a:t>
            </a:r>
            <a:endParaRPr sz="3300">
              <a:latin typeface="Arial"/>
              <a:cs typeface="Arial"/>
            </a:endParaRPr>
          </a:p>
          <a:p>
            <a:pPr marL="4629785">
              <a:lnSpc>
                <a:spcPct val="100000"/>
              </a:lnSpc>
              <a:spcBef>
                <a:spcPts val="197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19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 marR="1955800">
              <a:lnSpc>
                <a:spcPct val="149900"/>
              </a:lnSpc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Нереально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вычислить </a:t>
            </a:r>
            <a:r>
              <a:rPr sz="3300" b="1" spc="-365" dirty="0">
                <a:solidFill>
                  <a:srgbClr val="CB3757"/>
                </a:solidFill>
                <a:latin typeface="Arial"/>
                <a:cs typeface="Arial"/>
              </a:rPr>
              <a:t>ВСЕ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матриц.  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Но 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ограничиться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только </a:t>
            </a:r>
            <a:r>
              <a:rPr sz="3300" b="1" spc="-229" dirty="0">
                <a:solidFill>
                  <a:srgbClr val="1E1E1E"/>
                </a:solidFill>
                <a:latin typeface="Arial"/>
                <a:cs typeface="Arial"/>
              </a:rPr>
              <a:t>самыми</a:t>
            </a:r>
            <a:r>
              <a:rPr sz="3300" b="1" spc="3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Arial"/>
                <a:cs typeface="Arial"/>
              </a:rPr>
              <a:t>большими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!</a:t>
            </a:r>
            <a:endParaRPr sz="3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980"/>
              </a:spcBef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Существуют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методы,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позволяющие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строить сингулярное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разложение 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A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последовательным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вычислением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первого</a:t>
            </a:r>
            <a:r>
              <a:rPr sz="3300" spc="5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слагаемого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84570" y="7760466"/>
            <a:ext cx="133858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45415" algn="r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  <a:tabLst>
                <a:tab pos="370205" algn="l"/>
                <a:tab pos="104521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9960" y="7725284"/>
            <a:ext cx="17246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0744" algn="l"/>
                <a:tab pos="1614805" algn="l"/>
              </a:tabLst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509649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34" dirty="0"/>
              <a:t>Вычислительные </a:t>
            </a:r>
            <a:r>
              <a:rPr spc="-254" dirty="0"/>
              <a:t>аспекты </a:t>
            </a:r>
            <a:r>
              <a:rPr spc="-285" dirty="0"/>
              <a:t>сингулярного</a:t>
            </a:r>
            <a:r>
              <a:rPr spc="-480" dirty="0"/>
              <a:t> </a:t>
            </a:r>
            <a:r>
              <a:rPr spc="-185" dirty="0"/>
              <a:t>разложения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52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937" y="3201862"/>
            <a:ext cx="13022580" cy="429768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корни</a:t>
            </a:r>
            <a:r>
              <a:rPr sz="3300" spc="-2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уравнения</a:t>
            </a:r>
            <a:endParaRPr sz="3300">
              <a:latin typeface="Arial"/>
              <a:cs typeface="Arial"/>
            </a:endParaRPr>
          </a:p>
          <a:p>
            <a:pPr marL="4629785">
              <a:lnSpc>
                <a:spcPct val="100000"/>
              </a:lnSpc>
              <a:spcBef>
                <a:spcPts val="197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19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 marR="1955800">
              <a:lnSpc>
                <a:spcPct val="149900"/>
              </a:lnSpc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Нереально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вычислить </a:t>
            </a:r>
            <a:r>
              <a:rPr sz="3300" b="1" spc="-365" dirty="0">
                <a:solidFill>
                  <a:srgbClr val="CB3757"/>
                </a:solidFill>
                <a:latin typeface="Arial"/>
                <a:cs typeface="Arial"/>
              </a:rPr>
              <a:t>ВСЕ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матриц.  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Но 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ограничиться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только </a:t>
            </a:r>
            <a:r>
              <a:rPr sz="3300" b="1" spc="-229" dirty="0">
                <a:solidFill>
                  <a:srgbClr val="1E1E1E"/>
                </a:solidFill>
                <a:latin typeface="Arial"/>
                <a:cs typeface="Arial"/>
              </a:rPr>
              <a:t>самыми</a:t>
            </a:r>
            <a:r>
              <a:rPr sz="3300" b="1" spc="3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Arial"/>
                <a:cs typeface="Arial"/>
              </a:rPr>
              <a:t>большими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!</a:t>
            </a:r>
            <a:endParaRPr sz="3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980"/>
              </a:spcBef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Существуют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методы,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позволяющие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строить сингулярное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разложение 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A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последовательным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вычислением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первого</a:t>
            </a:r>
            <a:r>
              <a:rPr sz="3300" spc="5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слагаемого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84570" y="7760466"/>
            <a:ext cx="133858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45415" algn="r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  <a:tabLst>
                <a:tab pos="370205" algn="l"/>
                <a:tab pos="104521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9960" y="7725284"/>
            <a:ext cx="17246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0744" algn="l"/>
                <a:tab pos="1614805" algn="l"/>
              </a:tabLst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010" y="8479187"/>
            <a:ext cx="74383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потом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первого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слагаемого</a:t>
            </a:r>
            <a:r>
              <a:rPr sz="3300" spc="1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разложения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61611" y="9268273"/>
            <a:ext cx="133858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45415" algn="r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  <a:tabLst>
                <a:tab pos="370205" algn="l"/>
                <a:tab pos="104521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7336" y="9233092"/>
            <a:ext cx="33794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00835" algn="l"/>
                <a:tab pos="2403475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  </a:t>
            </a:r>
            <a:r>
              <a:rPr sz="3300" b="1" i="1" spc="-7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	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254" dirty="0">
                <a:solidFill>
                  <a:srgbClr val="1E1E1E"/>
                </a:solidFill>
                <a:latin typeface="Arial"/>
                <a:cs typeface="Arial"/>
              </a:rPr>
              <a:t>т.</a:t>
            </a:r>
            <a:r>
              <a:rPr sz="3300" spc="-4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70" dirty="0">
                <a:solidFill>
                  <a:srgbClr val="1E1E1E"/>
                </a:solidFill>
                <a:latin typeface="Arial"/>
                <a:cs typeface="Arial"/>
              </a:rPr>
              <a:t>д.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1994</TotalTime>
  <Words>2082</Words>
  <Application>Microsoft Office PowerPoint</Application>
  <PresentationFormat>Произвольный</PresentationFormat>
  <Paragraphs>584</Paragraphs>
  <Slides>52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4" baseType="lpstr">
      <vt:lpstr>Office Theme</vt:lpstr>
      <vt:lpstr>Формула</vt:lpstr>
      <vt:lpstr>Регрессия</vt:lpstr>
      <vt:lpstr>Постановка задачи: как провести прямую, наиболее приближенную ко всем точкам выборки? </vt:lpstr>
      <vt:lpstr>Постановка задачи: как провести прямую, наиболее приближенную ко всем точкам выборки? </vt:lpstr>
      <vt:lpstr>Постановка задачи: как провести прямую, наиболее приближенную ко всем точкам выборки? </vt:lpstr>
      <vt:lpstr>Постановка задачи: как провести прямую, наиболее приближенную ко всем точкам выборки? </vt:lpstr>
      <vt:lpstr>Постановка задачи: как провести прямую, наиболее приближенную ко всем точкам выборки? </vt:lpstr>
      <vt:lpstr>Постановка задачи: как провести прямую, наиболее приближенную ко всем точкам выборки? </vt:lpstr>
      <vt:lpstr>Постановка задачи: как провести прямую, наиболее приближенную ко всем точкам выборки? </vt:lpstr>
      <vt:lpstr>Постановка задачи: как провести прямую, наиболее приближенную ко всем точкам выборки? </vt:lpstr>
      <vt:lpstr>Ковариация</vt:lpstr>
      <vt:lpstr>Сингулярное разложение (SVD)</vt:lpstr>
      <vt:lpstr>Сингулярное разложение (SVD)</vt:lpstr>
      <vt:lpstr>Сингулярное разложение (SVD)</vt:lpstr>
      <vt:lpstr>Сингулярные числа и векторы</vt:lpstr>
      <vt:lpstr>Сингулярные числа и векторы</vt:lpstr>
      <vt:lpstr>Сингулярное разложение: приближение матрицы</vt:lpstr>
      <vt:lpstr>Сингулярное разложение: приближение матрицы</vt:lpstr>
      <vt:lpstr>Сингулярное разложение: приближение матрицы</vt:lpstr>
      <vt:lpstr>Сингулярное разложение: приближение матрицы</vt:lpstr>
      <vt:lpstr>Сингулярное разложение:  приближение матрицы</vt:lpstr>
      <vt:lpstr>Сингулярное разложение:  приближение матрицы</vt:lpstr>
      <vt:lpstr>Слайд 22</vt:lpstr>
      <vt:lpstr>Сингулярное разложение:  основная идея</vt:lpstr>
      <vt:lpstr>Сингулярное разложение:  основная идея</vt:lpstr>
      <vt:lpstr>Сингулярное разложение:  основная идея</vt:lpstr>
      <vt:lpstr>Диаграмма рассеяния</vt:lpstr>
      <vt:lpstr>Диаграмма рассеяния</vt:lpstr>
      <vt:lpstr>Ковариационная матрица</vt:lpstr>
      <vt:lpstr>Оптимизационная задача Пирсона</vt:lpstr>
      <vt:lpstr>Оптимизационная задача Пирсона</vt:lpstr>
      <vt:lpstr>Ковариационная матрица</vt:lpstr>
      <vt:lpstr>Ковариационная матрица</vt:lpstr>
      <vt:lpstr>Ковариационная матрица</vt:lpstr>
      <vt:lpstr>Ковариационная матрица: геометрия</vt:lpstr>
      <vt:lpstr>Ковариационная матрица: геометрия</vt:lpstr>
      <vt:lpstr>Ковариационная матрица: геометрия</vt:lpstr>
      <vt:lpstr>Ковариационная матрица: геометрия</vt:lpstr>
      <vt:lpstr>Метод главных компонент</vt:lpstr>
      <vt:lpstr>Метод главных компонент</vt:lpstr>
      <vt:lpstr>Метод главных компонент</vt:lpstr>
      <vt:lpstr>Метод главных компонент</vt:lpstr>
      <vt:lpstr>Слайд 42</vt:lpstr>
      <vt:lpstr>Сингулярное разложение: распознавание фотографий</vt:lpstr>
      <vt:lpstr>«Собственные» лица</vt:lpstr>
      <vt:lpstr>«Собственные» лица</vt:lpstr>
      <vt:lpstr>«Собственные» лица</vt:lpstr>
      <vt:lpstr>Слайд 47</vt:lpstr>
      <vt:lpstr>«Собственные» лица</vt:lpstr>
      <vt:lpstr>Вычислительные аспекты сингулярного разложения</vt:lpstr>
      <vt:lpstr>Вычислительные аспекты сингулярного разложения</vt:lpstr>
      <vt:lpstr>Вычислительные аспекты сингулярного разложения</vt:lpstr>
      <vt:lpstr>Вычислительные аспекты сингулярного разложения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Событие</dc:title>
  <dc:creator>Ильина Татьяна Сергеевна</dc:creator>
  <cp:lastModifiedBy>Antil</cp:lastModifiedBy>
  <cp:revision>140</cp:revision>
  <dcterms:created xsi:type="dcterms:W3CDTF">2019-02-11T11:45:41Z</dcterms:created>
  <dcterms:modified xsi:type="dcterms:W3CDTF">2025-09-02T06:45:45Z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2017-09-14T00:00:00Z</vt:filetime>
  </property>
  <property fmtid="{D5CDD505-2E9C-101B-9397-08002B2CF9AE}" pid="3" name="Creator">
    <vt:lpwstr>Adobe InDesign CC 2015 (Windows)</vt:lpwstr>
  </property>
  <property fmtid="{D5CDD505-2E9C-101B-9397-08002B2CF9AE}" pid="4" name="LastSaved">
    <vt:filetime>2019-02-11T00:00:00Z</vt:filetime>
  </property>
</Properties>
</file>