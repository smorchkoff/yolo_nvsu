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8" r:id="rId8"/>
    <p:sldId id="279" r:id="rId9"/>
    <p:sldId id="256" r:id="rId10"/>
    <p:sldId id="281" r:id="rId11"/>
    <p:sldId id="282" r:id="rId12"/>
    <p:sldId id="287" r:id="rId13"/>
    <p:sldId id="283" r:id="rId14"/>
    <p:sldId id="284" r:id="rId15"/>
    <p:sldId id="285" r:id="rId16"/>
    <p:sldId id="286" r:id="rId17"/>
    <p:sldId id="257" r:id="rId18"/>
    <p:sldId id="258" r:id="rId19"/>
    <p:sldId id="259" r:id="rId20"/>
    <p:sldId id="260" r:id="rId21"/>
    <p:sldId id="261" r:id="rId22"/>
    <p:sldId id="263" r:id="rId23"/>
    <p:sldId id="264" r:id="rId24"/>
    <p:sldId id="265" r:id="rId25"/>
    <p:sldId id="266" r:id="rId26"/>
    <p:sldId id="267" r:id="rId27"/>
    <p:sldId id="268" r:id="rId28"/>
    <p:sldId id="269" r:id="rId2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2" name="Подзаголовок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20" name="Нижний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оуголь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9" name="Блок-схема: процес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-схема: процес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иро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Кольцо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18.09.2025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5" name="Прямоуголь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30278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Линейные методы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500034" y="785794"/>
            <a:ext cx="8643966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44500" lvl="0" indent="88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3600" b="1" dirty="0" smtClean="0"/>
              <a:t>Достоинства: </a:t>
            </a:r>
          </a:p>
          <a:p>
            <a:pPr marL="444500" lvl="0" indent="88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800" dirty="0" smtClean="0"/>
              <a:t>быстро обучаются; </a:t>
            </a:r>
          </a:p>
          <a:p>
            <a:pPr marL="444500" lvl="0" indent="88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800" dirty="0" smtClean="0"/>
              <a:t>способны работать с большим количеством объектов и признаков; </a:t>
            </a:r>
          </a:p>
          <a:p>
            <a:pPr marL="444500" lvl="0" indent="88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800" dirty="0" smtClean="0"/>
              <a:t>имеют небольшое количество параметров; </a:t>
            </a:r>
          </a:p>
          <a:p>
            <a:pPr marL="444500" lvl="0" indent="88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ru-RU" sz="2800" dirty="0" smtClean="0"/>
              <a:t>легко </a:t>
            </a:r>
            <a:r>
              <a:rPr lang="ru-RU" sz="2800" dirty="0" err="1" smtClean="0"/>
              <a:t>регуляризуются</a:t>
            </a:r>
            <a:r>
              <a:rPr lang="ru-RU" sz="2800" dirty="0" smtClean="0"/>
              <a:t>.</a:t>
            </a:r>
          </a:p>
          <a:p>
            <a:pPr marL="444500" lvl="0" indent="88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ru-RU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Недостаток: </a:t>
            </a:r>
            <a:r>
              <a:rPr lang="ru-RU" sz="2800" dirty="0" smtClean="0"/>
              <a:t>могут восстанавливать только линейные зависимости между целевой переменной и признаками.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MS Mincho" pitchFamily="49" charset="-128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/>
          <a:lstStyle/>
          <a:p>
            <a:pPr>
              <a:buNone/>
            </a:pPr>
            <a:r>
              <a:rPr lang="ru-RU" dirty="0" smtClean="0"/>
              <a:t>семейство моделей, которые позволяют восстанавливать нелинейные зависимости произвольной сложности:</a:t>
            </a:r>
          </a:p>
          <a:p>
            <a:pPr>
              <a:buNone/>
            </a:pPr>
            <a:r>
              <a:rPr lang="ru-RU" dirty="0" smtClean="0"/>
              <a:t>хорошо описывают процесс принятия решения во многих ситуациях.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r>
              <a:rPr lang="ru-RU" sz="4400" dirty="0" smtClean="0"/>
              <a:t>Пример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ru-RU" dirty="0" smtClean="0"/>
              <a:t>Выдача кредита:</a:t>
            </a:r>
          </a:p>
          <a:p>
            <a:pPr>
              <a:buNone/>
            </a:pPr>
            <a:endParaRPr lang="ru-RU" dirty="0" smtClean="0"/>
          </a:p>
          <a:p>
            <a:pPr marL="596646" indent="-514350">
              <a:buAutoNum type="arabicPeriod"/>
            </a:pPr>
            <a:r>
              <a:rPr lang="ru-RU" dirty="0" smtClean="0"/>
              <a:t>Какой возраст у клиента? Если меньше 18, то отказываем, иначе продолжаем. </a:t>
            </a:r>
          </a:p>
          <a:p>
            <a:pPr marL="596646" indent="-514350">
              <a:buAutoNum type="arabicPeriod"/>
            </a:pPr>
            <a:r>
              <a:rPr lang="ru-RU" dirty="0" smtClean="0"/>
              <a:t> Какая зарплата у клиента? Если меньше 50 тысяч рублей, то переходим к шагу 3, иначе к шагу 4. </a:t>
            </a:r>
          </a:p>
          <a:p>
            <a:pPr marL="596646" indent="-514350">
              <a:buAutoNum type="arabicPeriod"/>
            </a:pPr>
            <a:r>
              <a:rPr lang="ru-RU" dirty="0" smtClean="0"/>
              <a:t>Какой стаж у клиента? Если меньше 10 лет, то отказываем, иначе выдаем.</a:t>
            </a:r>
          </a:p>
          <a:p>
            <a:pPr marL="596646" indent="-514350">
              <a:buAutoNum type="arabicPeriod"/>
            </a:pPr>
            <a:r>
              <a:rPr lang="ru-RU" dirty="0" smtClean="0"/>
              <a:t>Есть ли у клиента другие кредиты? Если есть, то отказываем, иначе выдаем.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r>
              <a:rPr lang="ru-RU" sz="4400" dirty="0" smtClean="0"/>
              <a:t>Недостатки: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>
            <a:normAutofit lnSpcReduction="10000"/>
          </a:bodyPr>
          <a:lstStyle/>
          <a:p>
            <a:pPr marL="596646" indent="-514350">
              <a:buAutoNum type="arabicPeriod"/>
            </a:pPr>
            <a:r>
              <a:rPr lang="ru-RU" dirty="0" smtClean="0"/>
              <a:t>трудны для оптимизации из-за свой дискретной структуры — дерево нельзя продифференцировать по параметрам и найти с помощью градиентного спуска хотя бы локальный оптимум;</a:t>
            </a:r>
          </a:p>
          <a:p>
            <a:pPr marL="596646" indent="-514350">
              <a:buAutoNum type="arabicPeriod"/>
            </a:pPr>
            <a:r>
              <a:rPr lang="ru-RU" dirty="0" smtClean="0"/>
              <a:t>число параметров не является постоянным и может меняться в зависимости от глубины, выбора критериев дробления и прочих деталей.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>
            <a:normAutofit/>
          </a:bodyPr>
          <a:lstStyle/>
          <a:p>
            <a:pPr marL="596646" indent="-514350">
              <a:buNone/>
            </a:pPr>
            <a:r>
              <a:rPr lang="ru-RU" dirty="0" smtClean="0"/>
              <a:t>Рассмотрим бинарное дерево, в котором:</a:t>
            </a:r>
          </a:p>
          <a:p>
            <a:pPr marL="596646" indent="-514350">
              <a:buNone/>
            </a:pPr>
            <a:r>
              <a:rPr lang="ru-RU" dirty="0" smtClean="0"/>
              <a:t>• каждой внутренней вершине </a:t>
            </a:r>
            <a:r>
              <a:rPr lang="ru-RU" dirty="0" err="1" smtClean="0"/>
              <a:t>v</a:t>
            </a:r>
            <a:r>
              <a:rPr lang="ru-RU" dirty="0" smtClean="0"/>
              <a:t> приписана функция (или предикат) </a:t>
            </a:r>
            <a:r>
              <a:rPr lang="ru-RU" dirty="0" err="1" smtClean="0"/>
              <a:t>β</a:t>
            </a:r>
            <a:r>
              <a:rPr lang="ru-RU" baseline="-25000" dirty="0" err="1" smtClean="0"/>
              <a:t>v</a:t>
            </a:r>
            <a:r>
              <a:rPr lang="ru-RU" dirty="0" err="1" smtClean="0"/>
              <a:t> </a:t>
            </a:r>
            <a:r>
              <a:rPr lang="ru-RU" dirty="0" smtClean="0"/>
              <a:t>: X → {0, 1}; </a:t>
            </a:r>
          </a:p>
          <a:p>
            <a:pPr marL="596646" indent="-514350">
              <a:buNone/>
            </a:pPr>
            <a:r>
              <a:rPr lang="ru-RU" dirty="0" smtClean="0"/>
              <a:t>• каждой листовой вершине </a:t>
            </a:r>
            <a:r>
              <a:rPr lang="ru-RU" dirty="0" err="1" smtClean="0"/>
              <a:t>v</a:t>
            </a:r>
            <a:r>
              <a:rPr lang="ru-RU" dirty="0" smtClean="0"/>
              <a:t> приписан прогноз </a:t>
            </a:r>
            <a:r>
              <a:rPr lang="ru-RU" dirty="0" err="1" smtClean="0"/>
              <a:t>c</a:t>
            </a:r>
            <a:r>
              <a:rPr lang="ru-RU" baseline="-25000" dirty="0" err="1" smtClean="0"/>
              <a:t>v</a:t>
            </a:r>
            <a:r>
              <a:rPr lang="ru-RU" dirty="0" smtClean="0"/>
              <a:t> ∈ Y (в случае с классификацией листу также может быть приписан вектор вероятностей)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>
            <a:normAutofit fontScale="92500" lnSpcReduction="20000"/>
          </a:bodyPr>
          <a:lstStyle/>
          <a:p>
            <a:pPr marL="596646" indent="-514350">
              <a:buNone/>
            </a:pPr>
            <a:r>
              <a:rPr lang="ru-RU" dirty="0" smtClean="0"/>
              <a:t>Рассмотрим теперь алгоритм </a:t>
            </a:r>
            <a:r>
              <a:rPr lang="ru-RU" dirty="0" err="1" smtClean="0"/>
              <a:t>a</a:t>
            </a:r>
            <a:r>
              <a:rPr lang="ru-RU" dirty="0" smtClean="0"/>
              <a:t>(</a:t>
            </a:r>
            <a:r>
              <a:rPr lang="ru-RU" dirty="0" err="1" smtClean="0"/>
              <a:t>x</a:t>
            </a:r>
            <a:r>
              <a:rPr lang="ru-RU" dirty="0" smtClean="0"/>
              <a:t>), который стартует из корневой вершины v0 и вычисляет значение функции β</a:t>
            </a:r>
            <a:r>
              <a:rPr lang="ru-RU" baseline="-25000" dirty="0" smtClean="0"/>
              <a:t>v0</a:t>
            </a:r>
            <a:r>
              <a:rPr lang="ru-RU" dirty="0" smtClean="0"/>
              <a:t> . </a:t>
            </a:r>
          </a:p>
          <a:p>
            <a:pPr marL="596646" indent="-514350">
              <a:buNone/>
            </a:pPr>
            <a:r>
              <a:rPr lang="ru-RU" dirty="0" smtClean="0"/>
              <a:t>Если оно равно нулю, то алгоритм переходит в левую дочернюю вершину, иначе в правую, вычисляет значение предиката в новой вершине и делает переход или влево, или вправо.</a:t>
            </a:r>
          </a:p>
          <a:p>
            <a:pPr marL="596646" indent="-514350">
              <a:buNone/>
            </a:pPr>
            <a:r>
              <a:rPr lang="ru-RU" dirty="0" smtClean="0"/>
              <a:t>Процесс продолжается, пока не будет достигнута листовая вершина; алгоритм возвращает тот класс, который приписан этой вершине. </a:t>
            </a:r>
          </a:p>
          <a:p>
            <a:pPr marL="596646" indent="-514350">
              <a:buNone/>
            </a:pPr>
            <a:r>
              <a:rPr lang="ru-RU" dirty="0" smtClean="0"/>
              <a:t>Такой алгоритм называется </a:t>
            </a:r>
            <a:r>
              <a:rPr lang="ru-RU" b="1" dirty="0" smtClean="0"/>
              <a:t>бинарным решающим деревом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>
            <a:normAutofit lnSpcReduction="10000"/>
          </a:bodyPr>
          <a:lstStyle/>
          <a:p>
            <a:pPr marL="596646" indent="-514350">
              <a:buNone/>
            </a:pPr>
            <a:r>
              <a:rPr lang="ru-RU" b="1" dirty="0" smtClean="0"/>
              <a:t>На практике в большинстве случаев </a:t>
            </a:r>
            <a:r>
              <a:rPr lang="ru-RU" dirty="0" smtClean="0"/>
              <a:t>используются </a:t>
            </a:r>
            <a:r>
              <a:rPr lang="ru-RU" b="1" dirty="0" smtClean="0"/>
              <a:t>одномерные предикаты </a:t>
            </a:r>
            <a:r>
              <a:rPr lang="ru-RU" dirty="0" err="1" smtClean="0"/>
              <a:t>β</a:t>
            </a:r>
            <a:r>
              <a:rPr lang="ru-RU" baseline="-25000" dirty="0" err="1" smtClean="0"/>
              <a:t>v</a:t>
            </a:r>
            <a:r>
              <a:rPr lang="ru-RU" dirty="0" smtClean="0"/>
              <a:t>, которые сравнивают значение одного из признаков с порогом: </a:t>
            </a:r>
          </a:p>
          <a:p>
            <a:pPr marL="596646" indent="-514350">
              <a:buNone/>
            </a:pPr>
            <a:r>
              <a:rPr lang="ru-RU" dirty="0" err="1" smtClean="0"/>
              <a:t>β</a:t>
            </a:r>
            <a:r>
              <a:rPr lang="ru-RU" baseline="-25000" dirty="0" err="1" smtClean="0"/>
              <a:t>v</a:t>
            </a:r>
            <a:r>
              <a:rPr lang="ru-RU" dirty="0" smtClean="0"/>
              <a:t>(</a:t>
            </a:r>
            <a:r>
              <a:rPr lang="ru-RU" dirty="0" err="1" smtClean="0"/>
              <a:t>x</a:t>
            </a:r>
            <a:r>
              <a:rPr lang="ru-RU" dirty="0" smtClean="0"/>
              <a:t>; </a:t>
            </a:r>
            <a:r>
              <a:rPr lang="ru-RU" dirty="0" err="1" smtClean="0"/>
              <a:t>j</a:t>
            </a:r>
            <a:r>
              <a:rPr lang="ru-RU" dirty="0" smtClean="0"/>
              <a:t>, </a:t>
            </a:r>
            <a:r>
              <a:rPr lang="ru-RU" dirty="0" err="1" smtClean="0"/>
              <a:t>t</a:t>
            </a:r>
            <a:r>
              <a:rPr lang="ru-RU" dirty="0" smtClean="0"/>
              <a:t>) = [</a:t>
            </a:r>
            <a:r>
              <a:rPr lang="ru-RU" dirty="0" err="1" smtClean="0"/>
              <a:t>x</a:t>
            </a:r>
            <a:r>
              <a:rPr lang="ru-RU" baseline="-25000" dirty="0" err="1" smtClean="0"/>
              <a:t>j</a:t>
            </a:r>
            <a:r>
              <a:rPr lang="ru-RU" dirty="0" smtClean="0"/>
              <a:t> &lt; </a:t>
            </a:r>
            <a:r>
              <a:rPr lang="ru-RU" dirty="0" err="1" smtClean="0"/>
              <a:t>t</a:t>
            </a:r>
            <a:r>
              <a:rPr lang="ru-RU" dirty="0" smtClean="0"/>
              <a:t>]. </a:t>
            </a:r>
          </a:p>
          <a:p>
            <a:pPr marL="596646" indent="-514350">
              <a:buNone/>
            </a:pPr>
            <a:r>
              <a:rPr lang="ru-RU" b="1" dirty="0" smtClean="0"/>
              <a:t>Многомерные предикаты</a:t>
            </a:r>
            <a:r>
              <a:rPr lang="ru-RU" dirty="0" smtClean="0"/>
              <a:t>, например:</a:t>
            </a:r>
          </a:p>
          <a:p>
            <a:pPr marL="596646" indent="-514350">
              <a:buNone/>
            </a:pPr>
            <a:r>
              <a:rPr lang="ru-RU" dirty="0" smtClean="0"/>
              <a:t>• линейные </a:t>
            </a:r>
            <a:r>
              <a:rPr lang="ru-RU" dirty="0" err="1" smtClean="0"/>
              <a:t>β</a:t>
            </a:r>
            <a:r>
              <a:rPr lang="ru-RU" baseline="-25000" dirty="0" err="1" smtClean="0"/>
              <a:t>v</a:t>
            </a:r>
            <a:r>
              <a:rPr lang="ru-RU" dirty="0" smtClean="0"/>
              <a:t>(</a:t>
            </a:r>
            <a:r>
              <a:rPr lang="ru-RU" dirty="0" err="1" smtClean="0"/>
              <a:t>x</a:t>
            </a:r>
            <a:r>
              <a:rPr lang="ru-RU" dirty="0" smtClean="0"/>
              <a:t>) = [</a:t>
            </a:r>
            <a:r>
              <a:rPr lang="en-US" dirty="0" smtClean="0"/>
              <a:t>&lt;</a:t>
            </a:r>
            <a:r>
              <a:rPr lang="ru-RU" dirty="0" err="1" smtClean="0"/>
              <a:t>w</a:t>
            </a:r>
            <a:r>
              <a:rPr lang="ru-RU" dirty="0" smtClean="0"/>
              <a:t>, </a:t>
            </a:r>
            <a:r>
              <a:rPr lang="ru-RU" dirty="0" err="1" smtClean="0"/>
              <a:t>x</a:t>
            </a:r>
            <a:r>
              <a:rPr lang="en-US" dirty="0" smtClean="0"/>
              <a:t>&gt;</a:t>
            </a:r>
            <a:r>
              <a:rPr lang="ru-RU" dirty="0" smtClean="0"/>
              <a:t>&lt; </a:t>
            </a:r>
            <a:r>
              <a:rPr lang="ru-RU" dirty="0" err="1" smtClean="0"/>
              <a:t>t</a:t>
            </a:r>
            <a:r>
              <a:rPr lang="ru-RU" dirty="0" smtClean="0"/>
              <a:t>]; </a:t>
            </a:r>
          </a:p>
          <a:p>
            <a:pPr marL="596646" indent="-514350">
              <a:buNone/>
            </a:pPr>
            <a:r>
              <a:rPr lang="ru-RU" dirty="0" smtClean="0"/>
              <a:t>• метрические </a:t>
            </a:r>
            <a:r>
              <a:rPr lang="ru-RU" dirty="0" err="1" smtClean="0"/>
              <a:t>β</a:t>
            </a:r>
            <a:r>
              <a:rPr lang="ru-RU" baseline="-25000" dirty="0" err="1" smtClean="0"/>
              <a:t>v</a:t>
            </a:r>
            <a:r>
              <a:rPr lang="ru-RU" dirty="0" smtClean="0"/>
              <a:t>(</a:t>
            </a:r>
            <a:r>
              <a:rPr lang="ru-RU" dirty="0" err="1" smtClean="0"/>
              <a:t>x</a:t>
            </a:r>
            <a:r>
              <a:rPr lang="ru-RU" dirty="0" smtClean="0"/>
              <a:t>) = [</a:t>
            </a:r>
            <a:r>
              <a:rPr lang="ru-RU" dirty="0" err="1" smtClean="0"/>
              <a:t>ρ</a:t>
            </a:r>
            <a:r>
              <a:rPr lang="ru-RU" dirty="0" smtClean="0"/>
              <a:t>(</a:t>
            </a:r>
            <a:r>
              <a:rPr lang="ru-RU" dirty="0" err="1" smtClean="0"/>
              <a:t>x</a:t>
            </a:r>
            <a:r>
              <a:rPr lang="ru-RU" dirty="0" smtClean="0"/>
              <a:t>, </a:t>
            </a:r>
            <a:r>
              <a:rPr lang="ru-RU" dirty="0" err="1" smtClean="0"/>
              <a:t>xv</a:t>
            </a:r>
            <a:r>
              <a:rPr lang="ru-RU" dirty="0" smtClean="0"/>
              <a:t>) &lt; </a:t>
            </a:r>
            <a:r>
              <a:rPr lang="ru-RU" dirty="0" err="1" smtClean="0"/>
              <a:t>t</a:t>
            </a:r>
            <a:r>
              <a:rPr lang="ru-RU" dirty="0" smtClean="0"/>
              <a:t>], где точка </a:t>
            </a:r>
            <a:r>
              <a:rPr lang="ru-RU" dirty="0" err="1" smtClean="0"/>
              <a:t>x</a:t>
            </a:r>
            <a:r>
              <a:rPr lang="ru-RU" baseline="-25000" dirty="0" err="1" smtClean="0"/>
              <a:t>v</a:t>
            </a:r>
            <a:r>
              <a:rPr lang="ru-RU" dirty="0" smtClean="0"/>
              <a:t> является одним из объектов выборки любой точкой признакового пространства.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1428728" y="142852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ru-RU" sz="4400" dirty="0" smtClean="0"/>
              <a:t>Решающие деревья</a:t>
            </a:r>
            <a:br>
              <a:rPr lang="ru-RU" sz="4400" dirty="0" smtClean="0"/>
            </a:b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6851168" cy="4833958"/>
          </a:xfrm>
        </p:spPr>
        <p:txBody>
          <a:bodyPr>
            <a:normAutofit fontScale="70000" lnSpcReduction="20000"/>
          </a:bodyPr>
          <a:lstStyle/>
          <a:p>
            <a:pPr marL="596646" indent="-514350">
              <a:buNone/>
            </a:pPr>
            <a:r>
              <a:rPr lang="ru-RU" b="1" dirty="0" smtClean="0"/>
              <a:t>Для любой выборки </a:t>
            </a:r>
            <a:r>
              <a:rPr lang="ru-RU" dirty="0" smtClean="0"/>
              <a:t>можно построить </a:t>
            </a:r>
            <a:r>
              <a:rPr lang="ru-RU" b="1" dirty="0" smtClean="0"/>
              <a:t>решающее дерево</a:t>
            </a:r>
            <a:r>
              <a:rPr lang="ru-RU" dirty="0" smtClean="0"/>
              <a:t>, </a:t>
            </a:r>
            <a:r>
              <a:rPr lang="ru-RU" b="1" dirty="0" smtClean="0"/>
              <a:t>не допускающее на ней ни одной ошибки </a:t>
            </a:r>
            <a:r>
              <a:rPr lang="ru-RU" dirty="0" smtClean="0"/>
              <a:t>— даже с простыми одномерными предикатами можно сформировать дерево, в каждом листе которого находится ровно по одному объекту выборки. </a:t>
            </a:r>
            <a:endParaRPr lang="en-US" dirty="0" smtClean="0"/>
          </a:p>
          <a:p>
            <a:pPr marL="596646" indent="-514350">
              <a:buNone/>
            </a:pPr>
            <a:r>
              <a:rPr lang="ru-RU" dirty="0" smtClean="0"/>
              <a:t>Скорее всего, это дерево будет </a:t>
            </a:r>
            <a:r>
              <a:rPr lang="ru-RU" b="1" dirty="0" smtClean="0"/>
              <a:t>переобученным</a:t>
            </a:r>
            <a:r>
              <a:rPr lang="ru-RU" dirty="0" smtClean="0"/>
              <a:t> и не сможет показать хорошее качество на новых данных. </a:t>
            </a:r>
            <a:endParaRPr lang="en-US" dirty="0" smtClean="0"/>
          </a:p>
          <a:p>
            <a:pPr marL="596646" indent="-514350">
              <a:buNone/>
            </a:pPr>
            <a:r>
              <a:rPr lang="ru-RU" dirty="0" smtClean="0"/>
              <a:t>Можно было бы поставить задачу поиска дерева, которое является минимальным (с точки зрения количества листьев) среди всех деревьев, не допускающих ошибок на обучении — в этом случае можно было бы надеяться на наличие у дерева обобщающей способности. </a:t>
            </a:r>
            <a:endParaRPr lang="en-US" dirty="0" smtClean="0"/>
          </a:p>
          <a:p>
            <a:pPr marL="596646" indent="-514350">
              <a:buNone/>
            </a:pPr>
            <a:r>
              <a:rPr lang="ru-RU" dirty="0" smtClean="0"/>
              <a:t>К сожалению, эта задача является NP-полной, и поэтому приходится ограничиваться жадными алгоритмами построения дерева. </a:t>
            </a:r>
            <a:endParaRPr lang="ru-RU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2976" y="1785926"/>
            <a:ext cx="6929455" cy="507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0" y="785794"/>
            <a:ext cx="914400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Случайный лес  — алгоритм машинного обучения, заключающийся в использовании 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ансамбля решающих деревьев. </a:t>
            </a:r>
          </a:p>
          <a:p>
            <a:pPr indent="539750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/>
              <a:t>Алгоритм сочетает в себе две основные идеи: метод </a:t>
            </a:r>
            <a:r>
              <a:rPr lang="ru-RU" dirty="0" err="1" smtClean="0"/>
              <a:t>бэггинга</a:t>
            </a:r>
            <a:r>
              <a:rPr lang="ru-RU" dirty="0" smtClean="0"/>
              <a:t> и метод случайных подпространств.</a:t>
            </a: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MS Mincho" pitchFamily="49" charset="-128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000100" y="785794"/>
            <a:ext cx="8143900" cy="553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33400"/>
            <a:r>
              <a:rPr lang="ru-RU" sz="2400" b="1" dirty="0" smtClean="0"/>
              <a:t>Статистическая предпосылка</a:t>
            </a:r>
            <a:r>
              <a:rPr lang="ru-RU" sz="2400" dirty="0" smtClean="0"/>
              <a:t>: усреднение результатов наблюдений может дать более устойчивую и надежную оценку, поскольку ослабляется влияние случайных флуктуаций в отдельном измерении. </a:t>
            </a:r>
          </a:p>
          <a:p>
            <a:pPr indent="533400"/>
            <a:r>
              <a:rPr lang="ru-RU" sz="2400" dirty="0" smtClean="0"/>
              <a:t>Решение: </a:t>
            </a:r>
            <a:r>
              <a:rPr lang="ru-RU" sz="2400" b="1" dirty="0" smtClean="0"/>
              <a:t>повторное обучение моделей</a:t>
            </a:r>
            <a:r>
              <a:rPr lang="ru-RU" sz="2400" dirty="0" smtClean="0"/>
              <a:t> на выборках, случайно выбранных из генеральной совокупности, либо иных подмножествах данных, сконструированных из имеющихся.</a:t>
            </a:r>
          </a:p>
          <a:p>
            <a:pPr indent="533400"/>
            <a:r>
              <a:rPr lang="ru-RU" sz="2400" dirty="0" smtClean="0"/>
              <a:t>Для получения устойчивого прогноза частные предсказания этих моделей тем или иным образом комбинируют, например, с помощью </a:t>
            </a:r>
            <a:r>
              <a:rPr lang="ru-RU" sz="2400" b="1" dirty="0" smtClean="0"/>
              <a:t>простого усреднения </a:t>
            </a:r>
            <a:r>
              <a:rPr lang="ru-RU" sz="2400" dirty="0" smtClean="0"/>
              <a:t>или голосования (возможно, взвешенного).</a:t>
            </a:r>
          </a:p>
          <a:p>
            <a:pPr indent="533400"/>
            <a:endParaRPr lang="ru-RU" sz="2400" dirty="0" smtClean="0"/>
          </a:p>
          <a:p>
            <a:pPr indent="533400"/>
            <a:r>
              <a:rPr lang="ru-RU" sz="2400" dirty="0" smtClean="0"/>
              <a:t>Один из способов генерации подвыборок – </a:t>
            </a:r>
            <a:r>
              <a:rPr lang="ru-RU" sz="2400" b="1" dirty="0" smtClean="0"/>
              <a:t>бутстреп</a:t>
            </a:r>
            <a:r>
              <a:rPr lang="ru-RU" sz="2400" dirty="0" smtClean="0"/>
              <a:t>.</a:t>
            </a: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MS Mincho" pitchFamily="49" charset="-128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000100" y="785794"/>
            <a:ext cx="8143900" cy="637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33400"/>
            <a:r>
              <a:rPr lang="ru-RU" sz="2400" dirty="0" smtClean="0"/>
              <a:t>Деревья </a:t>
            </a:r>
            <a:r>
              <a:rPr lang="ru-RU" sz="2400" b="1" dirty="0" smtClean="0"/>
              <a:t>очень</a:t>
            </a:r>
            <a:r>
              <a:rPr lang="ru-RU" sz="2400" dirty="0" smtClean="0"/>
              <a:t> </a:t>
            </a:r>
            <a:r>
              <a:rPr lang="ru-RU" sz="2400" b="1" dirty="0" smtClean="0"/>
              <a:t>чувствительны</a:t>
            </a:r>
            <a:r>
              <a:rPr lang="ru-RU" sz="2400" dirty="0" smtClean="0"/>
              <a:t> к небольшому изменению обучающих данных!</a:t>
            </a:r>
          </a:p>
          <a:p>
            <a:pPr indent="533400"/>
            <a:r>
              <a:rPr lang="ru-RU" sz="2400" dirty="0" smtClean="0"/>
              <a:t>Если мы случайным образом разобьем обучающие данные на две части и построим дерево решений на основе каждой из них, то полученные результаты могут оказаться довольно разными.</a:t>
            </a:r>
          </a:p>
          <a:p>
            <a:pPr indent="533400"/>
            <a:endParaRPr kumimoji="0" lang="ru-RU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MS Mincho" pitchFamily="49" charset="-128"/>
              <a:cs typeface="Times New Roman" pitchFamily="18" charset="0"/>
            </a:endParaRPr>
          </a:p>
          <a:p>
            <a:pPr indent="533400"/>
            <a:r>
              <a:rPr lang="ru-RU" sz="2400" dirty="0" smtClean="0">
                <a:ea typeface="MS Mincho" pitchFamily="49" charset="-128"/>
                <a:cs typeface="Times New Roman" pitchFamily="18" charset="0"/>
              </a:rPr>
              <a:t>Решение - </a:t>
            </a:r>
            <a:r>
              <a:rPr lang="ru-RU" sz="2400" b="1" dirty="0" smtClean="0"/>
              <a:t>Бутстреп</a:t>
            </a:r>
            <a:r>
              <a:rPr lang="ru-RU" sz="2400" dirty="0" smtClean="0"/>
              <a:t> </a:t>
            </a:r>
          </a:p>
          <a:p>
            <a:pPr indent="533400"/>
            <a:endParaRPr lang="ru-RU" sz="2400" dirty="0" smtClean="0"/>
          </a:p>
          <a:p>
            <a:pPr indent="533400"/>
            <a:r>
              <a:rPr lang="ru-RU" sz="2400" dirty="0" smtClean="0"/>
              <a:t>Если вместо отдельных обучающих выборок выполнить бутстреп и на основе сгенерированных </a:t>
            </a:r>
            <a:r>
              <a:rPr lang="ru-RU" sz="2400" dirty="0" err="1" smtClean="0"/>
              <a:t>псевдо-выборок</a:t>
            </a:r>
            <a:r>
              <a:rPr lang="ru-RU" sz="2400" dirty="0" smtClean="0"/>
              <a:t> построить деревья регрессии, то средний коллективный прогноз будет обладать </a:t>
            </a:r>
            <a:r>
              <a:rPr lang="ru-RU" sz="2400" b="1" dirty="0" smtClean="0"/>
              <a:t>более низкой дисперсией</a:t>
            </a:r>
            <a:r>
              <a:rPr lang="ru-RU" sz="2400" dirty="0" smtClean="0"/>
              <a:t>.</a:t>
            </a:r>
          </a:p>
          <a:p>
            <a:pPr indent="533400"/>
            <a:endParaRPr lang="ru-RU" sz="2400" dirty="0" smtClean="0"/>
          </a:p>
          <a:p>
            <a:pPr indent="533400"/>
            <a:r>
              <a:rPr lang="ru-RU" sz="2400" dirty="0" smtClean="0"/>
              <a:t> Эта процедура и называется </a:t>
            </a:r>
            <a:r>
              <a:rPr lang="ru-RU" sz="2400" b="1" dirty="0" err="1" smtClean="0"/>
              <a:t>бэггингом</a:t>
            </a:r>
            <a:r>
              <a:rPr lang="ru-RU" sz="2400" dirty="0" smtClean="0"/>
              <a:t> (сокр. от </a:t>
            </a:r>
            <a:r>
              <a:rPr lang="ru-RU" sz="2400" b="1" dirty="0" err="1" smtClean="0"/>
              <a:t>b</a:t>
            </a:r>
            <a:r>
              <a:rPr lang="ru-RU" sz="2400" dirty="0" err="1" smtClean="0"/>
              <a:t>ootstrap</a:t>
            </a:r>
            <a:r>
              <a:rPr lang="ru-RU" sz="2400" dirty="0" smtClean="0"/>
              <a:t> </a:t>
            </a:r>
            <a:r>
              <a:rPr lang="ru-RU" sz="2400" b="1" dirty="0" err="1" smtClean="0"/>
              <a:t>agg</a:t>
            </a:r>
            <a:r>
              <a:rPr lang="ru-RU" sz="2400" dirty="0" err="1" smtClean="0"/>
              <a:t>regat</a:t>
            </a:r>
            <a:r>
              <a:rPr lang="ru-RU" sz="2400" b="1" dirty="0" err="1" smtClean="0"/>
              <a:t>ing</a:t>
            </a:r>
            <a:r>
              <a:rPr lang="ru-RU" sz="2400" dirty="0" smtClean="0"/>
              <a:t>). </a:t>
            </a:r>
          </a:p>
          <a:p>
            <a:pPr indent="533400"/>
            <a:endParaRPr lang="ru-RU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pic>
        <p:nvPicPr>
          <p:cNvPr id="1026" name="Picture 2" descr="https://proproprogs.ru/htm/ml/files/ml-sluchaynye-derevya-i-sluchaynyy-les-bootstrap-i-bagging.files/image00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357298"/>
            <a:ext cx="7715304" cy="3684552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928662" y="5286388"/>
            <a:ext cx="76438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https://proproprogs.ru/ml/ml-sluchaynye-derevya-i-sluchaynyy-les-bootstrap-i-bagging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000100" y="785794"/>
            <a:ext cx="81439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33400"/>
            <a:r>
              <a:rPr lang="ru-RU" sz="2400" b="1" dirty="0" smtClean="0"/>
              <a:t>Метод случайного леса (</a:t>
            </a:r>
            <a:r>
              <a:rPr lang="ru-RU" sz="2400" b="1" dirty="0" err="1" smtClean="0"/>
              <a:t>Random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Forest</a:t>
            </a:r>
            <a:r>
              <a:rPr lang="ru-RU" sz="2400" b="1" dirty="0" smtClean="0"/>
              <a:t>) </a:t>
            </a:r>
            <a:r>
              <a:rPr lang="ru-RU" sz="2400" dirty="0" smtClean="0"/>
              <a:t>представляет собой дальнейшее улучшение </a:t>
            </a:r>
            <a:r>
              <a:rPr lang="ru-RU" sz="2400" dirty="0" err="1" smtClean="0"/>
              <a:t>бэггинга</a:t>
            </a:r>
            <a:r>
              <a:rPr lang="ru-RU" sz="2400" dirty="0" smtClean="0"/>
              <a:t> деревьев решений, которое заключается в </a:t>
            </a:r>
            <a:r>
              <a:rPr lang="ru-RU" sz="2400" b="1" dirty="0" smtClean="0"/>
              <a:t>устранении корреляции между деревьями.</a:t>
            </a:r>
          </a:p>
          <a:p>
            <a:pPr indent="533400"/>
            <a:endParaRPr lang="ru-RU" sz="2400" b="1" dirty="0" smtClean="0"/>
          </a:p>
          <a:p>
            <a:pPr marL="457200" indent="-457200">
              <a:buAutoNum type="arabicPeriod"/>
            </a:pPr>
            <a:r>
              <a:rPr lang="ru-RU" sz="2400" dirty="0" smtClean="0"/>
              <a:t>Строится несколько сотен деревьев решений по обучающим </a:t>
            </a:r>
            <a:r>
              <a:rPr lang="ru-RU" sz="2400" dirty="0" err="1" smtClean="0"/>
              <a:t>бутстреп-выборкам</a:t>
            </a:r>
            <a:r>
              <a:rPr lang="ru-RU" sz="2400" dirty="0" smtClean="0"/>
              <a:t>. 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На каждой итерации построения дерева случайным образом выбирается </a:t>
            </a:r>
            <a:r>
              <a:rPr lang="ru-RU" sz="2400" dirty="0" err="1" smtClean="0"/>
              <a:t>m</a:t>
            </a:r>
            <a:r>
              <a:rPr lang="ru-RU" sz="2400" dirty="0" smtClean="0"/>
              <a:t> из </a:t>
            </a:r>
            <a:r>
              <a:rPr lang="ru-RU" sz="2400" dirty="0" err="1" smtClean="0"/>
              <a:t>p</a:t>
            </a:r>
            <a:r>
              <a:rPr lang="ru-RU" sz="2400" dirty="0" smtClean="0"/>
              <a:t> подлежащих рассмотрению предикторов и разбиение разрешается выполнять только по одной из </a:t>
            </a:r>
            <a:r>
              <a:rPr lang="ru-RU" sz="2400" dirty="0" err="1" smtClean="0"/>
              <a:t>m</a:t>
            </a:r>
            <a:r>
              <a:rPr lang="ru-RU" sz="2400" dirty="0" smtClean="0"/>
              <a:t> этих переменных.</a:t>
            </a:r>
          </a:p>
          <a:p>
            <a:pPr indent="533400"/>
            <a:endParaRPr lang="ru-RU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000100" y="785794"/>
            <a:ext cx="81439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b="1" dirty="0" smtClean="0"/>
              <a:t>Смысл процедуры: </a:t>
            </a:r>
          </a:p>
          <a:p>
            <a:r>
              <a:rPr lang="ru-RU" sz="2400" dirty="0" smtClean="0"/>
              <a:t> с вероятностью </a:t>
            </a:r>
            <a:r>
              <a:rPr lang="ru-RU" sz="2400" b="1" dirty="0" smtClean="0"/>
              <a:t>(</a:t>
            </a:r>
            <a:r>
              <a:rPr lang="ru-RU" sz="2400" b="1" dirty="0" err="1" smtClean="0"/>
              <a:t>p−m</a:t>
            </a:r>
            <a:r>
              <a:rPr lang="ru-RU" sz="2400" b="1" dirty="0" smtClean="0"/>
              <a:t>)/</a:t>
            </a:r>
            <a:r>
              <a:rPr lang="ru-RU" sz="2400" b="1" dirty="0" err="1" smtClean="0"/>
              <a:t>p</a:t>
            </a:r>
            <a:r>
              <a:rPr lang="ru-RU" sz="2400" dirty="0" smtClean="0"/>
              <a:t> блокируется какой-нибудь потенциально доминирующий предиктор, стремящийся войти в каждое дерево. </a:t>
            </a:r>
          </a:p>
          <a:p>
            <a:endParaRPr lang="ru-RU" sz="2400" dirty="0" smtClean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Если доминирование таких предикторов разрешить, то все деревья в итоге будут очень похожи друг на друга, а получаемые на их основе предсказания будут сильно </a:t>
            </a:r>
            <a:r>
              <a:rPr lang="ru-RU" sz="2400" dirty="0" err="1" smtClean="0"/>
              <a:t>коррелировать</a:t>
            </a:r>
            <a:r>
              <a:rPr lang="ru-RU" sz="2400" dirty="0" smtClean="0"/>
              <a:t> и снижение дисперсии будет не столь очевидным.</a:t>
            </a:r>
          </a:p>
          <a:p>
            <a:pPr>
              <a:buFont typeface="Arial" pitchFamily="34" charset="0"/>
              <a:buChar char="•"/>
            </a:pPr>
            <a:endParaRPr lang="ru-RU" sz="2400" dirty="0" smtClean="0"/>
          </a:p>
          <a:p>
            <a:pPr>
              <a:buFont typeface="Arial" pitchFamily="34" charset="0"/>
              <a:buChar char="•"/>
            </a:pPr>
            <a:r>
              <a:rPr lang="ru-RU" sz="2400" dirty="0" smtClean="0"/>
              <a:t>Благодаря блокированию </a:t>
            </a:r>
            <a:r>
              <a:rPr lang="ru-RU" sz="2400" dirty="0" err="1" smtClean="0"/>
              <a:t>доминантов</a:t>
            </a:r>
            <a:r>
              <a:rPr lang="ru-RU" sz="2400" dirty="0" smtClean="0"/>
              <a:t>, другие предикторы получат свой шанс, и вариация деревьев возрастает.</a:t>
            </a:r>
          </a:p>
          <a:p>
            <a:pPr indent="533400"/>
            <a:endParaRPr lang="ru-RU" sz="24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000100" y="785794"/>
            <a:ext cx="81439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3200" dirty="0" smtClean="0"/>
              <a:t>Выбор малого значения </a:t>
            </a:r>
            <a:r>
              <a:rPr lang="ru-RU" sz="3200" dirty="0" err="1" smtClean="0"/>
              <a:t>m</a:t>
            </a:r>
            <a:r>
              <a:rPr lang="ru-RU" sz="3200" dirty="0" smtClean="0"/>
              <a:t> при построении случайного леса обычно будет полезным при наличии большого числа </a:t>
            </a:r>
            <a:r>
              <a:rPr lang="ru-RU" sz="3200" dirty="0" err="1" smtClean="0"/>
              <a:t>коррелирующих</a:t>
            </a:r>
            <a:r>
              <a:rPr lang="ru-RU" sz="3200" dirty="0" smtClean="0"/>
              <a:t> предикторов.</a:t>
            </a:r>
          </a:p>
          <a:p>
            <a:endParaRPr lang="ru-RU" sz="3200" dirty="0" smtClean="0"/>
          </a:p>
          <a:p>
            <a:r>
              <a:rPr lang="ru-RU" sz="3200" dirty="0" smtClean="0"/>
              <a:t>Естественно, если случайный лес строится с использованием </a:t>
            </a:r>
            <a:r>
              <a:rPr lang="ru-RU" sz="3200" dirty="0" err="1" smtClean="0"/>
              <a:t>m=p</a:t>
            </a:r>
            <a:r>
              <a:rPr lang="ru-RU" sz="3200" dirty="0" smtClean="0"/>
              <a:t>, то вся процедура сводится к простому </a:t>
            </a:r>
            <a:r>
              <a:rPr lang="ru-RU" sz="3200" dirty="0" err="1" smtClean="0"/>
              <a:t>бэггингу</a:t>
            </a:r>
            <a:r>
              <a:rPr lang="ru-RU" sz="3200" dirty="0" smtClean="0"/>
              <a:t>.</a:t>
            </a:r>
            <a:endParaRPr lang="ru-RU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  <p:sp>
        <p:nvSpPr>
          <p:cNvPr id="29697" name="Rectangle 1"/>
          <p:cNvSpPr>
            <a:spLocks noChangeArrowheads="1"/>
          </p:cNvSpPr>
          <p:nvPr/>
        </p:nvSpPr>
        <p:spPr bwMode="auto">
          <a:xfrm>
            <a:off x="1000100" y="785794"/>
            <a:ext cx="8143900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3200" dirty="0" smtClean="0"/>
              <a:t>Выбор малого значения </a:t>
            </a:r>
            <a:r>
              <a:rPr lang="ru-RU" sz="3200" dirty="0" err="1" smtClean="0"/>
              <a:t>m</a:t>
            </a:r>
            <a:r>
              <a:rPr lang="ru-RU" sz="3200" dirty="0" smtClean="0"/>
              <a:t> при построении случайного леса обычно будет полезным при наличии большого числа </a:t>
            </a:r>
            <a:r>
              <a:rPr lang="ru-RU" sz="3200" dirty="0" err="1" smtClean="0"/>
              <a:t>коррелирующих</a:t>
            </a:r>
            <a:r>
              <a:rPr lang="ru-RU" sz="3200" dirty="0" smtClean="0"/>
              <a:t> предикторов.</a:t>
            </a:r>
          </a:p>
          <a:p>
            <a:endParaRPr lang="ru-RU" sz="3200" dirty="0" smtClean="0"/>
          </a:p>
          <a:p>
            <a:r>
              <a:rPr lang="ru-RU" sz="3200" dirty="0" smtClean="0"/>
              <a:t>Естественно, если случайный лес строится с использованием </a:t>
            </a:r>
            <a:r>
              <a:rPr lang="ru-RU" sz="3200" dirty="0" err="1" smtClean="0"/>
              <a:t>m=p</a:t>
            </a:r>
            <a:r>
              <a:rPr lang="ru-RU" sz="3200" dirty="0" smtClean="0"/>
              <a:t>, то вся процедура сводится к простому </a:t>
            </a:r>
            <a:r>
              <a:rPr lang="ru-RU" sz="3200" dirty="0" err="1" smtClean="0"/>
              <a:t>бэггингу</a:t>
            </a:r>
            <a:r>
              <a:rPr lang="ru-RU" sz="3200" dirty="0" smtClean="0"/>
              <a:t>.</a:t>
            </a:r>
            <a:endParaRPr lang="ru-RU" sz="3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851017"/>
            <a:ext cx="91440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 smtClean="0"/>
              <a:t>Достоинства:</a:t>
            </a:r>
          </a:p>
          <a:p>
            <a:pPr lvl="0" indent="361950">
              <a:buFont typeface="Wingdings" pitchFamily="2" charset="2"/>
              <a:buChar char="§"/>
            </a:pPr>
            <a:r>
              <a:rPr lang="ru-RU" sz="2400" dirty="0" smtClean="0"/>
              <a:t>Способность эффективно обрабатывать данные с большим числом признаков и классов.</a:t>
            </a:r>
          </a:p>
          <a:p>
            <a:pPr lvl="0" indent="361950">
              <a:buFont typeface="Wingdings" pitchFamily="2" charset="2"/>
              <a:buChar char="§"/>
            </a:pPr>
            <a:r>
              <a:rPr lang="ru-RU" sz="2400" dirty="0" smtClean="0"/>
              <a:t>Нечувствительность к масштабированию значений признаков.</a:t>
            </a:r>
          </a:p>
          <a:p>
            <a:pPr lvl="0" indent="361950">
              <a:buFont typeface="Wingdings" pitchFamily="2" charset="2"/>
              <a:buChar char="§"/>
            </a:pPr>
            <a:r>
              <a:rPr lang="ru-RU" sz="2400" dirty="0" smtClean="0"/>
              <a:t>Одинаково хорошо обрабатываются как непрерывные, так и дискретные признаки. </a:t>
            </a:r>
          </a:p>
          <a:p>
            <a:pPr lvl="0" indent="361950">
              <a:buFont typeface="Wingdings" pitchFamily="2" charset="2"/>
              <a:buChar char="§"/>
            </a:pPr>
            <a:r>
              <a:rPr lang="ru-RU" sz="2400" dirty="0" smtClean="0"/>
              <a:t>Существуют методы оценивания значимости отдельных признаков в модели.</a:t>
            </a:r>
          </a:p>
          <a:p>
            <a:pPr lvl="0" indent="361950">
              <a:buFont typeface="Wingdings" pitchFamily="2" charset="2"/>
              <a:buChar char="§"/>
            </a:pPr>
            <a:r>
              <a:rPr lang="ru-RU" sz="2400" dirty="0" smtClean="0"/>
              <a:t>Внутренняя оценка способности модели к обобщению (тест по неотобранным образцам </a:t>
            </a:r>
            <a:r>
              <a:rPr lang="ru-RU" sz="2400" dirty="0" err="1" smtClean="0"/>
              <a:t>out-of-bag</a:t>
            </a:r>
            <a:r>
              <a:rPr lang="ru-RU" sz="2400" dirty="0" smtClean="0"/>
              <a:t>).</a:t>
            </a:r>
          </a:p>
          <a:p>
            <a:r>
              <a:rPr lang="ru-RU" sz="2400" dirty="0" smtClean="0"/>
              <a:t> </a:t>
            </a:r>
          </a:p>
          <a:p>
            <a:r>
              <a:rPr lang="ru-RU" sz="2400" dirty="0" smtClean="0"/>
              <a:t>Недостатки:</a:t>
            </a:r>
          </a:p>
          <a:p>
            <a:pPr lvl="0"/>
            <a:r>
              <a:rPr lang="ru-RU" sz="2400" dirty="0" smtClean="0"/>
              <a:t>Большой размер получающихся моделей.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2714612" y="109815"/>
            <a:ext cx="40850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/>
              <a:t>Метод  Случайного леса  </a:t>
            </a: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14546" y="-24"/>
            <a:ext cx="5367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Алгоритм построения случайного леса</a:t>
            </a:r>
            <a:endParaRPr lang="ru-RU" sz="2400" dirty="0"/>
          </a:p>
        </p:txBody>
      </p:sp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500042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53975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ea typeface="Times New Roman" pitchFamily="18" charset="0"/>
                <a:cs typeface="Times New Roman" pitchFamily="18" charset="0"/>
              </a:rPr>
              <a:t>Пусть обучающая выборка состоит из N образцов, размерность пространства признаков равна M, и задан параметр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rgbClr val="202122"/>
                </a:solidFill>
                <a:effectLst/>
                <a:ea typeface="Times New Roman" pitchFamily="18" charset="0"/>
                <a:cs typeface="Times New Roman" pitchFamily="18" charset="0"/>
              </a:rPr>
              <a:t>m</a:t>
            </a:r>
            <a:r>
              <a:rPr lang="ru-RU" sz="2000" dirty="0" smtClean="0">
                <a:solidFill>
                  <a:srgbClr val="202122"/>
                </a:solidFill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как неполное количество признаков для обучения.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ea typeface="Times New Roman" pitchFamily="18" charset="0"/>
                <a:cs typeface="Times New Roman" pitchFamily="18" charset="0"/>
              </a:rPr>
              <a:t> </a:t>
            </a:r>
          </a:p>
          <a:p>
            <a:pPr indent="539750"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smtClean="0">
                <a:solidFill>
                  <a:srgbClr val="202122"/>
                </a:solidFill>
                <a:ea typeface="Times New Roman" pitchFamily="18" charset="0"/>
                <a:cs typeface="Times New Roman" pitchFamily="18" charset="0"/>
              </a:rPr>
              <a:t>В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ea typeface="Times New Roman" pitchFamily="18" charset="0"/>
                <a:cs typeface="Times New Roman" pitchFamily="18" charset="0"/>
              </a:rPr>
              <a:t> задачах классификации обычно                           </a:t>
            </a:r>
          </a:p>
          <a:p>
            <a:pPr indent="539750" fontAlgn="base">
              <a:spcBef>
                <a:spcPct val="0"/>
              </a:spcBef>
              <a:spcAft>
                <a:spcPct val="0"/>
              </a:spcAft>
            </a:pPr>
            <a:endParaRPr lang="ru-RU" sz="2000" dirty="0" smtClean="0">
              <a:solidFill>
                <a:srgbClr val="202122"/>
              </a:solidFill>
              <a:ea typeface="Times New Roman" pitchFamily="18" charset="0"/>
              <a:cs typeface="Times New Roman" pitchFamily="18" charset="0"/>
            </a:endParaRPr>
          </a:p>
          <a:p>
            <a:pPr indent="53975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202122"/>
                </a:solidFill>
                <a:effectLst/>
                <a:ea typeface="Times New Roman" pitchFamily="18" charset="0"/>
                <a:cs typeface="Times New Roman" pitchFamily="18" charset="0"/>
              </a:rPr>
              <a:t>В задачах регрессии -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27649" name="Рисунок 17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4849" y="1428736"/>
            <a:ext cx="1097283" cy="381001"/>
          </a:xfrm>
          <a:prstGeom prst="rect">
            <a:avLst/>
          </a:prstGeom>
          <a:noFill/>
        </p:spPr>
      </p:pic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14678" y="1857364"/>
            <a:ext cx="857256" cy="688833"/>
          </a:xfrm>
          <a:prstGeom prst="rect">
            <a:avLst/>
          </a:prstGeom>
          <a:noFill/>
        </p:spPr>
      </p:pic>
      <p:pic>
        <p:nvPicPr>
          <p:cNvPr id="27655" name="Picture 7" descr="https://slideplayer.com/slide/7835984/25/images/25/Random+Forest+Classifier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71604" y="2729842"/>
            <a:ext cx="5572164" cy="412815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ChangeArrowheads="1"/>
          </p:cNvSpPr>
          <p:nvPr/>
        </p:nvSpPr>
        <p:spPr bwMode="auto">
          <a:xfrm>
            <a:off x="1" y="500042"/>
            <a:ext cx="9143999" cy="2739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Times New Roman" pitchFamily="18" charset="0"/>
              </a:rPr>
              <a:t>Построим деревья методом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effectLst/>
                <a:ea typeface="Times New Roman" pitchFamily="18" charset="0"/>
                <a:cs typeface="Times New Roman" pitchFamily="18" charset="0"/>
              </a:rPr>
              <a:t>бэггинга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Times New Roman" pitchFamily="18" charset="0"/>
              </a:rPr>
              <a:t>:</a:t>
            </a:r>
            <a:endParaRPr kumimoji="0" lang="ru-RU" altLang="ja-JP" sz="1600" b="0" i="0" u="none" strike="noStrike" cap="none" normalizeH="0" baseline="0" dirty="0" smtClean="0">
              <a:ln>
                <a:noFill/>
              </a:ln>
              <a:effectLst/>
              <a:ea typeface="Times New Roman" pitchFamily="18" charset="0"/>
              <a:cs typeface="Arial" pitchFamily="34" charset="0"/>
            </a:endParaRPr>
          </a:p>
          <a:p>
            <a:pPr marL="171450"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ja-JP" sz="1600" b="0" i="0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Arial" pitchFamily="34" charset="0"/>
              </a:rPr>
              <a:t>Сгенерируем случайную </a:t>
            </a:r>
            <a:r>
              <a:rPr kumimoji="0" lang="ru-RU" altLang="ja-JP" sz="1600" b="0" i="0" u="none" strike="noStrike" cap="none" normalizeH="0" baseline="0" dirty="0" err="1" smtClean="0">
                <a:ln>
                  <a:noFill/>
                </a:ln>
                <a:effectLst/>
                <a:ea typeface="Times New Roman" pitchFamily="18" charset="0"/>
                <a:cs typeface="Arial" pitchFamily="34" charset="0"/>
              </a:rPr>
              <a:t>подвыборку</a:t>
            </a:r>
            <a:r>
              <a:rPr kumimoji="0" lang="ru-RU" altLang="ja-JP" sz="1600" b="0" i="0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Arial" pitchFamily="34" charset="0"/>
              </a:rPr>
              <a:t> с повторениями размером  </a:t>
            </a:r>
            <a:r>
              <a:rPr kumimoji="0" lang="en-US" altLang="ja-JP" sz="1600" b="0" i="1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Arial" pitchFamily="34" charset="0"/>
              </a:rPr>
              <a:t>N</a:t>
            </a:r>
            <a:r>
              <a:rPr kumimoji="0" lang="ru-RU" altLang="ja-JP" sz="1600" b="0" i="0" u="none" strike="noStrike" cap="none" normalizeH="0" baseline="0" dirty="0" smtClean="0">
                <a:ln>
                  <a:noFill/>
                </a:ln>
                <a:effectLst/>
                <a:ea typeface="Times New Roman" pitchFamily="18" charset="0"/>
                <a:cs typeface="Arial" pitchFamily="34" charset="0"/>
              </a:rPr>
              <a:t> из обучающей выборки. </a:t>
            </a:r>
          </a:p>
          <a:p>
            <a:pPr marL="171450">
              <a:spcAft>
                <a:spcPts val="1200"/>
              </a:spcAft>
            </a:pPr>
            <a:r>
              <a:rPr lang="ru-RU" sz="1600" dirty="0" smtClean="0"/>
              <a:t>В среднем образцов не войдет в </a:t>
            </a:r>
            <a:r>
              <a:rPr lang="ru-RU" sz="1600" dirty="0" err="1" smtClean="0"/>
              <a:t>подвыборку</a:t>
            </a:r>
            <a:r>
              <a:rPr lang="ru-RU" sz="1600" dirty="0" smtClean="0"/>
              <a:t> вообще:</a:t>
            </a:r>
          </a:p>
          <a:p>
            <a:pPr marL="171450" lvl="0">
              <a:spcAft>
                <a:spcPts val="1200"/>
              </a:spcAft>
            </a:pPr>
            <a:r>
              <a:rPr lang="ru-RU" sz="1600" dirty="0" smtClean="0"/>
              <a:t>2. Построим решающее дерево, классифицирующее образцы данной </a:t>
            </a:r>
            <a:r>
              <a:rPr lang="ru-RU" sz="1600" dirty="0" err="1" smtClean="0"/>
              <a:t>подвыборки</a:t>
            </a:r>
            <a:r>
              <a:rPr lang="ru-RU" sz="1600" dirty="0" smtClean="0"/>
              <a:t>, причём в ходе создания очередного узла дерева будем выбирать набор признаков, на основе которых производится разбиение (не из всех M признаков, а лишь из </a:t>
            </a:r>
            <a:r>
              <a:rPr lang="ru-RU" sz="1600" dirty="0" err="1" smtClean="0"/>
              <a:t>m</a:t>
            </a:r>
            <a:r>
              <a:rPr lang="ru-RU" sz="1600" dirty="0" smtClean="0"/>
              <a:t> случайно выбранных).</a:t>
            </a:r>
          </a:p>
          <a:p>
            <a:pPr marL="171450">
              <a:spcAft>
                <a:spcPts val="1200"/>
              </a:spcAft>
            </a:pPr>
            <a:r>
              <a:rPr lang="ru-RU" sz="1600" dirty="0" smtClean="0"/>
              <a:t>3. Дерево строится до полного исчерпания </a:t>
            </a:r>
            <a:r>
              <a:rPr lang="ru-RU" sz="1600" dirty="0" err="1" smtClean="0"/>
              <a:t>подвыборки</a:t>
            </a:r>
            <a:r>
              <a:rPr lang="ru-RU" sz="1600" dirty="0" smtClean="0"/>
              <a:t> и не подвергается процедуре </a:t>
            </a:r>
            <a:r>
              <a:rPr lang="ru-RU" sz="1600" dirty="0" err="1" smtClean="0"/>
              <a:t>прунинга</a:t>
            </a:r>
            <a:r>
              <a:rPr lang="ru-RU" sz="1600" dirty="0" smtClean="0"/>
              <a:t> </a:t>
            </a:r>
            <a:r>
              <a:rPr lang="en-US" sz="1600" dirty="0" smtClean="0"/>
              <a:t>(</a:t>
            </a:r>
            <a:r>
              <a:rPr lang="ru-RU" sz="1600" dirty="0" smtClean="0"/>
              <a:t>отсечение ветвей).</a:t>
            </a:r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2066" y="1285860"/>
            <a:ext cx="1428760" cy="416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Прямоугольник 5"/>
          <p:cNvSpPr/>
          <p:nvPr/>
        </p:nvSpPr>
        <p:spPr>
          <a:xfrm>
            <a:off x="2214546" y="-24"/>
            <a:ext cx="5367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Алгоритм построения случайного леса</a:t>
            </a:r>
            <a:endParaRPr lang="ru-RU" sz="2400" dirty="0"/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89" y="3286124"/>
            <a:ext cx="6656332" cy="3571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2357422" y="0"/>
            <a:ext cx="493340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Случайный лес в </a:t>
            </a:r>
            <a:r>
              <a:rPr lang="ru-RU" sz="2400" dirty="0" smtClean="0">
                <a:ea typeface="MS Mincho" pitchFamily="49" charset="-128"/>
                <a:cs typeface="Times New Roman" pitchFamily="18" charset="0"/>
              </a:rPr>
              <a:t>з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адачах регрессии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28604"/>
            <a:ext cx="435768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Рисунок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29124" y="357166"/>
            <a:ext cx="4714876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Рисунок 4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00232" y="3671573"/>
            <a:ext cx="4572031" cy="318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ChangeArrowheads="1"/>
          </p:cNvSpPr>
          <p:nvPr/>
        </p:nvSpPr>
        <p:spPr bwMode="auto">
          <a:xfrm>
            <a:off x="2003802" y="0"/>
            <a:ext cx="56406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Случайный лес в </a:t>
            </a:r>
            <a:r>
              <a:rPr lang="ru-RU" sz="2400" dirty="0" smtClean="0">
                <a:ea typeface="MS Mincho" pitchFamily="49" charset="-128"/>
                <a:cs typeface="Times New Roman" pitchFamily="18" charset="0"/>
              </a:rPr>
              <a:t>з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MS Mincho" pitchFamily="49" charset="-128"/>
                <a:cs typeface="Times New Roman" pitchFamily="18" charset="0"/>
              </a:rPr>
              <a:t>адачах классификации</a:t>
            </a:r>
            <a:endParaRPr kumimoji="0" lang="ru-RU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428604"/>
            <a:ext cx="4571999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Рисунок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7686" y="571480"/>
            <a:ext cx="4786314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Рисунок 8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57357" y="3643314"/>
            <a:ext cx="5072097" cy="3214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ChangeArrowheads="1"/>
          </p:cNvSpPr>
          <p:nvPr/>
        </p:nvSpPr>
        <p:spPr bwMode="auto">
          <a:xfrm>
            <a:off x="0" y="108964"/>
            <a:ext cx="9144000" cy="6463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sng" strike="noStrike" cap="none" normalizeH="0" baseline="0" dirty="0" err="1" smtClean="0">
                <a:ln>
                  <a:noFill/>
                </a:ln>
                <a:solidFill>
                  <a:srgbClr val="8959A8"/>
                </a:solidFill>
                <a:effectLst/>
                <a:ea typeface="Times New Roman" pitchFamily="18" charset="0"/>
                <a:cs typeface="Courier New" pitchFamily="49" charset="0"/>
              </a:rPr>
              <a:t>class</a:t>
            </a:r>
            <a:r>
              <a:rPr kumimoji="0" lang="ru-RU" sz="1600" b="1" i="0" u="sng" strike="noStrike" cap="none" normalizeH="0" baseline="0" dirty="0" smtClean="0">
                <a:ln>
                  <a:noFill/>
                </a:ln>
                <a:solidFill>
                  <a:srgbClr val="4D4D4C"/>
                </a:solidFill>
                <a:effectLst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ru-RU" sz="1600" b="1" i="0" u="sng" strike="noStrike" cap="none" normalizeH="0" baseline="0" dirty="0" err="1" smtClean="0">
                <a:ln>
                  <a:noFill/>
                </a:ln>
                <a:solidFill>
                  <a:srgbClr val="4271AE"/>
                </a:solidFill>
                <a:effectLst/>
                <a:ea typeface="Times New Roman" pitchFamily="18" charset="0"/>
                <a:cs typeface="Courier New" pitchFamily="49" charset="0"/>
              </a:rPr>
              <a:t>sklearn</a:t>
            </a:r>
            <a:r>
              <a:rPr kumimoji="0" lang="ru-RU" sz="1600" b="1" i="0" u="sng" strike="noStrike" cap="none" normalizeH="0" baseline="0" dirty="0" err="1" smtClean="0">
                <a:ln>
                  <a:noFill/>
                </a:ln>
                <a:solidFill>
                  <a:srgbClr val="4D4D4C"/>
                </a:solidFill>
                <a:effectLst/>
                <a:ea typeface="Times New Roman" pitchFamily="18" charset="0"/>
                <a:cs typeface="Courier New" pitchFamily="49" charset="0"/>
              </a:rPr>
              <a:t>.</a:t>
            </a:r>
            <a:r>
              <a:rPr kumimoji="0" lang="ru-RU" sz="1600" b="1" i="0" u="sng" strike="noStrike" cap="none" normalizeH="0" baseline="0" dirty="0" err="1" smtClean="0">
                <a:ln>
                  <a:noFill/>
                </a:ln>
                <a:solidFill>
                  <a:srgbClr val="4271AE"/>
                </a:solidFill>
                <a:effectLst/>
                <a:ea typeface="Times New Roman" pitchFamily="18" charset="0"/>
                <a:cs typeface="Courier New" pitchFamily="49" charset="0"/>
              </a:rPr>
              <a:t>ensemble</a:t>
            </a:r>
            <a:r>
              <a:rPr kumimoji="0" lang="ru-RU" sz="1600" b="1" i="0" u="sng" strike="noStrike" cap="none" normalizeH="0" baseline="0" dirty="0" err="1" smtClean="0">
                <a:ln>
                  <a:noFill/>
                </a:ln>
                <a:solidFill>
                  <a:srgbClr val="4D4D4C"/>
                </a:solidFill>
                <a:effectLst/>
                <a:ea typeface="Times New Roman" pitchFamily="18" charset="0"/>
                <a:cs typeface="Courier New" pitchFamily="49" charset="0"/>
              </a:rPr>
              <a:t>.</a:t>
            </a:r>
            <a:r>
              <a:rPr kumimoji="0" lang="ru-RU" sz="1600" b="1" i="0" u="sng" strike="noStrike" cap="none" normalizeH="0" baseline="0" dirty="0" err="1" smtClean="0">
                <a:ln>
                  <a:noFill/>
                </a:ln>
                <a:solidFill>
                  <a:srgbClr val="4271AE"/>
                </a:solidFill>
                <a:effectLst/>
                <a:ea typeface="Times New Roman" pitchFamily="18" charset="0"/>
                <a:cs typeface="Courier New" pitchFamily="49" charset="0"/>
              </a:rPr>
              <a:t>RandomForestRegressor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(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n_estimators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число деревьев в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"лесу"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(по дефолту – 10)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criterion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функция, которая измеряет качество разбиения ветки дерева (по дефолту —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mse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, так же можно выбрать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mae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max_features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число признаков, по которым ищется разбиение. Вы можете указать конкретное число или процент признаков, либо выбрать из доступных значений: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auto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(все признаки),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sqrt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,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 "log2"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. По дефолту стоит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auto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max_depth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максимальная глубина дерева  (по дефолту глубина не ограничена)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min_samples_split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минимальное количество объектов, необходимое для разделения внутреннего узла. Можно задать числом или процентом от общего числа объектов (по дефолту — 2)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min_samples_leaf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минимальное число объектов в листе. Можно задать числом или процентом от общего числа объектов (по дефолту — 1)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min_weight_fraction_leaf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минимальная взвешенная доля от общей суммы весов (всех входных объектов) должна быть в листе (по дефолту имеют одинаковый вес)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max_leaf_nodes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максимальное количество листьев (по дефолту нет ограничения)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min_impurity_split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порог для остановки наращивания дерева (по дефолту 1е-7)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bootstrap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применять ли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бустрэп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для построения дерева (по дефолту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True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oob_score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использовать ли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out-of-bag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объекты для оценки R^2 (по дефолту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False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n_jobs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количество ядер для построения модели и предсказаний (по дефолту 1, если поставить -1, то будут использоваться все ядра)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random_state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начальное значение для генерации случайных чисел (по дефолту его нет, если хотите воспроизводимые результаты, то нужно указать любое число типа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int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verbose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вывод логов по построению деревьев (по дефолту 0)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warm_start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использует уже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натренированую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модель и добавляет деревьев в ансамбль (по дефолту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False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0" y="357166"/>
            <a:ext cx="914400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rgbClr val="8959A8"/>
                </a:solidFill>
                <a:effectLst/>
                <a:ea typeface="Times New Roman" pitchFamily="18" charset="0"/>
                <a:cs typeface="Courier New" pitchFamily="49" charset="0"/>
              </a:rPr>
              <a:t>class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4D4D4C"/>
                </a:solidFill>
                <a:effectLst/>
                <a:ea typeface="Times New Roman" pitchFamily="18" charset="0"/>
                <a:cs typeface="Courier New" pitchFamily="49" charset="0"/>
              </a:rPr>
              <a:t> 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rgbClr val="4271AE"/>
                </a:solidFill>
                <a:effectLst/>
                <a:ea typeface="Times New Roman" pitchFamily="18" charset="0"/>
                <a:cs typeface="Courier New" pitchFamily="49" charset="0"/>
              </a:rPr>
              <a:t>sklearn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4D4D4C"/>
                </a:solidFill>
                <a:effectLst/>
                <a:ea typeface="Times New Roman" pitchFamily="18" charset="0"/>
                <a:cs typeface="Courier New" pitchFamily="49" charset="0"/>
              </a:rPr>
              <a:t>.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rgbClr val="4271AE"/>
                </a:solidFill>
                <a:effectLst/>
                <a:ea typeface="Times New Roman" pitchFamily="18" charset="0"/>
                <a:cs typeface="Courier New" pitchFamily="49" charset="0"/>
              </a:rPr>
              <a:t>ensemble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4D4D4C"/>
                </a:solidFill>
                <a:effectLst/>
                <a:ea typeface="Times New Roman" pitchFamily="18" charset="0"/>
                <a:cs typeface="Courier New" pitchFamily="49" charset="0"/>
              </a:rPr>
              <a:t>.</a:t>
            </a:r>
            <a:r>
              <a:rPr kumimoji="0" lang="ru-RU" sz="1600" b="1" i="0" u="none" strike="noStrike" cap="none" normalizeH="0" baseline="0" dirty="0" err="1" smtClean="0">
                <a:ln>
                  <a:noFill/>
                </a:ln>
                <a:solidFill>
                  <a:srgbClr val="4271AE"/>
                </a:solidFill>
                <a:effectLst/>
                <a:ea typeface="Times New Roman" pitchFamily="18" charset="0"/>
                <a:cs typeface="Courier New" pitchFamily="49" charset="0"/>
              </a:rPr>
              <a:t>RandomForestClassifier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(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criterion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поскольку у нас теперь задача классификации, то по дефолту выбран критерий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gini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(можно выбрать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entropy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  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class_weight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— вес каждого класса (по дефолту все веса равны 1, но можно передать словарь с весами, либо явно указать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balanced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, тогда веса классов будут равны их исходным частям в генеральной совокупности; также можно указать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balanced_subsample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ea typeface="Times New Roman" pitchFamily="18" charset="0"/>
                <a:cs typeface="Courier New" pitchFamily="49" charset="0"/>
              </a:rPr>
              <a:t>"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, тогда веса на каждой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подвыборке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 будут меняться в зависимости от распределения классов на этой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подвыборке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.</a:t>
            </a:r>
            <a:endParaRPr kumimoji="0" lang="ru-RU" sz="11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  <a:p>
            <a:pPr marL="0" marR="0" lvl="0" indent="539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Times New Roman" pitchFamily="18" charset="0"/>
                <a:cs typeface="Courier New" pitchFamily="49" charset="0"/>
              </a:rPr>
              <a:t>)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1748085" y="-2232"/>
            <a:ext cx="5647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Метрики определения величины ошибки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214414" y="642918"/>
            <a:ext cx="4786346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Метрики классификации: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err="1" smtClean="0"/>
              <a:t>Accuracy</a:t>
            </a:r>
            <a:r>
              <a:rPr lang="ru-RU" sz="2400" dirty="0" smtClean="0"/>
              <a:t> - точность 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err="1" smtClean="0"/>
              <a:t>Precision</a:t>
            </a:r>
            <a:r>
              <a:rPr lang="ru-RU" sz="2400" dirty="0" smtClean="0"/>
              <a:t> - точность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err="1" smtClean="0"/>
              <a:t>Recall</a:t>
            </a:r>
            <a:r>
              <a:rPr lang="ru-RU" sz="2400" dirty="0" smtClean="0"/>
              <a:t> - чувствительность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smtClean="0"/>
              <a:t> ROC - площадь под кривой</a:t>
            </a:r>
          </a:p>
          <a:p>
            <a:endParaRPr lang="ru-RU" sz="2400" dirty="0" smtClean="0"/>
          </a:p>
          <a:p>
            <a:r>
              <a:rPr lang="ru-RU" sz="2400" dirty="0" smtClean="0"/>
              <a:t> Метрики регрессии: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smtClean="0"/>
              <a:t>MAE - средняя абсолютная ошибка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smtClean="0"/>
              <a:t>MSE - средняя квадратичная ошибка</a:t>
            </a:r>
          </a:p>
          <a:p>
            <a:pPr>
              <a:buFont typeface="Wingdings" pitchFamily="2" charset="2"/>
              <a:buChar char="§"/>
            </a:pPr>
            <a:r>
              <a:rPr lang="ru-RU" sz="2400" dirty="0" smtClean="0"/>
              <a:t>R ^ 2 - коэффициент детерминации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14546" y="1323963"/>
            <a:ext cx="4114823" cy="1238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1748085" y="-2232"/>
            <a:ext cx="5647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Метрики определения величины ошибки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109649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 </a:t>
            </a:r>
            <a:r>
              <a:rPr lang="en-US" dirty="0" smtClean="0"/>
              <a:t>Accuracy</a:t>
            </a:r>
            <a:r>
              <a:rPr lang="ru-RU" dirty="0" smtClean="0"/>
              <a:t> (точность)- это число правильных прогнозов, сделанное как отношение всех сделанных прогнозов: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2967037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Precision</a:t>
            </a:r>
            <a:r>
              <a:rPr lang="ru-RU" dirty="0" smtClean="0"/>
              <a:t> (точность) - показывает количество истинно положительных исходов из всего набора положительных меток: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4752987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Recall</a:t>
            </a:r>
            <a:r>
              <a:rPr lang="ru-RU" dirty="0" smtClean="0"/>
              <a:t> (чувствительность) - определяет количество истинно положительных среди всех меток класса, которые были определены как «положительный»:</a:t>
            </a:r>
            <a:endParaRPr lang="ru-RU" dirty="0"/>
          </a:p>
        </p:txBody>
      </p:sp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14612" y="3538541"/>
            <a:ext cx="2615054" cy="952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28926" y="5538805"/>
            <a:ext cx="2637273" cy="8191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1000100" y="500042"/>
            <a:ext cx="30181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/>
              <a:t>Метрики классификации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1748085" y="-2232"/>
            <a:ext cx="5647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Метрики определения величины ошибки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ROC (область под кривой) – график, показывающий зависимость верно классифицируемых объектов положительного класса от ложно положительно классифицируемых объектов негативного класса. Иными словами, соотношение </a:t>
            </a:r>
            <a:r>
              <a:rPr lang="ru-RU" dirty="0" err="1" smtClean="0"/>
              <a:t>True</a:t>
            </a:r>
            <a:r>
              <a:rPr lang="ru-RU" dirty="0" smtClean="0"/>
              <a:t> </a:t>
            </a:r>
            <a:r>
              <a:rPr lang="ru-RU" dirty="0" err="1" smtClean="0"/>
              <a:t>Positive</a:t>
            </a:r>
            <a:r>
              <a:rPr lang="ru-RU" dirty="0" smtClean="0"/>
              <a:t> </a:t>
            </a:r>
            <a:r>
              <a:rPr lang="ru-RU" dirty="0" err="1" smtClean="0"/>
              <a:t>Rate</a:t>
            </a:r>
            <a:r>
              <a:rPr lang="ru-RU" dirty="0" smtClean="0"/>
              <a:t> (</a:t>
            </a:r>
            <a:r>
              <a:rPr lang="ru-RU" dirty="0" err="1" smtClean="0"/>
              <a:t>Recall</a:t>
            </a:r>
            <a:r>
              <a:rPr lang="ru-RU" dirty="0" smtClean="0"/>
              <a:t>) и </a:t>
            </a:r>
            <a:r>
              <a:rPr lang="ru-RU" dirty="0" err="1" smtClean="0"/>
              <a:t>False</a:t>
            </a:r>
            <a:r>
              <a:rPr lang="ru-RU" dirty="0" smtClean="0"/>
              <a:t> </a:t>
            </a:r>
            <a:r>
              <a:rPr lang="ru-RU" dirty="0" err="1" smtClean="0"/>
              <a:t>Positive</a:t>
            </a:r>
            <a:r>
              <a:rPr lang="ru-RU" dirty="0" smtClean="0"/>
              <a:t> </a:t>
            </a:r>
            <a:r>
              <a:rPr lang="ru-RU" dirty="0" err="1" smtClean="0"/>
              <a:t>Rate</a:t>
            </a:r>
            <a:endParaRPr lang="ru-RU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28" y="2214554"/>
            <a:ext cx="6422559" cy="4200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1000100" y="500042"/>
            <a:ext cx="30181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/>
              <a:t>Метрики классификации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1748085" y="-2232"/>
            <a:ext cx="5647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Метрики определения величины ошибки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1000108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Mean Absolute Error</a:t>
            </a:r>
            <a:r>
              <a:rPr lang="ru-RU" dirty="0" smtClean="0"/>
              <a:t> (Средняя абсолютная ошибка) -</a:t>
            </a:r>
            <a:r>
              <a:rPr lang="ru-RU" b="1" dirty="0" smtClean="0"/>
              <a:t> </a:t>
            </a:r>
            <a:r>
              <a:rPr lang="ru-RU" dirty="0" smtClean="0"/>
              <a:t>метрика измеряет среднюю сумму абсолютной разницы между фактическим значением и прогнозируемым значением</a:t>
            </a:r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00100" y="500042"/>
            <a:ext cx="2404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/>
              <a:t>Метрики регрессии</a:t>
            </a:r>
            <a:endParaRPr lang="en-US" sz="2000" b="1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71670" y="1714488"/>
            <a:ext cx="5213721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307181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 smtClean="0"/>
              <a:t>Mean</a:t>
            </a:r>
            <a:r>
              <a:rPr lang="ru-RU" dirty="0" smtClean="0"/>
              <a:t> </a:t>
            </a:r>
            <a:r>
              <a:rPr lang="ru-RU" dirty="0" err="1" smtClean="0"/>
              <a:t>Squared</a:t>
            </a:r>
            <a:r>
              <a:rPr lang="ru-RU" dirty="0" smtClean="0"/>
              <a:t> </a:t>
            </a:r>
            <a:r>
              <a:rPr lang="ru-RU" dirty="0" err="1" smtClean="0"/>
              <a:t>Error</a:t>
            </a:r>
            <a:r>
              <a:rPr lang="ru-RU" dirty="0" smtClean="0"/>
              <a:t> (Средняя квадратичная ошибка) - измеряет среднюю сумму квадратной разности между фактическим значением и прогнозируемым значением для всех точек данных.</a:t>
            </a:r>
            <a:endParaRPr lang="ru-RU" dirty="0"/>
          </a:p>
        </p:txBody>
      </p:sp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0232" y="4214818"/>
            <a:ext cx="5101772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1748085" y="-2232"/>
            <a:ext cx="56478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Метрики определения величины ошибки</a:t>
            </a:r>
            <a:endParaRPr kumimoji="0" lang="ru-RU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000100" y="500042"/>
            <a:ext cx="24047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 smtClean="0"/>
              <a:t>Метрики регрессии</a:t>
            </a:r>
            <a:endParaRPr lang="en-US" sz="2000" b="1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0" y="928670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Коэффициент детерминации (</a:t>
            </a:r>
            <a:r>
              <a:rPr lang="en-US" dirty="0" smtClean="0"/>
              <a:t>R^</a:t>
            </a:r>
            <a:r>
              <a:rPr lang="ru-RU" dirty="0" smtClean="0"/>
              <a:t>2</a:t>
            </a:r>
            <a:r>
              <a:rPr lang="en-US" dirty="0" smtClean="0"/>
              <a:t>)</a:t>
            </a:r>
            <a:r>
              <a:rPr lang="ru-RU" dirty="0" smtClean="0"/>
              <a:t> - это доля дисперсии зависимой переменной, объясняемая рассматриваемой моделью зависимости, то есть объясняющими переменными.</a:t>
            </a:r>
            <a:endParaRPr lang="ru-RU" dirty="0"/>
          </a:p>
        </p:txBody>
      </p:sp>
      <p:pic>
        <p:nvPicPr>
          <p:cNvPr id="5120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52" y="1857364"/>
            <a:ext cx="3225547" cy="866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3000372"/>
            <a:ext cx="1086807" cy="352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08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3714752"/>
            <a:ext cx="1155786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214546" y="3000372"/>
            <a:ext cx="3783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— дисперсия случайной величины </a:t>
            </a:r>
            <a:r>
              <a:rPr lang="en-US" i="1" dirty="0" smtClean="0"/>
              <a:t>y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2285984" y="3643314"/>
            <a:ext cx="66437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— условная (по факторам </a:t>
            </a:r>
            <a:r>
              <a:rPr lang="ru-RU" i="1" dirty="0" err="1" smtClean="0"/>
              <a:t>x</a:t>
            </a:r>
            <a:r>
              <a:rPr lang="ru-RU" dirty="0" smtClean="0"/>
              <a:t>) дисперсия зависимой переменной (дисперсия ошибки модели).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лнцестояние">
  <a:themeElements>
    <a:clrScheme name="Солнцестояни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олнцестояни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олнцестояни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407</TotalTime>
  <Words>1440</Words>
  <Application>Microsoft Office PowerPoint</Application>
  <PresentationFormat>Экран (4:3)</PresentationFormat>
  <Paragraphs>152</Paragraphs>
  <Slides>28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29" baseType="lpstr">
      <vt:lpstr>Солнцестояние</vt:lpstr>
      <vt:lpstr>Слайд 1</vt:lpstr>
      <vt:lpstr>Решающие деревья </vt:lpstr>
      <vt:lpstr>Решающие деревья Пример</vt:lpstr>
      <vt:lpstr>Решающие деревья Недостатки:</vt:lpstr>
      <vt:lpstr>Решающие деревья </vt:lpstr>
      <vt:lpstr>Решающие деревья </vt:lpstr>
      <vt:lpstr>Решающие деревья </vt:lpstr>
      <vt:lpstr>Решающие деревья 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Компьюниум</dc:creator>
  <cp:lastModifiedBy>Antil</cp:lastModifiedBy>
  <cp:revision>56</cp:revision>
  <dcterms:created xsi:type="dcterms:W3CDTF">2021-01-17T14:18:45Z</dcterms:created>
  <dcterms:modified xsi:type="dcterms:W3CDTF">2025-09-18T10:55:28Z</dcterms:modified>
</cp:coreProperties>
</file>