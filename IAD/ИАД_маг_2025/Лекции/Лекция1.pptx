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</p:sldIdLst>
  <p:sldSz cx="20104100" cy="113093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-144" y="564"/>
      </p:cViewPr>
      <p:guideLst>
        <p:guide orient="horz" pos="3562"/>
        <p:guide pos="63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1406160" y="3201840"/>
            <a:ext cx="12261960" cy="3040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122619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1406160" y="1233360"/>
            <a:ext cx="17291520" cy="3614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768924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1406160" y="479016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768924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555192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969804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140616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555192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969804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1406160" y="3201840"/>
            <a:ext cx="12261960" cy="3040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122619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406160" y="1233360"/>
            <a:ext cx="17291520" cy="3614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3040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768924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406160" y="4790160"/>
            <a:ext cx="122619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7689240" y="320184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140616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7689240" y="4790160"/>
            <a:ext cx="598356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140616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555192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9698040" y="320184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140616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555192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9698040" y="4790160"/>
            <a:ext cx="3948120" cy="1450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209520" y="209520"/>
            <a:ext cx="19685160" cy="1089000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noFill/>
          <a:ln w="41868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ru-RU" sz="4950" b="0" strike="noStrike" spc="-1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406160" y="3201840"/>
            <a:ext cx="12261960" cy="30405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6F09484B-BB06-469D-B68A-290B9FD661C3}" type="datetime">
              <a:rPr lang="ru-RU" sz="1800" b="0" strike="noStrike" spc="-1">
                <a:solidFill>
                  <a:srgbClr val="B2B2B2"/>
                </a:solidFill>
                <a:latin typeface="Calibri"/>
              </a:rPr>
              <a:pPr>
                <a:lnSpc>
                  <a:spcPct val="100000"/>
                </a:lnSpc>
              </a:pPr>
              <a:t>02.09.2025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/>
          </p:nvPr>
        </p:nvSpPr>
        <p:spPr>
          <a:xfrm>
            <a:off x="649800" y="10185840"/>
            <a:ext cx="553320" cy="511560"/>
          </a:xfrm>
          <a:prstGeom prst="rect">
            <a:avLst/>
          </a:prstGeom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F729A9CC-2CC8-44EB-9C48-8517CD5C7BB1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‹#›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209520" y="209520"/>
            <a:ext cx="19685160" cy="10890000"/>
          </a:xfrm>
          <a:custGeom>
            <a:avLst/>
            <a:gdLst/>
            <a:ahLst/>
            <a:cxnLst/>
            <a:rect l="l" t="t" r="r" b="b"/>
            <a:pathLst>
              <a:path w="19685635" h="10890250">
                <a:moveTo>
                  <a:pt x="0" y="10889720"/>
                </a:moveTo>
                <a:lnTo>
                  <a:pt x="19685264" y="10889720"/>
                </a:lnTo>
                <a:lnTo>
                  <a:pt x="19685264" y="0"/>
                </a:lnTo>
                <a:lnTo>
                  <a:pt x="0" y="0"/>
                </a:lnTo>
                <a:lnTo>
                  <a:pt x="0" y="10889720"/>
                </a:lnTo>
                <a:close/>
              </a:path>
            </a:pathLst>
          </a:custGeom>
          <a:noFill/>
          <a:ln w="41868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1406160" y="1233360"/>
            <a:ext cx="17291520" cy="7794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ru-RU" sz="4950" b="0" strike="noStrike" spc="-1">
                <a:solidFill>
                  <a:srgbClr val="000000"/>
                </a:solidFill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1005120" y="2601000"/>
            <a:ext cx="8744760" cy="655920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10353600" y="2601000"/>
            <a:ext cx="8744760" cy="655920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3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ftr"/>
          </p:nvPr>
        </p:nvSpPr>
        <p:spPr>
          <a:xfrm>
            <a:off x="6835320" y="10517760"/>
            <a:ext cx="6432840" cy="565200"/>
          </a:xfrm>
          <a:prstGeom prst="rect">
            <a:avLst/>
          </a:prstGeom>
        </p:spPr>
        <p:txBody>
          <a:bodyPr lIns="0" tIns="0" rIns="0" bIns="0"/>
          <a:lstStyle/>
          <a:p>
            <a:endParaRPr lang="ru-RU" sz="2400" b="0" strike="noStrike" spc="-1"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/>
          </p:nvPr>
        </p:nvSpPr>
        <p:spPr>
          <a:xfrm>
            <a:off x="1005120" y="10517760"/>
            <a:ext cx="4623480" cy="565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lnSpc>
                <a:spcPct val="100000"/>
              </a:lnSpc>
            </a:pPr>
            <a:fld id="{AE3BC377-5077-4233-A5F1-5069E1DCB645}" type="datetime">
              <a:rPr lang="ru-RU" sz="1800" b="0" strike="noStrike" spc="-1">
                <a:solidFill>
                  <a:srgbClr val="B2B2B2"/>
                </a:solidFill>
                <a:latin typeface="Calibri"/>
              </a:rPr>
              <a:pPr>
                <a:lnSpc>
                  <a:spcPct val="100000"/>
                </a:lnSpc>
              </a:pPr>
              <a:t>02.09.2025</a:t>
            </a:fld>
            <a:endParaRPr lang="ru-RU" sz="1800" b="0" strike="noStrike" spc="-1"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sldNum"/>
          </p:nvPr>
        </p:nvSpPr>
        <p:spPr>
          <a:xfrm>
            <a:off x="649800" y="10185840"/>
            <a:ext cx="553320" cy="511560"/>
          </a:xfrm>
          <a:prstGeom prst="rect">
            <a:avLst/>
          </a:prstGeom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9F0F48C-F09D-434F-98B3-688A902D3A4F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‹#›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1406160" y="1233360"/>
            <a:ext cx="65498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Историческая</a:t>
            </a:r>
            <a:r>
              <a:rPr lang="ru-RU" sz="4950" b="1" strike="noStrike" spc="-109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80">
                <a:solidFill>
                  <a:srgbClr val="1E1E1E"/>
                </a:solidFill>
                <a:latin typeface="Arial"/>
              </a:rPr>
              <a:t>справка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E435ED0-2F69-4E95-A264-AE4A8E7AA7B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1406160" y="3201840"/>
            <a:ext cx="9642240" cy="151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18">
                <a:solidFill>
                  <a:srgbClr val="1E1E1E"/>
                </a:solidFill>
                <a:latin typeface="Arial"/>
              </a:rPr>
              <a:t>Наука </a:t>
            </a:r>
            <a:r>
              <a:rPr lang="ru-RU" sz="3300" b="1" strike="noStrike" spc="-168">
                <a:solidFill>
                  <a:srgbClr val="1E1E1E"/>
                </a:solidFill>
                <a:latin typeface="Arial"/>
              </a:rPr>
              <a:t>о </a:t>
            </a: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это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научное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направление 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стыке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компьютерных</a:t>
            </a:r>
            <a:r>
              <a:rPr lang="ru-RU" sz="3300" b="0" strike="noStrike" spc="4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наук.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1926720" y="4376880"/>
            <a:ext cx="9360720" cy="596880"/>
          </a:xfrm>
          <a:prstGeom prst="rect">
            <a:avLst/>
          </a:prstGeom>
          <a:solidFill>
            <a:srgbClr val="D1E4E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960" rIns="0" bIns="0"/>
          <a:lstStyle/>
          <a:p>
            <a:pPr marL="104760">
              <a:lnSpc>
                <a:spcPct val="100000"/>
              </a:lnSpc>
              <a:spcBef>
                <a:spcPts val="740"/>
              </a:spcBef>
            </a:pP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= </a:t>
            </a: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+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Computer</a:t>
            </a:r>
            <a:r>
              <a:rPr lang="ru-RU" sz="3300" b="0" strike="noStrike" spc="-33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89" name="CustomShape 5"/>
          <p:cNvSpPr/>
          <p:nvPr/>
        </p:nvSpPr>
        <p:spPr>
          <a:xfrm>
            <a:off x="1406160" y="5212440"/>
            <a:ext cx="9440280" cy="101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62">
                <a:solidFill>
                  <a:srgbClr val="1E1E1E"/>
                </a:solidFill>
                <a:latin typeface="Arial"/>
              </a:rPr>
              <a:t>Tukey,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John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W.,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1962.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The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Future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of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Analysis.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Ann.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Math.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Statist.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33,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No.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1,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pp.</a:t>
            </a:r>
            <a:r>
              <a:rPr lang="ru-RU" sz="3300" b="0" strike="noStrike" spc="70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1-67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1406160" y="1233360"/>
            <a:ext cx="65498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Историческая</a:t>
            </a:r>
            <a:r>
              <a:rPr lang="ru-RU" sz="4950" b="1" strike="noStrike" spc="-109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80">
                <a:solidFill>
                  <a:srgbClr val="1E1E1E"/>
                </a:solidFill>
                <a:latin typeface="Arial"/>
              </a:rPr>
              <a:t>справка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69512D33-4B8F-421E-8F1C-A52A9252E8EB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1406160" y="3201840"/>
            <a:ext cx="9642240" cy="151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18">
                <a:solidFill>
                  <a:srgbClr val="1E1E1E"/>
                </a:solidFill>
                <a:latin typeface="Arial"/>
              </a:rPr>
              <a:t>Наука </a:t>
            </a:r>
            <a:r>
              <a:rPr lang="ru-RU" sz="3300" b="1" strike="noStrike" spc="-168">
                <a:solidFill>
                  <a:srgbClr val="1E1E1E"/>
                </a:solidFill>
                <a:latin typeface="Arial"/>
              </a:rPr>
              <a:t>о </a:t>
            </a: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это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научное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направление 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стыке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компьютерных</a:t>
            </a:r>
            <a:r>
              <a:rPr lang="ru-RU" sz="3300" b="0" strike="noStrike" spc="4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наук.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93" name="CustomShape 4"/>
          <p:cNvSpPr/>
          <p:nvPr/>
        </p:nvSpPr>
        <p:spPr>
          <a:xfrm>
            <a:off x="1926720" y="4376880"/>
            <a:ext cx="9360720" cy="596880"/>
          </a:xfrm>
          <a:prstGeom prst="rect">
            <a:avLst/>
          </a:prstGeom>
          <a:solidFill>
            <a:srgbClr val="D1E4E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960" rIns="0" bIns="0"/>
          <a:lstStyle/>
          <a:p>
            <a:pPr marL="104760">
              <a:lnSpc>
                <a:spcPct val="100000"/>
              </a:lnSpc>
              <a:spcBef>
                <a:spcPts val="740"/>
              </a:spcBef>
            </a:pP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= </a:t>
            </a: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+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Computer</a:t>
            </a:r>
            <a:r>
              <a:rPr lang="ru-RU" sz="3300" b="0" strike="noStrike" spc="-33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94" name="CustomShape 5"/>
          <p:cNvSpPr/>
          <p:nvPr/>
        </p:nvSpPr>
        <p:spPr>
          <a:xfrm>
            <a:off x="1406160" y="5212440"/>
            <a:ext cx="10594080" cy="277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62">
                <a:solidFill>
                  <a:srgbClr val="1E1E1E"/>
                </a:solidFill>
                <a:latin typeface="Arial"/>
              </a:rPr>
              <a:t>Tukey,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John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W.,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1962.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The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Future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of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Analysis.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Ann.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Math.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Statist.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33,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No.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1,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pp.</a:t>
            </a:r>
            <a:r>
              <a:rPr lang="ru-RU" sz="3300" b="0" strike="noStrike" spc="70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1-67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Появилась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новая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парадигма: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пытаться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предъявить 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данным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какие-либо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требования, </a:t>
            </a:r>
            <a:r>
              <a:rPr lang="ru-RU" sz="3300" b="0" strike="noStrike" spc="43">
                <a:solidFill>
                  <a:srgbClr val="1E1E1E"/>
                </a:solidFill>
                <a:latin typeface="Arial"/>
              </a:rPr>
              <a:t>а</a:t>
            </a:r>
            <a:r>
              <a:rPr lang="ru-RU" sz="3300" b="0" strike="noStrike" spc="27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позволить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54"/>
              </a:lnSpc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им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самим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«рассказать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о</a:t>
            </a:r>
            <a:r>
              <a:rPr lang="ru-RU" sz="3300" b="0" strike="noStrike" spc="406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себе».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1406160" y="1233360"/>
            <a:ext cx="65498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Историческая</a:t>
            </a:r>
            <a:r>
              <a:rPr lang="ru-RU" sz="4950" b="1" strike="noStrike" spc="-109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80">
                <a:solidFill>
                  <a:srgbClr val="1E1E1E"/>
                </a:solidFill>
                <a:latin typeface="Arial"/>
              </a:rPr>
              <a:t>справка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19AAC43-2D44-4F56-8212-292DED9F8D1C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97" name="CustomShape 3"/>
          <p:cNvSpPr/>
          <p:nvPr/>
        </p:nvSpPr>
        <p:spPr>
          <a:xfrm>
            <a:off x="1406160" y="3201840"/>
            <a:ext cx="9642240" cy="151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18">
                <a:solidFill>
                  <a:srgbClr val="1E1E1E"/>
                </a:solidFill>
                <a:latin typeface="Arial"/>
              </a:rPr>
              <a:t>Наука </a:t>
            </a:r>
            <a:r>
              <a:rPr lang="ru-RU" sz="3300" b="1" strike="noStrike" spc="-168">
                <a:solidFill>
                  <a:srgbClr val="1E1E1E"/>
                </a:solidFill>
                <a:latin typeface="Arial"/>
              </a:rPr>
              <a:t>о </a:t>
            </a: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это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научное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направление 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стыке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компьютерных</a:t>
            </a:r>
            <a:r>
              <a:rPr lang="ru-RU" sz="3300" b="0" strike="noStrike" spc="4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наук.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98" name="CustomShape 4"/>
          <p:cNvSpPr/>
          <p:nvPr/>
        </p:nvSpPr>
        <p:spPr>
          <a:xfrm>
            <a:off x="1926720" y="4376880"/>
            <a:ext cx="9360720" cy="596880"/>
          </a:xfrm>
          <a:prstGeom prst="rect">
            <a:avLst/>
          </a:prstGeom>
          <a:solidFill>
            <a:srgbClr val="D1E4E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93960" rIns="0" bIns="0"/>
          <a:lstStyle/>
          <a:p>
            <a:pPr marL="104760">
              <a:lnSpc>
                <a:spcPct val="100000"/>
              </a:lnSpc>
              <a:spcBef>
                <a:spcPts val="740"/>
              </a:spcBef>
            </a:pP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= </a:t>
            </a:r>
            <a:r>
              <a:rPr lang="ru-RU" sz="3300" b="1" strike="noStrike" spc="12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+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Computer</a:t>
            </a:r>
            <a:r>
              <a:rPr lang="ru-RU" sz="3300" b="0" strike="noStrike" spc="-33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262">
                <a:solidFill>
                  <a:srgbClr val="1E1E1E"/>
                </a:solidFill>
                <a:latin typeface="Arial"/>
              </a:rPr>
              <a:t>Science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99" name="CustomShape 5"/>
          <p:cNvSpPr/>
          <p:nvPr/>
        </p:nvSpPr>
        <p:spPr>
          <a:xfrm>
            <a:off x="1406160" y="5212440"/>
            <a:ext cx="10594080" cy="403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62">
                <a:solidFill>
                  <a:srgbClr val="1E1E1E"/>
                </a:solidFill>
                <a:latin typeface="Arial"/>
              </a:rPr>
              <a:t>Tukey,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John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W.,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1962.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The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Future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of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Data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Analysis.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Ann.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Math.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Statist.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33,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No.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1,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pp.</a:t>
            </a:r>
            <a:r>
              <a:rPr lang="ru-RU" sz="3300" b="0" strike="noStrike" spc="70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1-67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Появилась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новая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парадигма: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пытаться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предъявить 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данным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какие-либо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требования, </a:t>
            </a:r>
            <a:r>
              <a:rPr lang="ru-RU" sz="3300" b="0" strike="noStrike" spc="43">
                <a:solidFill>
                  <a:srgbClr val="1E1E1E"/>
                </a:solidFill>
                <a:latin typeface="Arial"/>
              </a:rPr>
              <a:t>а</a:t>
            </a:r>
            <a:r>
              <a:rPr lang="ru-RU" sz="3300" b="0" strike="noStrike" spc="27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позволить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54"/>
              </a:lnSpc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им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самим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«рассказать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о</a:t>
            </a:r>
            <a:r>
              <a:rPr lang="ru-RU" sz="3300" b="0" strike="noStrike" spc="406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себе».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Сам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термин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«Data </a:t>
            </a:r>
            <a:r>
              <a:rPr lang="ru-RU" sz="3300" b="0" strike="noStrike" spc="-214">
                <a:solidFill>
                  <a:srgbClr val="1E1E1E"/>
                </a:solidFill>
                <a:latin typeface="Arial"/>
              </a:rPr>
              <a:t>Science»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был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введен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рубеже  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1996–1997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гг.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1406160" y="1233360"/>
            <a:ext cx="9713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38">
                <a:solidFill>
                  <a:srgbClr val="1E1E1E"/>
                </a:solidFill>
                <a:latin typeface="Arial"/>
              </a:rPr>
              <a:t>Чем </a:t>
            </a:r>
            <a:r>
              <a:rPr lang="ru-RU" sz="4950" b="1" strike="noStrike" spc="-233">
                <a:solidFill>
                  <a:srgbClr val="1E1E1E"/>
                </a:solidFill>
                <a:latin typeface="Arial"/>
              </a:rPr>
              <a:t>занимается </a:t>
            </a:r>
            <a:r>
              <a:rPr lang="ru-RU" sz="4950" b="1" strike="noStrike" spc="-18">
                <a:solidFill>
                  <a:srgbClr val="1E1E1E"/>
                </a:solidFill>
                <a:latin typeface="Arial"/>
              </a:rPr>
              <a:t>наука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о</a:t>
            </a:r>
            <a:r>
              <a:rPr lang="ru-RU" sz="4950" b="1" strike="noStrike" spc="25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27">
                <a:solidFill>
                  <a:srgbClr val="1E1E1E"/>
                </a:solidFill>
                <a:latin typeface="Arial"/>
              </a:rPr>
              <a:t>данных?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163E7EA1-9C83-4207-89B8-8840F2DE9E5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102" name="CustomShape 3"/>
          <p:cNvSpPr/>
          <p:nvPr/>
        </p:nvSpPr>
        <p:spPr>
          <a:xfrm>
            <a:off x="1406160" y="3453120"/>
            <a:ext cx="7822800" cy="277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Извлекает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нетривиальные 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практически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полезные</a:t>
            </a:r>
            <a:r>
              <a:rPr lang="ru-RU" sz="3300" b="0" strike="noStrike" spc="1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знания.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ts val="396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Строит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бизнес-модели</a:t>
            </a:r>
            <a:r>
              <a:rPr lang="ru-RU" sz="3300" b="0" strike="noStrike" spc="15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прикладные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программные</a:t>
            </a:r>
            <a:r>
              <a:rPr lang="ru-RU" sz="3300" b="0" strike="noStrike" spc="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продукты.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10051920" y="3605760"/>
            <a:ext cx="8632800" cy="603756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TextShape 2"/>
          <p:cNvSpPr txBox="1"/>
          <p:nvPr/>
        </p:nvSpPr>
        <p:spPr>
          <a:xfrm>
            <a:off x="1406160" y="1233360"/>
            <a:ext cx="9713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38">
                <a:solidFill>
                  <a:srgbClr val="1E1E1E"/>
                </a:solidFill>
                <a:latin typeface="Arial"/>
              </a:rPr>
              <a:t>Чем </a:t>
            </a:r>
            <a:r>
              <a:rPr lang="ru-RU" sz="4950" b="1" strike="noStrike" spc="-233">
                <a:solidFill>
                  <a:srgbClr val="1E1E1E"/>
                </a:solidFill>
                <a:latin typeface="Arial"/>
              </a:rPr>
              <a:t>занимается </a:t>
            </a:r>
            <a:r>
              <a:rPr lang="ru-RU" sz="4950" b="1" strike="noStrike" spc="-18">
                <a:solidFill>
                  <a:srgbClr val="1E1E1E"/>
                </a:solidFill>
                <a:latin typeface="Arial"/>
              </a:rPr>
              <a:t>наука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о</a:t>
            </a:r>
            <a:r>
              <a:rPr lang="ru-RU" sz="4950" b="1" strike="noStrike" spc="25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27">
                <a:solidFill>
                  <a:srgbClr val="1E1E1E"/>
                </a:solidFill>
                <a:latin typeface="Arial"/>
              </a:rPr>
              <a:t>данных?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CustomShape 3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829CE856-B017-4262-A787-90BA6D8E0B0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5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106" name="CustomShape 4"/>
          <p:cNvSpPr/>
          <p:nvPr/>
        </p:nvSpPr>
        <p:spPr>
          <a:xfrm>
            <a:off x="1406160" y="3453120"/>
            <a:ext cx="7822800" cy="277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Извлекает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нетривиальные 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практически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полезные</a:t>
            </a:r>
            <a:r>
              <a:rPr lang="ru-RU" sz="3300" b="0" strike="noStrike" spc="1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знания.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ts val="396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Строит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бизнес-модели</a:t>
            </a:r>
            <a:r>
              <a:rPr lang="ru-RU" sz="3300" b="0" strike="noStrike" spc="15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прикладные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программные</a:t>
            </a:r>
            <a:r>
              <a:rPr lang="ru-RU" sz="3300" b="0" strike="noStrike" spc="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продукты.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07" name="CustomShape 5"/>
          <p:cNvSpPr/>
          <p:nvPr/>
        </p:nvSpPr>
        <p:spPr>
          <a:xfrm rot="18900000">
            <a:off x="10235880" y="5090400"/>
            <a:ext cx="136368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208">
                <a:solidFill>
                  <a:srgbClr val="FFFFFF"/>
                </a:solidFill>
                <a:latin typeface="Arial"/>
              </a:rPr>
              <a:t>К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о</a:t>
            </a:r>
            <a:r>
              <a:rPr lang="ru-RU" sz="2450" b="0" strike="noStrike" spc="18">
                <a:solidFill>
                  <a:srgbClr val="FFFFFF"/>
                </a:solidFill>
                <a:latin typeface="Arial"/>
              </a:rPr>
              <a:t>м</a:t>
            </a:r>
            <a:r>
              <a:rPr lang="ru-RU" sz="2450" b="0" strike="noStrike" spc="-1">
                <a:solidFill>
                  <a:srgbClr val="FFFFFF"/>
                </a:solidFill>
                <a:latin typeface="Arial"/>
              </a:rPr>
              <a:t>п</a:t>
            </a:r>
            <a:r>
              <a:rPr lang="ru-RU" sz="2450" b="0" strike="noStrike" spc="-9">
                <a:solidFill>
                  <a:srgbClr val="FFFFFF"/>
                </a:solidFill>
                <a:latin typeface="Arial"/>
              </a:rPr>
              <a:t>ь</a:t>
            </a:r>
            <a:r>
              <a:rPr lang="ru-RU" sz="2450" b="0" strike="noStrike" spc="63">
                <a:solidFill>
                  <a:srgbClr val="FFFFFF"/>
                </a:solidFill>
                <a:latin typeface="Arial"/>
              </a:rPr>
              <a:t>ют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08" name="CustomShape 6"/>
          <p:cNvSpPr/>
          <p:nvPr/>
        </p:nvSpPr>
        <p:spPr>
          <a:xfrm rot="18960000">
            <a:off x="11266200" y="4564080"/>
            <a:ext cx="35604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-94">
                <a:solidFill>
                  <a:srgbClr val="FFFFFF"/>
                </a:solidFill>
                <a:latin typeface="Arial"/>
              </a:rPr>
              <a:t>е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09" name="CustomShape 7"/>
          <p:cNvSpPr/>
          <p:nvPr/>
        </p:nvSpPr>
        <p:spPr>
          <a:xfrm rot="18900000">
            <a:off x="11364120" y="4237560"/>
            <a:ext cx="81216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111">
                <a:solidFill>
                  <a:srgbClr val="FFFFFF"/>
                </a:solidFill>
                <a:latin typeface="Arial"/>
              </a:rPr>
              <a:t>р</a:t>
            </a:r>
            <a:r>
              <a:rPr lang="ru-RU" sz="2450" b="0" strike="noStrike" spc="12">
                <a:solidFill>
                  <a:srgbClr val="FFFFFF"/>
                </a:solidFill>
                <a:latin typeface="Arial"/>
              </a:rPr>
              <a:t>н</a:t>
            </a:r>
            <a:r>
              <a:rPr lang="ru-RU" sz="2450" b="0" strike="noStrike" spc="9">
                <a:solidFill>
                  <a:srgbClr val="FFFFFF"/>
                </a:solidFill>
                <a:latin typeface="Arial"/>
              </a:rPr>
              <a:t>ы</a:t>
            </a:r>
            <a:r>
              <a:rPr lang="ru-RU" sz="2450" b="0" strike="noStrike" spc="-94">
                <a:solidFill>
                  <a:srgbClr val="FFFFFF"/>
                </a:solidFill>
                <a:latin typeface="Arial"/>
              </a:rPr>
              <a:t>е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0" name="CustomShape 8"/>
          <p:cNvSpPr/>
          <p:nvPr/>
        </p:nvSpPr>
        <p:spPr>
          <a:xfrm rot="18900000">
            <a:off x="10989360" y="4979160"/>
            <a:ext cx="93060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63">
                <a:solidFill>
                  <a:srgbClr val="FFFFFF"/>
                </a:solidFill>
                <a:latin typeface="Arial"/>
              </a:rPr>
              <a:t>н</a:t>
            </a:r>
            <a:r>
              <a:rPr lang="ru-RU" sz="2450" b="0" strike="noStrike" spc="137">
                <a:solidFill>
                  <a:srgbClr val="FFFFFF"/>
                </a:solidFill>
                <a:latin typeface="Arial"/>
              </a:rPr>
              <a:t>аук</a:t>
            </a:r>
            <a:r>
              <a:rPr lang="ru-RU" sz="2450" b="0" strike="noStrike" spc="4">
                <a:solidFill>
                  <a:srgbClr val="FFFFFF"/>
                </a:solidFill>
                <a:latin typeface="Arial"/>
              </a:rPr>
              <a:t>и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1" name="CustomShape 9"/>
          <p:cNvSpPr/>
          <p:nvPr/>
        </p:nvSpPr>
        <p:spPr>
          <a:xfrm>
            <a:off x="12109680" y="7840440"/>
            <a:ext cx="1972080" cy="71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1600" rIns="0" bIns="0"/>
          <a:lstStyle/>
          <a:p>
            <a:pPr marL="439920" indent="-427680">
              <a:lnSpc>
                <a:spcPct val="76000"/>
              </a:lnSpc>
              <a:spcBef>
                <a:spcPts val="879"/>
              </a:spcBef>
            </a:pPr>
            <a:r>
              <a:rPr lang="ru-RU" sz="2600" b="0" strike="noStrike" spc="9">
                <a:solidFill>
                  <a:srgbClr val="FFFFFF"/>
                </a:solidFill>
                <a:latin typeface="Arial"/>
              </a:rPr>
              <a:t>П</a:t>
            </a:r>
            <a:r>
              <a:rPr lang="ru-RU" sz="2600" b="0" strike="noStrike" spc="94">
                <a:solidFill>
                  <a:srgbClr val="FFFFFF"/>
                </a:solidFill>
                <a:latin typeface="Arial"/>
              </a:rPr>
              <a:t>р</a:t>
            </a:r>
            <a:r>
              <a:rPr lang="ru-RU" sz="2600" b="0" strike="noStrike" spc="-58">
                <a:solidFill>
                  <a:srgbClr val="FFFFFF"/>
                </a:solidFill>
                <a:latin typeface="Arial"/>
              </a:rPr>
              <a:t>е</a:t>
            </a:r>
            <a:r>
              <a:rPr lang="ru-RU" sz="2600" b="0" strike="noStrike" spc="-12">
                <a:solidFill>
                  <a:srgbClr val="FFFFFF"/>
                </a:solidFill>
                <a:latin typeface="Arial"/>
              </a:rPr>
              <a:t>д</a:t>
            </a:r>
            <a:r>
              <a:rPr lang="ru-RU" sz="2600" b="0" strike="noStrike" spc="-24">
                <a:solidFill>
                  <a:srgbClr val="FFFFFF"/>
                </a:solidFill>
                <a:latin typeface="Arial"/>
              </a:rPr>
              <a:t>м</a:t>
            </a:r>
            <a:r>
              <a:rPr lang="ru-RU" sz="2600" b="0" strike="noStrike" spc="-69">
                <a:solidFill>
                  <a:srgbClr val="FFFFFF"/>
                </a:solidFill>
                <a:latin typeface="Arial"/>
              </a:rPr>
              <a:t>е</a:t>
            </a:r>
            <a:r>
              <a:rPr lang="ru-RU" sz="2600" b="0" strike="noStrike" spc="-18">
                <a:solidFill>
                  <a:srgbClr val="FFFFFF"/>
                </a:solidFill>
                <a:latin typeface="Arial"/>
              </a:rPr>
              <a:t>т</a:t>
            </a:r>
            <a:r>
              <a:rPr lang="ru-RU" sz="2600" b="0" strike="noStrike" spc="38">
                <a:solidFill>
                  <a:srgbClr val="FFFFFF"/>
                </a:solidFill>
                <a:latin typeface="Arial"/>
              </a:rPr>
              <a:t>н</a:t>
            </a:r>
            <a:r>
              <a:rPr lang="ru-RU" sz="2600" b="0" strike="noStrike" spc="-43">
                <a:solidFill>
                  <a:srgbClr val="FFFFFF"/>
                </a:solidFill>
                <a:latin typeface="Arial"/>
              </a:rPr>
              <a:t>ые  </a:t>
            </a:r>
            <a:r>
              <a:rPr lang="ru-RU" sz="2600" b="0" strike="noStrike" spc="29">
                <a:solidFill>
                  <a:srgbClr val="FFFFFF"/>
                </a:solidFill>
                <a:latin typeface="Arial"/>
              </a:rPr>
              <a:t>знания</a:t>
            </a:r>
            <a:endParaRPr lang="ru-RU" sz="2600" b="0" strike="noStrike" spc="-1">
              <a:latin typeface="Arial"/>
            </a:endParaRPr>
          </a:p>
        </p:txBody>
      </p:sp>
      <p:sp>
        <p:nvSpPr>
          <p:cNvPr id="112" name="CustomShape 10"/>
          <p:cNvSpPr/>
          <p:nvPr/>
        </p:nvSpPr>
        <p:spPr>
          <a:xfrm>
            <a:off x="12527280" y="4369320"/>
            <a:ext cx="1133640" cy="98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5680" rIns="0" bIns="0"/>
          <a:lstStyle/>
          <a:p>
            <a:pPr marL="12600" indent="8280">
              <a:lnSpc>
                <a:spcPts val="2370"/>
              </a:lnSpc>
              <a:spcBef>
                <a:spcPts val="675"/>
              </a:spcBef>
            </a:pPr>
            <a:r>
              <a:rPr lang="ru-RU" sz="2450" b="0" strike="noStrike" spc="94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89">
                <a:solidFill>
                  <a:srgbClr val="FFFFFF"/>
                </a:solidFill>
                <a:latin typeface="Arial"/>
              </a:rPr>
              <a:t>н</a:t>
            </a:r>
            <a:r>
              <a:rPr lang="ru-RU" sz="2450" b="0" strike="noStrike" spc="111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-38">
                <a:solidFill>
                  <a:srgbClr val="FFFFFF"/>
                </a:solidFill>
                <a:latin typeface="Arial"/>
              </a:rPr>
              <a:t>л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из  </a:t>
            </a:r>
            <a:r>
              <a:rPr lang="ru-RU" sz="2450" b="0" strike="noStrike" spc="-32">
                <a:solidFill>
                  <a:srgbClr val="FFFFFF"/>
                </a:solidFill>
                <a:latin typeface="Arial"/>
              </a:rPr>
              <a:t>д</a:t>
            </a:r>
            <a:r>
              <a:rPr lang="ru-RU" sz="2450" b="0" strike="noStrike" spc="43">
                <a:solidFill>
                  <a:srgbClr val="FFFFFF"/>
                </a:solidFill>
                <a:latin typeface="Arial"/>
              </a:rPr>
              <a:t>анн</a:t>
            </a:r>
            <a:r>
              <a:rPr lang="ru-RU" sz="2450" b="0" strike="noStrike" spc="38">
                <a:solidFill>
                  <a:srgbClr val="FFFFFF"/>
                </a:solidFill>
                <a:latin typeface="Arial"/>
              </a:rPr>
              <a:t>ы</a:t>
            </a:r>
            <a:r>
              <a:rPr lang="ru-RU" sz="2450" b="0" strike="noStrike" spc="72">
                <a:solidFill>
                  <a:srgbClr val="FFFFFF"/>
                </a:solidFill>
                <a:latin typeface="Arial"/>
              </a:rPr>
              <a:t>х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3" name="CustomShape 11"/>
          <p:cNvSpPr/>
          <p:nvPr/>
        </p:nvSpPr>
        <p:spPr>
          <a:xfrm>
            <a:off x="11242080" y="6606360"/>
            <a:ext cx="1133640" cy="98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5680" rIns="0" bIns="0"/>
          <a:lstStyle/>
          <a:p>
            <a:pPr marL="12600" indent="8280">
              <a:lnSpc>
                <a:spcPts val="2370"/>
              </a:lnSpc>
              <a:spcBef>
                <a:spcPts val="675"/>
              </a:spcBef>
            </a:pPr>
            <a:r>
              <a:rPr lang="ru-RU" sz="2450" b="0" strike="noStrike" spc="94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89">
                <a:solidFill>
                  <a:srgbClr val="FFFFFF"/>
                </a:solidFill>
                <a:latin typeface="Arial"/>
              </a:rPr>
              <a:t>н</a:t>
            </a:r>
            <a:r>
              <a:rPr lang="ru-RU" sz="2450" b="0" strike="noStrike" spc="111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-38">
                <a:solidFill>
                  <a:srgbClr val="FFFFFF"/>
                </a:solidFill>
                <a:latin typeface="Arial"/>
              </a:rPr>
              <a:t>л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из  </a:t>
            </a:r>
            <a:r>
              <a:rPr lang="ru-RU" sz="2450" b="0" strike="noStrike" spc="-32">
                <a:solidFill>
                  <a:srgbClr val="FFFFFF"/>
                </a:solidFill>
                <a:latin typeface="Arial"/>
              </a:rPr>
              <a:t>д</a:t>
            </a:r>
            <a:r>
              <a:rPr lang="ru-RU" sz="2450" b="0" strike="noStrike" spc="43">
                <a:solidFill>
                  <a:srgbClr val="FFFFFF"/>
                </a:solidFill>
                <a:latin typeface="Arial"/>
              </a:rPr>
              <a:t>анн</a:t>
            </a:r>
            <a:r>
              <a:rPr lang="ru-RU" sz="2450" b="0" strike="noStrike" spc="38">
                <a:solidFill>
                  <a:srgbClr val="FFFFFF"/>
                </a:solidFill>
                <a:latin typeface="Arial"/>
              </a:rPr>
              <a:t>ы</a:t>
            </a:r>
            <a:r>
              <a:rPr lang="ru-RU" sz="2450" b="0" strike="noStrike" spc="72">
                <a:solidFill>
                  <a:srgbClr val="FFFFFF"/>
                </a:solidFill>
                <a:latin typeface="Arial"/>
              </a:rPr>
              <a:t>х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4" name="CustomShape 12"/>
          <p:cNvSpPr/>
          <p:nvPr/>
        </p:nvSpPr>
        <p:spPr>
          <a:xfrm>
            <a:off x="13791240" y="6606360"/>
            <a:ext cx="1133640" cy="98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5680" rIns="0" bIns="0"/>
          <a:lstStyle/>
          <a:p>
            <a:pPr marL="12600" indent="8280">
              <a:lnSpc>
                <a:spcPts val="2370"/>
              </a:lnSpc>
              <a:spcBef>
                <a:spcPts val="675"/>
              </a:spcBef>
            </a:pPr>
            <a:r>
              <a:rPr lang="ru-RU" sz="2450" b="0" strike="noStrike" spc="94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89">
                <a:solidFill>
                  <a:srgbClr val="FFFFFF"/>
                </a:solidFill>
                <a:latin typeface="Arial"/>
              </a:rPr>
              <a:t>н</a:t>
            </a:r>
            <a:r>
              <a:rPr lang="ru-RU" sz="2450" b="0" strike="noStrike" spc="111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-38">
                <a:solidFill>
                  <a:srgbClr val="FFFFFF"/>
                </a:solidFill>
                <a:latin typeface="Arial"/>
              </a:rPr>
              <a:t>л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из  </a:t>
            </a:r>
            <a:r>
              <a:rPr lang="ru-RU" sz="2450" b="0" strike="noStrike" spc="-32">
                <a:solidFill>
                  <a:srgbClr val="FFFFFF"/>
                </a:solidFill>
                <a:latin typeface="Arial"/>
              </a:rPr>
              <a:t>д</a:t>
            </a:r>
            <a:r>
              <a:rPr lang="ru-RU" sz="2450" b="0" strike="noStrike" spc="43">
                <a:solidFill>
                  <a:srgbClr val="FFFFFF"/>
                </a:solidFill>
                <a:latin typeface="Arial"/>
              </a:rPr>
              <a:t>анн</a:t>
            </a:r>
            <a:r>
              <a:rPr lang="ru-RU" sz="2450" b="0" strike="noStrike" spc="38">
                <a:solidFill>
                  <a:srgbClr val="FFFFFF"/>
                </a:solidFill>
                <a:latin typeface="Arial"/>
              </a:rPr>
              <a:t>ы</a:t>
            </a:r>
            <a:r>
              <a:rPr lang="ru-RU" sz="2450" b="0" strike="noStrike" spc="72">
                <a:solidFill>
                  <a:srgbClr val="FFFFFF"/>
                </a:solidFill>
                <a:latin typeface="Arial"/>
              </a:rPr>
              <a:t>х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5" name="CustomShape 13"/>
          <p:cNvSpPr/>
          <p:nvPr/>
        </p:nvSpPr>
        <p:spPr>
          <a:xfrm rot="2700000">
            <a:off x="13768200" y="4718880"/>
            <a:ext cx="249588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148">
                <a:solidFill>
                  <a:srgbClr val="FFFFFF"/>
                </a:solidFill>
                <a:latin typeface="Arial"/>
              </a:rPr>
              <a:t>М</a:t>
            </a:r>
            <a:r>
              <a:rPr lang="ru-RU" sz="2450" b="0" strike="noStrike" spc="49">
                <a:solidFill>
                  <a:srgbClr val="FFFFFF"/>
                </a:solidFill>
                <a:latin typeface="Arial"/>
              </a:rPr>
              <a:t>а</a:t>
            </a:r>
            <a:r>
              <a:rPr lang="ru-RU" sz="2450" b="0" strike="noStrike" spc="58">
                <a:solidFill>
                  <a:srgbClr val="FFFFFF"/>
                </a:solidFill>
                <a:latin typeface="Arial"/>
              </a:rPr>
              <a:t>т</a:t>
            </a:r>
            <a:r>
              <a:rPr lang="ru-RU" sz="2450" b="0" strike="noStrike" spc="-69">
                <a:solidFill>
                  <a:srgbClr val="FFFFFF"/>
                </a:solidFill>
                <a:latin typeface="Arial"/>
              </a:rPr>
              <a:t>е</a:t>
            </a:r>
            <a:r>
              <a:rPr lang="ru-RU" sz="2450" b="0" strike="noStrike" spc="4">
                <a:solidFill>
                  <a:srgbClr val="FFFFFF"/>
                </a:solidFill>
                <a:latin typeface="Arial"/>
              </a:rPr>
              <a:t>м</a:t>
            </a:r>
            <a:r>
              <a:rPr lang="ru-RU" sz="2450" b="0" strike="noStrike" spc="43">
                <a:solidFill>
                  <a:srgbClr val="FFFFFF"/>
                </a:solidFill>
                <a:latin typeface="Arial"/>
              </a:rPr>
              <a:t>ат</a:t>
            </a:r>
            <a:r>
              <a:rPr lang="ru-RU" sz="2450" b="0" strike="noStrike" spc="69">
                <a:solidFill>
                  <a:srgbClr val="FFFFFF"/>
                </a:solidFill>
                <a:latin typeface="Arial"/>
              </a:rPr>
              <a:t>и</a:t>
            </a:r>
            <a:r>
              <a:rPr lang="ru-RU" sz="2450" b="0" strike="noStrike" spc="-38">
                <a:solidFill>
                  <a:srgbClr val="FFFFFF"/>
                </a:solidFill>
                <a:latin typeface="Arial"/>
              </a:rPr>
              <a:t>ч</a:t>
            </a:r>
            <a:r>
              <a:rPr lang="ru-RU" sz="2450" b="0" strike="noStrike" spc="-49">
                <a:solidFill>
                  <a:srgbClr val="FFFFFF"/>
                </a:solidFill>
                <a:latin typeface="Arial"/>
              </a:rPr>
              <a:t>е</a:t>
            </a:r>
            <a:r>
              <a:rPr lang="ru-RU" sz="2450" b="0" strike="noStrike" spc="-52">
                <a:solidFill>
                  <a:srgbClr val="FFFFFF"/>
                </a:solidFill>
                <a:latin typeface="Arial"/>
              </a:rPr>
              <a:t>с</a:t>
            </a:r>
            <a:r>
              <a:rPr lang="ru-RU" sz="2450" b="0" strike="noStrike" spc="154">
                <a:solidFill>
                  <a:srgbClr val="FFFFFF"/>
                </a:solidFill>
                <a:latin typeface="Arial"/>
              </a:rPr>
              <a:t>к</a:t>
            </a:r>
            <a:r>
              <a:rPr lang="ru-RU" sz="2450" b="0" strike="noStrike" spc="72">
                <a:solidFill>
                  <a:srgbClr val="FFFFFF"/>
                </a:solidFill>
                <a:latin typeface="Arial"/>
              </a:rPr>
              <a:t>о</a:t>
            </a:r>
            <a:r>
              <a:rPr lang="ru-RU" sz="2450" b="0" strike="noStrike" spc="-94">
                <a:solidFill>
                  <a:srgbClr val="FFFFFF"/>
                </a:solidFill>
                <a:latin typeface="Arial"/>
              </a:rPr>
              <a:t>е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6" name="CustomShape 14"/>
          <p:cNvSpPr/>
          <p:nvPr/>
        </p:nvSpPr>
        <p:spPr>
          <a:xfrm rot="2700000">
            <a:off x="13620600" y="4932000"/>
            <a:ext cx="2364480" cy="313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>
              <a:lnSpc>
                <a:spcPts val="2475"/>
              </a:lnSpc>
            </a:pPr>
            <a:r>
              <a:rPr lang="ru-RU" sz="2450" b="0" strike="noStrike" spc="-1">
                <a:solidFill>
                  <a:srgbClr val="FFFFFF"/>
                </a:solidFill>
                <a:latin typeface="Arial"/>
              </a:rPr>
              <a:t>м</a:t>
            </a:r>
            <a:r>
              <a:rPr lang="ru-RU" sz="2450" b="0" strike="noStrike" spc="63">
                <a:solidFill>
                  <a:srgbClr val="FFFFFF"/>
                </a:solidFill>
                <a:latin typeface="Arial"/>
              </a:rPr>
              <a:t>о</a:t>
            </a:r>
            <a:r>
              <a:rPr lang="ru-RU" sz="2450" b="0" strike="noStrike" spc="-43">
                <a:solidFill>
                  <a:srgbClr val="FFFFFF"/>
                </a:solidFill>
                <a:latin typeface="Arial"/>
              </a:rPr>
              <a:t>д</a:t>
            </a:r>
            <a:r>
              <a:rPr lang="ru-RU" sz="2450" b="0" strike="noStrike" spc="-49">
                <a:solidFill>
                  <a:srgbClr val="FFFFFF"/>
                </a:solidFill>
                <a:latin typeface="Arial"/>
              </a:rPr>
              <a:t>е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лир</a:t>
            </a:r>
            <a:r>
              <a:rPr lang="ru-RU" sz="2450" b="0" strike="noStrike" spc="52">
                <a:solidFill>
                  <a:srgbClr val="FFFFFF"/>
                </a:solidFill>
                <a:latin typeface="Arial"/>
              </a:rPr>
              <a:t>ован</a:t>
            </a:r>
            <a:r>
              <a:rPr lang="ru-RU" sz="2450" b="0" strike="noStrike" spc="58">
                <a:solidFill>
                  <a:srgbClr val="FFFFFF"/>
                </a:solidFill>
                <a:latin typeface="Arial"/>
              </a:rPr>
              <a:t>и</a:t>
            </a:r>
            <a:r>
              <a:rPr lang="ru-RU" sz="2450" b="0" strike="noStrike" spc="-94">
                <a:solidFill>
                  <a:srgbClr val="FFFFFF"/>
                </a:solidFill>
                <a:latin typeface="Arial"/>
              </a:rPr>
              <a:t>е</a:t>
            </a:r>
            <a:endParaRPr lang="ru-RU" sz="2450" b="0" strike="noStrike" spc="-1">
              <a:latin typeface="Arial"/>
            </a:endParaRPr>
          </a:p>
        </p:txBody>
      </p:sp>
      <p:sp>
        <p:nvSpPr>
          <p:cNvPr id="117" name="CustomShape 15"/>
          <p:cNvSpPr/>
          <p:nvPr/>
        </p:nvSpPr>
        <p:spPr>
          <a:xfrm>
            <a:off x="12389040" y="5680440"/>
            <a:ext cx="1410120" cy="68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5680" rIns="0" bIns="0"/>
          <a:lstStyle/>
          <a:p>
            <a:pPr marL="12600" indent="230040">
              <a:lnSpc>
                <a:spcPts val="2370"/>
              </a:lnSpc>
              <a:spcBef>
                <a:spcPts val="675"/>
              </a:spcBef>
            </a:pPr>
            <a:r>
              <a:rPr lang="ru-RU" sz="2450" b="0" strike="noStrike" spc="94">
                <a:solidFill>
                  <a:srgbClr val="FFFFFF"/>
                </a:solidFill>
                <a:latin typeface="Arial"/>
              </a:rPr>
              <a:t>Наука  </a:t>
            </a:r>
            <a:r>
              <a:rPr lang="ru-RU" sz="2450" b="0" strike="noStrike" spc="29">
                <a:solidFill>
                  <a:srgbClr val="FFFFFF"/>
                </a:solidFill>
                <a:latin typeface="Arial"/>
              </a:rPr>
              <a:t>о</a:t>
            </a:r>
            <a:r>
              <a:rPr lang="ru-RU" sz="2450" b="0" strike="noStrike" spc="24">
                <a:solidFill>
                  <a:srgbClr val="FFFFFF"/>
                </a:solidFill>
                <a:latin typeface="Arial"/>
              </a:rPr>
              <a:t> </a:t>
            </a:r>
            <a:r>
              <a:rPr lang="ru-RU" sz="2450" b="0" strike="noStrike" spc="32">
                <a:solidFill>
                  <a:srgbClr val="FFFFFF"/>
                </a:solidFill>
                <a:latin typeface="Arial"/>
              </a:rPr>
              <a:t>данных</a:t>
            </a:r>
            <a:endParaRPr lang="ru-RU" sz="245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1406160" y="1233360"/>
            <a:ext cx="86180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87">
                <a:solidFill>
                  <a:srgbClr val="1E1E1E"/>
                </a:solidFill>
                <a:latin typeface="Arial"/>
              </a:rPr>
              <a:t>Перспективы </a:t>
            </a:r>
            <a:r>
              <a:rPr lang="ru-RU" sz="4950" b="1" strike="noStrike" spc="-58">
                <a:solidFill>
                  <a:srgbClr val="1E1E1E"/>
                </a:solidFill>
                <a:latin typeface="Arial"/>
              </a:rPr>
              <a:t>науки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о</a:t>
            </a:r>
            <a:r>
              <a:rPr lang="ru-RU" sz="4950" b="1" strike="noStrike" spc="9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649800" y="10185840"/>
            <a:ext cx="302040" cy="4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EC02F1D2-A081-4001-A8E6-26C278CAA70B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6</a:t>
            </a:fld>
            <a:endParaRPr lang="ru-RU" sz="3300" b="0" strike="noStrike" spc="-1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1405800" y="3201840"/>
            <a:ext cx="6781320" cy="352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520" indent="-50256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Социальные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процессы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33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явления.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Промышленность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торговля.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Медицина.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Спорт.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1406160" y="1233360"/>
            <a:ext cx="8565120" cy="1943280"/>
          </a:xfrm>
          <a:prstGeom prst="rect">
            <a:avLst/>
          </a:prstGeom>
          <a:noFill/>
          <a:ln>
            <a:noFill/>
          </a:ln>
        </p:spPr>
        <p:txBody>
          <a:bodyPr lIns="0" tIns="54720" rIns="0" bIns="0"/>
          <a:lstStyle/>
          <a:p>
            <a:pPr marL="12600">
              <a:lnSpc>
                <a:spcPts val="5771"/>
              </a:lnSpc>
              <a:spcBef>
                <a:spcPts val="431"/>
              </a:spcBef>
            </a:pP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Аналитические </a:t>
            </a:r>
            <a:r>
              <a:rPr lang="ru-RU" sz="4950" b="1" strike="noStrike" spc="-333">
                <a:solidFill>
                  <a:srgbClr val="1E1E1E"/>
                </a:solidFill>
                <a:latin typeface="Arial"/>
              </a:rPr>
              <a:t>исследования  </a:t>
            </a:r>
            <a:r>
              <a:rPr lang="ru-RU" sz="4950" b="1" strike="noStrike" spc="-44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4950" b="1" strike="noStrike" spc="-324">
                <a:solidFill>
                  <a:srgbClr val="1E1E1E"/>
                </a:solidFill>
                <a:latin typeface="Arial"/>
              </a:rPr>
              <a:t>бизнесе </a:t>
            </a: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и</a:t>
            </a:r>
            <a:r>
              <a:rPr lang="ru-RU" sz="4950" b="1" strike="noStrike" spc="-40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62">
                <a:solidFill>
                  <a:srgbClr val="1E1E1E"/>
                </a:solidFill>
                <a:latin typeface="Arial"/>
              </a:rPr>
              <a:t>экономике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CECB73E-0F8F-4372-A316-8D14B61C2366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7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1406160" y="3201840"/>
            <a:ext cx="9973440" cy="202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Анализ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поведения</a:t>
            </a:r>
            <a:r>
              <a:rPr lang="ru-RU" sz="3300" b="0" strike="noStrike" spc="12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клиентов.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Прогноз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продаж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товаров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оптимизация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остатков 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складах.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06160" y="1233360"/>
            <a:ext cx="7885800" cy="1943280"/>
          </a:xfrm>
          <a:prstGeom prst="rect">
            <a:avLst/>
          </a:prstGeom>
          <a:noFill/>
          <a:ln>
            <a:noFill/>
          </a:ln>
        </p:spPr>
        <p:txBody>
          <a:bodyPr lIns="0" tIns="54720" rIns="0" bIns="0"/>
          <a:lstStyle/>
          <a:p>
            <a:pPr marL="12600">
              <a:lnSpc>
                <a:spcPts val="5771"/>
              </a:lnSpc>
              <a:spcBef>
                <a:spcPts val="431"/>
              </a:spcBef>
            </a:pPr>
            <a:r>
              <a:rPr lang="ru-RU" sz="4950" b="1" strike="noStrike" spc="-344">
                <a:solidFill>
                  <a:srgbClr val="1E1E1E"/>
                </a:solidFill>
                <a:latin typeface="Arial"/>
              </a:rPr>
              <a:t>Социальные </a:t>
            </a:r>
            <a:r>
              <a:rPr lang="ru-RU" sz="4950" b="1" strike="noStrike" spc="-318">
                <a:solidFill>
                  <a:srgbClr val="1E1E1E"/>
                </a:solidFill>
                <a:latin typeface="Arial"/>
              </a:rPr>
              <a:t>сети, </a:t>
            </a:r>
            <a:r>
              <a:rPr lang="ru-RU" sz="4950" b="1" strike="noStrike" spc="-214">
                <a:solidFill>
                  <a:srgbClr val="1E1E1E"/>
                </a:solidFill>
                <a:latin typeface="Arial"/>
              </a:rPr>
              <a:t>общение  </a:t>
            </a: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и </a:t>
            </a:r>
            <a:r>
              <a:rPr lang="ru-RU" sz="4950" b="1" strike="noStrike" spc="-287">
                <a:solidFill>
                  <a:srgbClr val="1E1E1E"/>
                </a:solidFill>
                <a:latin typeface="Arial"/>
              </a:rPr>
              <a:t>индустрия</a:t>
            </a:r>
            <a:r>
              <a:rPr lang="ru-RU" sz="4950" b="1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67">
                <a:solidFill>
                  <a:srgbClr val="1E1E1E"/>
                </a:solidFill>
                <a:latin typeface="Arial"/>
              </a:rPr>
              <a:t>развлечений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8B555BEE-DE7E-4C53-8AFA-8810C60860B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8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26" name="CustomShape 3"/>
          <p:cNvSpPr/>
          <p:nvPr/>
        </p:nvSpPr>
        <p:spPr>
          <a:xfrm>
            <a:off x="1406160" y="3201840"/>
            <a:ext cx="10371600" cy="277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Рекомендации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друзей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групп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по</a:t>
            </a:r>
            <a:r>
              <a:rPr lang="ru-RU" sz="3300" b="0" strike="noStrike" spc="50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интересам.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Анализ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дискуссий.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Рекомендации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фильмов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музыкальных</a:t>
            </a:r>
            <a:r>
              <a:rPr lang="ru-RU" sz="3300" b="0" strike="noStrike" spc="4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композиций.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1406160" y="1233360"/>
            <a:ext cx="97106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53">
                <a:solidFill>
                  <a:srgbClr val="1E1E1E"/>
                </a:solidFill>
                <a:latin typeface="Arial"/>
              </a:rPr>
              <a:t>Финансовая </a:t>
            </a: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и </a:t>
            </a:r>
            <a:r>
              <a:rPr lang="ru-RU" sz="4950" b="1" strike="noStrike" spc="-202">
                <a:solidFill>
                  <a:srgbClr val="1E1E1E"/>
                </a:solidFill>
                <a:latin typeface="Arial"/>
              </a:rPr>
              <a:t>банковская</a:t>
            </a:r>
            <a:r>
              <a:rPr lang="ru-RU" sz="4950" b="1" strike="noStrike" spc="21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58">
                <a:solidFill>
                  <a:srgbClr val="1E1E1E"/>
                </a:solidFill>
                <a:latin typeface="Arial"/>
              </a:rPr>
              <a:t>сферы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6F4BEC2-9699-49DC-A1E7-69958CE2F10E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9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29" name="CustomShape 3"/>
          <p:cNvSpPr/>
          <p:nvPr/>
        </p:nvSpPr>
        <p:spPr>
          <a:xfrm>
            <a:off x="1406160" y="3201840"/>
            <a:ext cx="8025480" cy="2022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Прогнозирование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биржевых</a:t>
            </a:r>
            <a:r>
              <a:rPr lang="ru-RU" sz="3300" b="0" strike="noStrike" spc="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котировок.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Предсказание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дефолтов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физических 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юридических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лиц.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1406160" y="1233360"/>
            <a:ext cx="65800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18">
                <a:solidFill>
                  <a:srgbClr val="1E1E1E"/>
                </a:solidFill>
                <a:latin typeface="Arial"/>
              </a:rPr>
              <a:t>Какие </a:t>
            </a:r>
            <a:r>
              <a:rPr lang="ru-RU" sz="4950" b="1" strike="noStrike" spc="-327">
                <a:solidFill>
                  <a:srgbClr val="1E1E1E"/>
                </a:solidFill>
                <a:latin typeface="Arial"/>
              </a:rPr>
              <a:t>бывают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99">
                <a:solidFill>
                  <a:srgbClr val="1E1E1E"/>
                </a:solidFill>
                <a:latin typeface="Arial"/>
              </a:rPr>
              <a:t>данные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C1FCBF46-EE5F-40CC-A2FB-78B9C441FF43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10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1406160" y="3453120"/>
            <a:ext cx="11251080" cy="4587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Прежде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чем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приступать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решению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задачи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анализа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данных, 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нужно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сначала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понять,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что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у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нас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есть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что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80">
                <a:solidFill>
                  <a:srgbClr val="1E1E1E"/>
                </a:solidFill>
                <a:latin typeface="Arial"/>
              </a:rPr>
              <a:t>мы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хотим.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1" strike="noStrike" spc="-199">
                <a:solidFill>
                  <a:srgbClr val="1E1E1E"/>
                </a:solidFill>
                <a:latin typeface="Arial"/>
              </a:rPr>
              <a:t>Объем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62">
                <a:solidFill>
                  <a:srgbClr val="1E1E1E"/>
                </a:solidFill>
                <a:latin typeface="Arial"/>
              </a:rPr>
              <a:t>данных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От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нескольких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сотен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записей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до десятков</a:t>
            </a:r>
            <a:r>
              <a:rPr lang="ru-RU" sz="3300" b="0" strike="noStrike" spc="5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терабайт.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Нам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достаточно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одного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ноутбука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или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нужен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кластер, 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например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</a:t>
            </a:r>
            <a:r>
              <a:rPr lang="ru-RU" sz="3300" b="0" strike="noStrike" spc="111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Spark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/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Hadoop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?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1406160" y="1233360"/>
            <a:ext cx="52372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48">
                <a:solidFill>
                  <a:srgbClr val="1E1E1E"/>
                </a:solidFill>
                <a:latin typeface="Arial"/>
              </a:rPr>
              <a:t>Хранение</a:t>
            </a:r>
            <a:r>
              <a:rPr lang="ru-RU" sz="4950" b="1" strike="noStrike" spc="-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209D665-087A-4D13-94A3-540FB2E40F7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11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1406160" y="3201840"/>
            <a:ext cx="11122920" cy="403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Реляционная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база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199">
                <a:solidFill>
                  <a:srgbClr val="1E1E1E"/>
                </a:solidFill>
                <a:latin typeface="Arial"/>
              </a:rPr>
              <a:t>(MySQL, </a:t>
            </a:r>
            <a:r>
              <a:rPr lang="ru-RU" sz="3300" b="0" strike="noStrike" spc="-194">
                <a:solidFill>
                  <a:srgbClr val="1E1E1E"/>
                </a:solidFill>
                <a:latin typeface="Arial"/>
              </a:rPr>
              <a:t>SQLite, </a:t>
            </a:r>
            <a:r>
              <a:rPr lang="ru-RU" sz="3300" b="0" strike="noStrike" spc="-202">
                <a:solidFill>
                  <a:srgbClr val="1E1E1E"/>
                </a:solidFill>
                <a:latin typeface="Arial"/>
              </a:rPr>
              <a:t>PostgreSQL,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...).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Нереляционная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база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1" i="1" strike="noStrike" spc="-109">
                <a:solidFill>
                  <a:srgbClr val="1E1E1E"/>
                </a:solidFill>
                <a:latin typeface="Trebuchet MS"/>
              </a:rPr>
              <a:t>aka </a:t>
            </a:r>
            <a:r>
              <a:rPr lang="ru-RU" sz="3300" b="0" strike="noStrike" spc="-188">
                <a:solidFill>
                  <a:srgbClr val="1E1E1E"/>
                </a:solidFill>
                <a:latin typeface="Arial"/>
              </a:rPr>
              <a:t>NoSQL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(Cassandra, 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HBase).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Может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будет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достаточно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Pandas</a:t>
            </a:r>
            <a:r>
              <a:rPr lang="ru-RU" sz="3300" b="0" strike="noStrike" spc="40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DataFrame?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72">
                <a:solidFill>
                  <a:srgbClr val="1E1E1E"/>
                </a:solidFill>
                <a:latin typeface="Arial"/>
              </a:rPr>
              <a:t>Как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их </a:t>
            </a:r>
            <a:r>
              <a:rPr lang="ru-RU" sz="3300" b="0" strike="noStrike" spc="-180">
                <a:solidFill>
                  <a:srgbClr val="1E1E1E"/>
                </a:solidFill>
                <a:latin typeface="Arial"/>
              </a:rPr>
              <a:t>мы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будем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анализировать?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Нужен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ли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online?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1406160" y="1233360"/>
            <a:ext cx="27154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94">
                <a:solidFill>
                  <a:srgbClr val="1E1E1E"/>
                </a:solidFill>
                <a:latin typeface="Arial"/>
              </a:rPr>
              <a:t>П</a:t>
            </a:r>
            <a:r>
              <a:rPr lang="ru-RU" sz="4950" b="1" strike="noStrike" spc="-214">
                <a:solidFill>
                  <a:srgbClr val="1E1E1E"/>
                </a:solidFill>
                <a:latin typeface="Arial"/>
              </a:rPr>
              <a:t>р</a:t>
            </a:r>
            <a:r>
              <a:rPr lang="ru-RU" sz="4950" b="1" strike="noStrike" spc="-253">
                <a:solidFill>
                  <a:srgbClr val="1E1E1E"/>
                </a:solidFill>
                <a:latin typeface="Arial"/>
              </a:rPr>
              <a:t>и</a:t>
            </a:r>
            <a:r>
              <a:rPr lang="ru-RU" sz="4950" b="1" strike="noStrike" spc="-372">
                <a:solidFill>
                  <a:srgbClr val="1E1E1E"/>
                </a:solidFill>
                <a:latin typeface="Arial"/>
              </a:rPr>
              <a:t>м</a:t>
            </a:r>
            <a:r>
              <a:rPr lang="ru-RU" sz="4950" b="1" strike="noStrike" spc="-284">
                <a:solidFill>
                  <a:srgbClr val="1E1E1E"/>
                </a:solidFill>
                <a:latin typeface="Arial"/>
              </a:rPr>
              <a:t>е</a:t>
            </a:r>
            <a:r>
              <a:rPr lang="ru-RU" sz="4950" b="1" strike="noStrike" spc="-454">
                <a:solidFill>
                  <a:srgbClr val="1E1E1E"/>
                </a:solidFill>
                <a:latin typeface="Arial"/>
              </a:rPr>
              <a:t>ры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FF67C2E4-8686-4FCA-8269-95E9AFEC479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12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38" name="CustomShape 3"/>
          <p:cNvSpPr/>
          <p:nvPr/>
        </p:nvSpPr>
        <p:spPr>
          <a:xfrm>
            <a:off x="1405440" y="3201840"/>
            <a:ext cx="10864440" cy="480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52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Изображения.</a:t>
            </a:r>
            <a:endParaRPr lang="ru-RU" sz="3300" b="0" strike="noStrike" spc="-1">
              <a:latin typeface="Arial"/>
            </a:endParaRPr>
          </a:p>
          <a:p>
            <a:pPr marL="51552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Временные</a:t>
            </a: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ряды.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39">
                <a:solidFill>
                  <a:srgbClr val="1E1E1E"/>
                </a:solidFill>
                <a:latin typeface="Arial"/>
              </a:rPr>
              <a:t>Текст.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Сильно</a:t>
            </a: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разреженные.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53">
                <a:solidFill>
                  <a:srgbClr val="1E1E1E"/>
                </a:solidFill>
                <a:latin typeface="Arial"/>
              </a:rPr>
              <a:t>Есть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отсутствующие</a:t>
            </a:r>
            <a:r>
              <a:rPr lang="ru-RU" sz="3300" b="0" strike="noStrike" spc="-39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значения.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Кроме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того,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возникают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вопросы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приватности,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этики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253">
                <a:solidFill>
                  <a:srgbClr val="1E1E1E"/>
                </a:solidFill>
                <a:latin typeface="Arial"/>
              </a:rPr>
              <a:t>т.</a:t>
            </a:r>
            <a:r>
              <a:rPr lang="ru-RU" sz="3300" b="0" strike="noStrike" spc="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1406160" y="1233360"/>
            <a:ext cx="88178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57">
                <a:solidFill>
                  <a:srgbClr val="1E1E1E"/>
                </a:solidFill>
                <a:latin typeface="Arial"/>
              </a:rPr>
              <a:t>Классификация</a:t>
            </a:r>
            <a:r>
              <a:rPr lang="ru-RU" sz="4950" b="1" strike="noStrike" spc="-8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68">
                <a:solidFill>
                  <a:srgbClr val="1E1E1E"/>
                </a:solidFill>
                <a:latin typeface="Arial"/>
              </a:rPr>
              <a:t>изображений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ECC0C9DB-9EE5-41E8-8048-0BC5F887F009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13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1406160" y="3201840"/>
            <a:ext cx="11099520" cy="3781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Нам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нужно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по 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фотографии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определить </a:t>
            </a:r>
            <a:r>
              <a:rPr lang="ru-RU" sz="3300" b="0" strike="noStrike" spc="4">
                <a:solidFill>
                  <a:srgbClr val="1E1E1E"/>
                </a:solidFill>
                <a:latin typeface="Arial"/>
              </a:rPr>
              <a:t>марку</a:t>
            </a:r>
            <a:r>
              <a:rPr lang="ru-RU" sz="3300" b="0" strike="noStrike" spc="38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машины.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Задачи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классификации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изображений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сейчас 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эффективно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решаются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помощью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сверточных 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нейронных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сетей.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Нужна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видеокарта </a:t>
            </a:r>
            <a:r>
              <a:rPr lang="ru-RU" sz="3300" b="0" strike="noStrike" spc="-214">
                <a:solidFill>
                  <a:srgbClr val="1E1E1E"/>
                </a:solidFill>
                <a:latin typeface="Arial"/>
              </a:rPr>
              <a:t>(GPU),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которой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вычисления 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происходят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гораздо</a:t>
            </a:r>
            <a:r>
              <a:rPr lang="ru-RU" sz="3300" b="0" strike="noStrike" spc="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быстрее.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406160" y="1233360"/>
            <a:ext cx="85035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62">
                <a:solidFill>
                  <a:srgbClr val="1E1E1E"/>
                </a:solidFill>
                <a:latin typeface="Arial"/>
              </a:rPr>
              <a:t>Определение </a:t>
            </a:r>
            <a:r>
              <a:rPr lang="ru-RU" sz="4950" b="1" strike="noStrike" spc="-347">
                <a:solidFill>
                  <a:srgbClr val="1E1E1E"/>
                </a:solidFill>
                <a:latin typeface="Arial"/>
              </a:rPr>
              <a:t>цены</a:t>
            </a:r>
            <a:r>
              <a:rPr lang="ru-RU" sz="4950" b="1" strike="noStrike" spc="69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28">
                <a:solidFill>
                  <a:srgbClr val="1E1E1E"/>
                </a:solidFill>
                <a:latin typeface="Arial"/>
              </a:rPr>
              <a:t>квартиры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8E2B531-F0CB-4E02-BEA6-A2FADA0E90FF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14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1406160" y="3453120"/>
            <a:ext cx="10074600" cy="2273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Мы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должны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предсказать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рыночную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цену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квартиры 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по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адресу,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числу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комнат,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общей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площади,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этажу.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Вероятнее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всего,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данная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задача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потребует 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серьезных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вычислительных</a:t>
            </a:r>
            <a:r>
              <a:rPr lang="ru-RU" sz="3300" b="0" strike="noStrike" spc="17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мощностей.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1406160" y="1233360"/>
            <a:ext cx="102916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Подбор </a:t>
            </a:r>
            <a:r>
              <a:rPr lang="ru-RU" sz="4950" b="1" strike="noStrike" spc="-219">
                <a:solidFill>
                  <a:srgbClr val="1E1E1E"/>
                </a:solidFill>
                <a:latin typeface="Arial"/>
              </a:rPr>
              <a:t>рекламы </a:t>
            </a:r>
            <a:r>
              <a:rPr lang="ru-RU" sz="4950" b="1" strike="noStrike" spc="-313">
                <a:solidFill>
                  <a:srgbClr val="1E1E1E"/>
                </a:solidFill>
                <a:latin typeface="Arial"/>
              </a:rPr>
              <a:t>для</a:t>
            </a:r>
            <a:r>
              <a:rPr lang="ru-RU" sz="4950" b="1" strike="noStrike" spc="222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27">
                <a:solidFill>
                  <a:srgbClr val="1E1E1E"/>
                </a:solidFill>
                <a:latin typeface="Arial"/>
              </a:rPr>
              <a:t>пользователя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2CC5D704-47D0-4992-8B84-57A4FC80651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15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1405800" y="3201840"/>
            <a:ext cx="10660680" cy="5538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сайт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заходит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пользователь.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Нужно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подобрать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ему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рекламу,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чтобы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оптимизировать 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вероятность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клика.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У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нас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есть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исторические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данные,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информация 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о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пользователе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(ник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форуме,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возможно, 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демографические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характеристики).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Подобные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задачи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требуют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существенных 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вычислительных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ресурсов.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TextShape 2"/>
          <p:cNvSpPr txBox="1"/>
          <p:nvPr/>
        </p:nvSpPr>
        <p:spPr>
          <a:xfrm>
            <a:off x="1406160" y="1233360"/>
            <a:ext cx="52372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48">
                <a:solidFill>
                  <a:srgbClr val="1E1E1E"/>
                </a:solidFill>
                <a:latin typeface="Arial"/>
              </a:rPr>
              <a:t>Хранение</a:t>
            </a:r>
            <a:r>
              <a:rPr lang="ru-RU" sz="4950" b="1" strike="noStrike" spc="-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57D8362D-7A2D-49FE-AA70-02536817FEC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16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51" name="CustomShape 4"/>
          <p:cNvSpPr/>
          <p:nvPr/>
        </p:nvSpPr>
        <p:spPr>
          <a:xfrm>
            <a:off x="9531360" y="3453120"/>
            <a:ext cx="2404440" cy="51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Требования: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52" name="CustomShape 5"/>
          <p:cNvSpPr/>
          <p:nvPr/>
        </p:nvSpPr>
        <p:spPr>
          <a:xfrm>
            <a:off x="1406160" y="3201840"/>
            <a:ext cx="6178320" cy="3781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239">
                <a:solidFill>
                  <a:srgbClr val="1E1E1E"/>
                </a:solidFill>
                <a:latin typeface="Arial"/>
              </a:rPr>
              <a:t>Основные </a:t>
            </a:r>
            <a:r>
              <a:rPr lang="ru-RU" sz="3300" b="1" strike="noStrike" spc="-279">
                <a:solidFill>
                  <a:srgbClr val="1E1E1E"/>
                </a:solidFill>
                <a:latin typeface="Arial"/>
              </a:rPr>
              <a:t>виды</a:t>
            </a:r>
            <a:r>
              <a:rPr lang="ru-RU" sz="3300" b="1" strike="noStrike" spc="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09">
                <a:solidFill>
                  <a:srgbClr val="1E1E1E"/>
                </a:solidFill>
                <a:latin typeface="Arial"/>
              </a:rPr>
              <a:t>хранилищ: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Файловые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хранилища;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Реляционные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3300" b="0" strike="noStrike" spc="2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данных;</a:t>
            </a:r>
            <a:endParaRPr lang="ru-RU" sz="3300" b="0" strike="noStrike" spc="-1">
              <a:latin typeface="Arial"/>
            </a:endParaRPr>
          </a:p>
          <a:p>
            <a:pPr marL="51552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Нереляционные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3300" b="0" strike="noStrike" spc="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данных;</a:t>
            </a:r>
            <a:endParaRPr lang="ru-RU" sz="3300" b="0" strike="noStrike" spc="-1">
              <a:latin typeface="Arial"/>
            </a:endParaRPr>
          </a:p>
          <a:p>
            <a:pPr marL="51552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Графовые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3300" b="0" strike="noStrike" spc="1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53" name="CustomShape 6"/>
          <p:cNvSpPr/>
          <p:nvPr/>
        </p:nvSpPr>
        <p:spPr>
          <a:xfrm>
            <a:off x="9537840" y="3955680"/>
            <a:ext cx="4946760" cy="4033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Встраиваемость?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Распределенность?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Транзакции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94">
                <a:solidFill>
                  <a:srgbClr val="1E1E1E"/>
                </a:solidFill>
                <a:latin typeface="Arial"/>
              </a:rPr>
              <a:t>(ACID)?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ts val="396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Хранилище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оперативной</a:t>
            </a:r>
            <a:r>
              <a:rPr lang="ru-RU" sz="3300" b="0" strike="noStrike" spc="111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памяти?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Shape 1"/>
          <p:cNvSpPr txBox="1"/>
          <p:nvPr/>
        </p:nvSpPr>
        <p:spPr>
          <a:xfrm>
            <a:off x="1406160" y="1233360"/>
            <a:ext cx="7841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52">
                <a:solidFill>
                  <a:srgbClr val="1E1E1E"/>
                </a:solidFill>
                <a:latin typeface="Arial"/>
              </a:rPr>
              <a:t>Реляционные </a:t>
            </a:r>
            <a:r>
              <a:rPr lang="ru-RU" sz="4950" b="1" strike="noStrike" spc="-293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4950" b="1" strike="noStrike" spc="14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1AE6CD6D-8923-4985-8CDB-3F77C29714C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17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56" name="CustomShape 3"/>
          <p:cNvSpPr/>
          <p:nvPr/>
        </p:nvSpPr>
        <p:spPr>
          <a:xfrm>
            <a:off x="1406160" y="3201840"/>
            <a:ext cx="11006640" cy="4282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Проверенные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решения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(Oracle, </a:t>
            </a:r>
            <a:r>
              <a:rPr lang="ru-RU" sz="3300" b="0" strike="noStrike" spc="-248">
                <a:solidFill>
                  <a:srgbClr val="1E1E1E"/>
                </a:solidFill>
                <a:latin typeface="Arial"/>
              </a:rPr>
              <a:t>PostgreSQL,</a:t>
            </a:r>
            <a:r>
              <a:rPr lang="ru-RU" sz="3300" b="0" strike="noStrike" spc="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62">
                <a:solidFill>
                  <a:srgbClr val="1E1E1E"/>
                </a:solidFill>
                <a:latin typeface="Arial"/>
              </a:rPr>
              <a:t>MySQL).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Надежность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транзации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(банки,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88">
                <a:solidFill>
                  <a:srgbClr val="1E1E1E"/>
                </a:solidFill>
                <a:latin typeface="Arial"/>
              </a:rPr>
              <a:t>финансы).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94">
                <a:solidFill>
                  <a:srgbClr val="1E1E1E"/>
                </a:solidFill>
                <a:latin typeface="Arial"/>
              </a:rPr>
              <a:t>Существуют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встраиваемые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базы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248">
                <a:solidFill>
                  <a:srgbClr val="1E1E1E"/>
                </a:solidFill>
                <a:latin typeface="Arial"/>
              </a:rPr>
              <a:t>(SQLite,</a:t>
            </a:r>
            <a:r>
              <a:rPr lang="ru-RU" sz="3300" b="0" strike="noStrike" spc="10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84">
                <a:solidFill>
                  <a:srgbClr val="1E1E1E"/>
                </a:solidFill>
                <a:latin typeface="Arial"/>
              </a:rPr>
              <a:t>HSQLDB).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19">
                <a:solidFill>
                  <a:srgbClr val="1E1E1E"/>
                </a:solidFill>
                <a:latin typeface="Arial"/>
              </a:rPr>
              <a:t>Табличная </a:t>
            </a:r>
            <a:r>
              <a:rPr lang="ru-RU" sz="3300" b="0" strike="noStrike" spc="-228">
                <a:solidFill>
                  <a:srgbClr val="1E1E1E"/>
                </a:solidFill>
                <a:latin typeface="Arial"/>
              </a:rPr>
              <a:t>модель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99">
                <a:solidFill>
                  <a:srgbClr val="1E1E1E"/>
                </a:solidFill>
                <a:latin typeface="Arial"/>
              </a:rPr>
              <a:t>всегда</a:t>
            </a:r>
            <a:r>
              <a:rPr lang="ru-RU" sz="3300" b="0" strike="noStrike" spc="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удобна.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подходит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потоковой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обработки.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Shape 1"/>
          <p:cNvSpPr txBox="1"/>
          <p:nvPr/>
        </p:nvSpPr>
        <p:spPr>
          <a:xfrm>
            <a:off x="1406160" y="1233360"/>
            <a:ext cx="7841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52">
                <a:solidFill>
                  <a:srgbClr val="1E1E1E"/>
                </a:solidFill>
                <a:latin typeface="Arial"/>
              </a:rPr>
              <a:t>Реляционные </a:t>
            </a:r>
            <a:r>
              <a:rPr lang="ru-RU" sz="4950" b="1" strike="noStrike" spc="-293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4950" b="1" strike="noStrike" spc="14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1406160" y="3453120"/>
            <a:ext cx="1813680" cy="101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9">
                <a:solidFill>
                  <a:srgbClr val="1E1E1E"/>
                </a:solidFill>
                <a:latin typeface="Arial"/>
              </a:rPr>
              <a:t>a</a:t>
            </a:r>
            <a:r>
              <a:rPr lang="ru-RU" sz="3300" b="1" strike="noStrike" spc="-174">
                <a:solidFill>
                  <a:srgbClr val="1E1E1E"/>
                </a:solidFill>
                <a:latin typeface="Arial"/>
              </a:rPr>
              <a:t>p</a:t>
            </a:r>
            <a:r>
              <a:rPr lang="ru-RU" sz="3300" b="1" strike="noStrike" spc="-233">
                <a:solidFill>
                  <a:srgbClr val="1E1E1E"/>
                </a:solidFill>
                <a:latin typeface="Arial"/>
              </a:rPr>
              <a:t>p</a:t>
            </a:r>
            <a:r>
              <a:rPr lang="ru-RU" sz="3300" b="1" strike="noStrike" spc="-279">
                <a:solidFill>
                  <a:srgbClr val="1E1E1E"/>
                </a:solidFill>
                <a:latin typeface="Arial"/>
              </a:rPr>
              <a:t>_</a:t>
            </a:r>
            <a:r>
              <a:rPr lang="ru-RU" sz="3300" b="1" strike="noStrike" spc="-12">
                <a:solidFill>
                  <a:srgbClr val="1E1E1E"/>
                </a:solidFill>
                <a:latin typeface="Arial"/>
              </a:rPr>
              <a:t>ta</a:t>
            </a:r>
            <a:r>
              <a:rPr lang="ru-RU" sz="3300" b="1" strike="noStrike" spc="-174">
                <a:solidFill>
                  <a:srgbClr val="1E1E1E"/>
                </a:solidFill>
                <a:latin typeface="Arial"/>
              </a:rPr>
              <a:t>b</a:t>
            </a:r>
            <a:r>
              <a:rPr lang="ru-RU" sz="3300" b="1" strike="noStrike" spc="-228">
                <a:solidFill>
                  <a:srgbClr val="1E1E1E"/>
                </a:solidFill>
                <a:latin typeface="Arial"/>
              </a:rPr>
              <a:t>le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59" name="CustomShape 3"/>
          <p:cNvSpPr/>
          <p:nvPr/>
        </p:nvSpPr>
        <p:spPr>
          <a:xfrm>
            <a:off x="1434600" y="7360920"/>
            <a:ext cx="11142000" cy="627840"/>
          </a:xfrm>
          <a:prstGeom prst="rect">
            <a:avLst/>
          </a:pr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4920" rIns="0" bIns="0"/>
          <a:lstStyle/>
          <a:p>
            <a:pPr marL="492120">
              <a:lnSpc>
                <a:spcPct val="100000"/>
              </a:lnSpc>
              <a:spcBef>
                <a:spcPts val="984"/>
              </a:spcBef>
            </a:pPr>
            <a:r>
              <a:rPr lang="ru-RU" sz="3300" b="1" strike="noStrike" spc="-214">
                <a:solidFill>
                  <a:srgbClr val="1E1E1E"/>
                </a:solidFill>
                <a:latin typeface="Arial"/>
              </a:rPr>
              <a:t>Запрос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160" name="Table 4"/>
          <p:cNvGraphicFramePr/>
          <p:nvPr/>
        </p:nvGraphicFramePr>
        <p:xfrm>
          <a:off x="1418760" y="4356000"/>
          <a:ext cx="11152080" cy="3213600"/>
        </p:xfrm>
        <a:graphic>
          <a:graphicData uri="http://schemas.openxmlformats.org/drawingml/2006/table">
            <a:tbl>
              <a:tblPr/>
              <a:tblGrid>
                <a:gridCol w="4267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77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81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264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item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128">
                          <a:solidFill>
                            <a:srgbClr val="1E1E1E"/>
                          </a:solidFill>
                          <a:latin typeface="Arial"/>
                        </a:rPr>
                        <a:t>version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author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updated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9">
                          <a:solidFill>
                            <a:srgbClr val="1E1E1E"/>
                          </a:solidFill>
                          <a:latin typeface="Arial"/>
                        </a:rPr>
                        <a:t>Michelin Guide </a:t>
                      </a: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Europe</a:t>
                      </a:r>
                      <a:r>
                        <a:rPr lang="ru-RU" sz="2450" b="0" strike="noStrike" spc="9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117">
                          <a:solidFill>
                            <a:srgbClr val="1E1E1E"/>
                          </a:solidFill>
                          <a:latin typeface="Arial"/>
                        </a:rPr>
                        <a:t>2017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38">
                          <a:solidFill>
                            <a:srgbClr val="1E1E1E"/>
                          </a:solidFill>
                          <a:latin typeface="Arial"/>
                        </a:rPr>
                        <a:t>1.2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9">
                          <a:solidFill>
                            <a:srgbClr val="1E1E1E"/>
                          </a:solidFill>
                          <a:latin typeface="Arial"/>
                        </a:rPr>
                        <a:t>Michelin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17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69">
                          <a:solidFill>
                            <a:srgbClr val="1E1E1E"/>
                          </a:solidFill>
                          <a:latin typeface="Arial"/>
                        </a:rPr>
                        <a:t>09.06.2017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7">
                          <a:solidFill>
                            <a:srgbClr val="1E1E1E"/>
                          </a:solidFill>
                          <a:latin typeface="Arial"/>
                        </a:rPr>
                        <a:t>Telegram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92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38">
                          <a:solidFill>
                            <a:srgbClr val="1E1E1E"/>
                          </a:solidFill>
                          <a:latin typeface="Arial"/>
                        </a:rPr>
                        <a:t>2.3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7">
                          <a:solidFill>
                            <a:srgbClr val="1E1E1E"/>
                          </a:solidFill>
                          <a:latin typeface="Arial"/>
                        </a:rPr>
                        <a:t>Telegram </a:t>
                      </a: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Messenger</a:t>
                      </a:r>
                      <a:r>
                        <a:rPr lang="ru-RU" sz="2450" b="0" strike="noStrike" spc="9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214">
                          <a:solidFill>
                            <a:srgbClr val="1E1E1E"/>
                          </a:solidFill>
                          <a:latin typeface="Arial"/>
                        </a:rPr>
                        <a:t>LLP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17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69">
                          <a:solidFill>
                            <a:srgbClr val="1E1E1E"/>
                          </a:solidFill>
                          <a:latin typeface="Arial"/>
                        </a:rPr>
                        <a:t>07.06.2017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9">
                          <a:solidFill>
                            <a:srgbClr val="1E1E1E"/>
                          </a:solidFill>
                          <a:latin typeface="Arial"/>
                        </a:rPr>
                        <a:t>WhatsApp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92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2.17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9">
                          <a:solidFill>
                            <a:srgbClr val="1E1E1E"/>
                          </a:solidFill>
                          <a:latin typeface="Arial"/>
                        </a:rPr>
                        <a:t>WhatsApp</a:t>
                      </a:r>
                      <a:r>
                        <a:rPr lang="ru-RU" sz="2450" b="0" strike="noStrike" spc="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Inc.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17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69">
                          <a:solidFill>
                            <a:srgbClr val="1E1E1E"/>
                          </a:solidFill>
                          <a:latin typeface="Arial"/>
                        </a:rPr>
                        <a:t>26.06.2017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VK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92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2.15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VKontakte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17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69">
                          <a:solidFill>
                            <a:srgbClr val="1E1E1E"/>
                          </a:solidFill>
                          <a:latin typeface="Arial"/>
                        </a:rPr>
                        <a:t>21.06.2017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61" name="CustomShape 5"/>
          <p:cNvSpPr/>
          <p:nvPr/>
        </p:nvSpPr>
        <p:spPr>
          <a:xfrm>
            <a:off x="1434600" y="8227800"/>
            <a:ext cx="11142000" cy="151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4914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94">
                <a:solidFill>
                  <a:srgbClr val="627AEB"/>
                </a:solidFill>
                <a:latin typeface="Trebuchet MS"/>
              </a:rPr>
              <a:t>SELECT </a:t>
            </a:r>
            <a:r>
              <a:rPr lang="ru-RU" sz="3300" b="0" strike="noStrike" spc="-199">
                <a:solidFill>
                  <a:srgbClr val="1E1E1E"/>
                </a:solidFill>
                <a:latin typeface="Trebuchet MS"/>
              </a:rPr>
              <a:t>item, </a:t>
            </a:r>
            <a:r>
              <a:rPr lang="ru-RU" sz="3300" b="0" strike="noStrike" spc="-63">
                <a:solidFill>
                  <a:srgbClr val="1E1E1E"/>
                </a:solidFill>
                <a:latin typeface="Trebuchet MS"/>
              </a:rPr>
              <a:t>author </a:t>
            </a:r>
            <a:r>
              <a:rPr lang="ru-RU" sz="3300" b="0" strike="noStrike" spc="24">
                <a:solidFill>
                  <a:srgbClr val="627AEB"/>
                </a:solidFill>
                <a:latin typeface="Trebuchet MS"/>
              </a:rPr>
              <a:t>FROM </a:t>
            </a:r>
            <a:r>
              <a:rPr lang="ru-RU" sz="3300" b="0" strike="noStrike" spc="-69">
                <a:solidFill>
                  <a:srgbClr val="1E1E1E"/>
                </a:solidFill>
                <a:latin typeface="Trebuchet MS"/>
              </a:rPr>
              <a:t>app_table </a:t>
            </a:r>
            <a:r>
              <a:rPr lang="ru-RU" sz="3300" b="0" strike="noStrike" spc="-69">
                <a:solidFill>
                  <a:srgbClr val="627AEB"/>
                </a:solidFill>
                <a:latin typeface="Trebuchet MS"/>
              </a:rPr>
              <a:t>WHERE  </a:t>
            </a:r>
            <a:r>
              <a:rPr lang="ru-RU" sz="3300" b="0" strike="noStrike" spc="-38">
                <a:solidFill>
                  <a:srgbClr val="1E1E1E"/>
                </a:solidFill>
                <a:latin typeface="Trebuchet MS"/>
              </a:rPr>
              <a:t>updated </a:t>
            </a:r>
            <a:r>
              <a:rPr lang="ru-RU" sz="3300" b="0" strike="noStrike" spc="233">
                <a:solidFill>
                  <a:srgbClr val="1E1E1E"/>
                </a:solidFill>
                <a:latin typeface="Trebuchet MS"/>
              </a:rPr>
              <a:t>&gt; </a:t>
            </a:r>
            <a:r>
              <a:rPr lang="ru-RU" sz="3300" b="0" strike="noStrike" spc="-134">
                <a:solidFill>
                  <a:srgbClr val="627AEB"/>
                </a:solidFill>
                <a:latin typeface="Trebuchet MS"/>
              </a:rPr>
              <a:t>"01.06.2017" </a:t>
            </a:r>
            <a:r>
              <a:rPr lang="ru-RU" sz="3300" b="0" strike="noStrike" spc="111">
                <a:solidFill>
                  <a:srgbClr val="627AEB"/>
                </a:solidFill>
                <a:latin typeface="Trebuchet MS"/>
              </a:rPr>
              <a:t>AND</a:t>
            </a:r>
            <a:r>
              <a:rPr lang="ru-RU" sz="3300" b="0" strike="noStrike" spc="-659">
                <a:solidFill>
                  <a:srgbClr val="627AEB"/>
                </a:solidFill>
                <a:latin typeface="Trebuchet MS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Trebuchet MS"/>
              </a:rPr>
              <a:t>author </a:t>
            </a:r>
            <a:r>
              <a:rPr lang="ru-RU" sz="3300" b="0" strike="noStrike" spc="-154">
                <a:solidFill>
                  <a:srgbClr val="627AEB"/>
                </a:solidFill>
                <a:latin typeface="Trebuchet MS"/>
              </a:rPr>
              <a:t>like </a:t>
            </a:r>
            <a:r>
              <a:rPr lang="ru-RU" sz="3300" b="0" strike="noStrike" spc="-83">
                <a:solidFill>
                  <a:srgbClr val="627AEB"/>
                </a:solidFill>
                <a:latin typeface="Trebuchet MS"/>
              </a:rPr>
              <a:t>’%michelin%’</a:t>
            </a:r>
            <a:r>
              <a:rPr lang="ru-RU" sz="3300" b="0" strike="noStrike" spc="-83">
                <a:solidFill>
                  <a:srgbClr val="1E1E1E"/>
                </a:solidFill>
                <a:latin typeface="Trebuchet MS"/>
              </a:rPr>
              <a:t>;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62" name="CustomShape 6"/>
          <p:cNvSpPr/>
          <p:nvPr/>
        </p:nvSpPr>
        <p:spPr>
          <a:xfrm>
            <a:off x="1434600" y="7376760"/>
            <a:ext cx="11142000" cy="2020680"/>
          </a:xfrm>
          <a:custGeom>
            <a:avLst/>
            <a:gdLst/>
            <a:ahLst/>
            <a:cxnLst/>
            <a:rect l="l" t="t" r="r" b="b"/>
            <a:pathLst>
              <a:path w="11142345" h="2021204">
                <a:moveTo>
                  <a:pt x="0" y="2020880"/>
                </a:moveTo>
                <a:lnTo>
                  <a:pt x="11142069" y="2020880"/>
                </a:lnTo>
                <a:lnTo>
                  <a:pt x="11142069" y="0"/>
                </a:lnTo>
                <a:lnTo>
                  <a:pt x="0" y="0"/>
                </a:lnTo>
                <a:lnTo>
                  <a:pt x="0" y="2020880"/>
                </a:lnTo>
                <a:close/>
              </a:path>
            </a:pathLst>
          </a:custGeom>
          <a:noFill/>
          <a:ln w="3132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3" name="TextShape 7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0DE65A2-16B5-499D-94BC-7A5896697322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18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Shape 1"/>
          <p:cNvSpPr txBox="1"/>
          <p:nvPr/>
        </p:nvSpPr>
        <p:spPr>
          <a:xfrm>
            <a:off x="1406160" y="1233360"/>
            <a:ext cx="86173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99">
                <a:solidFill>
                  <a:srgbClr val="1E1E1E"/>
                </a:solidFill>
                <a:latin typeface="Arial"/>
              </a:rPr>
              <a:t>Нереляционные </a:t>
            </a:r>
            <a:r>
              <a:rPr lang="ru-RU" sz="4950" b="1" strike="noStrike" spc="-293">
                <a:solidFill>
                  <a:srgbClr val="1E1E1E"/>
                </a:solidFill>
                <a:latin typeface="Arial"/>
              </a:rPr>
              <a:t>базы</a:t>
            </a:r>
            <a:r>
              <a:rPr lang="ru-RU" sz="4950" b="1" strike="noStrike" spc="13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1391040" y="3201840"/>
            <a:ext cx="9851760" cy="733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2736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313">
                <a:solidFill>
                  <a:srgbClr val="1E1E1E"/>
                </a:solidFill>
                <a:latin typeface="Arial"/>
              </a:rPr>
              <a:t>Основные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372">
                <a:solidFill>
                  <a:srgbClr val="1E1E1E"/>
                </a:solidFill>
                <a:latin typeface="Arial"/>
              </a:rPr>
              <a:t>виды:</a:t>
            </a:r>
            <a:endParaRPr lang="ru-RU" sz="3300" b="0" strike="noStrike" spc="-1">
              <a:latin typeface="Arial"/>
            </a:endParaRPr>
          </a:p>
          <a:p>
            <a:pPr marL="53028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Хранилища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Key-Value </a:t>
            </a:r>
            <a:r>
              <a:rPr lang="ru-RU" sz="3300" b="0" strike="noStrike" spc="-199">
                <a:solidFill>
                  <a:srgbClr val="1E1E1E"/>
                </a:solidFill>
                <a:latin typeface="Arial"/>
              </a:rPr>
              <a:t>(Redis,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Amazon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DynamoDB).</a:t>
            </a:r>
            <a:endParaRPr lang="ru-RU" sz="3300" b="0" strike="noStrike" spc="-1">
              <a:latin typeface="Arial"/>
            </a:endParaRPr>
          </a:p>
          <a:p>
            <a:pPr marL="53028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Документо-ориентированные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базы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(MongoDB,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MarkLogic,</a:t>
            </a:r>
            <a:r>
              <a:rPr lang="ru-RU" sz="3300" b="0" strike="noStrike" spc="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CouchDB).</a:t>
            </a:r>
            <a:endParaRPr lang="ru-RU" sz="3300" b="0" strike="noStrike" spc="-1">
              <a:latin typeface="Arial"/>
            </a:endParaRPr>
          </a:p>
          <a:p>
            <a:pPr marL="53028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Графовые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базы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</a:t>
            </a:r>
            <a:r>
              <a:rPr lang="ru-RU" sz="3300" b="0" strike="noStrike" spc="30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(Neo4j).</a:t>
            </a:r>
            <a:endParaRPr lang="ru-RU" sz="3300" b="0" strike="noStrike" spc="-1">
              <a:latin typeface="Arial"/>
            </a:endParaRPr>
          </a:p>
          <a:p>
            <a:pPr marL="53028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Колоночные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БД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(HBase,</a:t>
            </a:r>
            <a:r>
              <a:rPr lang="ru-RU" sz="3300" b="0" strike="noStrike" spc="32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Cassandra).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buClr>
                <a:srgbClr val="1E1E1E"/>
              </a:buClr>
              <a:buFont typeface="Arial"/>
              <a:buChar char="–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Различные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возможности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сфера</a:t>
            </a:r>
            <a:r>
              <a:rPr lang="ru-RU" sz="3300" b="0" strike="noStrike" spc="36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применения.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1E1E1E"/>
              </a:buClr>
              <a:buFont typeface="Arial"/>
              <a:buChar char="–"/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основном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рассчитаны </a:t>
            </a:r>
            <a:r>
              <a:rPr lang="ru-RU" sz="3300" b="0" strike="noStrike" spc="18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работу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</a:t>
            </a:r>
            <a:r>
              <a:rPr lang="ru-RU" sz="3300" b="0" strike="noStrike" spc="45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кластере.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1418760" y="7889760"/>
            <a:ext cx="11173680" cy="360"/>
          </a:xfrm>
          <a:custGeom>
            <a:avLst/>
            <a:gdLst/>
            <a:ahLst/>
            <a:cxnLst/>
            <a:rect l="l" t="t" r="r" b="b"/>
            <a:pathLst>
              <a:path w="11174095">
                <a:moveTo>
                  <a:pt x="0" y="0"/>
                </a:moveTo>
                <a:lnTo>
                  <a:pt x="11173481" y="0"/>
                </a:lnTo>
              </a:path>
            </a:pathLst>
          </a:custGeom>
          <a:noFill/>
          <a:ln w="3132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TextShape 4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6FBA5B81-FEFC-445E-B634-492DE3F5DC52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19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1406160" y="1233360"/>
            <a:ext cx="14799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962">
                <a:solidFill>
                  <a:srgbClr val="1E1E1E"/>
                </a:solidFill>
                <a:latin typeface="Arial"/>
              </a:rPr>
              <a:t>J</a:t>
            </a:r>
            <a:r>
              <a:rPr lang="ru-RU" sz="4950" b="1" strike="noStrike" spc="-1123">
                <a:solidFill>
                  <a:srgbClr val="1E1E1E"/>
                </a:solidFill>
                <a:latin typeface="Arial"/>
              </a:rPr>
              <a:t>S</a:t>
            </a:r>
            <a:r>
              <a:rPr lang="ru-RU" sz="4950" b="1" strike="noStrike" spc="-58">
                <a:solidFill>
                  <a:srgbClr val="1E1E1E"/>
                </a:solidFill>
                <a:latin typeface="Arial"/>
              </a:rPr>
              <a:t>O</a:t>
            </a:r>
            <a:r>
              <a:rPr lang="ru-RU" sz="4950" b="1" strike="noStrike" spc="103">
                <a:solidFill>
                  <a:srgbClr val="1E1E1E"/>
                </a:solidFill>
                <a:latin typeface="Arial"/>
              </a:rPr>
              <a:t>N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D20949D-83EB-4745-AD00-1768CBA5718F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20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70" name="CustomShape 3"/>
          <p:cNvSpPr/>
          <p:nvPr/>
        </p:nvSpPr>
        <p:spPr>
          <a:xfrm>
            <a:off x="1406160" y="3453120"/>
            <a:ext cx="10560960" cy="557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J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ava</a:t>
            </a: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S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cript 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O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bject </a:t>
            </a:r>
            <a:r>
              <a:rPr lang="ru-RU" sz="3300" b="1" strike="noStrike" spc="-1">
                <a:solidFill>
                  <a:srgbClr val="1E1E1E"/>
                </a:solidFill>
                <a:latin typeface="Arial"/>
              </a:rPr>
              <a:t>N</a:t>
            </a: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otation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(Нотация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объектов</a:t>
            </a:r>
            <a:r>
              <a:rPr lang="ru-RU" sz="3300" b="0" strike="noStrike" spc="46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JavaScript).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</a:pP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Текстовый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формат.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Произошел из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языка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программирования</a:t>
            </a:r>
            <a:r>
              <a:rPr lang="ru-RU" sz="3300" b="0" strike="noStrike" spc="3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JavaScript.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Хранение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структурированных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объектов 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(словари,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списки).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Библиотеки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многих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языков</a:t>
            </a:r>
            <a:r>
              <a:rPr lang="ru-RU" sz="3300" b="0" strike="noStrike" spc="4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программирования.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434600" y="3638520"/>
            <a:ext cx="11142000" cy="6498360"/>
          </a:xfrm>
          <a:custGeom>
            <a:avLst/>
            <a:gdLst/>
            <a:ahLst/>
            <a:cxnLst/>
            <a:rect l="l" t="t" r="r" b="b"/>
            <a:pathLst>
              <a:path w="11142345" h="6498590">
                <a:moveTo>
                  <a:pt x="0" y="6498493"/>
                </a:moveTo>
                <a:lnTo>
                  <a:pt x="11142069" y="6498493"/>
                </a:lnTo>
                <a:lnTo>
                  <a:pt x="11142069" y="0"/>
                </a:lnTo>
                <a:lnTo>
                  <a:pt x="0" y="0"/>
                </a:lnTo>
                <a:lnTo>
                  <a:pt x="0" y="6498493"/>
                </a:lnTo>
                <a:close/>
              </a:path>
            </a:pathLst>
          </a:custGeom>
          <a:noFill/>
          <a:ln w="3132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2" name="TextShape 2"/>
          <p:cNvSpPr txBox="1"/>
          <p:nvPr/>
        </p:nvSpPr>
        <p:spPr>
          <a:xfrm>
            <a:off x="1406160" y="1233360"/>
            <a:ext cx="61038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443">
                <a:solidFill>
                  <a:srgbClr val="1E1E1E"/>
                </a:solidFill>
                <a:latin typeface="Arial"/>
              </a:rPr>
              <a:t>JSON,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пример</a:t>
            </a:r>
            <a:r>
              <a:rPr lang="ru-RU" sz="4950" b="1" strike="noStrike" spc="-707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89">
                <a:solidFill>
                  <a:srgbClr val="1E1E1E"/>
                </a:solidFill>
                <a:latin typeface="Arial"/>
              </a:rPr>
              <a:t>файла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CustomShape 3"/>
          <p:cNvSpPr/>
          <p:nvPr/>
        </p:nvSpPr>
        <p:spPr>
          <a:xfrm>
            <a:off x="1418760" y="3591360"/>
            <a:ext cx="11173680" cy="795960"/>
          </a:xfrm>
          <a:custGeom>
            <a:avLst/>
            <a:gdLst/>
            <a:ahLst/>
            <a:cxnLst/>
            <a:rect l="l" t="t" r="r" b="b"/>
            <a:pathLst>
              <a:path w="11174095" h="796289">
                <a:moveTo>
                  <a:pt x="0" y="795787"/>
                </a:moveTo>
                <a:lnTo>
                  <a:pt x="11173481" y="795787"/>
                </a:lnTo>
                <a:lnTo>
                  <a:pt x="11173481" y="0"/>
                </a:lnTo>
                <a:lnTo>
                  <a:pt x="0" y="0"/>
                </a:lnTo>
                <a:lnTo>
                  <a:pt x="0" y="795787"/>
                </a:lnTo>
                <a:close/>
              </a:path>
            </a:pathLst>
          </a:cu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4"/>
          <p:cNvSpPr/>
          <p:nvPr/>
        </p:nvSpPr>
        <p:spPr>
          <a:xfrm>
            <a:off x="1926720" y="3706560"/>
            <a:ext cx="3968280" cy="73440"/>
          </a:xfrm>
          <a:custGeom>
            <a:avLst/>
            <a:gdLst/>
            <a:ahLst/>
            <a:cxnLst/>
            <a:rect l="l" t="t" r="r" b="b"/>
            <a:pathLst>
              <a:path w="3968750" h="73660">
                <a:moveTo>
                  <a:pt x="0" y="73296"/>
                </a:moveTo>
                <a:lnTo>
                  <a:pt x="3968465" y="73296"/>
                </a:lnTo>
                <a:lnTo>
                  <a:pt x="3968465" y="0"/>
                </a:lnTo>
                <a:lnTo>
                  <a:pt x="0" y="0"/>
                </a:lnTo>
                <a:lnTo>
                  <a:pt x="0" y="73296"/>
                </a:lnTo>
                <a:close/>
              </a:path>
            </a:pathLst>
          </a:cu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5"/>
          <p:cNvSpPr/>
          <p:nvPr/>
        </p:nvSpPr>
        <p:spPr>
          <a:xfrm>
            <a:off x="1926720" y="3780000"/>
            <a:ext cx="3960720" cy="502560"/>
          </a:xfrm>
          <a:custGeom>
            <a:avLst/>
            <a:gdLst/>
            <a:ahLst/>
            <a:cxnLst/>
            <a:rect l="l" t="t" r="r" b="b"/>
            <a:pathLst>
              <a:path w="3961129" h="502920">
                <a:moveTo>
                  <a:pt x="0" y="502602"/>
                </a:moveTo>
                <a:lnTo>
                  <a:pt x="3960539" y="502602"/>
                </a:lnTo>
                <a:lnTo>
                  <a:pt x="3960539" y="0"/>
                </a:lnTo>
                <a:lnTo>
                  <a:pt x="0" y="0"/>
                </a:lnTo>
                <a:lnTo>
                  <a:pt x="0" y="502602"/>
                </a:lnTo>
                <a:close/>
              </a:path>
            </a:pathLst>
          </a:cu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6"/>
          <p:cNvSpPr/>
          <p:nvPr/>
        </p:nvSpPr>
        <p:spPr>
          <a:xfrm>
            <a:off x="1913400" y="3453120"/>
            <a:ext cx="8948160" cy="755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137">
                <a:solidFill>
                  <a:srgbClr val="1E1E1E"/>
                </a:solidFill>
                <a:latin typeface="Arial"/>
              </a:rPr>
              <a:t>google_play.json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  <a:spcBef>
                <a:spcPts val="1976"/>
              </a:spcBef>
            </a:pP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{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  <a:spcBef>
                <a:spcPts val="130"/>
              </a:spcBef>
            </a:pPr>
            <a:r>
              <a:rPr lang="ru-RU" sz="3300" b="0" strike="noStrike" spc="29">
                <a:solidFill>
                  <a:srgbClr val="627AEB"/>
                </a:solidFill>
                <a:latin typeface="Trebuchet MS"/>
              </a:rPr>
              <a:t>"item_name"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 </a:t>
            </a:r>
            <a:r>
              <a:rPr lang="ru-RU" sz="3300" b="0" strike="noStrike" spc="43">
                <a:solidFill>
                  <a:srgbClr val="627AEB"/>
                </a:solidFill>
                <a:latin typeface="Trebuchet MS"/>
              </a:rPr>
              <a:t>"Michelin </a:t>
            </a:r>
            <a:r>
              <a:rPr lang="ru-RU" sz="3300" b="0" strike="noStrike" spc="9">
                <a:solidFill>
                  <a:srgbClr val="627AEB"/>
                </a:solidFill>
                <a:latin typeface="Trebuchet MS"/>
              </a:rPr>
              <a:t>Guide </a:t>
            </a:r>
            <a:r>
              <a:rPr lang="ru-RU" sz="3300" b="0" strike="noStrike" spc="12">
                <a:solidFill>
                  <a:srgbClr val="627AEB"/>
                </a:solidFill>
                <a:latin typeface="Trebuchet MS"/>
              </a:rPr>
              <a:t>Europe </a:t>
            </a:r>
            <a:r>
              <a:rPr lang="ru-RU" sz="3300" b="0" strike="noStrike" spc="-117">
                <a:solidFill>
                  <a:srgbClr val="627AEB"/>
                </a:solidFill>
                <a:latin typeface="Trebuchet MS"/>
              </a:rPr>
              <a:t>2017"</a:t>
            </a:r>
            <a:r>
              <a:rPr lang="ru-RU" sz="3300" b="0" strike="noStrike" spc="-117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32">
                <a:solidFill>
                  <a:srgbClr val="627AEB"/>
                </a:solidFill>
                <a:latin typeface="Trebuchet MS"/>
              </a:rPr>
              <a:t>"version"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</a:t>
            </a:r>
            <a:r>
              <a:rPr lang="ru-RU" sz="3300" b="0" strike="noStrike" spc="-443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228">
                <a:solidFill>
                  <a:srgbClr val="1E1E1E"/>
                </a:solidFill>
                <a:latin typeface="Trebuchet MS"/>
              </a:rPr>
              <a:t>1.2,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821"/>
              </a:lnSpc>
            </a:pPr>
            <a:r>
              <a:rPr lang="ru-RU" sz="3300" b="0" strike="noStrike" spc="9">
                <a:solidFill>
                  <a:srgbClr val="627AEB"/>
                </a:solidFill>
                <a:latin typeface="Trebuchet MS"/>
              </a:rPr>
              <a:t>"contacts"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</a:t>
            </a:r>
            <a:r>
              <a:rPr lang="ru-RU" sz="3300" b="0" strike="noStrike" spc="-412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{</a:t>
            </a:r>
            <a:endParaRPr lang="ru-RU" sz="3300" b="0" strike="noStrike" spc="-1">
              <a:latin typeface="Arial"/>
            </a:endParaRPr>
          </a:p>
          <a:p>
            <a:pPr marL="1017360">
              <a:lnSpc>
                <a:spcPts val="3960"/>
              </a:lnSpc>
              <a:spcBef>
                <a:spcPts val="136"/>
              </a:spcBef>
            </a:pPr>
            <a:r>
              <a:rPr lang="ru-RU" sz="3300" b="0" strike="noStrike" spc="9">
                <a:solidFill>
                  <a:srgbClr val="627AEB"/>
                </a:solidFill>
                <a:latin typeface="Trebuchet MS"/>
              </a:rPr>
              <a:t>"url"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 </a:t>
            </a:r>
            <a:r>
              <a:rPr lang="ru-RU" sz="3300" b="0" strike="noStrike" spc="29">
                <a:solidFill>
                  <a:srgbClr val="627AEB"/>
                </a:solidFill>
                <a:latin typeface="Trebuchet MS"/>
              </a:rPr>
              <a:t>"https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 </a:t>
            </a:r>
            <a:r>
              <a:rPr lang="ru-RU" sz="3300" b="0" strike="noStrike" spc="-599">
                <a:solidFill>
                  <a:srgbClr val="627AEB"/>
                </a:solidFill>
                <a:latin typeface="Trebuchet MS"/>
              </a:rPr>
              <a:t>/ </a:t>
            </a:r>
            <a:r>
              <a:rPr lang="ru-RU" sz="3300" b="0" strike="noStrike" spc="-89">
                <a:solidFill>
                  <a:srgbClr val="627AEB"/>
                </a:solidFill>
                <a:latin typeface="Trebuchet MS"/>
              </a:rPr>
              <a:t>/www.viamichelin.fr"</a:t>
            </a:r>
            <a:r>
              <a:rPr lang="ru-RU" sz="3300" b="0" strike="noStrike" spc="-89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-4">
                <a:solidFill>
                  <a:srgbClr val="627AEB"/>
                </a:solidFill>
                <a:latin typeface="Trebuchet MS"/>
              </a:rPr>
              <a:t>"email"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</a:t>
            </a:r>
            <a:r>
              <a:rPr lang="ru-RU" sz="3300" b="0" strike="noStrike" spc="-389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9">
                <a:solidFill>
                  <a:srgbClr val="627AEB"/>
                </a:solidFill>
                <a:latin typeface="Trebuchet MS"/>
              </a:rPr>
              <a:t>"mobile@p.michelin.com"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821"/>
              </a:lnSpc>
            </a:pPr>
            <a:r>
              <a:rPr lang="ru-RU" sz="3300" b="0" strike="noStrike" spc="-327">
                <a:solidFill>
                  <a:srgbClr val="1E1E1E"/>
                </a:solidFill>
                <a:latin typeface="Trebuchet MS"/>
              </a:rPr>
              <a:t>},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  <a:spcBef>
                <a:spcPts val="130"/>
              </a:spcBef>
            </a:pPr>
            <a:r>
              <a:rPr lang="ru-RU" sz="3300" b="0" strike="noStrike" spc="49">
                <a:solidFill>
                  <a:srgbClr val="627AEB"/>
                </a:solidFill>
                <a:latin typeface="Trebuchet MS"/>
              </a:rPr>
              <a:t>"updated"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 </a:t>
            </a:r>
            <a:r>
              <a:rPr lang="ru-RU" sz="3300" b="0" strike="noStrike" spc="69">
                <a:solidFill>
                  <a:srgbClr val="627AEB"/>
                </a:solidFill>
                <a:latin typeface="Trebuchet MS"/>
              </a:rPr>
              <a:t>"9 </a:t>
            </a:r>
            <a:r>
              <a:rPr lang="ru-RU" sz="3300" b="0" strike="noStrike" spc="43">
                <a:solidFill>
                  <a:srgbClr val="627AEB"/>
                </a:solidFill>
                <a:latin typeface="Trebuchet MS"/>
              </a:rPr>
              <a:t>March </a:t>
            </a:r>
            <a:r>
              <a:rPr lang="ru-RU" sz="3300" b="0" strike="noStrike" spc="-117">
                <a:solidFill>
                  <a:srgbClr val="627AEB"/>
                </a:solidFill>
                <a:latin typeface="Trebuchet MS"/>
              </a:rPr>
              <a:t>2017"</a:t>
            </a:r>
            <a:r>
              <a:rPr lang="ru-RU" sz="3300" b="0" strike="noStrike" spc="-117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29">
                <a:solidFill>
                  <a:srgbClr val="627AEB"/>
                </a:solidFill>
                <a:latin typeface="Trebuchet MS"/>
              </a:rPr>
              <a:t>"author"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</a:t>
            </a:r>
            <a:r>
              <a:rPr lang="ru-RU" sz="3300" b="0" strike="noStrike" spc="-443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12">
                <a:solidFill>
                  <a:srgbClr val="627AEB"/>
                </a:solidFill>
                <a:latin typeface="Trebuchet MS"/>
              </a:rPr>
              <a:t>"Michelin"</a:t>
            </a:r>
            <a:r>
              <a:rPr lang="ru-RU" sz="3300" b="0" strike="noStrike" spc="-12">
                <a:solidFill>
                  <a:srgbClr val="1E1E1E"/>
                </a:solidFill>
                <a:latin typeface="Trebuchet MS"/>
              </a:rPr>
              <a:t>,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821"/>
              </a:lnSpc>
            </a:pPr>
            <a:r>
              <a:rPr lang="ru-RU" sz="3300" b="0" strike="noStrike" spc="-9">
                <a:solidFill>
                  <a:srgbClr val="627AEB"/>
                </a:solidFill>
                <a:latin typeface="Trebuchet MS"/>
              </a:rPr>
              <a:t>"last_rates"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: </a:t>
            </a:r>
            <a:r>
              <a:rPr lang="ru-RU" sz="3300" b="0" strike="noStrike" spc="-214">
                <a:solidFill>
                  <a:srgbClr val="1E1E1E"/>
                </a:solidFill>
                <a:latin typeface="Trebuchet MS"/>
              </a:rPr>
              <a:t>[4.5, </a:t>
            </a:r>
            <a:r>
              <a:rPr lang="ru-RU" sz="3300" b="0" strike="noStrike" spc="-259">
                <a:solidFill>
                  <a:srgbClr val="1E1E1E"/>
                </a:solidFill>
                <a:latin typeface="Trebuchet MS"/>
              </a:rPr>
              <a:t>5, </a:t>
            </a:r>
            <a:r>
              <a:rPr lang="ru-RU" sz="3300" b="0" strike="noStrike" spc="-248">
                <a:solidFill>
                  <a:srgbClr val="1E1E1E"/>
                </a:solidFill>
                <a:latin typeface="Trebuchet MS"/>
              </a:rPr>
              <a:t>3,</a:t>
            </a:r>
            <a:r>
              <a:rPr lang="ru-RU" sz="3300" b="0" strike="noStrike" spc="-69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143">
                <a:solidFill>
                  <a:srgbClr val="1E1E1E"/>
                </a:solidFill>
                <a:latin typeface="Trebuchet MS"/>
              </a:rPr>
              <a:t>4]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</a:pP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}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77" name="TextShape 7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58A309A-DBC4-4526-AD69-F665D7AF4034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21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1406160" y="1233360"/>
            <a:ext cx="12081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73">
                <a:solidFill>
                  <a:srgbClr val="1E1E1E"/>
                </a:solidFill>
                <a:latin typeface="Arial"/>
              </a:rPr>
              <a:t>C</a:t>
            </a:r>
            <a:r>
              <a:rPr lang="ru-RU" sz="4950" b="1" strike="noStrike" spc="-299">
                <a:solidFill>
                  <a:srgbClr val="1E1E1E"/>
                </a:solidFill>
                <a:latin typeface="Arial"/>
              </a:rPr>
              <a:t>SV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6360EFFA-DB5F-44EB-BE62-D3E13D90E216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22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80" name="CustomShape 3"/>
          <p:cNvSpPr/>
          <p:nvPr/>
        </p:nvSpPr>
        <p:spPr>
          <a:xfrm>
            <a:off x="1405800" y="3201840"/>
            <a:ext cx="16879320" cy="579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83">
                <a:solidFill>
                  <a:srgbClr val="1E1E1E"/>
                </a:solidFill>
                <a:latin typeface="Arial"/>
              </a:rPr>
              <a:t>C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omma-</a:t>
            </a:r>
            <a:r>
              <a:rPr lang="ru-RU" sz="3300" b="1" strike="noStrike" spc="-83">
                <a:solidFill>
                  <a:srgbClr val="1E1E1E"/>
                </a:solidFill>
                <a:latin typeface="Arial"/>
              </a:rPr>
              <a:t>S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eparated </a:t>
            </a:r>
            <a:r>
              <a:rPr lang="ru-RU" sz="3300" b="1" strike="noStrike" spc="-134">
                <a:solidFill>
                  <a:srgbClr val="1E1E1E"/>
                </a:solidFill>
                <a:latin typeface="Arial"/>
              </a:rPr>
              <a:t>V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alues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(Значения,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Разделенные</a:t>
            </a:r>
            <a:r>
              <a:rPr lang="ru-RU" sz="3300" b="0" strike="noStrike" spc="4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Запятыми):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Текстовый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формат;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Столбы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разделены</a:t>
            </a:r>
            <a:r>
              <a:rPr lang="ru-RU" sz="3300" b="0" strike="noStrike" spc="21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запятыми;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первой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строчке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часто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используют</a:t>
            </a:r>
            <a:r>
              <a:rPr lang="ru-RU" sz="3300" b="0" strike="noStrike" spc="39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заголовок;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Существует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стандарт </a:t>
            </a:r>
            <a:r>
              <a:rPr lang="ru-RU" sz="3300" b="0" strike="noStrike" spc="-372">
                <a:solidFill>
                  <a:srgbClr val="1E1E1E"/>
                </a:solidFill>
                <a:latin typeface="Arial"/>
              </a:rPr>
              <a:t>RFC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4180,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но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реальной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жизни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его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часто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соблюдают. </a:t>
            </a:r>
            <a:r>
              <a:rPr lang="ru-RU" sz="3300" b="0" strike="noStrike" spc="-188">
                <a:solidFill>
                  <a:srgbClr val="1E1E1E"/>
                </a:solidFill>
                <a:latin typeface="Arial"/>
              </a:rPr>
              <a:t>Различия 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часто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касаются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способа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представления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текста </a:t>
            </a:r>
            <a:r>
              <a:rPr lang="ru-RU" sz="3300" b="0" strike="noStrike" spc="-214">
                <a:solidFill>
                  <a:srgbClr val="1E1E1E"/>
                </a:solidFill>
                <a:latin typeface="Arial"/>
              </a:rPr>
              <a:t>(в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котором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тоже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могут </a:t>
            </a:r>
            <a:r>
              <a:rPr lang="ru-RU" sz="3300" b="0" strike="noStrike" spc="-180">
                <a:solidFill>
                  <a:srgbClr val="1E1E1E"/>
                </a:solidFill>
                <a:latin typeface="Arial"/>
              </a:rPr>
              <a:t>быть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запятые);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Иногда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колонки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разделяют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табуляцией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(Tab-</a:t>
            </a:r>
            <a:r>
              <a:rPr lang="ru-RU" sz="3300" b="1" strike="noStrike" spc="-89">
                <a:solidFill>
                  <a:srgbClr val="1E1E1E"/>
                </a:solidFill>
                <a:latin typeface="Arial"/>
              </a:rPr>
              <a:t>S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eparated</a:t>
            </a:r>
            <a:r>
              <a:rPr lang="ru-RU" sz="3300" b="0" strike="noStrike" spc="47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62">
                <a:solidFill>
                  <a:srgbClr val="1E1E1E"/>
                </a:solidFill>
                <a:latin typeface="Arial"/>
              </a:rPr>
              <a:t>V</a:t>
            </a: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alues);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Инструменты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чтения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интегрированы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во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множество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сред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TextShape 2"/>
          <p:cNvSpPr txBox="1"/>
          <p:nvPr/>
        </p:nvSpPr>
        <p:spPr>
          <a:xfrm>
            <a:off x="1406160" y="1233360"/>
            <a:ext cx="57834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64">
                <a:solidFill>
                  <a:srgbClr val="1E1E1E"/>
                </a:solidFill>
                <a:latin typeface="Arial"/>
              </a:rPr>
              <a:t>CSV,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пример</a:t>
            </a:r>
            <a:r>
              <a:rPr lang="ru-RU" sz="4950" b="1" strike="noStrike" spc="157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89">
                <a:solidFill>
                  <a:srgbClr val="1E1E1E"/>
                </a:solidFill>
                <a:latin typeface="Arial"/>
              </a:rPr>
              <a:t>файла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CustomShape 3"/>
          <p:cNvSpPr/>
          <p:nvPr/>
        </p:nvSpPr>
        <p:spPr>
          <a:xfrm>
            <a:off x="1406160" y="3453120"/>
            <a:ext cx="12469680" cy="51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Пример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CSV-файла,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содержащего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информацию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о</a:t>
            </a:r>
            <a:r>
              <a:rPr lang="ru-RU" sz="3300" b="0" strike="noStrike" spc="50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недвижимости: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84" name="CustomShape 4"/>
          <p:cNvSpPr/>
          <p:nvPr/>
        </p:nvSpPr>
        <p:spPr>
          <a:xfrm>
            <a:off x="1450080" y="5212440"/>
            <a:ext cx="13141080" cy="353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4554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Комнат,Район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города,Адрес,Этаж,Общ,Жил,Кух,Цена 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1,Московский,Московское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ш.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8,6/7,30.0,16.2,7.5,4100.0 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1,Московский,Московский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пр.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181,4/7,42.0,20.0,12.0,6000.0 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1,Московский,Московский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пр.,3/7,25.6,13.1,4.1,3140.0 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1,Московский,Московский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пр. 86,5/8,30.1,17.4,5.0,4100.0 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1,Московский,Конституции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пл. </a:t>
            </a:r>
            <a:r>
              <a:rPr lang="ru-RU" sz="3300" b="0" strike="noStrike" spc="137">
                <a:solidFill>
                  <a:srgbClr val="1E1E1E"/>
                </a:solidFill>
                <a:latin typeface="Arial"/>
              </a:rPr>
              <a:t>1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к.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2,2/8,37.0,18.0,9.0,5600.0 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1,Московский,Дунайский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пр.</a:t>
            </a:r>
            <a:r>
              <a:rPr lang="ru-RU" sz="3300" b="0" strike="noStrike" spc="13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7,3/8,27.5,14.1,5.9,3401.0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85" name="CustomShape 5"/>
          <p:cNvSpPr/>
          <p:nvPr/>
        </p:nvSpPr>
        <p:spPr>
          <a:xfrm>
            <a:off x="1434600" y="4507560"/>
            <a:ext cx="13172040" cy="4638240"/>
          </a:xfrm>
          <a:custGeom>
            <a:avLst/>
            <a:gdLst/>
            <a:ahLst/>
            <a:cxnLst/>
            <a:rect l="l" t="t" r="r" b="b"/>
            <a:pathLst>
              <a:path w="13172440" h="4638675">
                <a:moveTo>
                  <a:pt x="0" y="4638602"/>
                </a:moveTo>
                <a:lnTo>
                  <a:pt x="13172373" y="4638602"/>
                </a:lnTo>
                <a:lnTo>
                  <a:pt x="13172373" y="0"/>
                </a:lnTo>
                <a:lnTo>
                  <a:pt x="0" y="0"/>
                </a:lnTo>
                <a:lnTo>
                  <a:pt x="0" y="4638602"/>
                </a:lnTo>
                <a:close/>
              </a:path>
            </a:pathLst>
          </a:custGeom>
          <a:noFill/>
          <a:ln w="3132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6" name="CustomShape 6"/>
          <p:cNvSpPr/>
          <p:nvPr/>
        </p:nvSpPr>
        <p:spPr>
          <a:xfrm>
            <a:off x="1450080" y="4345560"/>
            <a:ext cx="13141080" cy="627840"/>
          </a:xfrm>
          <a:prstGeom prst="rect">
            <a:avLst/>
          </a:pr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4920" rIns="0" bIns="0"/>
          <a:lstStyle/>
          <a:p>
            <a:pPr marL="465480">
              <a:lnSpc>
                <a:spcPct val="100000"/>
              </a:lnSpc>
              <a:spcBef>
                <a:spcPts val="984"/>
              </a:spcBef>
            </a:pPr>
            <a:r>
              <a:rPr lang="ru-RU" sz="3300" b="1" strike="noStrike" spc="-134">
                <a:solidFill>
                  <a:srgbClr val="1E1E1E"/>
                </a:solidFill>
                <a:latin typeface="Arial"/>
              </a:rPr>
              <a:t>real_estate.csv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187" name="TextShape 7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EBD24410-9FB7-4DB7-B398-813EACBDB8D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23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1406160" y="1233360"/>
            <a:ext cx="44820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08">
                <a:solidFill>
                  <a:srgbClr val="1E1E1E"/>
                </a:solidFill>
                <a:latin typeface="Arial"/>
              </a:rPr>
              <a:t>Apache</a:t>
            </a:r>
            <a:r>
              <a:rPr lang="ru-RU" sz="4950" b="1" strike="noStrike" spc="-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88">
                <a:solidFill>
                  <a:srgbClr val="1E1E1E"/>
                </a:solidFill>
                <a:latin typeface="Arial"/>
              </a:rPr>
              <a:t>Parquet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4FD453F6-04B1-429C-92DA-5D82ACC690A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24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90" name="CustomShape 3"/>
          <p:cNvSpPr/>
          <p:nvPr/>
        </p:nvSpPr>
        <p:spPr>
          <a:xfrm>
            <a:off x="1406160" y="3453120"/>
            <a:ext cx="10220040" cy="629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Бинарный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колонко-ориентированный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формат 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хранения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ts val="396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Изначально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создавался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экосистемы</a:t>
            </a:r>
            <a:r>
              <a:rPr lang="ru-RU" sz="3300" b="0" strike="noStrike" spc="49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Hadoop,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учетом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возможности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распределенной</a:t>
            </a:r>
            <a:r>
              <a:rPr lang="ru-RU" sz="3300" b="0" strike="noStrike" spc="44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обработки.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Поддерживает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сложные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структуры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Поддерживается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эффективное</a:t>
            </a:r>
            <a:r>
              <a:rPr lang="ru-RU" sz="3300" b="0" strike="noStrike" spc="15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сжатие.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Инструменты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работы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Parquet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настоящий 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момент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реализованы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большинстве</a:t>
            </a:r>
            <a:r>
              <a:rPr lang="ru-RU" sz="3300" b="0" strike="noStrike" spc="41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сред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54"/>
              </a:lnSpc>
            </a:pP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</a:t>
            </a:r>
            <a:r>
              <a:rPr lang="ru-RU" sz="3300" b="0" strike="noStrike" spc="24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1406160" y="1233360"/>
            <a:ext cx="15699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63">
                <a:solidFill>
                  <a:srgbClr val="1E1E1E"/>
                </a:solidFill>
                <a:latin typeface="Arial"/>
              </a:rPr>
              <a:t>H</a:t>
            </a:r>
            <a:r>
              <a:rPr lang="ru-RU" sz="4950" b="1" strike="noStrike" spc="-273">
                <a:solidFill>
                  <a:srgbClr val="1E1E1E"/>
                </a:solidFill>
                <a:latin typeface="Arial"/>
              </a:rPr>
              <a:t>D</a:t>
            </a:r>
            <a:r>
              <a:rPr lang="ru-RU" sz="4950" b="1" strike="noStrike" spc="-659">
                <a:solidFill>
                  <a:srgbClr val="1E1E1E"/>
                </a:solidFill>
                <a:latin typeface="Arial"/>
              </a:rPr>
              <a:t>F</a:t>
            </a:r>
            <a:r>
              <a:rPr lang="ru-RU" sz="4950" b="1" strike="noStrike" spc="214">
                <a:solidFill>
                  <a:srgbClr val="1E1E1E"/>
                </a:solidFill>
                <a:latin typeface="Arial"/>
              </a:rPr>
              <a:t>5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98F38312-767B-4084-B8C7-C7391498DD7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25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93" name="CustomShape 3"/>
          <p:cNvSpPr/>
          <p:nvPr/>
        </p:nvSpPr>
        <p:spPr>
          <a:xfrm>
            <a:off x="1405800" y="3453120"/>
            <a:ext cx="11005560" cy="60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ts val="3960"/>
              </a:lnSpc>
              <a:spcBef>
                <a:spcPts val="96"/>
              </a:spcBef>
            </a:pPr>
            <a:r>
              <a:rPr lang="ru-RU" sz="3300" b="1" strike="noStrike" spc="-69">
                <a:solidFill>
                  <a:srgbClr val="1E1E1E"/>
                </a:solidFill>
                <a:latin typeface="Arial"/>
              </a:rPr>
              <a:t>H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ierarchical </a:t>
            </a:r>
            <a:r>
              <a:rPr lang="ru-RU" sz="3300" b="1" strike="noStrike" spc="-12">
                <a:solidFill>
                  <a:srgbClr val="1E1E1E"/>
                </a:solidFill>
                <a:latin typeface="Arial"/>
              </a:rPr>
              <a:t>D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ata </a:t>
            </a:r>
            <a:r>
              <a:rPr lang="ru-RU" sz="3300" b="1" strike="noStrike" spc="-83">
                <a:solidFill>
                  <a:srgbClr val="1E1E1E"/>
                </a:solidFill>
                <a:latin typeface="Arial"/>
              </a:rPr>
              <a:t>F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ormat (Иерархический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формат</a:t>
            </a:r>
            <a:r>
              <a:rPr lang="ru-RU" sz="3300" b="0" strike="noStrike" spc="46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данных)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</a:pPr>
            <a:r>
              <a:rPr lang="ru-RU" sz="3300" b="1" strike="noStrike" spc="9">
                <a:solidFill>
                  <a:srgbClr val="1E1E1E"/>
                </a:solidFill>
                <a:latin typeface="Arial"/>
              </a:rPr>
              <a:t>5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-й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версии: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Несколько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иная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идеология,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если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сравнивать 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табличными</a:t>
            </a:r>
            <a:r>
              <a:rPr lang="ru-RU" sz="3300" b="0" strike="noStrike" spc="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данными.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Иерархический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формат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(похоже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файловую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систему) 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хранения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любой</a:t>
            </a:r>
            <a:r>
              <a:rPr lang="ru-RU" sz="3300" b="0" strike="noStrike" spc="25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природы.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Позволяет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эффективно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обращаться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данным, 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даже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очень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большим</a:t>
            </a:r>
            <a:r>
              <a:rPr lang="ru-RU" sz="3300" b="0" strike="noStrike" spc="28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данным.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Существуют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библиотеки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большинства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популярных 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сред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</a:t>
            </a:r>
            <a:r>
              <a:rPr lang="ru-RU" sz="3300" b="0" strike="noStrike" spc="38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Shape 1"/>
          <p:cNvSpPr txBox="1"/>
          <p:nvPr/>
        </p:nvSpPr>
        <p:spPr>
          <a:xfrm>
            <a:off x="1406160" y="1233360"/>
            <a:ext cx="18284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47">
                <a:solidFill>
                  <a:srgbClr val="1E1E1E"/>
                </a:solidFill>
                <a:latin typeface="Arial"/>
              </a:rPr>
              <a:t>S</a:t>
            </a:r>
            <a:r>
              <a:rPr lang="ru-RU" sz="4950" b="1" strike="noStrike" spc="-352">
                <a:solidFill>
                  <a:srgbClr val="1E1E1E"/>
                </a:solidFill>
                <a:latin typeface="Arial"/>
              </a:rPr>
              <a:t>Q</a:t>
            </a:r>
            <a:r>
              <a:rPr lang="ru-RU" sz="4950" b="1" strike="noStrike" spc="-644">
                <a:solidFill>
                  <a:srgbClr val="1E1E1E"/>
                </a:solidFill>
                <a:latin typeface="Arial"/>
              </a:rPr>
              <a:t>L</a:t>
            </a:r>
            <a:r>
              <a:rPr lang="ru-RU" sz="4950" b="1" strike="noStrike" spc="-262">
                <a:solidFill>
                  <a:srgbClr val="1E1E1E"/>
                </a:solidFill>
                <a:latin typeface="Arial"/>
              </a:rPr>
              <a:t>i</a:t>
            </a:r>
            <a:r>
              <a:rPr lang="ru-RU" sz="4950" b="1" strike="noStrike" spc="58">
                <a:solidFill>
                  <a:srgbClr val="1E1E1E"/>
                </a:solidFill>
                <a:latin typeface="Arial"/>
              </a:rPr>
              <a:t>t</a:t>
            </a:r>
            <a:r>
              <a:rPr lang="ru-RU" sz="4950" b="1" strike="noStrike" spc="-228">
                <a:solidFill>
                  <a:srgbClr val="1E1E1E"/>
                </a:solidFill>
                <a:latin typeface="Arial"/>
              </a:rPr>
              <a:t>e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9709C619-C6AF-4FA7-875F-63B890769AB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26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1406160" y="3201840"/>
            <a:ext cx="10638360" cy="5790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Встраиваемая реляционная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база</a:t>
            </a:r>
            <a:r>
              <a:rPr lang="ru-RU" sz="3300" b="0" strike="noStrike" spc="27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Легковесная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альтернатива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«большим»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базам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(Oracle, </a:t>
            </a: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MySQL,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253">
                <a:solidFill>
                  <a:srgbClr val="1E1E1E"/>
                </a:solidFill>
                <a:latin typeface="Arial"/>
              </a:rPr>
              <a:t>т.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82">
                <a:solidFill>
                  <a:srgbClr val="1E1E1E"/>
                </a:solidFill>
                <a:latin typeface="Arial"/>
              </a:rPr>
              <a:t>п.).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Вся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БД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хранится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одном</a:t>
            </a:r>
            <a:r>
              <a:rPr lang="ru-RU" sz="3300" b="0" strike="noStrike" spc="62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файле.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Существуют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библиотеки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доступа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большинства 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сред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программирования </a:t>
            </a:r>
            <a:r>
              <a:rPr lang="ru-RU" sz="3300" b="0" strike="noStrike" spc="-199">
                <a:solidFill>
                  <a:srgbClr val="1E1E1E"/>
                </a:solidFill>
                <a:latin typeface="Arial"/>
              </a:rPr>
              <a:t>(в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частности,</a:t>
            </a:r>
            <a:r>
              <a:rPr lang="ru-RU" sz="3300" b="0" strike="noStrike" spc="-2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модуль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54"/>
              </a:lnSpc>
            </a:pP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работы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SQLite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стандартную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поставку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Python).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Обычно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довольно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комфортно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работать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данными 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превышающими </a:t>
            </a:r>
            <a:r>
              <a:rPr lang="ru-RU" sz="3300" b="0" strike="noStrike" spc="219">
                <a:solidFill>
                  <a:srgbClr val="1E1E1E"/>
                </a:solidFill>
                <a:latin typeface="Arial"/>
              </a:rPr>
              <a:t>4–5</a:t>
            </a:r>
            <a:r>
              <a:rPr lang="ru-RU" sz="3300" b="0" strike="noStrike" spc="26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14">
                <a:solidFill>
                  <a:srgbClr val="1E1E1E"/>
                </a:solidFill>
                <a:latin typeface="Arial"/>
              </a:rPr>
              <a:t>Гб.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Shape 1"/>
          <p:cNvSpPr txBox="1"/>
          <p:nvPr/>
        </p:nvSpPr>
        <p:spPr>
          <a:xfrm>
            <a:off x="1406160" y="1233360"/>
            <a:ext cx="6797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67">
                <a:solidFill>
                  <a:srgbClr val="1E1E1E"/>
                </a:solidFill>
                <a:latin typeface="Arial"/>
              </a:rPr>
              <a:t>Представление</a:t>
            </a:r>
            <a:r>
              <a:rPr lang="ru-RU" sz="4950" b="1" strike="noStrike" spc="-97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9A0FA4C-54D0-432D-B711-DDC5FAB6A417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27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1406160" y="3453120"/>
            <a:ext cx="9876600" cy="403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ts val="3960"/>
              </a:lnSpc>
              <a:spcBef>
                <a:spcPts val="96"/>
              </a:spcBef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Обычно </a:t>
            </a:r>
            <a:r>
              <a:rPr lang="ru-RU" sz="3300" b="0" strike="noStrike" spc="-180">
                <a:solidFill>
                  <a:srgbClr val="1E1E1E"/>
                </a:solidFill>
                <a:latin typeface="Arial"/>
              </a:rPr>
              <a:t>мы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оперируем</a:t>
            </a:r>
            <a:r>
              <a:rPr lang="ru-RU" sz="3300" b="0" strike="noStrike" spc="36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объектами,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</a:pP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которые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состоят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атрибутов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или</a:t>
            </a:r>
            <a:r>
              <a:rPr lang="ru-RU" sz="3300" b="0" strike="noStrike" spc="45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признаков.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7909"/>
              </a:lnSpc>
              <a:spcBef>
                <a:spcPts val="930"/>
              </a:spcBef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(1, </a:t>
            </a:r>
            <a:r>
              <a:rPr lang="ru-RU" sz="3300" b="1" strike="noStrike" spc="-180">
                <a:solidFill>
                  <a:srgbClr val="1E1E1E"/>
                </a:solidFill>
                <a:latin typeface="Arial"/>
              </a:rPr>
              <a:t>’Московский </a:t>
            </a:r>
            <a:r>
              <a:rPr lang="ru-RU" sz="3300" b="1" strike="noStrike" spc="-137">
                <a:solidFill>
                  <a:srgbClr val="1E1E1E"/>
                </a:solidFill>
                <a:latin typeface="Arial"/>
              </a:rPr>
              <a:t>р-н’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, </a:t>
            </a:r>
            <a:r>
              <a:rPr lang="ru-RU" sz="3300" b="1" strike="noStrike" spc="-143">
                <a:solidFill>
                  <a:srgbClr val="1E1E1E"/>
                </a:solidFill>
                <a:latin typeface="Arial"/>
              </a:rPr>
              <a:t>’Дунайский </a:t>
            </a:r>
            <a:r>
              <a:rPr lang="ru-RU" sz="3300" b="1" strike="noStrike" spc="-233">
                <a:solidFill>
                  <a:srgbClr val="1E1E1E"/>
                </a:solidFill>
                <a:latin typeface="Arial"/>
              </a:rPr>
              <a:t>пр.’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, </a:t>
            </a:r>
            <a:r>
              <a:rPr lang="ru-RU" sz="3300" b="0" strike="noStrike" spc="69">
                <a:solidFill>
                  <a:srgbClr val="1E1E1E"/>
                </a:solidFill>
                <a:latin typeface="Arial"/>
              </a:rPr>
              <a:t>6/7,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42,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20,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12) 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Отдельные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элементы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признаки</a:t>
            </a:r>
            <a:r>
              <a:rPr lang="ru-RU" sz="3300" b="0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объекта.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036"/>
              </a:spcBef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Разберемся </a:t>
            </a:r>
            <a:r>
              <a:rPr lang="ru-RU" sz="3300" b="0" strike="noStrike" spc="-128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видами</a:t>
            </a:r>
            <a:r>
              <a:rPr lang="ru-RU" sz="3300" b="0" strike="noStrike" spc="3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признаков.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1406160" y="1233360"/>
            <a:ext cx="76820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318">
                <a:solidFill>
                  <a:srgbClr val="1E1E1E"/>
                </a:solidFill>
                <a:latin typeface="Arial"/>
              </a:rPr>
              <a:t>Количественные</a:t>
            </a:r>
            <a:r>
              <a:rPr lang="ru-RU" sz="4950" b="1" strike="noStrike" spc="-12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48">
                <a:solidFill>
                  <a:srgbClr val="1E1E1E"/>
                </a:solidFill>
                <a:latin typeface="Arial"/>
              </a:rPr>
              <a:t>признаки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25723282-E6AB-4997-93FB-EB32913EF4D3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28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02" name="CustomShape 3"/>
          <p:cNvSpPr/>
          <p:nvPr/>
        </p:nvSpPr>
        <p:spPr>
          <a:xfrm>
            <a:off x="1406160" y="3453120"/>
            <a:ext cx="9675720" cy="5811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Самый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простой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типичный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случай: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значение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признака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действительное</a:t>
            </a:r>
            <a:r>
              <a:rPr lang="ru-RU" sz="3300" b="0" strike="noStrike" spc="-39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число, 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общем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случае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ничем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</a:t>
            </a:r>
            <a:r>
              <a:rPr lang="ru-RU" sz="3300" b="0" strike="noStrike" spc="5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ограниченное.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Примеры </a:t>
            </a:r>
            <a:r>
              <a:rPr lang="ru-RU" sz="3300" b="1" strike="noStrike" spc="-202">
                <a:solidFill>
                  <a:srgbClr val="1E1E1E"/>
                </a:solidFill>
                <a:latin typeface="Arial"/>
              </a:rPr>
              <a:t>количественных</a:t>
            </a:r>
            <a:r>
              <a:rPr lang="ru-RU" sz="3300" b="1" strike="noStrike" spc="8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48">
                <a:solidFill>
                  <a:srgbClr val="1E1E1E"/>
                </a:solidFill>
                <a:latin typeface="Arial"/>
              </a:rPr>
              <a:t>признаков: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Площадь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квартиры;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Вес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человека;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Среднее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число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букв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предложении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(для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текста).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4" name="TextShape 2"/>
          <p:cNvSpPr txBox="1"/>
          <p:nvPr/>
        </p:nvSpPr>
        <p:spPr>
          <a:xfrm>
            <a:off x="1406160" y="1233360"/>
            <a:ext cx="77281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Категориальные</a:t>
            </a:r>
            <a:r>
              <a:rPr lang="ru-RU" sz="4950" b="1" strike="noStrike" spc="-9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48">
                <a:solidFill>
                  <a:srgbClr val="1E1E1E"/>
                </a:solidFill>
                <a:latin typeface="Arial"/>
              </a:rPr>
              <a:t>признаки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FB66E862-7420-4D93-8F20-25158961394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29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06" name="CustomShape 4"/>
          <p:cNvSpPr/>
          <p:nvPr/>
        </p:nvSpPr>
        <p:spPr>
          <a:xfrm>
            <a:off x="1405800" y="3201840"/>
            <a:ext cx="16200360" cy="631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Значение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признака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принадлежит какому-то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конечному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неупорядоченному</a:t>
            </a:r>
            <a:r>
              <a:rPr lang="ru-RU" sz="3300" b="0" strike="noStrike" spc="61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множеству.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976"/>
              </a:spcBef>
            </a:pP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Примеры </a:t>
            </a:r>
            <a:r>
              <a:rPr lang="ru-RU" sz="3300" b="1" strike="noStrike" spc="-148">
                <a:solidFill>
                  <a:srgbClr val="1E1E1E"/>
                </a:solidFill>
                <a:latin typeface="Arial"/>
              </a:rPr>
              <a:t>категориальных</a:t>
            </a:r>
            <a:r>
              <a:rPr lang="ru-RU" sz="3300" b="1" strike="noStrike" spc="8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48">
                <a:solidFill>
                  <a:srgbClr val="1E1E1E"/>
                </a:solidFill>
                <a:latin typeface="Arial"/>
              </a:rPr>
              <a:t>признаков: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Название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улицы;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Группа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крови;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Марка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машины.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0" strike="noStrike" spc="-222">
                <a:solidFill>
                  <a:srgbClr val="1E1E1E"/>
                </a:solidFill>
                <a:latin typeface="Arial"/>
              </a:rPr>
              <a:t>Если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возможных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значений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всего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два,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то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такой </a:t>
            </a:r>
            <a:r>
              <a:rPr lang="ru-RU" sz="3300" b="0" strike="noStrike" spc="4">
                <a:solidFill>
                  <a:srgbClr val="1E1E1E"/>
                </a:solidFill>
                <a:latin typeface="Arial"/>
              </a:rPr>
              <a:t>признак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часто 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называют </a:t>
            </a:r>
            <a:r>
              <a:rPr lang="ru-RU" sz="3300" b="1" strike="noStrike" spc="-157">
                <a:solidFill>
                  <a:srgbClr val="1E1E1E"/>
                </a:solidFill>
                <a:latin typeface="Arial"/>
              </a:rPr>
              <a:t>бинарным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.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некоторых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методов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машинного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обучения 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необходимо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перейти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от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категориальных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количественным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признакам.  </a:t>
            </a: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этом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случае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применяют 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One-hot </a:t>
            </a:r>
            <a:r>
              <a:rPr lang="ru-RU" sz="3300" b="1" strike="noStrike" spc="-202">
                <a:solidFill>
                  <a:srgbClr val="1E1E1E"/>
                </a:solidFill>
                <a:latin typeface="Arial"/>
              </a:rPr>
              <a:t>Encoding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или </a:t>
            </a:r>
            <a:r>
              <a:rPr lang="ru-RU" sz="3300" b="1" strike="noStrike" spc="-117">
                <a:solidFill>
                  <a:srgbClr val="1E1E1E"/>
                </a:solidFill>
                <a:latin typeface="Arial"/>
              </a:rPr>
              <a:t>Hashing</a:t>
            </a:r>
            <a:r>
              <a:rPr lang="ru-RU" sz="3300" b="1" strike="noStrike" spc="-31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11">
                <a:solidFill>
                  <a:srgbClr val="1E1E1E"/>
                </a:solidFill>
                <a:latin typeface="Arial"/>
              </a:rPr>
              <a:t>trick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>
          <a:xfrm>
            <a:off x="1406160" y="1233360"/>
            <a:ext cx="50306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97">
                <a:solidFill>
                  <a:srgbClr val="1E1E1E"/>
                </a:solidFill>
                <a:latin typeface="Arial"/>
              </a:rPr>
              <a:t>One-hot</a:t>
            </a:r>
            <a:r>
              <a:rPr lang="ru-RU" sz="4950" b="1" strike="noStrike" spc="-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44">
                <a:solidFill>
                  <a:srgbClr val="1E1E1E"/>
                </a:solidFill>
                <a:latin typeface="Arial"/>
              </a:rPr>
              <a:t>Encoding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8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4750BD0-8F2E-4004-A96E-A9AD126F058B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30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09" name="CustomShape 3"/>
          <p:cNvSpPr/>
          <p:nvPr/>
        </p:nvSpPr>
        <p:spPr>
          <a:xfrm>
            <a:off x="1405800" y="3201840"/>
            <a:ext cx="9449640" cy="277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520" indent="-50256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Данные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по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продажам</a:t>
            </a:r>
            <a:r>
              <a:rPr lang="ru-RU" sz="3300" b="0" strike="noStrike" spc="21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машин.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Категориальная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переменная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9">
                <a:solidFill>
                  <a:srgbClr val="1E1E1E"/>
                </a:solidFill>
                <a:latin typeface="Arial"/>
              </a:rPr>
              <a:t>марка</a:t>
            </a:r>
            <a:r>
              <a:rPr lang="ru-RU" sz="3300" b="0" strike="noStrike" spc="-36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машины.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Четыре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марки.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10" name="Table 4"/>
          <p:cNvGraphicFramePr/>
          <p:nvPr/>
        </p:nvGraphicFramePr>
        <p:xfrm>
          <a:off x="1418760" y="6114960"/>
          <a:ext cx="10159560" cy="2561760"/>
        </p:xfrm>
        <a:graphic>
          <a:graphicData uri="http://schemas.openxmlformats.org/drawingml/2006/table">
            <a:tbl>
              <a:tblPr/>
              <a:tblGrid>
                <a:gridCol w="30376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8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80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80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81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117">
                          <a:solidFill>
                            <a:srgbClr val="1E1E1E"/>
                          </a:solidFill>
                          <a:latin typeface="Arial"/>
                        </a:rPr>
                        <a:t>Старый</a:t>
                      </a:r>
                      <a:r>
                        <a:rPr lang="ru-RU" sz="2450" b="1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 признак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36232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157">
                          <a:solidFill>
                            <a:srgbClr val="1E1E1E"/>
                          </a:solidFill>
                          <a:latin typeface="Arial"/>
                        </a:rPr>
                        <a:t>Новые</a:t>
                      </a:r>
                      <a:r>
                        <a:rPr lang="ru-RU" sz="2450" b="1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признаки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LADA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1224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1224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1224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99">
                          <a:solidFill>
                            <a:srgbClr val="1E1E1E"/>
                          </a:solidFill>
                          <a:latin typeface="Arial"/>
                        </a:rPr>
                        <a:t>RENAULT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72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82">
                          <a:solidFill>
                            <a:srgbClr val="1E1E1E"/>
                          </a:solidFill>
                          <a:latin typeface="Arial"/>
                        </a:rPr>
                        <a:t>OPEL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15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57">
                          <a:solidFill>
                            <a:srgbClr val="1E1E1E"/>
                          </a:solidFill>
                          <a:latin typeface="Arial"/>
                        </a:rPr>
                        <a:t>NISSAN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>
          <a:xfrm>
            <a:off x="1406160" y="1233360"/>
            <a:ext cx="113475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Хэширование </a:t>
            </a:r>
            <a:r>
              <a:rPr lang="ru-RU" sz="4950" b="1" strike="noStrike" spc="-214">
                <a:solidFill>
                  <a:srgbClr val="1E1E1E"/>
                </a:solidFill>
                <a:latin typeface="Arial"/>
              </a:rPr>
              <a:t>признаков </a:t>
            </a:r>
            <a:r>
              <a:rPr lang="ru-RU" sz="4950" b="1" strike="noStrike" spc="-242">
                <a:solidFill>
                  <a:srgbClr val="1E1E1E"/>
                </a:solidFill>
                <a:latin typeface="Arial"/>
              </a:rPr>
              <a:t>(hashing</a:t>
            </a:r>
            <a:r>
              <a:rPr lang="ru-RU" sz="4950" b="1" strike="noStrike" spc="180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94">
                <a:solidFill>
                  <a:srgbClr val="1E1E1E"/>
                </a:solidFill>
                <a:latin typeface="Arial"/>
              </a:rPr>
              <a:t>trick)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E8421A61-F8B8-4529-A077-8B1854079979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31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13" name="CustomShape 3"/>
          <p:cNvSpPr/>
          <p:nvPr/>
        </p:nvSpPr>
        <p:spPr>
          <a:xfrm>
            <a:off x="1406160" y="3201840"/>
            <a:ext cx="17412120" cy="631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Категориальных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признаков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может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быть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очень</a:t>
            </a:r>
            <a:r>
              <a:rPr lang="ru-RU" sz="3300" b="0" strike="noStrike" spc="51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много.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Размерность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неприлично</a:t>
            </a:r>
            <a:r>
              <a:rPr lang="ru-RU" sz="3300" b="0" strike="noStrike" spc="31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возрастет.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Не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гарантируется,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что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тренировочных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будут</a:t>
            </a:r>
            <a:r>
              <a:rPr lang="ru-RU" sz="3300" b="0" strike="noStrike" spc="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все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возможные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категории.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"/>
              </a:spcBef>
            </a:pPr>
            <a:r>
              <a:rPr lang="ru-RU" sz="3300" b="1" strike="noStrike" spc="-202">
                <a:solidFill>
                  <a:srgbClr val="1E1E1E"/>
                </a:solidFill>
                <a:latin typeface="Arial"/>
              </a:rPr>
              <a:t>Что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214">
                <a:solidFill>
                  <a:srgbClr val="1E1E1E"/>
                </a:solidFill>
                <a:latin typeface="Arial"/>
              </a:rPr>
              <a:t>делать: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Выбираем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число </a:t>
            </a:r>
            <a:r>
              <a:rPr lang="ru-RU" sz="3300" b="1" i="1" strike="noStrike" spc="12">
                <a:solidFill>
                  <a:srgbClr val="1E1E1E"/>
                </a:solidFill>
                <a:latin typeface="Trebuchet MS"/>
              </a:rPr>
              <a:t>N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число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наших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новых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признаков.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4">
                <a:solidFill>
                  <a:srgbClr val="1E1E1E"/>
                </a:solidFill>
                <a:latin typeface="Arial"/>
              </a:rPr>
              <a:t>каждой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категории </a:t>
            </a:r>
            <a:r>
              <a:rPr lang="ru-RU" sz="3300" b="1" i="1" strike="noStrike" spc="-208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считаем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k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11">
                <a:solidFill>
                  <a:srgbClr val="1E1E1E"/>
                </a:solidFill>
                <a:latin typeface="Arial"/>
              </a:rPr>
              <a:t> hash(</a:t>
            </a:r>
            <a:r>
              <a:rPr lang="ru-RU" sz="3300" b="1" i="1" strike="noStrike" spc="-111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3300" b="1" strike="noStrike" spc="-111">
                <a:solidFill>
                  <a:srgbClr val="1E1E1E"/>
                </a:solidFill>
                <a:latin typeface="Arial"/>
              </a:rPr>
              <a:t>)%</a:t>
            </a:r>
            <a:r>
              <a:rPr lang="ru-RU" sz="3300" b="1" i="1" strike="noStrike" spc="-111">
                <a:solidFill>
                  <a:srgbClr val="1E1E1E"/>
                </a:solidFill>
                <a:latin typeface="Trebuchet MS"/>
              </a:rPr>
              <a:t>N</a:t>
            </a:r>
            <a:r>
              <a:rPr lang="ru-RU" sz="3300" b="1" strike="noStrike" spc="-111">
                <a:solidFill>
                  <a:srgbClr val="1E1E1E"/>
                </a:solidFill>
                <a:latin typeface="Arial"/>
              </a:rPr>
              <a:t>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Присваиваем новому </a:t>
            </a:r>
            <a:r>
              <a:rPr lang="ru-RU" sz="3300" b="0" strike="noStrike" spc="-9">
                <a:solidFill>
                  <a:srgbClr val="1E1E1E"/>
                </a:solidFill>
                <a:latin typeface="Arial"/>
              </a:rPr>
              <a:t>признаку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соответствующем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месте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k</a:t>
            </a:r>
            <a:r>
              <a:rPr lang="ru-RU" sz="3300" b="1" i="1" strike="noStrike" spc="593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единицу.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Существуют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вариации,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годится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99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всех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методов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машинного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обучения/анализа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TextShape 2"/>
          <p:cNvSpPr txBox="1"/>
          <p:nvPr/>
        </p:nvSpPr>
        <p:spPr>
          <a:xfrm>
            <a:off x="1406160" y="1233360"/>
            <a:ext cx="137995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Хэширование </a:t>
            </a:r>
            <a:r>
              <a:rPr lang="ru-RU" sz="4950" b="1" strike="noStrike" spc="-214">
                <a:solidFill>
                  <a:srgbClr val="1E1E1E"/>
                </a:solidFill>
                <a:latin typeface="Arial"/>
              </a:rPr>
              <a:t>признаков </a:t>
            </a:r>
            <a:r>
              <a:rPr lang="ru-RU" sz="4950" b="1" strike="noStrike" spc="-242">
                <a:solidFill>
                  <a:srgbClr val="1E1E1E"/>
                </a:solidFill>
                <a:latin typeface="Arial"/>
              </a:rPr>
              <a:t>(hashing </a:t>
            </a:r>
            <a:r>
              <a:rPr lang="ru-RU" sz="4950" b="1" strike="noStrike" spc="-219">
                <a:solidFill>
                  <a:srgbClr val="1E1E1E"/>
                </a:solidFill>
                <a:latin typeface="Arial"/>
              </a:rPr>
              <a:t>trick),</a:t>
            </a:r>
            <a:r>
              <a:rPr lang="ru-RU" sz="4950" b="1" strike="noStrike" spc="33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пример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00F47176-C286-4BBC-955C-ACAA22D5359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32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17" name="CustomShape 4"/>
          <p:cNvSpPr/>
          <p:nvPr/>
        </p:nvSpPr>
        <p:spPr>
          <a:xfrm>
            <a:off x="1406160" y="3201840"/>
            <a:ext cx="10865160" cy="2274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Логи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веб-сервиса.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Один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признаков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ник</a:t>
            </a:r>
            <a:r>
              <a:rPr lang="ru-RU" sz="3300" b="0" strike="noStrike" spc="-28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пользователя.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Периодически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могут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добавляться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новые</a:t>
            </a:r>
            <a:r>
              <a:rPr lang="ru-RU" sz="3300" b="0" strike="noStrike" spc="43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пользователи.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18" name="Table 5"/>
          <p:cNvGraphicFramePr/>
          <p:nvPr/>
        </p:nvGraphicFramePr>
        <p:xfrm>
          <a:off x="1418760" y="6114960"/>
          <a:ext cx="14184360" cy="3520800"/>
        </p:xfrm>
        <a:graphic>
          <a:graphicData uri="http://schemas.openxmlformats.org/drawingml/2006/table">
            <a:tbl>
              <a:tblPr/>
              <a:tblGrid>
                <a:gridCol w="2800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34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94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754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494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7964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62784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lang="ru-RU" sz="2450" b="1" strike="noStrike" spc="-117">
                          <a:solidFill>
                            <a:srgbClr val="1E1E1E"/>
                          </a:solidFill>
                          <a:latin typeface="Arial"/>
                        </a:rPr>
                        <a:t>Старый</a:t>
                      </a:r>
                      <a:r>
                        <a:rPr lang="ru-RU" sz="2450" b="1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признак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394"/>
                        </a:spcBef>
                      </a:pPr>
                      <a:r>
                        <a:rPr lang="ru-RU" sz="2450" b="1" strike="noStrike" spc="-157">
                          <a:solidFill>
                            <a:srgbClr val="1E1E1E"/>
                          </a:solidFill>
                          <a:latin typeface="Arial"/>
                        </a:rPr>
                        <a:t>Новые</a:t>
                      </a:r>
                      <a:r>
                        <a:rPr lang="ru-RU" sz="2450" b="1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признаки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B w="28080">
                      <a:solidFill>
                        <a:srgbClr val="FFFFFF"/>
                      </a:solidFill>
                    </a:lnB>
                    <a:solidFill>
                      <a:srgbClr val="BDD9D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3736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ts val="2704"/>
                        </a:lnSpc>
                        <a:spcBef>
                          <a:spcPts val="39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hash("Maxim")</a:t>
                      </a:r>
                      <a:endParaRPr lang="ru-RU" sz="2450" b="0" strike="noStrike" spc="-1">
                        <a:latin typeface="Arial"/>
                      </a:endParaRPr>
                    </a:p>
                    <a:p>
                      <a:pPr marL="19800" algn="ctr">
                        <a:lnSpc>
                          <a:spcPts val="2704"/>
                        </a:lnSpc>
                      </a:pPr>
                      <a:r>
                        <a:rPr lang="ru-RU" sz="2450" b="0" strike="noStrike" spc="-307">
                          <a:solidFill>
                            <a:srgbClr val="1E1E1E"/>
                          </a:solidFill>
                          <a:latin typeface="Arial"/>
                        </a:rPr>
                        <a:t>%</a:t>
                      </a:r>
                      <a:r>
                        <a:rPr lang="ru-RU" sz="2450" b="0" strike="noStrike" spc="2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lnT w="28080">
                      <a:solidFill>
                        <a:srgbClr val="FFFFFF"/>
                      </a:solidFill>
                    </a:lnT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39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lnT w="28080">
                      <a:solidFill>
                        <a:srgbClr val="FFFFFF"/>
                      </a:solidFill>
                    </a:lnT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ts val="2704"/>
                        </a:lnSpc>
                        <a:spcBef>
                          <a:spcPts val="394"/>
                        </a:spcBef>
                      </a:pPr>
                      <a:r>
                        <a:rPr lang="ru-RU" sz="2450" b="0" strike="noStrike" spc="-103">
                          <a:solidFill>
                            <a:srgbClr val="1E1E1E"/>
                          </a:solidFill>
                          <a:latin typeface="Arial"/>
                        </a:rPr>
                        <a:t>hash("Alex"),</a:t>
                      </a:r>
                      <a:r>
                        <a:rPr lang="ru-RU" sz="2450" b="0" strike="noStrike" spc="2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hash("Sasha222")</a:t>
                      </a:r>
                      <a:endParaRPr lang="ru-RU" sz="2450" b="0" strike="noStrike" spc="-1">
                        <a:latin typeface="Arial"/>
                      </a:endParaRPr>
                    </a:p>
                    <a:p>
                      <a:pPr marL="17640" algn="ctr">
                        <a:lnSpc>
                          <a:spcPts val="2704"/>
                        </a:lnSpc>
                      </a:pPr>
                      <a:r>
                        <a:rPr lang="ru-RU" sz="2450" b="0" strike="noStrike" spc="-307">
                          <a:solidFill>
                            <a:srgbClr val="1E1E1E"/>
                          </a:solidFill>
                          <a:latin typeface="Arial"/>
                        </a:rPr>
                        <a:t>%</a:t>
                      </a:r>
                      <a:r>
                        <a:rPr lang="ru-RU" sz="2450" b="0" strike="noStrike" spc="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lnT w="28080">
                      <a:solidFill>
                        <a:srgbClr val="FFFFFF"/>
                      </a:solidFill>
                    </a:lnT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7280" algn="ctr">
                        <a:lnSpc>
                          <a:spcPct val="100000"/>
                        </a:lnSpc>
                        <a:spcBef>
                          <a:spcPts val="39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lnT w="28080">
                      <a:solidFill>
                        <a:srgbClr val="FFFFFF"/>
                      </a:solidFill>
                    </a:lnT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ts val="2704"/>
                        </a:lnSpc>
                        <a:spcBef>
                          <a:spcPts val="39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hash("Nick123")</a:t>
                      </a:r>
                      <a:endParaRPr lang="ru-RU" sz="2450" b="0" strike="noStrike" spc="-1">
                        <a:latin typeface="Arial"/>
                      </a:endParaRPr>
                    </a:p>
                    <a:p>
                      <a:pPr marL="15840" algn="ctr">
                        <a:lnSpc>
                          <a:spcPts val="2704"/>
                        </a:lnSpc>
                      </a:pPr>
                      <a:r>
                        <a:rPr lang="ru-RU" sz="2450" b="0" strike="noStrike" spc="-307">
                          <a:solidFill>
                            <a:srgbClr val="1E1E1E"/>
                          </a:solidFill>
                          <a:latin typeface="Arial"/>
                        </a:rPr>
                        <a:t>%</a:t>
                      </a:r>
                      <a:r>
                        <a:rPr lang="ru-RU" sz="2450" b="0" strike="noStrike" spc="2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N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T w="28080">
                      <a:solidFill>
                        <a:srgbClr val="FFFFFF"/>
                      </a:solidFill>
                    </a:lnT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Alex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Sasha222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Maxim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300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29">
                          <a:solidFill>
                            <a:srgbClr val="1E1E1E"/>
                          </a:solidFill>
                          <a:latin typeface="Arial"/>
                        </a:rPr>
                        <a:t>Nick123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 .</a:t>
                      </a:r>
                      <a:r>
                        <a:rPr lang="ru-RU" sz="2450" b="0" strike="noStrike" spc="1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TextShape 2"/>
          <p:cNvSpPr txBox="1"/>
          <p:nvPr/>
        </p:nvSpPr>
        <p:spPr>
          <a:xfrm>
            <a:off x="1406160" y="1233360"/>
            <a:ext cx="52581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23">
                <a:solidFill>
                  <a:srgbClr val="1E1E1E"/>
                </a:solidFill>
                <a:latin typeface="Arial"/>
              </a:rPr>
              <a:t>Обработка</a:t>
            </a:r>
            <a:r>
              <a:rPr lang="ru-RU" sz="4950" b="1" strike="noStrike" spc="-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174">
                <a:solidFill>
                  <a:srgbClr val="1E1E1E"/>
                </a:solidFill>
                <a:latin typeface="Arial"/>
              </a:rPr>
              <a:t>текста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44C8B89-A1DF-42AD-BE30-92FF77F92741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33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22" name="CustomShape 4"/>
          <p:cNvSpPr/>
          <p:nvPr/>
        </p:nvSpPr>
        <p:spPr>
          <a:xfrm>
            <a:off x="1405800" y="3453120"/>
            <a:ext cx="7578360" cy="6292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23">
                <a:solidFill>
                  <a:srgbClr val="1E1E1E"/>
                </a:solidFill>
                <a:latin typeface="Arial"/>
              </a:rPr>
              <a:t>Анализ </a:t>
            </a:r>
            <a:r>
              <a:rPr lang="ru-RU" sz="3300" b="1" strike="noStrike" spc="-174">
                <a:solidFill>
                  <a:srgbClr val="1E1E1E"/>
                </a:solidFill>
                <a:latin typeface="Arial"/>
              </a:rPr>
              <a:t>текстов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9">
                <a:solidFill>
                  <a:srgbClr val="1E1E1E"/>
                </a:solidFill>
                <a:latin typeface="Arial"/>
              </a:rPr>
              <a:t>важное</a:t>
            </a:r>
            <a:r>
              <a:rPr lang="ru-RU" sz="3300" b="0" strike="noStrike" spc="-36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направление 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анализа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(классификация, 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кластеризация,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тональность):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Многие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алгоритмы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требуют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численного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представления.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Данные должны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быть 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фиксированного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размера.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Проблема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разреженности</a:t>
            </a:r>
            <a:r>
              <a:rPr lang="ru-RU" sz="3300" b="0" strike="noStrike" spc="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данных.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23" name="CustomShape 5"/>
          <p:cNvSpPr/>
          <p:nvPr/>
        </p:nvSpPr>
        <p:spPr>
          <a:xfrm>
            <a:off x="10552320" y="3453120"/>
            <a:ext cx="2385360" cy="101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17">
                <a:solidFill>
                  <a:srgbClr val="1E1E1E"/>
                </a:solidFill>
                <a:latin typeface="Arial"/>
              </a:rPr>
              <a:t>Д</a:t>
            </a:r>
            <a:r>
              <a:rPr lang="ru-RU" sz="3300" b="1" strike="noStrike" spc="-109">
                <a:solidFill>
                  <a:srgbClr val="1E1E1E"/>
                </a:solidFill>
                <a:latin typeface="Arial"/>
              </a:rPr>
              <a:t>о</a:t>
            </a:r>
            <a:r>
              <a:rPr lang="ru-RU" sz="3300" b="1" strike="noStrike" spc="-180">
                <a:solidFill>
                  <a:srgbClr val="1E1E1E"/>
                </a:solidFill>
                <a:latin typeface="Arial"/>
              </a:rPr>
              <a:t>п</a:t>
            </a:r>
            <a:r>
              <a:rPr lang="ru-RU" sz="3300" b="1" strike="noStrike" spc="-29">
                <a:solidFill>
                  <a:srgbClr val="1E1E1E"/>
                </a:solidFill>
                <a:latin typeface="Arial"/>
              </a:rPr>
              <a:t>ущ</a:t>
            </a:r>
            <a:r>
              <a:rPr lang="ru-RU" sz="3300" b="1" strike="noStrike" spc="-18">
                <a:solidFill>
                  <a:srgbClr val="1E1E1E"/>
                </a:solidFill>
                <a:latin typeface="Arial"/>
              </a:rPr>
              <a:t>е</a:t>
            </a:r>
            <a:r>
              <a:rPr lang="ru-RU" sz="3300" b="1" strike="noStrike" spc="-174">
                <a:solidFill>
                  <a:srgbClr val="1E1E1E"/>
                </a:solidFill>
                <a:latin typeface="Arial"/>
              </a:rPr>
              <a:t>н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1" strike="noStrike" spc="-162">
                <a:solidFill>
                  <a:srgbClr val="1E1E1E"/>
                </a:solidFill>
                <a:latin typeface="Arial"/>
              </a:rPr>
              <a:t>я</a:t>
            </a:r>
            <a:r>
              <a:rPr lang="ru-RU" sz="3300" b="1" strike="noStrike" spc="-299">
                <a:solidFill>
                  <a:srgbClr val="1E1E1E"/>
                </a:solidFill>
                <a:latin typeface="Arial"/>
              </a:rPr>
              <a:t>: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24" name="CustomShape 6"/>
          <p:cNvSpPr/>
          <p:nvPr/>
        </p:nvSpPr>
        <p:spPr>
          <a:xfrm>
            <a:off x="10552320" y="4206960"/>
            <a:ext cx="7020720" cy="3530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ts val="396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Модель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Bag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of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Words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(BoW)</a:t>
            </a:r>
            <a:r>
              <a:rPr lang="ru-RU" sz="3300" b="0" strike="noStrike" spc="37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«мешок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54">
                <a:solidFill>
                  <a:srgbClr val="1E1E1E"/>
                </a:solidFill>
                <a:latin typeface="Arial"/>
              </a:rPr>
              <a:t>слов».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Последовательность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слов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тексте 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имеет</a:t>
            </a:r>
            <a:r>
              <a:rPr lang="ru-RU" sz="3300" b="0" strike="noStrike" spc="13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значения.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Учитывается 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только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количество.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Shape 1"/>
          <p:cNvSpPr txBox="1"/>
          <p:nvPr/>
        </p:nvSpPr>
        <p:spPr>
          <a:xfrm>
            <a:off x="1406160" y="1233360"/>
            <a:ext cx="85708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Токенизация </a:t>
            </a:r>
            <a:r>
              <a:rPr lang="ru-RU" sz="4950" b="1" strike="noStrike" spc="-199">
                <a:solidFill>
                  <a:srgbClr val="1E1E1E"/>
                </a:solidFill>
                <a:latin typeface="Arial"/>
              </a:rPr>
              <a:t>и</a:t>
            </a:r>
            <a:r>
              <a:rPr lang="ru-RU" sz="4950" b="1" strike="noStrike" spc="97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28">
                <a:solidFill>
                  <a:srgbClr val="1E1E1E"/>
                </a:solidFill>
                <a:latin typeface="Arial"/>
              </a:rPr>
              <a:t>нормализация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A1904092-3864-4B98-9F71-CFC838554D25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34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27" name="CustomShape 3"/>
          <p:cNvSpPr/>
          <p:nvPr/>
        </p:nvSpPr>
        <p:spPr>
          <a:xfrm>
            <a:off x="1406160" y="3201840"/>
            <a:ext cx="6866640" cy="4806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174">
                <a:solidFill>
                  <a:srgbClr val="1E1E1E"/>
                </a:solidFill>
                <a:latin typeface="Arial"/>
              </a:rPr>
              <a:t>Токенизация: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Выделение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границ</a:t>
            </a:r>
            <a:r>
              <a:rPr lang="ru-RU" sz="3300" b="0" strike="noStrike" spc="2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слов.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Регулярные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выражения,  сложные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парсеры.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0" strike="noStrike" spc="-49">
                <a:solidFill>
                  <a:srgbClr val="627AEB"/>
                </a:solidFill>
                <a:latin typeface="Arial"/>
              </a:rPr>
              <a:t>Миша, </a:t>
            </a:r>
            <a:r>
              <a:rPr lang="ru-RU" sz="3300" b="0" strike="noStrike" spc="-58">
                <a:solidFill>
                  <a:srgbClr val="627AEB"/>
                </a:solidFill>
                <a:latin typeface="Arial"/>
              </a:rPr>
              <a:t>который </a:t>
            </a:r>
            <a:r>
              <a:rPr lang="ru-RU" sz="3300" b="0" strike="noStrike" spc="-103">
                <a:solidFill>
                  <a:srgbClr val="627AEB"/>
                </a:solidFill>
                <a:latin typeface="Arial"/>
              </a:rPr>
              <a:t>встретил </a:t>
            </a:r>
            <a:r>
              <a:rPr lang="ru-RU" sz="3300" b="0" strike="noStrike" spc="-12">
                <a:solidFill>
                  <a:srgbClr val="627AEB"/>
                </a:solidFill>
                <a:latin typeface="Arial"/>
              </a:rPr>
              <a:t>Машу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[’</a:t>
            </a:r>
            <a:r>
              <a:rPr lang="ru-RU" sz="3300" b="0" strike="noStrike" spc="-94">
                <a:solidFill>
                  <a:srgbClr val="CB3757"/>
                </a:solidFill>
                <a:latin typeface="Arial"/>
              </a:rPr>
              <a:t>Миша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34">
                <a:solidFill>
                  <a:srgbClr val="CB3757"/>
                </a:solidFill>
                <a:latin typeface="Arial"/>
              </a:rPr>
              <a:t>который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57">
                <a:solidFill>
                  <a:srgbClr val="CB3757"/>
                </a:solidFill>
                <a:latin typeface="Arial"/>
              </a:rPr>
              <a:t>встретил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’,</a:t>
            </a:r>
            <a:r>
              <a:rPr lang="ru-RU" sz="3300" b="0" strike="noStrike" spc="30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32">
                <a:solidFill>
                  <a:srgbClr val="CB3757"/>
                </a:solidFill>
                <a:latin typeface="Arial"/>
              </a:rPr>
              <a:t>Машу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’]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28" name="CustomShape 4"/>
          <p:cNvSpPr/>
          <p:nvPr/>
        </p:nvSpPr>
        <p:spPr>
          <a:xfrm>
            <a:off x="10542600" y="3201840"/>
            <a:ext cx="7654680" cy="480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143">
                <a:solidFill>
                  <a:srgbClr val="1E1E1E"/>
                </a:solidFill>
                <a:latin typeface="Arial"/>
              </a:rPr>
              <a:t>Нормализация: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ts val="396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Стемминг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0" strike="noStrike" spc="-72">
                <a:solidFill>
                  <a:srgbClr val="627AEB"/>
                </a:solidFill>
                <a:latin typeface="Arial"/>
              </a:rPr>
              <a:t>корове</a:t>
            </a:r>
            <a:r>
              <a:rPr lang="ru-RU" sz="3300" b="0" strike="noStrike" spc="199">
                <a:solidFill>
                  <a:srgbClr val="627AEB"/>
                </a:solidFill>
                <a:latin typeface="Arial"/>
              </a:rPr>
              <a:t>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58">
                <a:solidFill>
                  <a:srgbClr val="627AEB"/>
                </a:solidFill>
                <a:latin typeface="Arial"/>
              </a:rPr>
              <a:t>коров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  <a:p>
            <a:pPr marL="515520">
              <a:lnSpc>
                <a:spcPts val="3960"/>
              </a:lnSpc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или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лемматизация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0" strike="noStrike" spc="-72">
                <a:solidFill>
                  <a:srgbClr val="627AEB"/>
                </a:solidFill>
                <a:latin typeface="Arial"/>
              </a:rPr>
              <a:t>корове</a:t>
            </a:r>
            <a:r>
              <a:rPr lang="ru-RU" sz="3300" b="0" strike="noStrike" spc="318">
                <a:solidFill>
                  <a:srgbClr val="627AEB"/>
                </a:solidFill>
                <a:latin typeface="Arial"/>
              </a:rPr>
              <a:t>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72">
                <a:solidFill>
                  <a:srgbClr val="627AEB"/>
                </a:solidFill>
                <a:latin typeface="Arial"/>
              </a:rPr>
              <a:t>корова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).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Удаление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стоп-слов.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  <a:spcBef>
                <a:spcPts val="6"/>
              </a:spcBef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[’</a:t>
            </a:r>
            <a:r>
              <a:rPr lang="ru-RU" sz="3300" b="0" strike="noStrike" spc="-94">
                <a:solidFill>
                  <a:srgbClr val="CB3757"/>
                </a:solidFill>
                <a:latin typeface="Arial"/>
              </a:rPr>
              <a:t>Миша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34">
                <a:solidFill>
                  <a:srgbClr val="CB3757"/>
                </a:solidFill>
                <a:latin typeface="Arial"/>
              </a:rPr>
              <a:t>который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57">
                <a:solidFill>
                  <a:srgbClr val="CB3757"/>
                </a:solidFill>
                <a:latin typeface="Arial"/>
              </a:rPr>
              <a:t>встретил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32">
                <a:solidFill>
                  <a:srgbClr val="CB3757"/>
                </a:solidFill>
                <a:latin typeface="Arial"/>
              </a:rPr>
              <a:t>Машу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’]</a:t>
            </a:r>
            <a:r>
              <a:rPr lang="ru-RU" sz="3300" b="0" strike="noStrike" spc="50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</a:t>
            </a:r>
            <a:endParaRPr lang="ru-RU" sz="3300" b="0" strike="noStrike" spc="-1">
              <a:latin typeface="Arial"/>
            </a:endParaRPr>
          </a:p>
          <a:p>
            <a:pPr marL="13320">
              <a:lnSpc>
                <a:spcPts val="3960"/>
              </a:lnSpc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[’</a:t>
            </a:r>
            <a:r>
              <a:rPr lang="ru-RU" sz="3300" b="0" strike="noStrike" spc="-134">
                <a:solidFill>
                  <a:srgbClr val="CB3757"/>
                </a:solidFill>
                <a:latin typeface="Arial"/>
              </a:rPr>
              <a:t>миша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68">
                <a:solidFill>
                  <a:srgbClr val="CB3757"/>
                </a:solidFill>
                <a:latin typeface="Arial"/>
              </a:rPr>
              <a:t>встретить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’,</a:t>
            </a:r>
            <a:r>
              <a:rPr lang="ru-RU" sz="3300" b="0" strike="noStrike" spc="1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77">
                <a:solidFill>
                  <a:srgbClr val="CB3757"/>
                </a:solidFill>
                <a:latin typeface="Arial"/>
              </a:rPr>
              <a:t>маша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’]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Shape 1"/>
          <p:cNvSpPr txBox="1"/>
          <p:nvPr/>
        </p:nvSpPr>
        <p:spPr>
          <a:xfrm>
            <a:off x="1406160" y="1233360"/>
            <a:ext cx="47412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48">
                <a:solidFill>
                  <a:srgbClr val="1E1E1E"/>
                </a:solidFill>
                <a:latin typeface="Arial"/>
              </a:rPr>
              <a:t>Трансформация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5066478D-3353-43D4-9685-513120C661A4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35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31" name="CustomShape 3"/>
          <p:cNvSpPr/>
          <p:nvPr/>
        </p:nvSpPr>
        <p:spPr>
          <a:xfrm>
            <a:off x="1406160" y="3201840"/>
            <a:ext cx="9036360" cy="4052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1" strike="noStrike" spc="-162">
                <a:solidFill>
                  <a:srgbClr val="1E1E1E"/>
                </a:solidFill>
                <a:latin typeface="Arial"/>
              </a:rPr>
              <a:t>Трансформация: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tf-idf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вариации,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Hashing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trick,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Уменьшение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размерности.</a:t>
            </a:r>
            <a:endParaRPr lang="ru-RU" sz="33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ru-RU" sz="3300" b="0" strike="noStrike" spc="-1"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[’</a:t>
            </a:r>
            <a:r>
              <a:rPr lang="ru-RU" sz="3300" b="0" strike="noStrike" spc="-134">
                <a:solidFill>
                  <a:srgbClr val="CB3757"/>
                </a:solidFill>
                <a:latin typeface="Arial"/>
              </a:rPr>
              <a:t>миша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168">
                <a:solidFill>
                  <a:srgbClr val="CB3757"/>
                </a:solidFill>
                <a:latin typeface="Arial"/>
              </a:rPr>
              <a:t>встретить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’,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’</a:t>
            </a:r>
            <a:r>
              <a:rPr lang="ru-RU" sz="3300" b="0" strike="noStrike" spc="-77">
                <a:solidFill>
                  <a:srgbClr val="CB3757"/>
                </a:solidFill>
                <a:latin typeface="Arial"/>
              </a:rPr>
              <a:t>маша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’]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[0,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0.12, </a:t>
            </a: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. . . </a:t>
            </a: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0" strike="noStrike" spc="22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0.7, </a:t>
            </a:r>
            <a:r>
              <a:rPr lang="ru-RU" sz="3300" b="0" strike="noStrike" spc="72">
                <a:solidFill>
                  <a:srgbClr val="1E1E1E"/>
                </a:solidFill>
                <a:latin typeface="Arial"/>
              </a:rPr>
              <a:t>0]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Shape 1"/>
          <p:cNvSpPr txBox="1"/>
          <p:nvPr/>
        </p:nvSpPr>
        <p:spPr>
          <a:xfrm>
            <a:off x="1406160" y="1233360"/>
            <a:ext cx="67446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80">
                <a:solidFill>
                  <a:srgbClr val="1E1E1E"/>
                </a:solidFill>
                <a:latin typeface="Arial"/>
              </a:rPr>
              <a:t>Коллекция</a:t>
            </a:r>
            <a:r>
              <a:rPr lang="ru-RU" sz="4950" b="1" strike="noStrike" spc="-111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67">
                <a:solidFill>
                  <a:srgbClr val="1E1E1E"/>
                </a:solidFill>
                <a:latin typeface="Arial"/>
              </a:rPr>
              <a:t>документов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374BF7D-FF7B-40AB-A6B0-4B5F2F10AD7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36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34" name="CustomShape 3"/>
          <p:cNvSpPr/>
          <p:nvPr/>
        </p:nvSpPr>
        <p:spPr>
          <a:xfrm>
            <a:off x="1406160" y="3201840"/>
            <a:ext cx="11308320" cy="352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Текстовая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коллекция.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Коллекция </a:t>
            </a:r>
            <a:r>
              <a:rPr lang="ru-RU" sz="3300" b="0" strike="noStrike" spc="-12">
                <a:solidFill>
                  <a:srgbClr val="1E1E1E"/>
                </a:solidFill>
                <a:latin typeface="Arial"/>
              </a:rPr>
              <a:t>уже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обработанная,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последовательность</a:t>
            </a:r>
            <a:r>
              <a:rPr lang="ru-RU" sz="3300" b="0" strike="noStrike" spc="30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слов.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137">
                <a:solidFill>
                  <a:srgbClr val="1E1E1E"/>
                </a:solidFill>
                <a:latin typeface="Arial"/>
              </a:rPr>
              <a:t>4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документа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(обозначим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число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документов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константой</a:t>
            </a:r>
            <a:r>
              <a:rPr lang="ru-RU" sz="3300" b="0" strike="noStrike" spc="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137">
                <a:solidFill>
                  <a:srgbClr val="1E1E1E"/>
                </a:solidFill>
                <a:latin typeface="Trebuchet MS"/>
              </a:rPr>
              <a:t>N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).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137">
                <a:solidFill>
                  <a:srgbClr val="1E1E1E"/>
                </a:solidFill>
                <a:latin typeface="Arial"/>
              </a:rPr>
              <a:t>5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различных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слов.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35" name="Table 4"/>
          <p:cNvGraphicFramePr/>
          <p:nvPr/>
        </p:nvGraphicFramePr>
        <p:xfrm>
          <a:off x="1926720" y="6868800"/>
          <a:ext cx="5564880" cy="2559960"/>
        </p:xfrm>
        <a:graphic>
          <a:graphicData uri="http://schemas.openxmlformats.org/drawingml/2006/table">
            <a:tbl>
              <a:tblPr/>
              <a:tblGrid>
                <a:gridCol w="1515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49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Text</a:t>
                      </a:r>
                      <a:r>
                        <a:rPr lang="ru-RU" sz="2450" b="1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id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73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34">
                          <a:solidFill>
                            <a:srgbClr val="1E1E1E"/>
                          </a:solidFill>
                          <a:latin typeface="Arial"/>
                        </a:rPr>
                        <a:t>Текст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кошка 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r>
                        <a:rPr lang="ru-RU" sz="2450" b="0" strike="noStrike" spc="3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 </a:t>
                      </a: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r>
                        <a:rPr lang="ru-RU" sz="2450" b="0" strike="noStrike" spc="15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r>
                        <a:rPr lang="ru-RU" sz="2450" b="0" strike="noStrike" spc="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кошка </a:t>
                      </a: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r>
                        <a:rPr lang="ru-RU" sz="2450" b="0" strike="noStrike" spc="3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кошка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7" name="TextShape 2"/>
          <p:cNvSpPr txBox="1"/>
          <p:nvPr/>
        </p:nvSpPr>
        <p:spPr>
          <a:xfrm>
            <a:off x="1406160" y="1233360"/>
            <a:ext cx="48204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87">
                <a:solidFill>
                  <a:srgbClr val="1E1E1E"/>
                </a:solidFill>
                <a:latin typeface="Arial"/>
              </a:rPr>
              <a:t>Количество</a:t>
            </a:r>
            <a:r>
              <a:rPr lang="ru-RU" sz="4950" b="1" strike="noStrike" spc="-148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437">
                <a:solidFill>
                  <a:srgbClr val="1E1E1E"/>
                </a:solidFill>
                <a:latin typeface="Arial"/>
              </a:rPr>
              <a:t>слов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35A88EDA-77EF-4BFD-AEE8-291E2F190C3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37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39" name="CustomShape 4"/>
          <p:cNvSpPr/>
          <p:nvPr/>
        </p:nvSpPr>
        <p:spPr>
          <a:xfrm>
            <a:off x="1405800" y="3201840"/>
            <a:ext cx="15965280" cy="310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Посчитаем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сколько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каждое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слово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встречается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каждом</a:t>
            </a:r>
            <a:r>
              <a:rPr lang="ru-RU" sz="3300" b="0" strike="noStrike" spc="7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документе.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-103">
                <a:solidFill>
                  <a:srgbClr val="1E1E1E"/>
                </a:solidFill>
                <a:latin typeface="Arial"/>
              </a:rPr>
              <a:t>f(</a:t>
            </a:r>
            <a:r>
              <a:rPr lang="ru-RU" sz="3300" b="1" i="1" strike="noStrike" spc="-10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54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4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Размерность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вектора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число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уникальных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слов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</a:t>
            </a:r>
            <a:r>
              <a:rPr lang="ru-RU" sz="3300" b="0" strike="noStrike" spc="6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коллекции.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учитывается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размер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документов,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то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как</a:t>
            </a:r>
            <a:r>
              <a:rPr lang="ru-RU" sz="3300" b="0" strike="noStrike" spc="24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часто слова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встречаются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коллекции.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40" name="Table 5"/>
          <p:cNvGraphicFramePr/>
          <p:nvPr/>
        </p:nvGraphicFramePr>
        <p:xfrm>
          <a:off x="1926720" y="6868800"/>
          <a:ext cx="7846920" cy="2559960"/>
        </p:xfrm>
        <a:graphic>
          <a:graphicData uri="http://schemas.openxmlformats.org/drawingml/2006/table">
            <a:tbl>
              <a:tblPr/>
              <a:tblGrid>
                <a:gridCol w="15130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679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Text</a:t>
                      </a:r>
                      <a:r>
                        <a:rPr lang="ru-RU" sz="2450" b="1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id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75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кошка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Shape 1"/>
          <p:cNvSpPr txBox="1"/>
          <p:nvPr/>
        </p:nvSpPr>
        <p:spPr>
          <a:xfrm>
            <a:off x="1406160" y="1233360"/>
            <a:ext cx="37944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08">
                <a:solidFill>
                  <a:srgbClr val="1E1E1E"/>
                </a:solidFill>
                <a:latin typeface="Arial"/>
              </a:rPr>
              <a:t>Частота</a:t>
            </a:r>
            <a:r>
              <a:rPr lang="ru-RU" sz="4950" b="1" strike="noStrike" spc="-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437">
                <a:solidFill>
                  <a:srgbClr val="1E1E1E"/>
                </a:solidFill>
                <a:latin typeface="Arial"/>
              </a:rPr>
              <a:t>слов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CustomShape 2"/>
          <p:cNvSpPr/>
          <p:nvPr/>
        </p:nvSpPr>
        <p:spPr>
          <a:xfrm>
            <a:off x="1406160" y="3453120"/>
            <a:ext cx="8126280" cy="159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Введем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величину 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52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80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1" strike="noStrike" spc="-69">
                <a:solidFill>
                  <a:srgbClr val="1E1E1E"/>
                </a:solidFill>
                <a:latin typeface="Arial"/>
              </a:rPr>
              <a:t>t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erm</a:t>
            </a:r>
            <a:r>
              <a:rPr lang="ru-RU" sz="3300" b="0" strike="noStrike" spc="-5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09">
                <a:solidFill>
                  <a:srgbClr val="1E1E1E"/>
                </a:solidFill>
                <a:latin typeface="Arial"/>
              </a:rPr>
              <a:t>f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requency.  </a:t>
            </a:r>
            <a:r>
              <a:rPr lang="ru-RU" sz="3300" b="0" strike="noStrike" spc="24">
                <a:solidFill>
                  <a:srgbClr val="1E1E1E"/>
                </a:solidFill>
                <a:latin typeface="Arial"/>
              </a:rPr>
              <a:t>Можно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определить следующим</a:t>
            </a:r>
            <a:r>
              <a:rPr lang="ru-RU" sz="3300" b="0" strike="noStrike" spc="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образом: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43" name="CustomShape 3"/>
          <p:cNvSpPr/>
          <p:nvPr/>
        </p:nvSpPr>
        <p:spPr>
          <a:xfrm>
            <a:off x="5238000" y="7034040"/>
            <a:ext cx="89640" cy="30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111">
                <a:solidFill>
                  <a:srgbClr val="1E1E1E"/>
                </a:solidFill>
                <a:latin typeface="Trebuchet MS"/>
              </a:rPr>
              <a:t>i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44" name="CustomShape 4"/>
          <p:cNvSpPr/>
          <p:nvPr/>
        </p:nvSpPr>
        <p:spPr>
          <a:xfrm>
            <a:off x="1405800" y="4709520"/>
            <a:ext cx="5832000" cy="4934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ts val="396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Бинарное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взвешивание</a:t>
            </a:r>
            <a:endParaRPr lang="ru-RU" sz="3300" b="0" strike="noStrike" spc="-1">
              <a:latin typeface="Arial"/>
            </a:endParaRPr>
          </a:p>
          <a:p>
            <a:pPr algn="ctr">
              <a:lnSpc>
                <a:spcPts val="3960"/>
              </a:lnSpc>
            </a:pP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52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80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83">
                <a:solidFill>
                  <a:srgbClr val="1E1E1E"/>
                </a:solidFill>
                <a:latin typeface="Arial"/>
              </a:rPr>
              <a:t>|f(</a:t>
            </a:r>
            <a:r>
              <a:rPr lang="ru-RU" sz="3300" b="1" i="1" strike="noStrike" spc="-8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26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&gt;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4">
                <a:solidFill>
                  <a:srgbClr val="1E1E1E"/>
                </a:solidFill>
                <a:latin typeface="Arial"/>
              </a:rPr>
              <a:t>0|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Число</a:t>
            </a:r>
            <a:r>
              <a:rPr lang="ru-RU" sz="3300" b="0" strike="noStrike" spc="2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слов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52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80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03">
                <a:solidFill>
                  <a:srgbClr val="1E1E1E"/>
                </a:solidFill>
                <a:latin typeface="Arial"/>
              </a:rPr>
              <a:t>f(</a:t>
            </a:r>
            <a:r>
              <a:rPr lang="ru-RU" sz="3300" b="1" i="1" strike="noStrike" spc="-10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54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Частота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слов 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24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Нормализация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по</a:t>
            </a:r>
            <a:r>
              <a:rPr lang="ru-RU" sz="3300" b="0" strike="noStrike" spc="12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самому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45" name="CustomShape 5"/>
          <p:cNvSpPr/>
          <p:nvPr/>
        </p:nvSpPr>
        <p:spPr>
          <a:xfrm>
            <a:off x="1908720" y="7976520"/>
            <a:ext cx="6049440" cy="51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популярному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слову в</a:t>
            </a:r>
            <a:r>
              <a:rPr lang="ru-RU" sz="3300" b="0" strike="noStrike" spc="26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документе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46" name="CustomShape 6"/>
          <p:cNvSpPr/>
          <p:nvPr/>
        </p:nvSpPr>
        <p:spPr>
          <a:xfrm>
            <a:off x="2633760" y="9044640"/>
            <a:ext cx="89640" cy="30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111">
                <a:solidFill>
                  <a:srgbClr val="1E1E1E"/>
                </a:solidFill>
                <a:latin typeface="Trebuchet MS"/>
              </a:rPr>
              <a:t>i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47" name="CustomShape 7"/>
          <p:cNvSpPr/>
          <p:nvPr/>
        </p:nvSpPr>
        <p:spPr>
          <a:xfrm>
            <a:off x="1908720" y="8730360"/>
            <a:ext cx="3459600" cy="101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3300" b="1" i="1" strike="noStrike" spc="-219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2">
                <a:solidFill>
                  <a:srgbClr val="1E1E1E"/>
                </a:solidFill>
                <a:latin typeface="Arial"/>
              </a:rPr>
              <a:t>0.5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+</a:t>
            </a:r>
            <a:r>
              <a:rPr lang="ru-RU" sz="3300" b="1" strike="noStrike" spc="-1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2">
                <a:solidFill>
                  <a:srgbClr val="1E1E1E"/>
                </a:solidFill>
                <a:latin typeface="Arial"/>
              </a:rPr>
              <a:t>0.5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48" name="Table 8"/>
          <p:cNvGraphicFramePr/>
          <p:nvPr/>
        </p:nvGraphicFramePr>
        <p:xfrm>
          <a:off x="11067840" y="4858560"/>
          <a:ext cx="7600680" cy="2559960"/>
        </p:xfrm>
        <a:graphic>
          <a:graphicData uri="http://schemas.openxmlformats.org/drawingml/2006/table">
            <a:tbl>
              <a:tblPr/>
              <a:tblGrid>
                <a:gridCol w="12664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664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682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Text</a:t>
                      </a:r>
                      <a:r>
                        <a:rPr lang="ru-RU" sz="2450" b="1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id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160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160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900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кошка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160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232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64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65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72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72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72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49" name="CustomShape 9"/>
          <p:cNvSpPr/>
          <p:nvPr/>
        </p:nvSpPr>
        <p:spPr>
          <a:xfrm>
            <a:off x="11064960" y="3453120"/>
            <a:ext cx="5138640" cy="109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простоты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остановимся 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52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80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03">
                <a:solidFill>
                  <a:srgbClr val="1E1E1E"/>
                </a:solidFill>
                <a:latin typeface="Arial"/>
              </a:rPr>
              <a:t>f(</a:t>
            </a:r>
            <a:r>
              <a:rPr lang="ru-RU" sz="3300" b="1" i="1" strike="noStrike" spc="-10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54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3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50" name="CustomShape 10"/>
          <p:cNvSpPr/>
          <p:nvPr/>
        </p:nvSpPr>
        <p:spPr>
          <a:xfrm>
            <a:off x="6950160" y="6447960"/>
            <a:ext cx="1272240" cy="109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03">
                <a:solidFill>
                  <a:srgbClr val="1E1E1E"/>
                </a:solidFill>
                <a:latin typeface="Arial"/>
              </a:rPr>
              <a:t>f(</a:t>
            </a:r>
            <a:r>
              <a:rPr lang="ru-RU" sz="3300" b="1" i="1" strike="noStrike" spc="-10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54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5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51" name="CustomShape 11"/>
          <p:cNvSpPr/>
          <p:nvPr/>
        </p:nvSpPr>
        <p:spPr>
          <a:xfrm>
            <a:off x="6989040" y="7441200"/>
            <a:ext cx="72720" cy="21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1350" b="1" i="1" strike="noStrike" spc="-154">
                <a:solidFill>
                  <a:srgbClr val="1E1E1E"/>
                </a:solidFill>
                <a:latin typeface="Trebuchet MS"/>
              </a:rPr>
              <a:t>j</a:t>
            </a:r>
            <a:endParaRPr lang="ru-RU" sz="1350" b="0" strike="noStrike" spc="-1">
              <a:latin typeface="Arial"/>
            </a:endParaRPr>
          </a:p>
        </p:txBody>
      </p:sp>
      <p:sp>
        <p:nvSpPr>
          <p:cNvPr id="252" name="CustomShape 12"/>
          <p:cNvSpPr/>
          <p:nvPr/>
        </p:nvSpPr>
        <p:spPr>
          <a:xfrm>
            <a:off x="7105320" y="7439400"/>
            <a:ext cx="121320" cy="11916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CustomShape 13"/>
          <p:cNvSpPr/>
          <p:nvPr/>
        </p:nvSpPr>
        <p:spPr>
          <a:xfrm>
            <a:off x="6799680" y="7305120"/>
            <a:ext cx="6382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63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1900" b="0" strike="noStrike" spc="-599">
                <a:solidFill>
                  <a:srgbClr val="1E1E1E"/>
                </a:solidFill>
                <a:latin typeface="DejaVu Sans"/>
              </a:rPr>
              <a:t>∈ </a:t>
            </a:r>
            <a:r>
              <a:rPr lang="ru-RU" sz="1900" b="1" i="1" strike="noStrike" spc="-52">
                <a:solidFill>
                  <a:srgbClr val="1E1E1E"/>
                </a:solidFill>
                <a:latin typeface="Trebuchet MS"/>
              </a:rPr>
              <a:t>d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54" name="CustomShape 14"/>
          <p:cNvSpPr/>
          <p:nvPr/>
        </p:nvSpPr>
        <p:spPr>
          <a:xfrm>
            <a:off x="8078400" y="7305120"/>
            <a:ext cx="92520" cy="30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208">
                <a:solidFill>
                  <a:srgbClr val="1E1E1E"/>
                </a:solidFill>
                <a:latin typeface="Trebuchet MS"/>
              </a:rPr>
              <a:t>j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55" name="CustomShape 15"/>
          <p:cNvSpPr/>
          <p:nvPr/>
        </p:nvSpPr>
        <p:spPr>
          <a:xfrm>
            <a:off x="6552000" y="6991200"/>
            <a:ext cx="2235960" cy="101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562">
                <a:solidFill>
                  <a:srgbClr val="1E1E1E"/>
                </a:solidFill>
                <a:latin typeface="Arial"/>
              </a:rPr>
              <a:t>∑	</a:t>
            </a:r>
            <a:r>
              <a:rPr lang="ru-RU" sz="3300" b="1" i="1" strike="noStrike" spc="-182">
                <a:solidFill>
                  <a:srgbClr val="1E1E1E"/>
                </a:solidFill>
                <a:latin typeface="Trebuchet MS"/>
              </a:rPr>
              <a:t>f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1" i="1" strike="noStrike" spc="-182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29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56" name="CustomShape 16"/>
          <p:cNvSpPr/>
          <p:nvPr/>
        </p:nvSpPr>
        <p:spPr>
          <a:xfrm>
            <a:off x="6502320" y="7042680"/>
            <a:ext cx="2319120" cy="360"/>
          </a:xfrm>
          <a:custGeom>
            <a:avLst/>
            <a:gdLst/>
            <a:ahLst/>
            <a:cxnLst/>
            <a:rect l="l" t="t" r="r" b="b"/>
            <a:pathLst>
              <a:path w="2319654">
                <a:moveTo>
                  <a:pt x="0" y="0"/>
                </a:moveTo>
                <a:lnTo>
                  <a:pt x="2319301" y="0"/>
                </a:lnTo>
              </a:path>
            </a:pathLst>
          </a:custGeom>
          <a:noFill/>
          <a:ln w="31320">
            <a:solidFill>
              <a:srgbClr val="1E1E1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CustomShape 17"/>
          <p:cNvSpPr/>
          <p:nvPr/>
        </p:nvSpPr>
        <p:spPr>
          <a:xfrm>
            <a:off x="6255360" y="8450280"/>
            <a:ext cx="1271520" cy="109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103">
                <a:solidFill>
                  <a:srgbClr val="1E1E1E"/>
                </a:solidFill>
                <a:latin typeface="Arial"/>
              </a:rPr>
              <a:t>f(</a:t>
            </a:r>
            <a:r>
              <a:rPr lang="ru-RU" sz="3300" b="1" i="1" strike="noStrike" spc="-10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54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5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58" name="CustomShape 18"/>
          <p:cNvSpPr/>
          <p:nvPr/>
        </p:nvSpPr>
        <p:spPr>
          <a:xfrm>
            <a:off x="6484320" y="9443880"/>
            <a:ext cx="72720" cy="218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1350" b="1" i="1" strike="noStrike" spc="-154">
                <a:solidFill>
                  <a:srgbClr val="1E1E1E"/>
                </a:solidFill>
                <a:latin typeface="Trebuchet MS"/>
              </a:rPr>
              <a:t>j</a:t>
            </a:r>
            <a:endParaRPr lang="ru-RU" sz="1350" b="0" strike="noStrike" spc="-1">
              <a:latin typeface="Arial"/>
            </a:endParaRPr>
          </a:p>
        </p:txBody>
      </p:sp>
      <p:sp>
        <p:nvSpPr>
          <p:cNvPr id="259" name="CustomShape 19"/>
          <p:cNvSpPr/>
          <p:nvPr/>
        </p:nvSpPr>
        <p:spPr>
          <a:xfrm>
            <a:off x="6600600" y="9442080"/>
            <a:ext cx="121320" cy="11916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20"/>
          <p:cNvSpPr/>
          <p:nvPr/>
        </p:nvSpPr>
        <p:spPr>
          <a:xfrm>
            <a:off x="6294960" y="9307440"/>
            <a:ext cx="63828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63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1900" b="0" strike="noStrike" spc="-599">
                <a:solidFill>
                  <a:srgbClr val="1E1E1E"/>
                </a:solidFill>
                <a:latin typeface="DejaVu Sans"/>
              </a:rPr>
              <a:t>∈ </a:t>
            </a:r>
            <a:r>
              <a:rPr lang="ru-RU" sz="1900" b="1" i="1" strike="noStrike" spc="-52">
                <a:solidFill>
                  <a:srgbClr val="1E1E1E"/>
                </a:solidFill>
                <a:latin typeface="Trebuchet MS"/>
              </a:rPr>
              <a:t>d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61" name="CustomShape 21"/>
          <p:cNvSpPr/>
          <p:nvPr/>
        </p:nvSpPr>
        <p:spPr>
          <a:xfrm>
            <a:off x="7583400" y="9307440"/>
            <a:ext cx="92520" cy="30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208">
                <a:solidFill>
                  <a:srgbClr val="1E1E1E"/>
                </a:solidFill>
                <a:latin typeface="Trebuchet MS"/>
              </a:rPr>
              <a:t>j</a:t>
            </a:r>
            <a:endParaRPr lang="ru-RU" sz="1900" b="0" strike="noStrike" spc="-1">
              <a:latin typeface="Arial"/>
            </a:endParaRPr>
          </a:p>
        </p:txBody>
      </p:sp>
      <p:sp>
        <p:nvSpPr>
          <p:cNvPr id="262" name="CustomShape 22"/>
          <p:cNvSpPr/>
          <p:nvPr/>
        </p:nvSpPr>
        <p:spPr>
          <a:xfrm>
            <a:off x="5489280" y="8993520"/>
            <a:ext cx="2803680" cy="101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97">
                <a:solidFill>
                  <a:srgbClr val="1E1E1E"/>
                </a:solidFill>
                <a:latin typeface="Arial"/>
              </a:rPr>
              <a:t>max	</a:t>
            </a:r>
            <a:r>
              <a:rPr lang="ru-RU" sz="3300" b="1" strike="noStrike" spc="-69">
                <a:solidFill>
                  <a:srgbClr val="1E1E1E"/>
                </a:solidFill>
                <a:latin typeface="Arial"/>
              </a:rPr>
              <a:t>t(</a:t>
            </a:r>
            <a:r>
              <a:rPr lang="ru-RU" sz="3300" b="1" i="1" strike="noStrike" spc="-69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41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63" name="CustomShape 23"/>
          <p:cNvSpPr/>
          <p:nvPr/>
        </p:nvSpPr>
        <p:spPr>
          <a:xfrm>
            <a:off x="5465880" y="9045360"/>
            <a:ext cx="2850840" cy="360"/>
          </a:xfrm>
          <a:custGeom>
            <a:avLst/>
            <a:gdLst/>
            <a:ahLst/>
            <a:cxnLst/>
            <a:rect l="l" t="t" r="r" b="b"/>
            <a:pathLst>
              <a:path w="2851150">
                <a:moveTo>
                  <a:pt x="0" y="0"/>
                </a:moveTo>
                <a:lnTo>
                  <a:pt x="2850698" y="0"/>
                </a:lnTo>
              </a:path>
            </a:pathLst>
          </a:custGeom>
          <a:noFill/>
          <a:ln w="31320">
            <a:solidFill>
              <a:srgbClr val="1E1E1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TextShape 24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7F9B2CED-2E83-488D-AF49-F4AAB43FC1B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38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CustomShape 1"/>
          <p:cNvSpPr/>
          <p:nvPr/>
        </p:nvSpPr>
        <p:spPr>
          <a:xfrm>
            <a:off x="16148880" y="7107120"/>
            <a:ext cx="2536560" cy="2536560"/>
          </a:xfrm>
          <a:custGeom>
            <a:avLst/>
            <a:gdLst/>
            <a:ahLst/>
            <a:cxnLst/>
            <a:rect l="l" t="t" r="r" b="b"/>
            <a:pathLst>
              <a:path w="2536825" h="2536825">
                <a:moveTo>
                  <a:pt x="1268285" y="0"/>
                </a:moveTo>
                <a:lnTo>
                  <a:pt x="1219637" y="915"/>
                </a:lnTo>
                <a:lnTo>
                  <a:pt x="1171451" y="3641"/>
                </a:lnTo>
                <a:lnTo>
                  <a:pt x="1123762" y="8143"/>
                </a:lnTo>
                <a:lnTo>
                  <a:pt x="1076602" y="14390"/>
                </a:lnTo>
                <a:lnTo>
                  <a:pt x="1030003" y="22348"/>
                </a:lnTo>
                <a:lnTo>
                  <a:pt x="983999" y="31984"/>
                </a:lnTo>
                <a:lnTo>
                  <a:pt x="938622" y="43266"/>
                </a:lnTo>
                <a:lnTo>
                  <a:pt x="893906" y="56160"/>
                </a:lnTo>
                <a:lnTo>
                  <a:pt x="849883" y="70634"/>
                </a:lnTo>
                <a:lnTo>
                  <a:pt x="806586" y="86656"/>
                </a:lnTo>
                <a:lnTo>
                  <a:pt x="764047" y="104191"/>
                </a:lnTo>
                <a:lnTo>
                  <a:pt x="722301" y="123208"/>
                </a:lnTo>
                <a:lnTo>
                  <a:pt x="681379" y="143673"/>
                </a:lnTo>
                <a:lnTo>
                  <a:pt x="641314" y="165554"/>
                </a:lnTo>
                <a:lnTo>
                  <a:pt x="602139" y="188818"/>
                </a:lnTo>
                <a:lnTo>
                  <a:pt x="563887" y="213431"/>
                </a:lnTo>
                <a:lnTo>
                  <a:pt x="526592" y="239362"/>
                </a:lnTo>
                <a:lnTo>
                  <a:pt x="490284" y="266577"/>
                </a:lnTo>
                <a:lnTo>
                  <a:pt x="454999" y="295044"/>
                </a:lnTo>
                <a:lnTo>
                  <a:pt x="420768" y="324729"/>
                </a:lnTo>
                <a:lnTo>
                  <a:pt x="387624" y="355600"/>
                </a:lnTo>
                <a:lnTo>
                  <a:pt x="355600" y="387624"/>
                </a:lnTo>
                <a:lnTo>
                  <a:pt x="324729" y="420768"/>
                </a:lnTo>
                <a:lnTo>
                  <a:pt x="295044" y="454999"/>
                </a:lnTo>
                <a:lnTo>
                  <a:pt x="266577" y="490284"/>
                </a:lnTo>
                <a:lnTo>
                  <a:pt x="239362" y="526592"/>
                </a:lnTo>
                <a:lnTo>
                  <a:pt x="213431" y="563887"/>
                </a:lnTo>
                <a:lnTo>
                  <a:pt x="188818" y="602139"/>
                </a:lnTo>
                <a:lnTo>
                  <a:pt x="165554" y="641314"/>
                </a:lnTo>
                <a:lnTo>
                  <a:pt x="143673" y="681379"/>
                </a:lnTo>
                <a:lnTo>
                  <a:pt x="123208" y="722301"/>
                </a:lnTo>
                <a:lnTo>
                  <a:pt x="104191" y="764047"/>
                </a:lnTo>
                <a:lnTo>
                  <a:pt x="86656" y="806586"/>
                </a:lnTo>
                <a:lnTo>
                  <a:pt x="70634" y="849883"/>
                </a:lnTo>
                <a:lnTo>
                  <a:pt x="56160" y="893906"/>
                </a:lnTo>
                <a:lnTo>
                  <a:pt x="43266" y="938622"/>
                </a:lnTo>
                <a:lnTo>
                  <a:pt x="31984" y="983999"/>
                </a:lnTo>
                <a:lnTo>
                  <a:pt x="22348" y="1030003"/>
                </a:lnTo>
                <a:lnTo>
                  <a:pt x="14390" y="1076602"/>
                </a:lnTo>
                <a:lnTo>
                  <a:pt x="8143" y="1123762"/>
                </a:lnTo>
                <a:lnTo>
                  <a:pt x="3641" y="1171451"/>
                </a:lnTo>
                <a:lnTo>
                  <a:pt x="915" y="1219637"/>
                </a:lnTo>
                <a:lnTo>
                  <a:pt x="0" y="1268285"/>
                </a:lnTo>
                <a:lnTo>
                  <a:pt x="915" y="1316933"/>
                </a:lnTo>
                <a:lnTo>
                  <a:pt x="3641" y="1365118"/>
                </a:lnTo>
                <a:lnTo>
                  <a:pt x="8143" y="1412807"/>
                </a:lnTo>
                <a:lnTo>
                  <a:pt x="14390" y="1459967"/>
                </a:lnTo>
                <a:lnTo>
                  <a:pt x="22348" y="1506565"/>
                </a:lnTo>
                <a:lnTo>
                  <a:pt x="31984" y="1552569"/>
                </a:lnTo>
                <a:lnTo>
                  <a:pt x="43266" y="1597945"/>
                </a:lnTo>
                <a:lnTo>
                  <a:pt x="56160" y="1642661"/>
                </a:lnTo>
                <a:lnTo>
                  <a:pt x="70634" y="1686684"/>
                </a:lnTo>
                <a:lnTo>
                  <a:pt x="86656" y="1729981"/>
                </a:lnTo>
                <a:lnTo>
                  <a:pt x="104191" y="1772519"/>
                </a:lnTo>
                <a:lnTo>
                  <a:pt x="123208" y="1814266"/>
                </a:lnTo>
                <a:lnTo>
                  <a:pt x="143673" y="1855188"/>
                </a:lnTo>
                <a:lnTo>
                  <a:pt x="165554" y="1895253"/>
                </a:lnTo>
                <a:lnTo>
                  <a:pt x="188818" y="1934427"/>
                </a:lnTo>
                <a:lnTo>
                  <a:pt x="213431" y="1972679"/>
                </a:lnTo>
                <a:lnTo>
                  <a:pt x="239362" y="2009975"/>
                </a:lnTo>
                <a:lnTo>
                  <a:pt x="266577" y="2046282"/>
                </a:lnTo>
                <a:lnTo>
                  <a:pt x="295044" y="2081568"/>
                </a:lnTo>
                <a:lnTo>
                  <a:pt x="324729" y="2115799"/>
                </a:lnTo>
                <a:lnTo>
                  <a:pt x="355600" y="2148943"/>
                </a:lnTo>
                <a:lnTo>
                  <a:pt x="387624" y="2180967"/>
                </a:lnTo>
                <a:lnTo>
                  <a:pt x="420768" y="2211838"/>
                </a:lnTo>
                <a:lnTo>
                  <a:pt x="454999" y="2241524"/>
                </a:lnTo>
                <a:lnTo>
                  <a:pt x="490284" y="2269990"/>
                </a:lnTo>
                <a:lnTo>
                  <a:pt x="526592" y="2297206"/>
                </a:lnTo>
                <a:lnTo>
                  <a:pt x="563887" y="2323137"/>
                </a:lnTo>
                <a:lnTo>
                  <a:pt x="602139" y="2347751"/>
                </a:lnTo>
                <a:lnTo>
                  <a:pt x="641314" y="2371015"/>
                </a:lnTo>
                <a:lnTo>
                  <a:pt x="681379" y="2392896"/>
                </a:lnTo>
                <a:lnTo>
                  <a:pt x="722301" y="2413361"/>
                </a:lnTo>
                <a:lnTo>
                  <a:pt x="764047" y="2432378"/>
                </a:lnTo>
                <a:lnTo>
                  <a:pt x="806586" y="2449914"/>
                </a:lnTo>
                <a:lnTo>
                  <a:pt x="849883" y="2465936"/>
                </a:lnTo>
                <a:lnTo>
                  <a:pt x="893906" y="2480410"/>
                </a:lnTo>
                <a:lnTo>
                  <a:pt x="938622" y="2493305"/>
                </a:lnTo>
                <a:lnTo>
                  <a:pt x="983999" y="2504587"/>
                </a:lnTo>
                <a:lnTo>
                  <a:pt x="1030003" y="2514223"/>
                </a:lnTo>
                <a:lnTo>
                  <a:pt x="1076602" y="2522181"/>
                </a:lnTo>
                <a:lnTo>
                  <a:pt x="1123762" y="2528427"/>
                </a:lnTo>
                <a:lnTo>
                  <a:pt x="1171451" y="2532930"/>
                </a:lnTo>
                <a:lnTo>
                  <a:pt x="1219637" y="2535656"/>
                </a:lnTo>
                <a:lnTo>
                  <a:pt x="1268285" y="2536571"/>
                </a:lnTo>
                <a:lnTo>
                  <a:pt x="1316934" y="2535656"/>
                </a:lnTo>
                <a:lnTo>
                  <a:pt x="1365120" y="2532930"/>
                </a:lnTo>
                <a:lnTo>
                  <a:pt x="1412809" y="2528427"/>
                </a:lnTo>
                <a:lnTo>
                  <a:pt x="1459969" y="2522181"/>
                </a:lnTo>
                <a:lnTo>
                  <a:pt x="1506568" y="2514223"/>
                </a:lnTo>
                <a:lnTo>
                  <a:pt x="1552572" y="2504587"/>
                </a:lnTo>
                <a:lnTo>
                  <a:pt x="1597949" y="2493305"/>
                </a:lnTo>
                <a:lnTo>
                  <a:pt x="1642665" y="2480410"/>
                </a:lnTo>
                <a:lnTo>
                  <a:pt x="1686688" y="2465936"/>
                </a:lnTo>
                <a:lnTo>
                  <a:pt x="1729985" y="2449914"/>
                </a:lnTo>
                <a:lnTo>
                  <a:pt x="1772524" y="2432378"/>
                </a:lnTo>
                <a:lnTo>
                  <a:pt x="1814270" y="2413361"/>
                </a:lnTo>
                <a:lnTo>
                  <a:pt x="1855192" y="2392896"/>
                </a:lnTo>
                <a:lnTo>
                  <a:pt x="1895257" y="2371015"/>
                </a:lnTo>
                <a:lnTo>
                  <a:pt x="1934432" y="2347751"/>
                </a:lnTo>
                <a:lnTo>
                  <a:pt x="1972684" y="2323137"/>
                </a:lnTo>
                <a:lnTo>
                  <a:pt x="2009979" y="2297206"/>
                </a:lnTo>
                <a:lnTo>
                  <a:pt x="2046287" y="2269990"/>
                </a:lnTo>
                <a:lnTo>
                  <a:pt x="2081572" y="2241524"/>
                </a:lnTo>
                <a:lnTo>
                  <a:pt x="2115803" y="2211838"/>
                </a:lnTo>
                <a:lnTo>
                  <a:pt x="2148947" y="2180967"/>
                </a:lnTo>
                <a:lnTo>
                  <a:pt x="2180971" y="2148943"/>
                </a:lnTo>
                <a:lnTo>
                  <a:pt x="2211842" y="2115799"/>
                </a:lnTo>
                <a:lnTo>
                  <a:pt x="2241527" y="2081568"/>
                </a:lnTo>
                <a:lnTo>
                  <a:pt x="2269994" y="2046282"/>
                </a:lnTo>
                <a:lnTo>
                  <a:pt x="2297209" y="2009975"/>
                </a:lnTo>
                <a:lnTo>
                  <a:pt x="2323140" y="1972679"/>
                </a:lnTo>
                <a:lnTo>
                  <a:pt x="2347753" y="1934427"/>
                </a:lnTo>
                <a:lnTo>
                  <a:pt x="2371017" y="1895253"/>
                </a:lnTo>
                <a:lnTo>
                  <a:pt x="2392898" y="1855188"/>
                </a:lnTo>
                <a:lnTo>
                  <a:pt x="2413363" y="1814266"/>
                </a:lnTo>
                <a:lnTo>
                  <a:pt x="2432380" y="1772519"/>
                </a:lnTo>
                <a:lnTo>
                  <a:pt x="2449915" y="1729981"/>
                </a:lnTo>
                <a:lnTo>
                  <a:pt x="2465937" y="1686684"/>
                </a:lnTo>
                <a:lnTo>
                  <a:pt x="2480411" y="1642661"/>
                </a:lnTo>
                <a:lnTo>
                  <a:pt x="2493305" y="1597945"/>
                </a:lnTo>
                <a:lnTo>
                  <a:pt x="2504587" y="1552569"/>
                </a:lnTo>
                <a:lnTo>
                  <a:pt x="2514223" y="1506565"/>
                </a:lnTo>
                <a:lnTo>
                  <a:pt x="2522181" y="1459967"/>
                </a:lnTo>
                <a:lnTo>
                  <a:pt x="2528428" y="1412807"/>
                </a:lnTo>
                <a:lnTo>
                  <a:pt x="2532930" y="1365118"/>
                </a:lnTo>
                <a:lnTo>
                  <a:pt x="2535656" y="1316933"/>
                </a:lnTo>
                <a:lnTo>
                  <a:pt x="2536571" y="1268285"/>
                </a:lnTo>
                <a:lnTo>
                  <a:pt x="2535656" y="1219637"/>
                </a:lnTo>
                <a:lnTo>
                  <a:pt x="2532930" y="1171451"/>
                </a:lnTo>
                <a:lnTo>
                  <a:pt x="2528428" y="1123762"/>
                </a:lnTo>
                <a:lnTo>
                  <a:pt x="2522181" y="1076602"/>
                </a:lnTo>
                <a:lnTo>
                  <a:pt x="2514223" y="1030003"/>
                </a:lnTo>
                <a:lnTo>
                  <a:pt x="2504587" y="983999"/>
                </a:lnTo>
                <a:lnTo>
                  <a:pt x="2493305" y="938622"/>
                </a:lnTo>
                <a:lnTo>
                  <a:pt x="2480411" y="893906"/>
                </a:lnTo>
                <a:lnTo>
                  <a:pt x="2465937" y="849883"/>
                </a:lnTo>
                <a:lnTo>
                  <a:pt x="2449915" y="806586"/>
                </a:lnTo>
                <a:lnTo>
                  <a:pt x="2432380" y="764047"/>
                </a:lnTo>
                <a:lnTo>
                  <a:pt x="2413363" y="722301"/>
                </a:lnTo>
                <a:lnTo>
                  <a:pt x="2392898" y="681379"/>
                </a:lnTo>
                <a:lnTo>
                  <a:pt x="2371017" y="641314"/>
                </a:lnTo>
                <a:lnTo>
                  <a:pt x="2347753" y="602139"/>
                </a:lnTo>
                <a:lnTo>
                  <a:pt x="2323140" y="563887"/>
                </a:lnTo>
                <a:lnTo>
                  <a:pt x="2297209" y="526592"/>
                </a:lnTo>
                <a:lnTo>
                  <a:pt x="2269994" y="490284"/>
                </a:lnTo>
                <a:lnTo>
                  <a:pt x="2241527" y="454999"/>
                </a:lnTo>
                <a:lnTo>
                  <a:pt x="2211842" y="420768"/>
                </a:lnTo>
                <a:lnTo>
                  <a:pt x="2180971" y="387624"/>
                </a:lnTo>
                <a:lnTo>
                  <a:pt x="2148947" y="355600"/>
                </a:lnTo>
                <a:lnTo>
                  <a:pt x="2115803" y="324729"/>
                </a:lnTo>
                <a:lnTo>
                  <a:pt x="2081572" y="295044"/>
                </a:lnTo>
                <a:lnTo>
                  <a:pt x="2046287" y="266577"/>
                </a:lnTo>
                <a:lnTo>
                  <a:pt x="2009979" y="239362"/>
                </a:lnTo>
                <a:lnTo>
                  <a:pt x="1972684" y="213431"/>
                </a:lnTo>
                <a:lnTo>
                  <a:pt x="1934432" y="188818"/>
                </a:lnTo>
                <a:lnTo>
                  <a:pt x="1895257" y="165554"/>
                </a:lnTo>
                <a:lnTo>
                  <a:pt x="1855192" y="143673"/>
                </a:lnTo>
                <a:lnTo>
                  <a:pt x="1814270" y="123208"/>
                </a:lnTo>
                <a:lnTo>
                  <a:pt x="1772524" y="104191"/>
                </a:lnTo>
                <a:lnTo>
                  <a:pt x="1729985" y="86656"/>
                </a:lnTo>
                <a:lnTo>
                  <a:pt x="1686688" y="70634"/>
                </a:lnTo>
                <a:lnTo>
                  <a:pt x="1642665" y="56160"/>
                </a:lnTo>
                <a:lnTo>
                  <a:pt x="1597949" y="43266"/>
                </a:lnTo>
                <a:lnTo>
                  <a:pt x="1552572" y="31984"/>
                </a:lnTo>
                <a:lnTo>
                  <a:pt x="1506568" y="22348"/>
                </a:lnTo>
                <a:lnTo>
                  <a:pt x="1459969" y="14390"/>
                </a:lnTo>
                <a:lnTo>
                  <a:pt x="1412809" y="8143"/>
                </a:lnTo>
                <a:lnTo>
                  <a:pt x="1365120" y="3641"/>
                </a:lnTo>
                <a:lnTo>
                  <a:pt x="1316934" y="915"/>
                </a:lnTo>
                <a:lnTo>
                  <a:pt x="1268285" y="0"/>
                </a:lnTo>
                <a:close/>
              </a:path>
            </a:pathLst>
          </a:custGeom>
          <a:solidFill>
            <a:srgbClr val="1E1E1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TextShape 2"/>
          <p:cNvSpPr txBox="1"/>
          <p:nvPr/>
        </p:nvSpPr>
        <p:spPr>
          <a:xfrm>
            <a:off x="1406160" y="1233360"/>
            <a:ext cx="62575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94">
                <a:solidFill>
                  <a:srgbClr val="1E1E1E"/>
                </a:solidFill>
                <a:latin typeface="Arial"/>
              </a:rPr>
              <a:t>Документная</a:t>
            </a:r>
            <a:r>
              <a:rPr lang="ru-RU" sz="4950" b="1" strike="noStrike" spc="-97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02">
                <a:solidFill>
                  <a:srgbClr val="1E1E1E"/>
                </a:solidFill>
                <a:latin typeface="Arial"/>
              </a:rPr>
              <a:t>частота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TextShape 3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3B9211EE-5843-40EE-B8C4-40B7328E53F4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39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68" name="CustomShape 4"/>
          <p:cNvSpPr/>
          <p:nvPr/>
        </p:nvSpPr>
        <p:spPr>
          <a:xfrm>
            <a:off x="2841120" y="5275080"/>
            <a:ext cx="89640" cy="30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120" rIns="0" bIns="0"/>
          <a:lstStyle/>
          <a:p>
            <a:pPr marL="12600">
              <a:lnSpc>
                <a:spcPct val="100000"/>
              </a:lnSpc>
              <a:spcBef>
                <a:spcPts val="119"/>
              </a:spcBef>
            </a:pPr>
            <a:r>
              <a:rPr lang="ru-RU" sz="1900" b="1" i="1" strike="noStrike" spc="-111">
                <a:solidFill>
                  <a:srgbClr val="1E1E1E"/>
                </a:solidFill>
                <a:latin typeface="Trebuchet MS"/>
              </a:rPr>
              <a:t>i</a:t>
            </a:r>
            <a:endParaRPr lang="ru-RU" sz="1900" b="0" strike="noStrike" spc="-1">
              <a:latin typeface="Arial"/>
            </a:endParaRPr>
          </a:p>
        </p:txBody>
      </p:sp>
      <p:graphicFrame>
        <p:nvGraphicFramePr>
          <p:cNvPr id="269" name="Table 5"/>
          <p:cNvGraphicFramePr/>
          <p:nvPr/>
        </p:nvGraphicFramePr>
        <p:xfrm>
          <a:off x="2006640" y="7255440"/>
          <a:ext cx="6439320" cy="3072240"/>
        </p:xfrm>
        <a:graphic>
          <a:graphicData uri="http://schemas.openxmlformats.org/drawingml/2006/table">
            <a:tbl>
              <a:tblPr/>
              <a:tblGrid>
                <a:gridCol w="1513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254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0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148">
                          <a:solidFill>
                            <a:srgbClr val="1E1E1E"/>
                          </a:solidFill>
                          <a:latin typeface="Arial"/>
                        </a:rPr>
                        <a:t>Слово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Документная </a:t>
                      </a:r>
                      <a:r>
                        <a:rPr lang="ru-RU" sz="2450" b="1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частота</a:t>
                      </a:r>
                      <a:r>
                        <a:rPr lang="ru-RU" sz="2450" b="1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(df)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idf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1.51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1.22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кошка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1.51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1.92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1.51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70" name="TextShape 6"/>
          <p:cNvSpPr txBox="1"/>
          <p:nvPr/>
        </p:nvSpPr>
        <p:spPr>
          <a:xfrm>
            <a:off x="1406160" y="3201840"/>
            <a:ext cx="12261960" cy="6732360"/>
          </a:xfrm>
          <a:prstGeom prst="rect">
            <a:avLst/>
          </a:prstGeom>
          <a:noFill/>
          <a:ln>
            <a:noFill/>
          </a:ln>
        </p:spPr>
        <p:txBody>
          <a:bodyPr lIns="0" tIns="263520" rIns="0" bIns="0"/>
          <a:lstStyle/>
          <a:p>
            <a:pPr marL="515160" indent="-501840">
              <a:lnSpc>
                <a:spcPct val="100000"/>
              </a:lnSpc>
              <a:spcBef>
                <a:spcPts val="2075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Посчитаем,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скольких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документах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встречается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каждое</a:t>
            </a:r>
            <a:r>
              <a:rPr lang="ru-RU" sz="3300" b="0" strike="noStrike" spc="71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слово.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-77">
                <a:solidFill>
                  <a:srgbClr val="1E1E1E"/>
                </a:solidFill>
                <a:latin typeface="Arial"/>
              </a:rPr>
              <a:t>df(</a:t>
            </a:r>
            <a:r>
              <a:rPr lang="ru-RU" sz="3300" b="1" i="1" strike="noStrike" spc="-77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17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3300" b="1" strike="noStrike" spc="-77">
                <a:solidFill>
                  <a:srgbClr val="1E1E1E"/>
                </a:solidFill>
                <a:latin typeface="Arial"/>
              </a:rPr>
              <a:t>)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1" strike="noStrike" spc="-94">
                <a:solidFill>
                  <a:srgbClr val="1E1E1E"/>
                </a:solidFill>
                <a:latin typeface="Arial"/>
              </a:rPr>
              <a:t>d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ocument </a:t>
            </a:r>
            <a:r>
              <a:rPr lang="ru-RU" sz="3300" b="1" strike="noStrike" spc="-109">
                <a:solidFill>
                  <a:srgbClr val="1E1E1E"/>
                </a:solidFill>
                <a:latin typeface="Arial"/>
              </a:rPr>
              <a:t>f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requency,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документная</a:t>
            </a:r>
            <a:r>
              <a:rPr lang="ru-RU" sz="3300" b="0" strike="noStrike" spc="-39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частота.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  <a:p>
            <a:pPr marL="515520" indent="-50256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1" strike="noStrike" spc="-69">
                <a:solidFill>
                  <a:srgbClr val="1E1E1E"/>
                </a:solidFill>
                <a:latin typeface="Arial"/>
              </a:rPr>
              <a:t>idf(</a:t>
            </a:r>
            <a:r>
              <a:rPr lang="ru-RU" sz="3300" b="1" i="1" strike="noStrike" spc="-69">
                <a:solidFill>
                  <a:srgbClr val="1E1E1E"/>
                </a:solidFill>
                <a:latin typeface="Trebuchet MS"/>
              </a:rPr>
              <a:t>w 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51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log</a:t>
            </a:r>
            <a:r>
              <a:rPr lang="ru-RU" sz="4950" b="1" u="heavy" strike="noStrike" spc="-94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</a:rPr>
              <a:t> 	</a:t>
            </a:r>
            <a:r>
              <a:rPr lang="ru-RU" sz="4950" b="1" i="1" u="heavy" strike="noStrike" spc="21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Trebuchet MS"/>
              </a:rPr>
              <a:t>N</a:t>
            </a:r>
            <a:r>
              <a:rPr lang="ru-RU" sz="4950" b="1" i="1" u="heavy" strike="noStrike" spc="-486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Trebuchet MS"/>
              </a:rPr>
              <a:t> </a:t>
            </a:r>
            <a:r>
              <a:rPr lang="ru-RU" sz="4950" b="1" u="heavy" strike="noStrike" spc="49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</a:rPr>
              <a:t>+</a:t>
            </a:r>
            <a:r>
              <a:rPr lang="ru-RU" sz="4950" b="1" u="heavy" strike="noStrike" spc="-276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</a:rPr>
              <a:t> </a:t>
            </a:r>
            <a:r>
              <a:rPr lang="ru-RU" sz="4950" b="1" u="heavy" strike="noStrike" spc="-4" baseline="32000">
                <a:solidFill>
                  <a:srgbClr val="1E1E1E"/>
                </a:solidFill>
                <a:uFill>
                  <a:solidFill>
                    <a:srgbClr val="1E1E1E"/>
                  </a:solidFill>
                </a:uFill>
                <a:latin typeface="Arial"/>
              </a:rPr>
              <a:t>1	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+</a:t>
            </a:r>
            <a:r>
              <a:rPr lang="ru-RU" sz="3300" b="1" strike="noStrike" spc="-18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4">
                <a:solidFill>
                  <a:srgbClr val="1E1E1E"/>
                </a:solidFill>
                <a:latin typeface="Arial"/>
              </a:rPr>
              <a:t>1	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обратная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документная</a:t>
            </a:r>
            <a:r>
              <a:rPr lang="ru-RU" sz="3300" b="0" strike="noStrike" spc="-5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частота.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233">
                <a:solidFill>
                  <a:srgbClr val="1E1E1E"/>
                </a:solidFill>
                <a:latin typeface="Arial"/>
              </a:rPr>
              <a:t>Если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слово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встречается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во </a:t>
            </a:r>
            <a:r>
              <a:rPr lang="ru-RU" sz="3300" b="0" strike="noStrike" spc="-143">
                <a:solidFill>
                  <a:srgbClr val="1E1E1E"/>
                </a:solidFill>
                <a:latin typeface="Arial"/>
              </a:rPr>
              <a:t>всех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документах,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то 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idf(</a:t>
            </a:r>
            <a:r>
              <a:rPr lang="ru-RU" sz="3300" b="1" i="1" strike="noStrike" spc="-6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94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) </a:t>
            </a:r>
            <a:r>
              <a:rPr lang="ru-RU" sz="3300" b="0" strike="noStrike" spc="49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0" strike="noStrike" spc="26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1.</a:t>
            </a:r>
            <a:endParaRPr lang="ru-RU" sz="3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CustomShape 7"/>
          <p:cNvSpPr/>
          <p:nvPr/>
        </p:nvSpPr>
        <p:spPr>
          <a:xfrm>
            <a:off x="4608000" y="5544000"/>
            <a:ext cx="2016000" cy="588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89">
                <a:solidFill>
                  <a:srgbClr val="1E1E1E"/>
                </a:solidFill>
                <a:latin typeface="Arial"/>
              </a:rPr>
              <a:t>df(</a:t>
            </a:r>
            <a:r>
              <a:rPr lang="ru-RU" sz="3300" b="1" i="1" strike="noStrike" spc="-89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34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)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+</a:t>
            </a:r>
            <a:r>
              <a:rPr lang="ru-RU" sz="3300" b="1" strike="noStrike" spc="-70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4">
                <a:solidFill>
                  <a:srgbClr val="1E1E1E"/>
                </a:solidFill>
                <a:latin typeface="Arial"/>
              </a:rPr>
              <a:t>1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1406160" y="3453120"/>
            <a:ext cx="9991440" cy="511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ts val="396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Каждому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слову </a:t>
            </a:r>
            <a:r>
              <a:rPr lang="ru-RU" sz="3300" b="1" i="1" strike="noStrike" spc="-12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194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каждом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документе</a:t>
            </a:r>
            <a:r>
              <a:rPr lang="ru-RU" sz="3300" b="0" strike="noStrike" spc="53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111">
                <a:solidFill>
                  <a:srgbClr val="1E1E1E"/>
                </a:solidFill>
                <a:latin typeface="Trebuchet MS"/>
              </a:rPr>
              <a:t>d</a:t>
            </a:r>
            <a:endParaRPr lang="ru-RU" sz="3300" b="0" strike="noStrike" spc="-1">
              <a:latin typeface="Arial"/>
            </a:endParaRPr>
          </a:p>
          <a:p>
            <a:pPr marL="515160">
              <a:lnSpc>
                <a:spcPts val="3960"/>
              </a:lnSpc>
            </a:pP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сопоставляется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значение:</a:t>
            </a:r>
            <a:endParaRPr lang="ru-RU" sz="3300" b="0" strike="noStrike" spc="-1">
              <a:latin typeface="Arial"/>
            </a:endParaRPr>
          </a:p>
          <a:p>
            <a:pPr marL="2291040">
              <a:lnSpc>
                <a:spcPct val="100000"/>
              </a:lnSpc>
              <a:spcBef>
                <a:spcPts val="1981"/>
              </a:spcBef>
            </a:pP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tf-idf(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58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52">
                <a:solidFill>
                  <a:srgbClr val="1E1E1E"/>
                </a:solidFill>
                <a:latin typeface="Arial"/>
              </a:rPr>
              <a:t>tf(</a:t>
            </a:r>
            <a:r>
              <a:rPr lang="ru-RU" sz="3300" b="1" i="1" strike="noStrike" spc="-52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80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3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×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188">
                <a:solidFill>
                  <a:srgbClr val="1E1E1E"/>
                </a:solidFill>
                <a:latin typeface="Trebuchet MS"/>
              </a:rPr>
              <a:t>idf</a:t>
            </a:r>
            <a:r>
              <a:rPr lang="ru-RU" sz="3300" b="1" i="1" strike="noStrike" spc="-324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143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1" i="1" strike="noStrike" spc="-143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216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3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63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3954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Учитывается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значимость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слова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коллекции 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значимость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слова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29">
                <a:solidFill>
                  <a:srgbClr val="1E1E1E"/>
                </a:solidFill>
                <a:latin typeface="Arial"/>
              </a:rPr>
              <a:t>конкретном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документе.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каждого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документа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значения</a:t>
            </a:r>
            <a:r>
              <a:rPr lang="ru-RU" sz="3300" b="0" strike="noStrike" spc="34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нормализуются: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73" name="TextShape 2"/>
          <p:cNvSpPr txBox="1"/>
          <p:nvPr/>
        </p:nvSpPr>
        <p:spPr>
          <a:xfrm>
            <a:off x="1406160" y="1233360"/>
            <a:ext cx="18270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508">
                <a:solidFill>
                  <a:srgbClr val="1E1E1E"/>
                </a:solidFill>
                <a:latin typeface="Arial"/>
              </a:rPr>
              <a:t>T</a:t>
            </a:r>
            <a:r>
              <a:rPr lang="ru-RU" sz="4950" b="1" strike="noStrike" spc="-568">
                <a:solidFill>
                  <a:srgbClr val="1E1E1E"/>
                </a:solidFill>
                <a:latin typeface="Arial"/>
              </a:rPr>
              <a:t>F</a:t>
            </a:r>
            <a:r>
              <a:rPr lang="ru-RU" sz="4950" b="1" strike="noStrike" spc="389">
                <a:solidFill>
                  <a:srgbClr val="1E1E1E"/>
                </a:solidFill>
                <a:latin typeface="Arial"/>
              </a:rPr>
              <a:t>-</a:t>
            </a:r>
            <a:r>
              <a:rPr lang="ru-RU" sz="4950" b="1" strike="noStrike" spc="-69">
                <a:solidFill>
                  <a:srgbClr val="1E1E1E"/>
                </a:solidFill>
                <a:latin typeface="Arial"/>
              </a:rPr>
              <a:t>I</a:t>
            </a:r>
            <a:r>
              <a:rPr lang="ru-RU" sz="4950" b="1" strike="noStrike" spc="-273">
                <a:solidFill>
                  <a:srgbClr val="1E1E1E"/>
                </a:solidFill>
                <a:latin typeface="Arial"/>
              </a:rPr>
              <a:t>D</a:t>
            </a:r>
            <a:r>
              <a:rPr lang="ru-RU" sz="4950" b="1" strike="noStrike" spc="-477">
                <a:solidFill>
                  <a:srgbClr val="1E1E1E"/>
                </a:solidFill>
                <a:latin typeface="Arial"/>
              </a:rPr>
              <a:t>F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CustomShape 3"/>
          <p:cNvSpPr/>
          <p:nvPr/>
        </p:nvSpPr>
        <p:spPr>
          <a:xfrm>
            <a:off x="1914120" y="8227800"/>
            <a:ext cx="2562480" cy="109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tf-idf</a:t>
            </a:r>
            <a:r>
              <a:rPr lang="ru-RU" sz="2850" b="1" strike="noStrike" spc="-58" baseline="-32000">
                <a:solidFill>
                  <a:srgbClr val="1E1E1E"/>
                </a:solidFill>
                <a:latin typeface="Arial"/>
              </a:rPr>
              <a:t>n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58" baseline="-32000">
                <a:solidFill>
                  <a:srgbClr val="1E1E1E"/>
                </a:solidFill>
                <a:latin typeface="Trebuchet MS"/>
              </a:rPr>
              <a:t>i</a:t>
            </a:r>
            <a:r>
              <a:rPr lang="ru-RU" sz="2850" b="1" i="1" strike="noStrike" spc="-619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)</a:t>
            </a:r>
            <a:r>
              <a:rPr lang="ru-RU" sz="3300" b="1" strike="noStrike" spc="-2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=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75" name="CustomShape 4"/>
          <p:cNvSpPr/>
          <p:nvPr/>
        </p:nvSpPr>
        <p:spPr>
          <a:xfrm>
            <a:off x="4590360" y="8582760"/>
            <a:ext cx="6197760" cy="123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/>
          <a:lstStyle/>
          <a:p>
            <a:pPr marL="12600">
              <a:lnSpc>
                <a:spcPts val="3986"/>
              </a:lnSpc>
              <a:spcBef>
                <a:spcPts val="125"/>
              </a:spcBef>
            </a:pPr>
            <a:r>
              <a:rPr lang="ru-RU" sz="3600" b="1" strike="noStrike" spc="157">
                <a:solidFill>
                  <a:srgbClr val="1E1E1E"/>
                </a:solidFill>
                <a:latin typeface="Arial"/>
              </a:rPr>
              <a:t>√</a:t>
            </a:r>
            <a:r>
              <a:rPr lang="ru-RU" sz="3600" b="1" strike="noStrike" spc="-267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tf-idf(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58" baseline="-32000">
                <a:solidFill>
                  <a:srgbClr val="1E1E1E"/>
                </a:solidFill>
                <a:latin typeface="Trebuchet MS"/>
              </a:rPr>
              <a:t>1</a:t>
            </a:r>
            <a:r>
              <a:rPr lang="ru-RU" sz="2850" b="1" i="1" strike="noStrike" spc="-613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49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49">
                <a:solidFill>
                  <a:srgbClr val="1E1E1E"/>
                </a:solidFill>
                <a:latin typeface="Arial"/>
              </a:rPr>
              <a:t>)</a:t>
            </a:r>
            <a:r>
              <a:rPr lang="ru-RU" sz="2850" b="1" strike="noStrike" spc="-72" baseline="32000">
                <a:solidFill>
                  <a:srgbClr val="1E1E1E"/>
                </a:solidFill>
                <a:latin typeface="Arial"/>
              </a:rPr>
              <a:t>2</a:t>
            </a:r>
            <a:r>
              <a:rPr lang="ru-RU" sz="2850" b="1" strike="noStrike" spc="-171" baseline="3200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+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43">
                <a:solidFill>
                  <a:srgbClr val="1E1E1E"/>
                </a:solidFill>
                <a:latin typeface="Arial"/>
              </a:rPr>
              <a:t>...</a:t>
            </a:r>
            <a:r>
              <a:rPr lang="ru-RU" sz="3300" b="1" strike="noStrike" spc="-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32">
                <a:solidFill>
                  <a:srgbClr val="1E1E1E"/>
                </a:solidFill>
                <a:latin typeface="Arial"/>
              </a:rPr>
              <a:t>+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24">
                <a:solidFill>
                  <a:srgbClr val="1E1E1E"/>
                </a:solidFill>
                <a:latin typeface="Arial"/>
              </a:rPr>
              <a:t>tf-idf(</a:t>
            </a:r>
            <a:r>
              <a:rPr lang="ru-RU" sz="3300" b="1" i="1" strike="noStrike" spc="-24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35" baseline="-32000">
                <a:solidFill>
                  <a:srgbClr val="1E1E1E"/>
                </a:solidFill>
                <a:latin typeface="Trebuchet MS"/>
              </a:rPr>
              <a:t>n</a:t>
            </a:r>
            <a:r>
              <a:rPr lang="ru-RU" sz="2850" b="1" i="1" strike="noStrike" spc="194" baseline="-32000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18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49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49">
                <a:solidFill>
                  <a:srgbClr val="1E1E1E"/>
                </a:solidFill>
                <a:latin typeface="Arial"/>
              </a:rPr>
              <a:t>)</a:t>
            </a:r>
            <a:r>
              <a:rPr lang="ru-RU" sz="2850" b="1" strike="noStrike" spc="-72" baseline="32000">
                <a:solidFill>
                  <a:srgbClr val="1E1E1E"/>
                </a:solidFill>
                <a:latin typeface="Arial"/>
              </a:rPr>
              <a:t>2</a:t>
            </a:r>
            <a:endParaRPr lang="ru-RU" sz="2850" b="0" strike="noStrike" spc="-1">
              <a:latin typeface="Arial"/>
            </a:endParaRPr>
          </a:p>
          <a:p>
            <a:pPr algn="r">
              <a:lnSpc>
                <a:spcPts val="1644"/>
              </a:lnSpc>
            </a:pPr>
            <a:r>
              <a:rPr lang="ru-RU" sz="1650" b="1" i="1" strike="noStrike" spc="-38">
                <a:solidFill>
                  <a:srgbClr val="1E1E1E"/>
                </a:solidFill>
                <a:latin typeface="Trebuchet MS"/>
              </a:rPr>
              <a:t>d</a:t>
            </a:r>
            <a:endParaRPr lang="ru-RU" sz="1650" b="0" strike="noStrike" spc="-1">
              <a:latin typeface="Arial"/>
            </a:endParaRPr>
          </a:p>
        </p:txBody>
      </p:sp>
      <p:sp>
        <p:nvSpPr>
          <p:cNvPr id="276" name="CustomShape 5"/>
          <p:cNvSpPr/>
          <p:nvPr/>
        </p:nvSpPr>
        <p:spPr>
          <a:xfrm>
            <a:off x="4631040" y="8550720"/>
            <a:ext cx="6213600" cy="360"/>
          </a:xfrm>
          <a:custGeom>
            <a:avLst/>
            <a:gdLst/>
            <a:ahLst/>
            <a:cxnLst/>
            <a:rect l="l" t="t" r="r" b="b"/>
            <a:pathLst>
              <a:path w="6214109">
                <a:moveTo>
                  <a:pt x="0" y="0"/>
                </a:moveTo>
                <a:lnTo>
                  <a:pt x="6213569" y="0"/>
                </a:lnTo>
              </a:path>
            </a:pathLst>
          </a:custGeom>
          <a:noFill/>
          <a:ln w="31320">
            <a:solidFill>
              <a:srgbClr val="1E1E1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7" name="CustomShape 6"/>
          <p:cNvSpPr/>
          <p:nvPr/>
        </p:nvSpPr>
        <p:spPr>
          <a:xfrm>
            <a:off x="4840920" y="8685360"/>
            <a:ext cx="6004080" cy="360"/>
          </a:xfrm>
          <a:custGeom>
            <a:avLst/>
            <a:gdLst/>
            <a:ahLst/>
            <a:cxnLst/>
            <a:rect l="l" t="t" r="r" b="b"/>
            <a:pathLst>
              <a:path w="6004559">
                <a:moveTo>
                  <a:pt x="0" y="0"/>
                </a:moveTo>
                <a:lnTo>
                  <a:pt x="6004005" y="0"/>
                </a:lnTo>
              </a:path>
            </a:pathLst>
          </a:custGeom>
          <a:noFill/>
          <a:ln w="31320">
            <a:solidFill>
              <a:srgbClr val="1E1E1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CustomShape 7"/>
          <p:cNvSpPr/>
          <p:nvPr/>
        </p:nvSpPr>
        <p:spPr>
          <a:xfrm>
            <a:off x="6699240" y="7905960"/>
            <a:ext cx="2077200" cy="109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1" strike="noStrike" spc="-38">
                <a:solidFill>
                  <a:srgbClr val="1E1E1E"/>
                </a:solidFill>
                <a:latin typeface="Arial"/>
              </a:rPr>
              <a:t>tf-idf(</a:t>
            </a:r>
            <a:r>
              <a:rPr lang="ru-RU" sz="3300" b="1" i="1" strike="noStrike" spc="-38">
                <a:solidFill>
                  <a:srgbClr val="1E1E1E"/>
                </a:solidFill>
                <a:latin typeface="Trebuchet MS"/>
              </a:rPr>
              <a:t>w</a:t>
            </a:r>
            <a:r>
              <a:rPr lang="ru-RU" sz="2850" b="1" i="1" strike="noStrike" spc="-58" baseline="-32000">
                <a:solidFill>
                  <a:srgbClr val="1E1E1E"/>
                </a:solidFill>
                <a:latin typeface="Trebuchet MS"/>
              </a:rPr>
              <a:t>i </a:t>
            </a:r>
            <a:r>
              <a:rPr lang="ru-RU" sz="3300" b="1" strike="noStrike" spc="-58">
                <a:solidFill>
                  <a:srgbClr val="1E1E1E"/>
                </a:solidFill>
                <a:latin typeface="Arial"/>
              </a:rPr>
              <a:t>,</a:t>
            </a:r>
            <a:r>
              <a:rPr lang="ru-RU" sz="3300" b="1" strike="noStrike" spc="-5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i="1" strike="noStrike" spc="-32">
                <a:solidFill>
                  <a:srgbClr val="1E1E1E"/>
                </a:solidFill>
                <a:latin typeface="Trebuchet MS"/>
              </a:rPr>
              <a:t>d</a:t>
            </a:r>
            <a:r>
              <a:rPr lang="ru-RU" sz="3300" b="1" strike="noStrike" spc="-32">
                <a:solidFill>
                  <a:srgbClr val="1E1E1E"/>
                </a:solidFill>
                <a:latin typeface="Arial"/>
              </a:rPr>
              <a:t>)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79" name="TextShape 8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1AE4A4A-9D3F-458E-9111-006A8DDD99D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40</a:t>
            </a:fld>
            <a:endParaRPr lang="ru-RU" sz="33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Shape 1"/>
          <p:cNvSpPr txBox="1"/>
          <p:nvPr/>
        </p:nvSpPr>
        <p:spPr>
          <a:xfrm>
            <a:off x="1406160" y="1233360"/>
            <a:ext cx="182700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508">
                <a:solidFill>
                  <a:srgbClr val="1E1E1E"/>
                </a:solidFill>
                <a:latin typeface="Arial"/>
              </a:rPr>
              <a:t>T</a:t>
            </a:r>
            <a:r>
              <a:rPr lang="ru-RU" sz="4950" b="1" strike="noStrike" spc="-568">
                <a:solidFill>
                  <a:srgbClr val="1E1E1E"/>
                </a:solidFill>
                <a:latin typeface="Arial"/>
              </a:rPr>
              <a:t>F</a:t>
            </a:r>
            <a:r>
              <a:rPr lang="ru-RU" sz="4950" b="1" strike="noStrike" spc="389">
                <a:solidFill>
                  <a:srgbClr val="1E1E1E"/>
                </a:solidFill>
                <a:latin typeface="Arial"/>
              </a:rPr>
              <a:t>-</a:t>
            </a:r>
            <a:r>
              <a:rPr lang="ru-RU" sz="4950" b="1" strike="noStrike" spc="-69">
                <a:solidFill>
                  <a:srgbClr val="1E1E1E"/>
                </a:solidFill>
                <a:latin typeface="Arial"/>
              </a:rPr>
              <a:t>I</a:t>
            </a:r>
            <a:r>
              <a:rPr lang="ru-RU" sz="4950" b="1" strike="noStrike" spc="-273">
                <a:solidFill>
                  <a:srgbClr val="1E1E1E"/>
                </a:solidFill>
                <a:latin typeface="Arial"/>
              </a:rPr>
              <a:t>D</a:t>
            </a:r>
            <a:r>
              <a:rPr lang="ru-RU" sz="4950" b="1" strike="noStrike" spc="-477">
                <a:solidFill>
                  <a:srgbClr val="1E1E1E"/>
                </a:solidFill>
                <a:latin typeface="Arial"/>
              </a:rPr>
              <a:t>F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863ADAD4-0493-46F0-975C-50BB80BCE558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41</a:t>
            </a:fld>
            <a:endParaRPr lang="ru-RU" sz="3300" b="0" strike="noStrike" spc="-1">
              <a:latin typeface="Times New Roman"/>
            </a:endParaRPr>
          </a:p>
        </p:txBody>
      </p:sp>
      <p:graphicFrame>
        <p:nvGraphicFramePr>
          <p:cNvPr id="282" name="Table 3"/>
          <p:cNvGraphicFramePr/>
          <p:nvPr/>
        </p:nvGraphicFramePr>
        <p:xfrm>
          <a:off x="1418760" y="3602160"/>
          <a:ext cx="10176120" cy="2559960"/>
        </p:xfrm>
        <a:graphic>
          <a:graphicData uri="http://schemas.openxmlformats.org/drawingml/2006/table">
            <a:tbl>
              <a:tblPr/>
              <a:tblGrid>
                <a:gridCol w="16959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695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959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959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69596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963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2088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Text</a:t>
                      </a:r>
                      <a:r>
                        <a:rPr lang="ru-RU" sz="2450" b="1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id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49212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волк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3772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корова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3772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кошка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492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лев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3772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собака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201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9140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0.50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0.61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9212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72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0.61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9140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0.35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0.28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9212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0.89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908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2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90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0.71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5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5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9140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7656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0.71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640"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1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9068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5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0.38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5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58">
                          <a:solidFill>
                            <a:srgbClr val="1E1E1E"/>
                          </a:solidFill>
                          <a:latin typeface="Arial"/>
                        </a:rPr>
                        <a:t>0.93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49140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375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0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83" name="CustomShape 4"/>
          <p:cNvSpPr/>
          <p:nvPr/>
        </p:nvSpPr>
        <p:spPr>
          <a:xfrm>
            <a:off x="1405800" y="6468840"/>
            <a:ext cx="9851760" cy="3027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Каждому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тексту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коллекции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сопоставляется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вектор 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евклидовой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длины</a:t>
            </a:r>
            <a:r>
              <a:rPr lang="ru-RU" sz="3300" b="0" strike="noStrike" spc="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1.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54"/>
              </a:lnSpc>
            </a:pPr>
            <a:r>
              <a:rPr lang="ru-RU" sz="3300" b="0" strike="noStrike" spc="-4">
                <a:solidFill>
                  <a:srgbClr val="627AEB"/>
                </a:solidFill>
                <a:latin typeface="Arial"/>
              </a:rPr>
              <a:t>кошка </a:t>
            </a:r>
            <a:r>
              <a:rPr lang="ru-RU" sz="3300" b="0" strike="noStrike" spc="-24">
                <a:solidFill>
                  <a:srgbClr val="627AEB"/>
                </a:solidFill>
                <a:latin typeface="Arial"/>
              </a:rPr>
              <a:t>собака </a:t>
            </a:r>
            <a:r>
              <a:rPr lang="ru-RU" sz="3300" b="0" strike="noStrike" spc="-9">
                <a:solidFill>
                  <a:srgbClr val="627AEB"/>
                </a:solidFill>
                <a:latin typeface="Arial"/>
              </a:rPr>
              <a:t>корова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[0,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0.50,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0.61,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0,</a:t>
            </a:r>
            <a:r>
              <a:rPr lang="ru-RU" sz="3300" b="0" strike="noStrike" spc="5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0.61]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54"/>
              </a:lnSpc>
            </a:pPr>
            <a:r>
              <a:rPr lang="ru-RU" sz="3300" b="0" strike="noStrike" spc="-9">
                <a:solidFill>
                  <a:srgbClr val="627AEB"/>
                </a:solidFill>
                <a:latin typeface="Arial"/>
              </a:rPr>
              <a:t>корова </a:t>
            </a:r>
            <a:r>
              <a:rPr lang="ru-RU" sz="3300" b="0" strike="noStrike" spc="-154">
                <a:solidFill>
                  <a:srgbClr val="627AEB"/>
                </a:solidFill>
                <a:latin typeface="Arial"/>
              </a:rPr>
              <a:t>лев </a:t>
            </a:r>
            <a:r>
              <a:rPr lang="ru-RU" sz="3300" b="0" strike="noStrike" spc="-58">
                <a:solidFill>
                  <a:srgbClr val="627AEB"/>
                </a:solidFill>
                <a:latin typeface="Arial"/>
              </a:rPr>
              <a:t>волк </a:t>
            </a:r>
            <a:r>
              <a:rPr lang="ru-RU" sz="3300" b="0" strike="noStrike" spc="-154">
                <a:solidFill>
                  <a:srgbClr val="627AEB"/>
                </a:solidFill>
                <a:latin typeface="Arial"/>
              </a:rPr>
              <a:t>лев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[0.35,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0.28,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0, </a:t>
            </a:r>
            <a:r>
              <a:rPr lang="ru-RU" sz="3300" b="0" strike="noStrike" spc="-137">
                <a:solidFill>
                  <a:srgbClr val="1E1E1E"/>
                </a:solidFill>
                <a:latin typeface="Arial"/>
              </a:rPr>
              <a:t>0.89,</a:t>
            </a:r>
            <a:r>
              <a:rPr lang="ru-RU" sz="3300" b="0" strike="noStrike" spc="16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72">
                <a:solidFill>
                  <a:srgbClr val="1E1E1E"/>
                </a:solidFill>
                <a:latin typeface="Arial"/>
              </a:rPr>
              <a:t>0]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54"/>
              </a:lnSpc>
            </a:pPr>
            <a:r>
              <a:rPr lang="ru-RU" sz="3300" b="0" strike="noStrike" spc="-58">
                <a:solidFill>
                  <a:srgbClr val="627AEB"/>
                </a:solidFill>
                <a:latin typeface="Arial"/>
              </a:rPr>
              <a:t>волк </a:t>
            </a:r>
            <a:r>
              <a:rPr lang="ru-RU" sz="3300" b="0" strike="noStrike" spc="-24">
                <a:solidFill>
                  <a:srgbClr val="627AEB"/>
                </a:solidFill>
                <a:latin typeface="Arial"/>
              </a:rPr>
              <a:t>собака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[0.71,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0, 0, 0,</a:t>
            </a:r>
            <a:r>
              <a:rPr lang="ru-RU" sz="3300" b="0" strike="noStrike" spc="60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0.71]</a:t>
            </a:r>
            <a:endParaRPr lang="ru-RU" sz="3300" b="0" strike="noStrike" spc="-1">
              <a:latin typeface="Arial"/>
            </a:endParaRPr>
          </a:p>
          <a:p>
            <a:pPr marL="12600">
              <a:lnSpc>
                <a:spcPts val="3960"/>
              </a:lnSpc>
            </a:pPr>
            <a:r>
              <a:rPr lang="ru-RU" sz="3300" b="0" strike="noStrike" spc="-4">
                <a:solidFill>
                  <a:srgbClr val="627AEB"/>
                </a:solidFill>
                <a:latin typeface="Arial"/>
              </a:rPr>
              <a:t>кошка </a:t>
            </a:r>
            <a:r>
              <a:rPr lang="ru-RU" sz="3300" b="0" strike="noStrike" spc="-9">
                <a:solidFill>
                  <a:srgbClr val="627AEB"/>
                </a:solidFill>
                <a:latin typeface="Arial"/>
              </a:rPr>
              <a:t>корова </a:t>
            </a:r>
            <a:r>
              <a:rPr lang="ru-RU" sz="3300" b="0" strike="noStrike" spc="-4">
                <a:solidFill>
                  <a:srgbClr val="627AEB"/>
                </a:solidFill>
                <a:latin typeface="Arial"/>
              </a:rPr>
              <a:t>кошка </a:t>
            </a:r>
            <a:r>
              <a:rPr lang="ru-RU" sz="3300" b="0" strike="noStrike" spc="-602">
                <a:solidFill>
                  <a:srgbClr val="1E1E1E"/>
                </a:solidFill>
                <a:latin typeface="Arial"/>
              </a:rPr>
              <a:t>→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[0,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0.38, </a:t>
            </a: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0.93,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0,</a:t>
            </a:r>
            <a:r>
              <a:rPr lang="ru-RU" sz="3300" b="0" strike="noStrike" spc="5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72">
                <a:solidFill>
                  <a:srgbClr val="1E1E1E"/>
                </a:solidFill>
                <a:latin typeface="Arial"/>
              </a:rPr>
              <a:t>0]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Shape 1"/>
          <p:cNvSpPr txBox="1"/>
          <p:nvPr/>
        </p:nvSpPr>
        <p:spPr>
          <a:xfrm>
            <a:off x="1406160" y="1233360"/>
            <a:ext cx="575028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08">
                <a:solidFill>
                  <a:srgbClr val="1E1E1E"/>
                </a:solidFill>
                <a:latin typeface="Arial"/>
              </a:rPr>
              <a:t>Подготовка</a:t>
            </a:r>
            <a:r>
              <a:rPr lang="ru-RU" sz="4950" b="1" strike="noStrike" spc="-143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259">
                <a:solidFill>
                  <a:srgbClr val="1E1E1E"/>
                </a:solidFill>
                <a:latin typeface="Arial"/>
              </a:rPr>
              <a:t>данных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9F2F129C-05EB-4F42-AC86-A55B2A28D46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42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86" name="CustomShape 3"/>
          <p:cNvSpPr/>
          <p:nvPr/>
        </p:nvSpPr>
        <p:spPr>
          <a:xfrm>
            <a:off x="1406160" y="3453120"/>
            <a:ext cx="11171160" cy="327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Данные </a:t>
            </a:r>
            <a:r>
              <a:rPr lang="ru-RU" sz="3300" b="0" strike="noStrike" spc="-174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курса </a:t>
            </a:r>
            <a:r>
              <a:rPr lang="ru-RU" sz="3300" b="0" strike="noStrike" spc="639">
                <a:solidFill>
                  <a:srgbClr val="1E1E1E"/>
                </a:solidFill>
                <a:latin typeface="Arial"/>
              </a:rPr>
              <a:t>– </a:t>
            </a:r>
            <a:r>
              <a:rPr lang="ru-RU" sz="3300" b="0" strike="noStrike" spc="4">
                <a:solidFill>
                  <a:srgbClr val="1E1E1E"/>
                </a:solidFill>
                <a:latin typeface="Arial"/>
              </a:rPr>
              <a:t>набор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отрывков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одинаковой </a:t>
            </a:r>
            <a:r>
              <a:rPr lang="ru-RU" sz="3300" b="0" strike="noStrike" spc="-148">
                <a:solidFill>
                  <a:srgbClr val="1E1E1E"/>
                </a:solidFill>
                <a:latin typeface="Arial"/>
              </a:rPr>
              <a:t>длины 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из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книг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русских</a:t>
            </a:r>
            <a:r>
              <a:rPr lang="ru-RU" sz="3300" b="0" strike="noStrike" spc="17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писателей.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10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авторов.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34">
                <a:solidFill>
                  <a:srgbClr val="1E1E1E"/>
                </a:solidFill>
                <a:latin typeface="Arial"/>
              </a:rPr>
              <a:t>Public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Domain.</a:t>
            </a:r>
            <a:endParaRPr lang="ru-RU" sz="3300" b="0" strike="noStrike" spc="-1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Всего </a:t>
            </a:r>
            <a:r>
              <a:rPr lang="ru-RU" sz="3300" b="0" strike="noStrike" spc="-1">
                <a:solidFill>
                  <a:srgbClr val="1E1E1E"/>
                </a:solidFill>
                <a:latin typeface="Arial"/>
              </a:rPr>
              <a:t>47 </a:t>
            </a:r>
            <a:r>
              <a:rPr lang="ru-RU" sz="3300" b="0" strike="noStrike" spc="-4">
                <a:solidFill>
                  <a:srgbClr val="1E1E1E"/>
                </a:solidFill>
                <a:latin typeface="Arial"/>
              </a:rPr>
              <a:t>книг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формате</a:t>
            </a:r>
            <a:r>
              <a:rPr lang="ru-RU" sz="3300" b="0" strike="noStrike" spc="38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fb2.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Shape 1"/>
          <p:cNvSpPr txBox="1"/>
          <p:nvPr/>
        </p:nvSpPr>
        <p:spPr>
          <a:xfrm>
            <a:off x="1406160" y="1233360"/>
            <a:ext cx="22273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09">
                <a:solidFill>
                  <a:srgbClr val="1E1E1E"/>
                </a:solidFill>
                <a:latin typeface="Arial"/>
              </a:rPr>
              <a:t>А</a:t>
            </a:r>
            <a:r>
              <a:rPr lang="ru-RU" sz="4950" b="1" strike="noStrike" spc="-497">
                <a:solidFill>
                  <a:srgbClr val="1E1E1E"/>
                </a:solidFill>
                <a:latin typeface="Arial"/>
              </a:rPr>
              <a:t>в</a:t>
            </a:r>
            <a:r>
              <a:rPr lang="ru-RU" sz="4950" b="1" strike="noStrike" spc="-219">
                <a:solidFill>
                  <a:srgbClr val="1E1E1E"/>
                </a:solidFill>
                <a:latin typeface="Arial"/>
              </a:rPr>
              <a:t>т</a:t>
            </a:r>
            <a:r>
              <a:rPr lang="ru-RU" sz="4950" b="1" strike="noStrike" spc="-253">
                <a:solidFill>
                  <a:srgbClr val="1E1E1E"/>
                </a:solidFill>
                <a:latin typeface="Arial"/>
              </a:rPr>
              <a:t>о</a:t>
            </a:r>
            <a:r>
              <a:rPr lang="ru-RU" sz="4950" b="1" strike="noStrike" spc="-239">
                <a:solidFill>
                  <a:srgbClr val="1E1E1E"/>
                </a:solidFill>
                <a:latin typeface="Arial"/>
              </a:rPr>
              <a:t>р</a:t>
            </a:r>
            <a:r>
              <a:rPr lang="ru-RU" sz="4950" b="1" strike="noStrike" spc="-684">
                <a:solidFill>
                  <a:srgbClr val="1E1E1E"/>
                </a:solidFill>
                <a:latin typeface="Arial"/>
              </a:rPr>
              <a:t>ы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49834887-8F63-4742-941E-2F4BEDB77990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43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89" name="CustomShape 3"/>
          <p:cNvSpPr/>
          <p:nvPr/>
        </p:nvSpPr>
        <p:spPr>
          <a:xfrm>
            <a:off x="1406160" y="3453120"/>
            <a:ext cx="4293000" cy="51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57">
                <a:solidFill>
                  <a:srgbClr val="1E1E1E"/>
                </a:solidFill>
                <a:latin typeface="Arial"/>
              </a:rPr>
              <a:t>Разные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эпохи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299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жанры</a:t>
            </a:r>
            <a:endParaRPr lang="ru-RU" sz="3300" b="0" strike="noStrike" spc="-1">
              <a:latin typeface="Arial"/>
            </a:endParaRPr>
          </a:p>
        </p:txBody>
      </p:sp>
      <p:graphicFrame>
        <p:nvGraphicFramePr>
          <p:cNvPr id="290" name="Table 4"/>
          <p:cNvGraphicFramePr/>
          <p:nvPr/>
        </p:nvGraphicFramePr>
        <p:xfrm>
          <a:off x="1418760" y="4104720"/>
          <a:ext cx="6078600" cy="5634720"/>
        </p:xfrm>
        <a:graphic>
          <a:graphicData uri="http://schemas.openxmlformats.org/drawingml/2006/table">
            <a:tbl>
              <a:tblPr/>
              <a:tblGrid>
                <a:gridCol w="41414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37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Автор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1448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162">
                          <a:solidFill>
                            <a:srgbClr val="1E1E1E"/>
                          </a:solidFill>
                          <a:latin typeface="Arial"/>
                        </a:rPr>
                        <a:t>Число</a:t>
                      </a:r>
                      <a:r>
                        <a:rPr lang="ru-RU" sz="2450" b="1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1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книг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С.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Пушкин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6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П.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Платонов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7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П.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Чехов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34">
                          <a:solidFill>
                            <a:srgbClr val="1E1E1E"/>
                          </a:solidFill>
                          <a:latin typeface="Arial"/>
                        </a:rPr>
                        <a:t>Б.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Л.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Пастернак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1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4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Гончаров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5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4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Бунин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3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С.</a:t>
                      </a:r>
                      <a:r>
                        <a:rPr lang="ru-RU" sz="2450" b="0" strike="noStrike" spc="-44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Тургенев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5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Л.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Н.</a:t>
                      </a:r>
                      <a:r>
                        <a:rPr lang="ru-RU" sz="2450" b="0" strike="noStrike" spc="-44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Толстой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6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Н.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В.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37">
                          <a:solidFill>
                            <a:srgbClr val="1E1E1E"/>
                          </a:solidFill>
                          <a:latin typeface="Arial"/>
                        </a:rPr>
                        <a:t>Гоголь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6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1372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Ф.</a:t>
                      </a:r>
                      <a:r>
                        <a:rPr lang="ru-RU" sz="2450" b="0" strike="noStrike" spc="-40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М.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Достоевский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9800" algn="ctr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4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Shape 1"/>
          <p:cNvSpPr txBox="1"/>
          <p:nvPr/>
        </p:nvSpPr>
        <p:spPr>
          <a:xfrm>
            <a:off x="1406160" y="1233360"/>
            <a:ext cx="32443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23">
                <a:solidFill>
                  <a:srgbClr val="1E1E1E"/>
                </a:solidFill>
                <a:latin typeface="Arial"/>
              </a:rPr>
              <a:t>Обработка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4CFC58D2-44AA-4410-A2EE-C5192778312D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44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293" name="CustomShape 3"/>
          <p:cNvSpPr/>
          <p:nvPr/>
        </p:nvSpPr>
        <p:spPr>
          <a:xfrm>
            <a:off x="1406160" y="3453120"/>
            <a:ext cx="8994240" cy="604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515160" indent="-501840">
              <a:lnSpc>
                <a:spcPct val="100000"/>
              </a:lnSpc>
              <a:spcBef>
                <a:spcPts val="9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62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4">
                <a:solidFill>
                  <a:srgbClr val="1E1E1E"/>
                </a:solidFill>
                <a:latin typeface="Arial"/>
              </a:rPr>
              <a:t>каждой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книге </a:t>
            </a:r>
            <a:r>
              <a:rPr lang="ru-RU" sz="3300" b="0" strike="noStrike" spc="-111">
                <a:solidFill>
                  <a:srgbClr val="1E1E1E"/>
                </a:solidFill>
                <a:latin typeface="Arial"/>
              </a:rPr>
              <a:t>отсекались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сноски,  </a:t>
            </a:r>
            <a:r>
              <a:rPr lang="ru-RU" sz="3300" b="0" strike="noStrike" spc="-69">
                <a:solidFill>
                  <a:srgbClr val="1E1E1E"/>
                </a:solidFill>
                <a:latin typeface="Arial"/>
              </a:rPr>
              <a:t>комментарии,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примечания, </a:t>
            </a:r>
            <a:r>
              <a:rPr lang="ru-RU" sz="3300" b="0" strike="noStrike" spc="-77">
                <a:solidFill>
                  <a:srgbClr val="1E1E1E"/>
                </a:solidFill>
                <a:latin typeface="Arial"/>
              </a:rPr>
              <a:t>не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относящиеся  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к </a:t>
            </a:r>
            <a:r>
              <a:rPr lang="ru-RU" sz="3300" b="0" strike="noStrike" spc="-72">
                <a:solidFill>
                  <a:srgbClr val="1E1E1E"/>
                </a:solidFill>
                <a:latin typeface="Arial"/>
              </a:rPr>
              <a:t>основному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произведению.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Оставшиеся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части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делились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 </a:t>
            </a:r>
            <a:r>
              <a:rPr lang="ru-RU" sz="3300" b="0" strike="noStrike" spc="-32">
                <a:solidFill>
                  <a:srgbClr val="1E1E1E"/>
                </a:solidFill>
                <a:latin typeface="Arial"/>
              </a:rPr>
              <a:t>параграфы,  </a:t>
            </a:r>
            <a:r>
              <a:rPr lang="ru-RU" sz="3300" b="0" strike="noStrike" spc="-18">
                <a:solidFill>
                  <a:srgbClr val="1E1E1E"/>
                </a:solidFill>
                <a:latin typeface="Arial"/>
              </a:rPr>
              <a:t>параграфы </a:t>
            </a:r>
            <a:r>
              <a:rPr lang="ru-RU" sz="3300" b="0" strike="noStrike" spc="9">
                <a:solidFill>
                  <a:srgbClr val="1E1E1E"/>
                </a:solidFill>
                <a:latin typeface="Arial"/>
              </a:rPr>
              <a:t>на</a:t>
            </a:r>
            <a:r>
              <a:rPr lang="ru-RU" sz="3300" b="0" strike="noStrike" spc="83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>
                <a:solidFill>
                  <a:srgbClr val="1E1E1E"/>
                </a:solidFill>
                <a:latin typeface="Arial"/>
              </a:rPr>
              <a:t>предложения.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89">
                <a:solidFill>
                  <a:srgbClr val="1E1E1E"/>
                </a:solidFill>
                <a:latin typeface="Arial"/>
              </a:rPr>
              <a:t>Предложения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склеивались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отрывки </a:t>
            </a:r>
            <a:r>
              <a:rPr lang="ru-RU" sz="3300" b="0" strike="noStrike" spc="-208">
                <a:solidFill>
                  <a:srgbClr val="1E1E1E"/>
                </a:solidFill>
                <a:latin typeface="Arial"/>
              </a:rPr>
              <a:t>(</a:t>
            </a:r>
            <a:r>
              <a:rPr lang="ru-RU" sz="3300" b="1" strike="noStrike" spc="-208">
                <a:solidFill>
                  <a:srgbClr val="1E1E1E"/>
                </a:solidFill>
                <a:latin typeface="Arial"/>
              </a:rPr>
              <a:t>chunk</a:t>
            </a:r>
            <a:r>
              <a:rPr lang="ru-RU" sz="3300" b="0" strike="noStrike" spc="-208">
                <a:solidFill>
                  <a:srgbClr val="1E1E1E"/>
                </a:solidFill>
                <a:latin typeface="Arial"/>
              </a:rPr>
              <a:t>) 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размером от 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200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до </a:t>
            </a:r>
            <a:r>
              <a:rPr lang="ru-RU" sz="3300" b="0" strike="noStrike" spc="29">
                <a:solidFill>
                  <a:srgbClr val="1E1E1E"/>
                </a:solidFill>
                <a:latin typeface="Arial"/>
              </a:rPr>
              <a:t>250</a:t>
            </a:r>
            <a:r>
              <a:rPr lang="ru-RU" sz="3300" b="0" strike="noStrike" spc="33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символов.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23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12">
                <a:solidFill>
                  <a:srgbClr val="1E1E1E"/>
                </a:solidFill>
                <a:latin typeface="Arial"/>
              </a:rPr>
              <a:t>каждого </a:t>
            </a:r>
            <a:r>
              <a:rPr lang="ru-RU" sz="3300" b="0" strike="noStrike" spc="-24">
                <a:solidFill>
                  <a:srgbClr val="1E1E1E"/>
                </a:solidFill>
                <a:latin typeface="Arial"/>
              </a:rPr>
              <a:t>автора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выборка </a:t>
            </a:r>
            <a:r>
              <a:rPr lang="ru-RU" sz="3300" b="0" strike="noStrike" spc="-52">
                <a:solidFill>
                  <a:srgbClr val="1E1E1E"/>
                </a:solidFill>
                <a:latin typeface="Arial"/>
              </a:rPr>
              <a:t>примерно  </a:t>
            </a:r>
            <a:r>
              <a:rPr lang="ru-RU" sz="3300" b="0" strike="noStrike" spc="-38">
                <a:solidFill>
                  <a:srgbClr val="1E1E1E"/>
                </a:solidFill>
                <a:latin typeface="Arial"/>
              </a:rPr>
              <a:t>одинакового</a:t>
            </a:r>
            <a:r>
              <a:rPr lang="ru-RU" sz="3300" b="0" strike="noStrike" spc="3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58">
                <a:solidFill>
                  <a:srgbClr val="1E1E1E"/>
                </a:solidFill>
                <a:latin typeface="Arial"/>
              </a:rPr>
              <a:t>размера.</a:t>
            </a:r>
            <a:endParaRPr lang="ru-RU" sz="3300" b="0" strike="noStrike" spc="-1">
              <a:latin typeface="Arial"/>
            </a:endParaRPr>
          </a:p>
          <a:p>
            <a:pPr marL="515520" indent="-50256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7">
                <a:solidFill>
                  <a:srgbClr val="1E1E1E"/>
                </a:solidFill>
                <a:latin typeface="Arial"/>
              </a:rPr>
              <a:t>Токенизация </a:t>
            </a:r>
            <a:r>
              <a:rPr lang="ru-RU" sz="3300" b="0" strike="noStrike" spc="-63">
                <a:solidFill>
                  <a:srgbClr val="1E1E1E"/>
                </a:solidFill>
                <a:latin typeface="Arial"/>
              </a:rPr>
              <a:t>и</a:t>
            </a:r>
            <a:r>
              <a:rPr lang="ru-RU" sz="3300" b="0" strike="noStrike" spc="182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09">
                <a:solidFill>
                  <a:srgbClr val="1E1E1E"/>
                </a:solidFill>
                <a:latin typeface="Arial"/>
              </a:rPr>
              <a:t>лемматизация.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Shape 1"/>
          <p:cNvSpPr txBox="1"/>
          <p:nvPr/>
        </p:nvSpPr>
        <p:spPr>
          <a:xfrm>
            <a:off x="1406160" y="1233360"/>
            <a:ext cx="518832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219">
                <a:solidFill>
                  <a:srgbClr val="1E1E1E"/>
                </a:solidFill>
                <a:latin typeface="Arial"/>
              </a:rPr>
              <a:t>Пример</a:t>
            </a:r>
            <a:r>
              <a:rPr lang="ru-RU" sz="4950" b="1" strike="noStrike" spc="-154">
                <a:solidFill>
                  <a:srgbClr val="1E1E1E"/>
                </a:solidFill>
                <a:latin typeface="Arial"/>
              </a:rPr>
              <a:t> </a:t>
            </a:r>
            <a:r>
              <a:rPr lang="ru-RU" sz="4950" b="1" strike="noStrike" spc="-338">
                <a:solidFill>
                  <a:srgbClr val="1E1E1E"/>
                </a:solidFill>
                <a:latin typeface="Arial"/>
              </a:rPr>
              <a:t>отрывков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B31F4500-8DF2-4736-9FBD-E6FFA6F7250A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45</a:t>
            </a:fld>
            <a:endParaRPr lang="ru-RU" sz="3300" b="0" strike="noStrike" spc="-1">
              <a:latin typeface="Times New Roman"/>
            </a:endParaRPr>
          </a:p>
        </p:txBody>
      </p:sp>
      <p:graphicFrame>
        <p:nvGraphicFramePr>
          <p:cNvPr id="296" name="Table 3"/>
          <p:cNvGraphicFramePr/>
          <p:nvPr/>
        </p:nvGraphicFramePr>
        <p:xfrm>
          <a:off x="1418760" y="3602160"/>
          <a:ext cx="11152800" cy="5634720"/>
        </p:xfrm>
        <a:graphic>
          <a:graphicData uri="http://schemas.openxmlformats.org/drawingml/2006/table">
            <a:tbl>
              <a:tblPr/>
              <a:tblGrid>
                <a:gridCol w="30312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121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0472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Автор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R w="28080">
                      <a:solidFill>
                        <a:srgbClr val="FFFFFF"/>
                      </a:solidFill>
                    </a:lnR>
                    <a:solidFill>
                      <a:srgbClr val="BDD9DE"/>
                    </a:solidFill>
                  </a:tcPr>
                </a:tc>
                <a:tc>
                  <a:txBody>
                    <a:bodyPr/>
                    <a:lstStyle/>
                    <a:p>
                      <a:pPr marL="18360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lang="ru-RU" sz="2450" b="1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Отрывок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FFFFFF"/>
                      </a:solidFill>
                    </a:lnL>
                    <a:solidFill>
                      <a:srgbClr val="BDD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С.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Пушкин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этот </a:t>
                      </a: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два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сочинение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явиться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видимый </a:t>
                      </a:r>
                      <a:r>
                        <a:rPr lang="ru-RU" sz="2450" b="0" strike="noStrike" spc="-18">
                          <a:solidFill>
                            <a:srgbClr val="1E1E1E"/>
                          </a:solidFill>
                          <a:latin typeface="Arial"/>
                        </a:rPr>
                        <a:t>причина</a:t>
                      </a:r>
                      <a:r>
                        <a:rPr lang="ru-RU" sz="2450" b="0" strike="noStrike" spc="54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бор...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804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П.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Платонов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вчера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отец </a:t>
                      </a:r>
                      <a:r>
                        <a:rPr lang="ru-RU" sz="2450" b="0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спотыкнуться </a:t>
                      </a:r>
                      <a:r>
                        <a:rPr lang="ru-RU" sz="2450" b="0" strike="noStrike" spc="24">
                          <a:solidFill>
                            <a:srgbClr val="1E1E1E"/>
                          </a:solidFill>
                          <a:latin typeface="Arial"/>
                        </a:rPr>
                        <a:t>на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улица </a:t>
                      </a: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и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упасть</a:t>
                      </a:r>
                      <a:r>
                        <a:rPr lang="ru-RU" sz="2450" b="0" strike="noStrike" spc="42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объя...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63">
                          <a:solidFill>
                            <a:srgbClr val="1E1E1E"/>
                          </a:solidFill>
                          <a:latin typeface="Arial"/>
                        </a:rPr>
                        <a:t>П.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Чехов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весь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быть </a:t>
                      </a: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решить </a:t>
                      </a:r>
                      <a:r>
                        <a:rPr lang="ru-RU" sz="2450" b="0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думать </a:t>
                      </a: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он </a:t>
                      </a: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подходить </a:t>
                      </a:r>
                      <a:r>
                        <a:rPr lang="ru-RU" sz="2450" b="0" strike="noStrike" spc="109">
                          <a:solidFill>
                            <a:srgbClr val="1E1E1E"/>
                          </a:solidFill>
                          <a:latin typeface="Arial"/>
                        </a:rPr>
                        <a:t>к</a:t>
                      </a:r>
                      <a:r>
                        <a:rPr lang="ru-RU" sz="2450" b="0" strike="noStrike" spc="60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гостины...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134">
                          <a:solidFill>
                            <a:srgbClr val="1E1E1E"/>
                          </a:solidFill>
                          <a:latin typeface="Arial"/>
                        </a:rPr>
                        <a:t>Б.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Л.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Пастернак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и </a:t>
                      </a: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москва </a:t>
                      </a: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внизу </a:t>
                      </a: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и </a:t>
                      </a:r>
                      <a:r>
                        <a:rPr lang="ru-RU" sz="2450" b="0" strike="noStrike" spc="-83">
                          <a:solidFill>
                            <a:srgbClr val="1E1E1E"/>
                          </a:solidFill>
                          <a:latin typeface="Arial"/>
                        </a:rPr>
                        <a:t>вдали </a:t>
                      </a: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родной </a:t>
                      </a: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город </a:t>
                      </a: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автор </a:t>
                      </a: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и</a:t>
                      </a:r>
                      <a:r>
                        <a:rPr lang="ru-RU" sz="2450" b="0" strike="noStrike" spc="514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77">
                          <a:solidFill>
                            <a:srgbClr val="1E1E1E"/>
                          </a:solidFill>
                          <a:latin typeface="Arial"/>
                        </a:rPr>
                        <a:t>по...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4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Гончаров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надо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мосье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быть </a:t>
                      </a:r>
                      <a:r>
                        <a:rPr lang="ru-RU" sz="2450" b="0" strike="noStrike" spc="-24">
                          <a:solidFill>
                            <a:srgbClr val="1E1E1E"/>
                          </a:solidFill>
                          <a:latin typeface="Arial"/>
                        </a:rPr>
                        <a:t>немного </a:t>
                      </a:r>
                      <a:r>
                        <a:rPr lang="ru-RU" sz="2450" b="0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ловчий </a:t>
                      </a:r>
                      <a:r>
                        <a:rPr lang="ru-RU" sz="2450" b="0" strike="noStrike" spc="43">
                          <a:solidFill>
                            <a:srgbClr val="1E1E1E"/>
                          </a:solidFill>
                          <a:latin typeface="Arial"/>
                        </a:rPr>
                        <a:t>а </a:t>
                      </a: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то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вот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вы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пус...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42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А.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Бунин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ничтожество </a:t>
                      </a: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жалкий </a:t>
                      </a:r>
                      <a:r>
                        <a:rPr lang="ru-RU" sz="2450" b="0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девочка </a:t>
                      </a: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у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который </a:t>
                      </a: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нет</a:t>
                      </a:r>
                      <a:r>
                        <a:rPr lang="ru-RU" sz="2450" b="0" strike="noStrike" spc="24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ничто...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И.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97">
                          <a:solidFill>
                            <a:srgbClr val="1E1E1E"/>
                          </a:solidFill>
                          <a:latin typeface="Arial"/>
                        </a:rPr>
                        <a:t>С.</a:t>
                      </a:r>
                      <a:r>
                        <a:rPr lang="ru-RU" sz="2450" b="0" strike="noStrike" spc="-44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9">
                          <a:solidFill>
                            <a:srgbClr val="1E1E1E"/>
                          </a:solidFill>
                          <a:latin typeface="Arial"/>
                        </a:rPr>
                        <a:t>Тургенев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4"/>
                        </a:spcBef>
                      </a:pPr>
                      <a:r>
                        <a:rPr lang="ru-RU" sz="2450" b="0" strike="noStrike" spc="-83">
                          <a:solidFill>
                            <a:srgbClr val="1E1E1E"/>
                          </a:solidFill>
                          <a:latin typeface="Arial"/>
                        </a:rPr>
                        <a:t>с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один </a:t>
                      </a:r>
                      <a:r>
                        <a:rPr lang="ru-RU" sz="2450" b="0" strike="noStrike" spc="-4">
                          <a:solidFill>
                            <a:srgbClr val="1E1E1E"/>
                          </a:solidFill>
                          <a:latin typeface="Arial"/>
                        </a:rPr>
                        <a:t>сторона </a:t>
                      </a:r>
                      <a:r>
                        <a:rPr lang="ru-RU" sz="2450" b="0" strike="noStrike" spc="-18">
                          <a:solidFill>
                            <a:srgbClr val="1E1E1E"/>
                          </a:solidFill>
                          <a:latin typeface="Arial"/>
                        </a:rPr>
                        <a:t>рот </a:t>
                      </a: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зуб </a:t>
                      </a:r>
                      <a:r>
                        <a:rPr lang="ru-RU" sz="2450" b="0" strike="noStrike" spc="-69">
                          <a:solidFill>
                            <a:srgbClr val="1E1E1E"/>
                          </a:solidFill>
                          <a:latin typeface="Arial"/>
                        </a:rPr>
                        <a:t>нет </a:t>
                      </a:r>
                      <a:r>
                        <a:rPr lang="ru-RU" sz="2450" b="0" strike="noStrike" spc="4">
                          <a:solidFill>
                            <a:srgbClr val="1E1E1E"/>
                          </a:solidFill>
                          <a:latin typeface="Arial"/>
                        </a:rPr>
                        <a:t>так </a:t>
                      </a:r>
                      <a:r>
                        <a:rPr lang="ru-RU" sz="2450" b="0" strike="noStrike" spc="-83">
                          <a:solidFill>
                            <a:srgbClr val="1E1E1E"/>
                          </a:solidFill>
                          <a:latin typeface="Arial"/>
                        </a:rPr>
                        <a:t>что </a:t>
                      </a: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весь </a:t>
                      </a:r>
                      <a:r>
                        <a:rPr lang="ru-RU" sz="2450" b="0" strike="noStrike" spc="-72">
                          <a:solidFill>
                            <a:srgbClr val="1E1E1E"/>
                          </a:solidFill>
                          <a:latin typeface="Arial"/>
                        </a:rPr>
                        <a:t>лицо</a:t>
                      </a:r>
                      <a:r>
                        <a:rPr lang="ru-RU" sz="2450" b="0" strike="noStrike" spc="1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83">
                          <a:solidFill>
                            <a:srgbClr val="1E1E1E"/>
                          </a:solidFill>
                          <a:latin typeface="Arial"/>
                        </a:rPr>
                        <a:t>н...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1">
                          <a:solidFill>
                            <a:srgbClr val="1E1E1E"/>
                          </a:solidFill>
                          <a:latin typeface="Arial"/>
                        </a:rPr>
                        <a:t>Л.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Н.</a:t>
                      </a:r>
                      <a:r>
                        <a:rPr lang="ru-RU" sz="2450" b="0" strike="noStrike" spc="-449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Толстой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24">
                          <a:solidFill>
                            <a:srgbClr val="1E1E1E"/>
                          </a:solidFill>
                          <a:latin typeface="Arial"/>
                        </a:rPr>
                        <a:t>на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другой </a:t>
                      </a:r>
                      <a:r>
                        <a:rPr lang="ru-RU" sz="2450" b="0" strike="noStrike" spc="-103">
                          <a:solidFill>
                            <a:srgbClr val="1E1E1E"/>
                          </a:solidFill>
                          <a:latin typeface="Arial"/>
                        </a:rPr>
                        <a:t>день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я </a:t>
                      </a:r>
                      <a:r>
                        <a:rPr lang="ru-RU" sz="2450" b="0" strike="noStrike" spc="-94">
                          <a:solidFill>
                            <a:srgbClr val="1E1E1E"/>
                          </a:solidFill>
                          <a:latin typeface="Arial"/>
                        </a:rPr>
                        <a:t>весь </a:t>
                      </a: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сила </a:t>
                      </a:r>
                      <a:r>
                        <a:rPr lang="ru-RU" sz="2450" b="0" strike="noStrike" spc="-38">
                          <a:solidFill>
                            <a:srgbClr val="1E1E1E"/>
                          </a:solidFill>
                          <a:latin typeface="Arial"/>
                        </a:rPr>
                        <a:t>употребить </a:t>
                      </a:r>
                      <a:r>
                        <a:rPr lang="ru-RU" sz="2450" b="0" strike="noStrike" spc="-77">
                          <a:solidFill>
                            <a:srgbClr val="1E1E1E"/>
                          </a:solidFill>
                          <a:latin typeface="Arial"/>
                        </a:rPr>
                        <a:t>чтобы</a:t>
                      </a:r>
                      <a:r>
                        <a:rPr lang="ru-RU" sz="2450" b="0" strike="noStrike" spc="3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77">
                          <a:solidFill>
                            <a:srgbClr val="1E1E1E"/>
                          </a:solidFill>
                          <a:latin typeface="Arial"/>
                        </a:rPr>
                        <a:t>по...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1228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Н.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09">
                          <a:solidFill>
                            <a:srgbClr val="1E1E1E"/>
                          </a:solidFill>
                          <a:latin typeface="Arial"/>
                        </a:rPr>
                        <a:t>В.</a:t>
                      </a:r>
                      <a:r>
                        <a:rPr lang="ru-RU" sz="2450" b="0" strike="noStrike" spc="-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37">
                          <a:solidFill>
                            <a:srgbClr val="1E1E1E"/>
                          </a:solidFill>
                          <a:latin typeface="Arial"/>
                        </a:rPr>
                        <a:t>Гоголь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49">
                          <a:solidFill>
                            <a:srgbClr val="1E1E1E"/>
                          </a:solidFill>
                          <a:latin typeface="Arial"/>
                        </a:rPr>
                        <a:t>добрый </a:t>
                      </a:r>
                      <a:r>
                        <a:rPr lang="ru-RU" sz="2450" b="0" strike="noStrike" spc="-103">
                          <a:solidFill>
                            <a:srgbClr val="1E1E1E"/>
                          </a:solidFill>
                          <a:latin typeface="Arial"/>
                        </a:rPr>
                        <a:t>день </a:t>
                      </a: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папа </a:t>
                      </a: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дворецкий </a:t>
                      </a:r>
                      <a:r>
                        <a:rPr lang="ru-RU" sz="2450" b="0" strike="noStrike" spc="12">
                          <a:solidFill>
                            <a:srgbClr val="1E1E1E"/>
                          </a:solidFill>
                          <a:latin typeface="Arial"/>
                        </a:rPr>
                        <a:t>бог какой</a:t>
                      </a:r>
                      <a:r>
                        <a:rPr lang="ru-RU" sz="2450" b="0" strike="noStrike" spc="327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божествен...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13720"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Ф.</a:t>
                      </a:r>
                      <a:r>
                        <a:rPr lang="ru-RU" sz="2450" b="0" strike="noStrike" spc="-403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2">
                          <a:solidFill>
                            <a:srgbClr val="1E1E1E"/>
                          </a:solidFill>
                          <a:latin typeface="Arial"/>
                        </a:rPr>
                        <a:t>М.</a:t>
                      </a:r>
                      <a:r>
                        <a:rPr lang="ru-RU" sz="2450" b="0" strike="noStrike" spc="-378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Достоевский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tc>
                  <a:txBody>
                    <a:bodyPr/>
                    <a:lstStyle/>
                    <a:p>
                      <a:pPr marL="114840">
                        <a:lnSpc>
                          <a:spcPct val="100000"/>
                        </a:lnSpc>
                        <a:spcBef>
                          <a:spcPts val="221"/>
                        </a:spcBef>
                      </a:pP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прощать </a:t>
                      </a:r>
                      <a:r>
                        <a:rPr lang="ru-RU" sz="2450" b="0" strike="noStrike" spc="-43">
                          <a:solidFill>
                            <a:srgbClr val="1E1E1E"/>
                          </a:solidFill>
                          <a:latin typeface="Arial"/>
                        </a:rPr>
                        <a:t>дмитрий </a:t>
                      </a:r>
                      <a:r>
                        <a:rPr lang="ru-RU" sz="2450" b="0" strike="noStrike" spc="-32">
                          <a:solidFill>
                            <a:srgbClr val="1E1E1E"/>
                          </a:solidFill>
                          <a:latin typeface="Arial"/>
                        </a:rPr>
                        <a:t>фёдор </a:t>
                      </a:r>
                      <a:r>
                        <a:rPr lang="ru-RU" sz="2450" b="0" strike="noStrike" spc="-29">
                          <a:solidFill>
                            <a:srgbClr val="1E1E1E"/>
                          </a:solidFill>
                          <a:latin typeface="Arial"/>
                        </a:rPr>
                        <a:t>прощать </a:t>
                      </a:r>
                      <a:r>
                        <a:rPr lang="ru-RU" sz="2450" b="0" strike="noStrike" spc="-52">
                          <a:solidFill>
                            <a:srgbClr val="1E1E1E"/>
                          </a:solidFill>
                          <a:latin typeface="Arial"/>
                        </a:rPr>
                        <a:t>раздаться </a:t>
                      </a:r>
                      <a:r>
                        <a:rPr lang="ru-RU" sz="2450" b="0" strike="noStrike" spc="-58">
                          <a:solidFill>
                            <a:srgbClr val="1E1E1E"/>
                          </a:solidFill>
                          <a:latin typeface="Arial"/>
                        </a:rPr>
                        <a:t>вдруг</a:t>
                      </a:r>
                      <a:r>
                        <a:rPr lang="ru-RU" sz="2450" b="0" strike="noStrike" spc="372">
                          <a:solidFill>
                            <a:srgbClr val="1E1E1E"/>
                          </a:solidFill>
                          <a:latin typeface="Arial"/>
                        </a:rPr>
                        <a:t> </a:t>
                      </a:r>
                      <a:r>
                        <a:rPr lang="ru-RU" sz="2450" b="0" strike="noStrike" spc="-111">
                          <a:solidFill>
                            <a:srgbClr val="1E1E1E"/>
                          </a:solidFill>
                          <a:latin typeface="Arial"/>
                        </a:rPr>
                        <a:t>...</a:t>
                      </a:r>
                      <a:endParaRPr lang="ru-RU" sz="2450" b="0" strike="noStrike" spc="-1">
                        <a:latin typeface="Arial"/>
                      </a:endParaRPr>
                    </a:p>
                  </a:txBody>
                  <a:tcPr>
                    <a:lnL w="28080">
                      <a:solidFill>
                        <a:srgbClr val="BDD9DE"/>
                      </a:solidFill>
                    </a:lnL>
                    <a:lnR w="28080">
                      <a:solidFill>
                        <a:srgbClr val="BDD9DE"/>
                      </a:solidFill>
                    </a:lnR>
                    <a:lnT w="28080">
                      <a:solidFill>
                        <a:srgbClr val="BDD9DE"/>
                      </a:solidFill>
                    </a:lnT>
                    <a:lnB w="28080">
                      <a:solidFill>
                        <a:srgbClr val="BDD9DE"/>
                      </a:solidFill>
                    </a:lnB>
                    <a:solidFill>
                      <a:srgbClr val="EB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1406160" y="3453120"/>
            <a:ext cx="10604880" cy="51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3300" b="0" strike="noStrike" spc="-188">
                <a:solidFill>
                  <a:srgbClr val="1E1E1E"/>
                </a:solidFill>
                <a:latin typeface="Arial"/>
              </a:rPr>
              <a:t>Результаты </a:t>
            </a:r>
            <a:r>
              <a:rPr lang="ru-RU" sz="3300" b="0" strike="noStrike" spc="-83">
                <a:solidFill>
                  <a:srgbClr val="1E1E1E"/>
                </a:solidFill>
                <a:latin typeface="Arial"/>
              </a:rPr>
              <a:t>сохранены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49">
                <a:solidFill>
                  <a:srgbClr val="1E1E1E"/>
                </a:solidFill>
                <a:latin typeface="Arial"/>
              </a:rPr>
              <a:t>базе </a:t>
            </a:r>
            <a:r>
              <a:rPr lang="ru-RU" sz="3300" b="0" strike="noStrike" spc="-94">
                <a:solidFill>
                  <a:srgbClr val="1E1E1E"/>
                </a:solidFill>
                <a:latin typeface="Arial"/>
              </a:rPr>
              <a:t>данных </a:t>
            </a:r>
            <a:r>
              <a:rPr lang="ru-RU" sz="3300" b="0" strike="noStrike" spc="-103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43">
                <a:solidFill>
                  <a:srgbClr val="1E1E1E"/>
                </a:solidFill>
                <a:latin typeface="Arial"/>
              </a:rPr>
              <a:t>формате</a:t>
            </a:r>
            <a:r>
              <a:rPr lang="ru-RU" sz="3300" b="0" strike="noStrike" spc="128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68">
                <a:solidFill>
                  <a:srgbClr val="1E1E1E"/>
                </a:solidFill>
                <a:latin typeface="Arial"/>
              </a:rPr>
              <a:t>SQLite.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1434600" y="4549680"/>
            <a:ext cx="11142000" cy="4847760"/>
          </a:xfrm>
          <a:custGeom>
            <a:avLst/>
            <a:gdLst/>
            <a:ahLst/>
            <a:cxnLst/>
            <a:rect l="l" t="t" r="r" b="b"/>
            <a:pathLst>
              <a:path w="11142345" h="4848225">
                <a:moveTo>
                  <a:pt x="0" y="4848019"/>
                </a:moveTo>
                <a:lnTo>
                  <a:pt x="11142069" y="4848019"/>
                </a:lnTo>
                <a:lnTo>
                  <a:pt x="11142069" y="0"/>
                </a:lnTo>
                <a:lnTo>
                  <a:pt x="0" y="0"/>
                </a:lnTo>
                <a:lnTo>
                  <a:pt x="0" y="4848019"/>
                </a:lnTo>
                <a:close/>
              </a:path>
            </a:pathLst>
          </a:custGeom>
          <a:noFill/>
          <a:ln w="31320">
            <a:solidFill>
              <a:srgbClr val="BDD9D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9" name="TextShape 3"/>
          <p:cNvSpPr txBox="1"/>
          <p:nvPr/>
        </p:nvSpPr>
        <p:spPr>
          <a:xfrm>
            <a:off x="1406160" y="1233360"/>
            <a:ext cx="287244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194">
                <a:solidFill>
                  <a:srgbClr val="1E1E1E"/>
                </a:solidFill>
                <a:latin typeface="Arial"/>
              </a:rPr>
              <a:t>Х</a:t>
            </a:r>
            <a:r>
              <a:rPr lang="ru-RU" sz="4950" b="1" strike="noStrike" spc="-38">
                <a:solidFill>
                  <a:srgbClr val="1E1E1E"/>
                </a:solidFill>
                <a:latin typeface="Arial"/>
              </a:rPr>
              <a:t>ра</a:t>
            </a:r>
            <a:r>
              <a:rPr lang="ru-RU" sz="4950" b="1" strike="noStrike" spc="-279">
                <a:solidFill>
                  <a:srgbClr val="1E1E1E"/>
                </a:solidFill>
                <a:latin typeface="Arial"/>
              </a:rPr>
              <a:t>н</a:t>
            </a:r>
            <a:r>
              <a:rPr lang="ru-RU" sz="4950" b="1" strike="noStrike" spc="-273">
                <a:solidFill>
                  <a:srgbClr val="1E1E1E"/>
                </a:solidFill>
                <a:latin typeface="Arial"/>
              </a:rPr>
              <a:t>е</a:t>
            </a:r>
            <a:r>
              <a:rPr lang="ru-RU" sz="4950" b="1" strike="noStrike" spc="-262">
                <a:solidFill>
                  <a:srgbClr val="1E1E1E"/>
                </a:solidFill>
                <a:latin typeface="Arial"/>
              </a:rPr>
              <a:t>н</a:t>
            </a:r>
            <a:r>
              <a:rPr lang="ru-RU" sz="4950" b="1" strike="noStrike" spc="-279">
                <a:solidFill>
                  <a:srgbClr val="1E1E1E"/>
                </a:solidFill>
                <a:latin typeface="Arial"/>
              </a:rPr>
              <a:t>и</a:t>
            </a:r>
            <a:r>
              <a:rPr lang="ru-RU" sz="4950" b="1" strike="noStrike" spc="-228">
                <a:solidFill>
                  <a:srgbClr val="1E1E1E"/>
                </a:solidFill>
                <a:latin typeface="Arial"/>
              </a:rPr>
              <a:t>е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TextShape 4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DC7B87DF-4621-4798-90E5-58BD28DAF237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46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301" name="CustomShape 5"/>
          <p:cNvSpPr/>
          <p:nvPr/>
        </p:nvSpPr>
        <p:spPr>
          <a:xfrm>
            <a:off x="1450080" y="5463720"/>
            <a:ext cx="11111040" cy="4033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/>
          <a:lstStyle/>
          <a:p>
            <a:pPr marL="476280">
              <a:lnSpc>
                <a:spcPts val="3960"/>
              </a:lnSpc>
              <a:spcBef>
                <a:spcPts val="96"/>
              </a:spcBef>
            </a:pPr>
            <a:r>
              <a:rPr lang="ru-RU" sz="3300" b="0" strike="noStrike" spc="-128">
                <a:solidFill>
                  <a:srgbClr val="627AEB"/>
                </a:solidFill>
                <a:latin typeface="Trebuchet MS"/>
              </a:rPr>
              <a:t>CREATE </a:t>
            </a:r>
            <a:r>
              <a:rPr lang="ru-RU" sz="3300" b="0" strike="noStrike" spc="-137">
                <a:solidFill>
                  <a:srgbClr val="627AEB"/>
                </a:solidFill>
                <a:latin typeface="Trebuchet MS"/>
              </a:rPr>
              <a:t>TABLE </a:t>
            </a:r>
            <a:r>
              <a:rPr lang="ru-RU" sz="3300" b="0" strike="noStrike" spc="-32">
                <a:solidFill>
                  <a:srgbClr val="1E1E1E"/>
                </a:solidFill>
                <a:latin typeface="Trebuchet MS"/>
              </a:rPr>
              <a:t>chunk</a:t>
            </a:r>
            <a:r>
              <a:rPr lang="ru-RU" sz="3300" b="0" strike="noStrike" spc="-137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(</a:t>
            </a:r>
            <a:endParaRPr lang="ru-RU" sz="3300" b="0" strike="noStrike" spc="-1">
              <a:latin typeface="Arial"/>
            </a:endParaRPr>
          </a:p>
          <a:p>
            <a:pPr marL="978480">
              <a:lnSpc>
                <a:spcPts val="3960"/>
              </a:lnSpc>
              <a:spcBef>
                <a:spcPts val="130"/>
              </a:spcBef>
            </a:pPr>
            <a:r>
              <a:rPr lang="ru-RU" sz="3300" b="0" strike="noStrike" spc="-9">
                <a:solidFill>
                  <a:srgbClr val="1E1E1E"/>
                </a:solidFill>
                <a:latin typeface="Trebuchet MS"/>
              </a:rPr>
              <a:t>chunk_id </a:t>
            </a:r>
            <a:r>
              <a:rPr lang="ru-RU" sz="3300" b="0" strike="noStrike" spc="-103">
                <a:solidFill>
                  <a:srgbClr val="627AEB"/>
                </a:solidFill>
                <a:latin typeface="Trebuchet MS"/>
              </a:rPr>
              <a:t>INTEGER </a:t>
            </a:r>
            <a:r>
              <a:rPr lang="ru-RU" sz="3300" b="0" strike="noStrike" spc="-49">
                <a:solidFill>
                  <a:srgbClr val="627AEB"/>
                </a:solidFill>
                <a:latin typeface="Trebuchet MS"/>
              </a:rPr>
              <a:t>NOT </a:t>
            </a:r>
            <a:r>
              <a:rPr lang="ru-RU" sz="3300" b="0" strike="noStrike" spc="-111">
                <a:solidFill>
                  <a:srgbClr val="627AEB"/>
                </a:solidFill>
                <a:latin typeface="Trebuchet MS"/>
              </a:rPr>
              <a:t>NULL</a:t>
            </a:r>
            <a:r>
              <a:rPr lang="ru-RU" sz="3300" b="0" strike="noStrike" spc="-111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-63">
                <a:solidFill>
                  <a:srgbClr val="1E1E1E"/>
                </a:solidFill>
                <a:latin typeface="Trebuchet MS"/>
              </a:rPr>
              <a:t>author </a:t>
            </a:r>
            <a:r>
              <a:rPr lang="ru-RU" sz="3300" b="0" strike="noStrike" spc="-109">
                <a:solidFill>
                  <a:srgbClr val="627AEB"/>
                </a:solidFill>
                <a:latin typeface="Trebuchet MS"/>
              </a:rPr>
              <a:t>VARCHAR</a:t>
            </a:r>
            <a:r>
              <a:rPr lang="ru-RU" sz="3300" b="0" strike="noStrike" spc="-109">
                <a:solidFill>
                  <a:srgbClr val="1E1E1E"/>
                </a:solidFill>
                <a:latin typeface="Trebuchet MS"/>
              </a:rPr>
              <a:t>(100) </a:t>
            </a:r>
            <a:r>
              <a:rPr lang="ru-RU" sz="3300" b="0" strike="noStrike" spc="-49">
                <a:solidFill>
                  <a:srgbClr val="627AEB"/>
                </a:solidFill>
                <a:latin typeface="Trebuchet MS"/>
              </a:rPr>
              <a:t>NOT </a:t>
            </a:r>
            <a:r>
              <a:rPr lang="ru-RU" sz="3300" b="0" strike="noStrike" spc="-111">
                <a:solidFill>
                  <a:srgbClr val="627AEB"/>
                </a:solidFill>
                <a:latin typeface="Trebuchet MS"/>
              </a:rPr>
              <a:t>NULL</a:t>
            </a:r>
            <a:r>
              <a:rPr lang="ru-RU" sz="3300" b="0" strike="noStrike" spc="-111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29">
                <a:solidFill>
                  <a:srgbClr val="1E1E1E"/>
                </a:solidFill>
                <a:latin typeface="Trebuchet MS"/>
              </a:rPr>
              <a:t>book_id </a:t>
            </a:r>
            <a:r>
              <a:rPr lang="ru-RU" sz="3300" b="0" strike="noStrike" spc="-109">
                <a:solidFill>
                  <a:srgbClr val="627AEB"/>
                </a:solidFill>
                <a:latin typeface="Trebuchet MS"/>
              </a:rPr>
              <a:t>VARCHAR</a:t>
            </a:r>
            <a:r>
              <a:rPr lang="ru-RU" sz="3300" b="0" strike="noStrike" spc="-109">
                <a:solidFill>
                  <a:srgbClr val="1E1E1E"/>
                </a:solidFill>
                <a:latin typeface="Trebuchet MS"/>
              </a:rPr>
              <a:t>(100) </a:t>
            </a:r>
            <a:r>
              <a:rPr lang="ru-RU" sz="3300" b="0" strike="noStrike" spc="-49">
                <a:solidFill>
                  <a:srgbClr val="627AEB"/>
                </a:solidFill>
                <a:latin typeface="Trebuchet MS"/>
              </a:rPr>
              <a:t>NOT</a:t>
            </a:r>
            <a:r>
              <a:rPr lang="ru-RU" sz="3300" b="0" strike="noStrike" spc="-378">
                <a:solidFill>
                  <a:srgbClr val="627AEB"/>
                </a:solidFill>
                <a:latin typeface="Trebuchet MS"/>
              </a:rPr>
              <a:t> </a:t>
            </a:r>
            <a:r>
              <a:rPr lang="ru-RU" sz="3300" b="0" strike="noStrike" spc="-111">
                <a:solidFill>
                  <a:srgbClr val="627AEB"/>
                </a:solidFill>
                <a:latin typeface="Trebuchet MS"/>
              </a:rPr>
              <a:t>NULL</a:t>
            </a:r>
            <a:r>
              <a:rPr lang="ru-RU" sz="3300" b="0" strike="noStrike" spc="-111">
                <a:solidFill>
                  <a:srgbClr val="1E1E1E"/>
                </a:solidFill>
                <a:latin typeface="Trebuchet MS"/>
              </a:rPr>
              <a:t>,  </a:t>
            </a:r>
            <a:r>
              <a:rPr lang="ru-RU" sz="3300" b="0" strike="noStrike" spc="-134">
                <a:solidFill>
                  <a:srgbClr val="1E1E1E"/>
                </a:solidFill>
                <a:latin typeface="Trebuchet MS"/>
              </a:rPr>
              <a:t>text </a:t>
            </a:r>
            <a:r>
              <a:rPr lang="ru-RU" sz="3300" b="0" strike="noStrike" spc="-103">
                <a:solidFill>
                  <a:srgbClr val="1E1E1E"/>
                </a:solidFill>
                <a:latin typeface="Trebuchet MS"/>
              </a:rPr>
              <a:t>TEXT </a:t>
            </a:r>
            <a:r>
              <a:rPr lang="ru-RU" sz="3300" b="0" strike="noStrike" spc="-49">
                <a:solidFill>
                  <a:srgbClr val="627AEB"/>
                </a:solidFill>
                <a:latin typeface="Trebuchet MS"/>
              </a:rPr>
              <a:t>NOT</a:t>
            </a:r>
            <a:r>
              <a:rPr lang="ru-RU" sz="3300" b="0" strike="noStrike" spc="-174">
                <a:solidFill>
                  <a:srgbClr val="627AEB"/>
                </a:solidFill>
                <a:latin typeface="Trebuchet MS"/>
              </a:rPr>
              <a:t> </a:t>
            </a:r>
            <a:r>
              <a:rPr lang="ru-RU" sz="3300" b="0" strike="noStrike" spc="-111">
                <a:solidFill>
                  <a:srgbClr val="627AEB"/>
                </a:solidFill>
                <a:latin typeface="Trebuchet MS"/>
              </a:rPr>
              <a:t>NULL</a:t>
            </a:r>
            <a:r>
              <a:rPr lang="ru-RU" sz="3300" b="0" strike="noStrike" spc="-111">
                <a:solidFill>
                  <a:srgbClr val="1E1E1E"/>
                </a:solidFill>
                <a:latin typeface="Trebuchet MS"/>
              </a:rPr>
              <a:t>,</a:t>
            </a:r>
            <a:endParaRPr lang="ru-RU" sz="3300" b="0" strike="noStrike" spc="-1">
              <a:latin typeface="Arial"/>
            </a:endParaRPr>
          </a:p>
          <a:p>
            <a:pPr marL="978480">
              <a:lnSpc>
                <a:spcPts val="3815"/>
              </a:lnSpc>
            </a:pPr>
            <a:r>
              <a:rPr lang="ru-RU" sz="3300" b="0" strike="noStrike" spc="-24">
                <a:solidFill>
                  <a:srgbClr val="627AEB"/>
                </a:solidFill>
                <a:latin typeface="Trebuchet MS"/>
              </a:rPr>
              <a:t>PRIMARY </a:t>
            </a:r>
            <a:r>
              <a:rPr lang="ru-RU" sz="3300" b="0" strike="noStrike" spc="-77">
                <a:solidFill>
                  <a:srgbClr val="627AEB"/>
                </a:solidFill>
                <a:latin typeface="Trebuchet MS"/>
              </a:rPr>
              <a:t>KEY </a:t>
            </a:r>
            <a:r>
              <a:rPr lang="ru-RU" sz="3300" b="0" strike="noStrike" spc="-49">
                <a:solidFill>
                  <a:srgbClr val="1E1E1E"/>
                </a:solidFill>
                <a:latin typeface="Trebuchet MS"/>
              </a:rPr>
              <a:t>(chunk_id</a:t>
            </a:r>
            <a:r>
              <a:rPr lang="ru-RU" sz="3300" b="0" strike="noStrike" spc="-304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)</a:t>
            </a:r>
            <a:endParaRPr lang="ru-RU" sz="3300" b="0" strike="noStrike" spc="-1">
              <a:latin typeface="Arial"/>
            </a:endParaRPr>
          </a:p>
          <a:p>
            <a:pPr marL="476280">
              <a:lnSpc>
                <a:spcPts val="3960"/>
              </a:lnSpc>
            </a:pPr>
            <a:r>
              <a:rPr lang="ru-RU" sz="3300" b="0" strike="noStrike" spc="-279">
                <a:solidFill>
                  <a:srgbClr val="1E1E1E"/>
                </a:solidFill>
                <a:latin typeface="Trebuchet MS"/>
              </a:rPr>
              <a:t>)</a:t>
            </a:r>
            <a:r>
              <a:rPr lang="ru-RU" sz="3300" b="0" strike="noStrike" spc="-137">
                <a:solidFill>
                  <a:srgbClr val="1E1E1E"/>
                </a:solidFill>
                <a:latin typeface="Trebuchet MS"/>
              </a:rPr>
              <a:t> </a:t>
            </a:r>
            <a:r>
              <a:rPr lang="ru-RU" sz="3300" b="0" strike="noStrike" spc="-528">
                <a:solidFill>
                  <a:srgbClr val="1E1E1E"/>
                </a:solidFill>
                <a:latin typeface="Trebuchet MS"/>
              </a:rPr>
              <a:t>;</a:t>
            </a:r>
            <a:endParaRPr lang="ru-RU" sz="3300" b="0" strike="noStrike" spc="-1">
              <a:latin typeface="Arial"/>
            </a:endParaRPr>
          </a:p>
        </p:txBody>
      </p:sp>
      <p:sp>
        <p:nvSpPr>
          <p:cNvPr id="302" name="CustomShape 6"/>
          <p:cNvSpPr/>
          <p:nvPr/>
        </p:nvSpPr>
        <p:spPr>
          <a:xfrm>
            <a:off x="1450080" y="4387320"/>
            <a:ext cx="11111040" cy="586080"/>
          </a:xfrm>
          <a:prstGeom prst="rect">
            <a:avLst/>
          </a:prstGeom>
          <a:solidFill>
            <a:srgbClr val="BDD9D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3160" rIns="0" bIns="0"/>
          <a:lstStyle/>
          <a:p>
            <a:pPr marL="465480">
              <a:lnSpc>
                <a:spcPct val="100000"/>
              </a:lnSpc>
              <a:spcBef>
                <a:spcPts val="655"/>
              </a:spcBef>
            </a:pPr>
            <a:r>
              <a:rPr lang="ru-RU" sz="3300" b="1" strike="noStrike" spc="-143">
                <a:solidFill>
                  <a:srgbClr val="1E1E1E"/>
                </a:solidFill>
                <a:latin typeface="Arial"/>
              </a:rPr>
              <a:t>Схема</a:t>
            </a:r>
            <a:r>
              <a:rPr lang="ru-RU" sz="3300" b="1" strike="noStrike" spc="-94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1" strike="noStrike" spc="-162">
                <a:solidFill>
                  <a:srgbClr val="1E1E1E"/>
                </a:solidFill>
                <a:latin typeface="Arial"/>
              </a:rPr>
              <a:t>таблицы</a:t>
            </a:r>
            <a:endParaRPr lang="ru-RU" sz="33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Shape 1"/>
          <p:cNvSpPr txBox="1"/>
          <p:nvPr/>
        </p:nvSpPr>
        <p:spPr>
          <a:xfrm>
            <a:off x="1406160" y="1233360"/>
            <a:ext cx="2147760" cy="1900800"/>
          </a:xfrm>
          <a:prstGeom prst="rect">
            <a:avLst/>
          </a:prstGeom>
          <a:noFill/>
          <a:ln>
            <a:noFill/>
          </a:ln>
        </p:spPr>
        <p:txBody>
          <a:bodyPr lIns="0" tIns="12240" rIns="0" bIns="0"/>
          <a:lstStyle/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lang="ru-RU" sz="4950" b="1" strike="noStrike" spc="-162">
                <a:solidFill>
                  <a:srgbClr val="1E1E1E"/>
                </a:solidFill>
                <a:latin typeface="Arial"/>
              </a:rPr>
              <a:t>Задачи</a:t>
            </a:r>
            <a:endParaRPr lang="ru-RU" sz="495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TextShape 2"/>
          <p:cNvSpPr txBox="1"/>
          <p:nvPr/>
        </p:nvSpPr>
        <p:spPr>
          <a:xfrm>
            <a:off x="649800" y="10185840"/>
            <a:ext cx="553320" cy="655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25560">
              <a:lnSpc>
                <a:spcPts val="3730"/>
              </a:lnSpc>
            </a:pPr>
            <a:fld id="{8311E071-06EA-4BE9-9824-78BEDE286E3E}" type="slidenum">
              <a:rPr lang="ru-RU" sz="3300" b="1" strike="noStrike" spc="-4">
                <a:solidFill>
                  <a:srgbClr val="BFBFBF"/>
                </a:solidFill>
                <a:latin typeface="Courier New"/>
              </a:rPr>
              <a:pPr marL="25560">
                <a:lnSpc>
                  <a:spcPts val="3730"/>
                </a:lnSpc>
              </a:pPr>
              <a:t>47</a:t>
            </a:fld>
            <a:endParaRPr lang="ru-RU" sz="3300" b="0" strike="noStrike" spc="-1">
              <a:latin typeface="Times New Roman"/>
            </a:endParaRPr>
          </a:p>
        </p:txBody>
      </p:sp>
      <p:sp>
        <p:nvSpPr>
          <p:cNvPr id="305" name="CustomShape 3"/>
          <p:cNvSpPr/>
          <p:nvPr/>
        </p:nvSpPr>
        <p:spPr>
          <a:xfrm>
            <a:off x="1406160" y="3201840"/>
            <a:ext cx="11161800" cy="478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63520" rIns="0" bIns="0"/>
          <a:lstStyle/>
          <a:p>
            <a:pPr marL="12600">
              <a:lnSpc>
                <a:spcPct val="100000"/>
              </a:lnSpc>
              <a:spcBef>
                <a:spcPts val="2075"/>
              </a:spcBef>
            </a:pPr>
            <a:r>
              <a:rPr lang="ru-RU" sz="3300" b="0" strike="noStrike" spc="-162" dirty="0">
                <a:solidFill>
                  <a:srgbClr val="1E1E1E"/>
                </a:solidFill>
                <a:latin typeface="Arial"/>
              </a:rPr>
              <a:t>В </a:t>
            </a:r>
            <a:r>
              <a:rPr lang="ru-RU" sz="3300" b="0" strike="noStrike" spc="-38" dirty="0">
                <a:solidFill>
                  <a:srgbClr val="1E1E1E"/>
                </a:solidFill>
                <a:latin typeface="Arial"/>
              </a:rPr>
              <a:t>рамках </a:t>
            </a:r>
            <a:r>
              <a:rPr lang="ru-RU" sz="3300" b="0" strike="noStrike" spc="-32" dirty="0">
                <a:solidFill>
                  <a:srgbClr val="1E1E1E"/>
                </a:solidFill>
                <a:latin typeface="Arial"/>
              </a:rPr>
              <a:t>курса </a:t>
            </a:r>
            <a:r>
              <a:rPr lang="ru-RU" sz="3300" b="0" strike="noStrike" spc="-111" dirty="0" smtClean="0">
                <a:solidFill>
                  <a:srgbClr val="1E1E1E"/>
                </a:solidFill>
                <a:latin typeface="Arial"/>
              </a:rPr>
              <a:t>предполагается в том числе и  </a:t>
            </a:r>
            <a:r>
              <a:rPr lang="ru-RU" sz="3300" b="0" strike="noStrike" spc="-111" dirty="0">
                <a:solidFill>
                  <a:srgbClr val="1E1E1E"/>
                </a:solidFill>
                <a:latin typeface="Arial"/>
              </a:rPr>
              <a:t>решение </a:t>
            </a:r>
            <a:r>
              <a:rPr lang="ru-RU" sz="3300" b="0" strike="noStrike" spc="-134" dirty="0">
                <a:solidFill>
                  <a:srgbClr val="1E1E1E"/>
                </a:solidFill>
                <a:latin typeface="Arial"/>
              </a:rPr>
              <a:t>следующих</a:t>
            </a:r>
            <a:r>
              <a:rPr lang="ru-RU" sz="3300" b="0" strike="noStrike" spc="267" dirty="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28" dirty="0">
                <a:solidFill>
                  <a:srgbClr val="1E1E1E"/>
                </a:solidFill>
                <a:latin typeface="Arial"/>
              </a:rPr>
              <a:t>задач:</a:t>
            </a:r>
            <a:endParaRPr lang="ru-RU" sz="3300" b="0" strike="noStrike" spc="-1" dirty="0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4" dirty="0">
                <a:solidFill>
                  <a:srgbClr val="1E1E1E"/>
                </a:solidFill>
                <a:latin typeface="Arial"/>
              </a:rPr>
              <a:t>Отработка </a:t>
            </a:r>
            <a:r>
              <a:rPr lang="ru-RU" sz="3300" b="0" strike="noStrike" spc="-69" dirty="0">
                <a:solidFill>
                  <a:srgbClr val="1E1E1E"/>
                </a:solidFill>
                <a:latin typeface="Arial"/>
              </a:rPr>
              <a:t>базовых </a:t>
            </a:r>
            <a:r>
              <a:rPr lang="ru-RU" sz="3300" b="0" strike="noStrike" spc="-72" dirty="0">
                <a:solidFill>
                  <a:srgbClr val="1E1E1E"/>
                </a:solidFill>
                <a:latin typeface="Arial"/>
              </a:rPr>
              <a:t>навыков </a:t>
            </a:r>
            <a:r>
              <a:rPr lang="ru-RU" sz="3300" b="0" strike="noStrike" spc="-4" dirty="0">
                <a:solidFill>
                  <a:srgbClr val="1E1E1E"/>
                </a:solidFill>
                <a:latin typeface="Arial"/>
              </a:rPr>
              <a:t>обработки</a:t>
            </a:r>
            <a:r>
              <a:rPr lang="ru-RU" sz="3300" b="0" strike="noStrike" spc="287" dirty="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 dirty="0">
                <a:solidFill>
                  <a:srgbClr val="1E1E1E"/>
                </a:solidFill>
                <a:latin typeface="Arial"/>
              </a:rPr>
              <a:t>текстов;</a:t>
            </a:r>
            <a:endParaRPr lang="ru-RU" sz="3300" b="0" strike="noStrike" spc="-1" dirty="0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81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 dirty="0">
                <a:solidFill>
                  <a:srgbClr val="1E1E1E"/>
                </a:solidFill>
                <a:latin typeface="Arial"/>
              </a:rPr>
              <a:t>Знакомство </a:t>
            </a:r>
            <a:r>
              <a:rPr lang="ru-RU" sz="3300" b="0" strike="noStrike" spc="-128" dirty="0">
                <a:solidFill>
                  <a:srgbClr val="1E1E1E"/>
                </a:solidFill>
                <a:latin typeface="Arial"/>
              </a:rPr>
              <a:t>с </a:t>
            </a:r>
            <a:r>
              <a:rPr lang="ru-RU" sz="3300" b="0" strike="noStrike" spc="-94" dirty="0">
                <a:solidFill>
                  <a:srgbClr val="1E1E1E"/>
                </a:solidFill>
                <a:latin typeface="Arial"/>
              </a:rPr>
              <a:t>экосистемой языка </a:t>
            </a:r>
            <a:r>
              <a:rPr lang="ru-RU" sz="3300" b="0" strike="noStrike" spc="-77" dirty="0" err="1">
                <a:solidFill>
                  <a:srgbClr val="1E1E1E"/>
                </a:solidFill>
                <a:latin typeface="Arial"/>
              </a:rPr>
              <a:t>Python</a:t>
            </a:r>
            <a:r>
              <a:rPr lang="ru-RU" sz="3300" b="0" strike="noStrike" spc="-77" dirty="0">
                <a:solidFill>
                  <a:srgbClr val="1E1E1E"/>
                </a:solidFill>
                <a:latin typeface="Arial"/>
              </a:rPr>
              <a:t>  </a:t>
            </a:r>
            <a:r>
              <a:rPr lang="ru-RU" sz="3300" b="0" strike="noStrike" spc="-174" dirty="0">
                <a:solidFill>
                  <a:srgbClr val="1E1E1E"/>
                </a:solidFill>
                <a:latin typeface="Arial"/>
              </a:rPr>
              <a:t>для </a:t>
            </a:r>
            <a:r>
              <a:rPr lang="ru-RU" sz="3300" b="0" strike="noStrike" spc="-77" dirty="0">
                <a:solidFill>
                  <a:srgbClr val="1E1E1E"/>
                </a:solidFill>
                <a:latin typeface="Arial"/>
              </a:rPr>
              <a:t>научных</a:t>
            </a:r>
            <a:r>
              <a:rPr lang="ru-RU" sz="3300" b="0" strike="noStrike" spc="239" dirty="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143" dirty="0">
                <a:solidFill>
                  <a:srgbClr val="1E1E1E"/>
                </a:solidFill>
                <a:latin typeface="Arial"/>
              </a:rPr>
              <a:t>вычислений;</a:t>
            </a:r>
            <a:endParaRPr lang="ru-RU" sz="3300" b="0" strike="noStrike" spc="-1" dirty="0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0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111" dirty="0">
                <a:solidFill>
                  <a:srgbClr val="1E1E1E"/>
                </a:solidFill>
                <a:latin typeface="Arial"/>
              </a:rPr>
              <a:t>Тестирование </a:t>
            </a:r>
            <a:r>
              <a:rPr lang="ru-RU" sz="3300" b="0" strike="noStrike" spc="-89" dirty="0">
                <a:solidFill>
                  <a:srgbClr val="1E1E1E"/>
                </a:solidFill>
                <a:latin typeface="Arial"/>
              </a:rPr>
              <a:t>различных </a:t>
            </a:r>
            <a:r>
              <a:rPr lang="ru-RU" sz="3300" b="0" strike="noStrike" spc="-109" dirty="0">
                <a:solidFill>
                  <a:srgbClr val="1E1E1E"/>
                </a:solidFill>
                <a:latin typeface="Arial"/>
              </a:rPr>
              <a:t>методов </a:t>
            </a:r>
            <a:r>
              <a:rPr lang="ru-RU" sz="3300" b="0" strike="noStrike" spc="-63" dirty="0">
                <a:solidFill>
                  <a:srgbClr val="1E1E1E"/>
                </a:solidFill>
                <a:latin typeface="Arial"/>
              </a:rPr>
              <a:t>классификации  </a:t>
            </a:r>
            <a:r>
              <a:rPr lang="ru-RU" sz="3300" b="0" strike="noStrike" spc="-117" dirty="0">
                <a:solidFill>
                  <a:srgbClr val="1E1E1E"/>
                </a:solidFill>
                <a:latin typeface="Arial"/>
              </a:rPr>
              <a:t>(определение </a:t>
            </a:r>
            <a:r>
              <a:rPr lang="ru-RU" sz="3300" b="0" strike="noStrike" spc="-24" dirty="0">
                <a:solidFill>
                  <a:srgbClr val="1E1E1E"/>
                </a:solidFill>
                <a:latin typeface="Arial"/>
              </a:rPr>
              <a:t>автора </a:t>
            </a:r>
            <a:r>
              <a:rPr lang="ru-RU" sz="3300" b="0" strike="noStrike" spc="-123" dirty="0">
                <a:solidFill>
                  <a:srgbClr val="1E1E1E"/>
                </a:solidFill>
                <a:latin typeface="Arial"/>
              </a:rPr>
              <a:t>или</a:t>
            </a:r>
            <a:r>
              <a:rPr lang="ru-RU" sz="3300" b="0" strike="noStrike" spc="253" dirty="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89" dirty="0">
                <a:solidFill>
                  <a:srgbClr val="1E1E1E"/>
                </a:solidFill>
                <a:latin typeface="Arial"/>
              </a:rPr>
              <a:t>книги);</a:t>
            </a:r>
            <a:endParaRPr lang="ru-RU" sz="3300" b="0" strike="noStrike" spc="-1" dirty="0">
              <a:latin typeface="Arial"/>
            </a:endParaRPr>
          </a:p>
          <a:p>
            <a:pPr marL="515160" indent="-501840">
              <a:lnSpc>
                <a:spcPct val="100000"/>
              </a:lnSpc>
              <a:spcBef>
                <a:spcPts val="1976"/>
              </a:spcBef>
              <a:buClr>
                <a:srgbClr val="BDD9DE"/>
              </a:buClr>
              <a:buFont typeface="Arial"/>
              <a:buChar char="•"/>
            </a:pPr>
            <a:r>
              <a:rPr lang="ru-RU" sz="3300" b="0" strike="noStrike" spc="-58" dirty="0">
                <a:solidFill>
                  <a:srgbClr val="1E1E1E"/>
                </a:solidFill>
                <a:latin typeface="Arial"/>
              </a:rPr>
              <a:t>Кластеризация</a:t>
            </a:r>
            <a:r>
              <a:rPr lang="ru-RU" sz="3300" b="0" strike="noStrike" spc="32" dirty="0">
                <a:solidFill>
                  <a:srgbClr val="1E1E1E"/>
                </a:solidFill>
                <a:latin typeface="Arial"/>
              </a:rPr>
              <a:t> </a:t>
            </a:r>
            <a:r>
              <a:rPr lang="ru-RU" sz="3300" b="0" strike="noStrike" spc="-97" dirty="0">
                <a:solidFill>
                  <a:srgbClr val="1E1E1E"/>
                </a:solidFill>
                <a:latin typeface="Arial"/>
              </a:rPr>
              <a:t>текстов.</a:t>
            </a:r>
            <a:endParaRPr lang="ru-RU" sz="3300" b="0" strike="noStrike" spc="-1" dirty="0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2527</Words>
  <Application>Microsoft Office PowerPoint</Application>
  <PresentationFormat>Произвольный</PresentationFormat>
  <Paragraphs>595</Paragraphs>
  <Slides>47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47</vt:i4>
      </vt:variant>
    </vt:vector>
  </HeadingPairs>
  <TitlesOfParts>
    <vt:vector size="49" baseType="lpstr">
      <vt:lpstr>Office Theme</vt:lpstr>
      <vt:lpstr>Office Theme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Слайд 30</vt:lpstr>
      <vt:lpstr>Слайд 31</vt:lpstr>
      <vt:lpstr>Слайд 32</vt:lpstr>
      <vt:lpstr>Слайд 33</vt:lpstr>
      <vt:lpstr>Слайд 34</vt:lpstr>
      <vt:lpstr>Слайд 35</vt:lpstr>
      <vt:lpstr>Слайд 36</vt:lpstr>
      <vt:lpstr>Слайд 37</vt:lpstr>
      <vt:lpstr>Слайд 38</vt:lpstr>
      <vt:lpstr>Слайд 39</vt:lpstr>
      <vt:lpstr>Слайд 40</vt:lpstr>
      <vt:lpstr>Слайд 41</vt:lpstr>
      <vt:lpstr>Слайд 42</vt:lpstr>
      <vt:lpstr>Слайд 43</vt:lpstr>
      <vt:lpstr>Слайд 44</vt:lpstr>
      <vt:lpstr>Слайд 45</vt:lpstr>
      <vt:lpstr>Слайд 46</vt:lpstr>
      <vt:lpstr>Слайд 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Историческая справка</dc:title>
  <dc:subject/>
  <dc:creator/>
  <dc:description/>
  <cp:lastModifiedBy>Antil</cp:lastModifiedBy>
  <cp:revision>5</cp:revision>
  <dcterms:created xsi:type="dcterms:W3CDTF">2019-02-11T11:41:51Z</dcterms:created>
  <dcterms:modified xsi:type="dcterms:W3CDTF">2025-09-02T05:52:59Z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Created">
    <vt:filetime>2017-09-14T00:00:00Z</vt:filetime>
  </property>
  <property fmtid="{D5CDD505-2E9C-101B-9397-08002B2CF9AE}" pid="4" name="Creator">
    <vt:lpwstr>Adobe InDesign CC 2015 (Windows)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astSaved">
    <vt:filetime>2019-02-11T00:00:00Z</vt:filetime>
  </property>
  <property fmtid="{D5CDD505-2E9C-101B-9397-08002B2CF9AE}" pid="8" name="LinksUpToDate">
    <vt:bool>false</vt:bool>
  </property>
  <property fmtid="{D5CDD505-2E9C-101B-9397-08002B2CF9AE}" pid="9" name="MMClips">
    <vt:i4>0</vt:i4>
  </property>
  <property fmtid="{D5CDD505-2E9C-101B-9397-08002B2CF9AE}" pid="10" name="Notes">
    <vt:i4>0</vt:i4>
  </property>
  <property fmtid="{D5CDD505-2E9C-101B-9397-08002B2CF9AE}" pid="11" name="PresentationFormat">
    <vt:lpwstr>Произвольный</vt:lpwstr>
  </property>
  <property fmtid="{D5CDD505-2E9C-101B-9397-08002B2CF9AE}" pid="12" name="ScaleCrop">
    <vt:bool>false</vt:bool>
  </property>
  <property fmtid="{D5CDD505-2E9C-101B-9397-08002B2CF9AE}" pid="13" name="ShareDoc">
    <vt:bool>false</vt:bool>
  </property>
  <property fmtid="{D5CDD505-2E9C-101B-9397-08002B2CF9AE}" pid="14" name="Slides">
    <vt:i4>47</vt:i4>
  </property>
</Properties>
</file>