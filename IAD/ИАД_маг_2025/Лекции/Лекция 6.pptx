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59" r:id="rId6"/>
    <p:sldId id="260" r:id="rId7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106" d="100"/>
          <a:sy n="106" d="100"/>
        </p:scale>
        <p:origin x="-1668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24.10.2022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24.10.2022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24.10.2022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24.10.2022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24.10.2022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24.10.2022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24.10.2022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24.10.2022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24.10.2022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24.10.2022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24.10.2022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06E36-FD25-4E2D-B0AA-010F637433A0}" type="datetimeFigureOut">
              <a:rPr lang="ru-RU" smtClean="0"/>
              <a:pPr/>
              <a:t>24.10.2022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Решение задачи регрессии при помощи НС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Регрессия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Предсказание стоимости домов в Бостоне</a:t>
            </a:r>
            <a:endParaRPr lang="ru-RU" dirty="0"/>
          </a:p>
        </p:txBody>
      </p:sp>
      <p:pic>
        <p:nvPicPr>
          <p:cNvPr id="1026" name="Picture 2" descr="8) Линейная регрессия - CoderLessons.com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067175" y="3071810"/>
            <a:ext cx="5076825" cy="340042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1. </a:t>
            </a:r>
            <a:r>
              <a:rPr lang="ru-RU" dirty="0" smtClean="0"/>
              <a:t>Общее изучение набора данных</a:t>
            </a:r>
            <a:br>
              <a:rPr lang="ru-RU" dirty="0" smtClean="0"/>
            </a:br>
            <a:r>
              <a:rPr lang="en-US" sz="3100" dirty="0" smtClean="0"/>
              <a:t>Boston </a:t>
            </a:r>
            <a:r>
              <a:rPr lang="en-US" sz="3100" dirty="0" smtClean="0"/>
              <a:t>housing </a:t>
            </a:r>
            <a:r>
              <a:rPr lang="en-US" sz="3100" dirty="0" smtClean="0"/>
              <a:t>(</a:t>
            </a:r>
            <a:r>
              <a:rPr lang="en-US" sz="3100" dirty="0" smtClean="0"/>
              <a:t>506 rows and 14 columns)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fontAlgn="base"/>
            <a:r>
              <a:rPr lang="en-US" i="1" dirty="0" err="1" smtClean="0"/>
              <a:t>Crim</a:t>
            </a:r>
            <a:r>
              <a:rPr lang="en-US" i="1" dirty="0" smtClean="0"/>
              <a:t> - </a:t>
            </a:r>
            <a:r>
              <a:rPr lang="en-US" dirty="0" smtClean="0"/>
              <a:t>per capita crime rate by town.</a:t>
            </a:r>
          </a:p>
          <a:p>
            <a:pPr fontAlgn="base"/>
            <a:r>
              <a:rPr lang="en-US" i="1" dirty="0" smtClean="0"/>
              <a:t>Zn - </a:t>
            </a:r>
            <a:r>
              <a:rPr lang="en-US" dirty="0" smtClean="0"/>
              <a:t>proportion of residential land zoned for lots over 25,000 </a:t>
            </a:r>
            <a:r>
              <a:rPr lang="en-US" dirty="0" err="1" smtClean="0"/>
              <a:t>sq.ft</a:t>
            </a:r>
            <a:r>
              <a:rPr lang="en-US" dirty="0" smtClean="0"/>
              <a:t>.</a:t>
            </a:r>
          </a:p>
          <a:p>
            <a:pPr fontAlgn="base"/>
            <a:r>
              <a:rPr lang="en-US" i="1" dirty="0" smtClean="0"/>
              <a:t>Indus - </a:t>
            </a:r>
            <a:r>
              <a:rPr lang="en-US" dirty="0" smtClean="0"/>
              <a:t>proportion of non-retail business acres per town.</a:t>
            </a:r>
          </a:p>
          <a:p>
            <a:pPr fontAlgn="base"/>
            <a:r>
              <a:rPr lang="en-US" i="1" dirty="0" smtClean="0"/>
              <a:t>Chas - </a:t>
            </a:r>
            <a:r>
              <a:rPr lang="en-US" dirty="0" smtClean="0"/>
              <a:t>Charles River dummy variable (= 1 if tract bounds river; 0 otherwise).</a:t>
            </a:r>
          </a:p>
          <a:p>
            <a:pPr fontAlgn="base"/>
            <a:r>
              <a:rPr lang="en-US" i="1" dirty="0" err="1" smtClean="0"/>
              <a:t>Nox</a:t>
            </a:r>
            <a:r>
              <a:rPr lang="en-US" i="1" dirty="0" smtClean="0"/>
              <a:t> - </a:t>
            </a:r>
            <a:r>
              <a:rPr lang="en-US" dirty="0" smtClean="0"/>
              <a:t>nitrogen oxides concentration (parts per 10 million).</a:t>
            </a:r>
          </a:p>
          <a:p>
            <a:pPr fontAlgn="base"/>
            <a:r>
              <a:rPr lang="en-US" i="1" dirty="0" err="1" smtClean="0"/>
              <a:t>Rm</a:t>
            </a:r>
            <a:r>
              <a:rPr lang="en-US" i="1" dirty="0" smtClean="0"/>
              <a:t> - </a:t>
            </a:r>
            <a:r>
              <a:rPr lang="en-US" dirty="0" smtClean="0"/>
              <a:t>average number of rooms per dwelling.</a:t>
            </a:r>
          </a:p>
          <a:p>
            <a:pPr fontAlgn="base"/>
            <a:r>
              <a:rPr lang="en-US" i="1" dirty="0" smtClean="0"/>
              <a:t>Age - </a:t>
            </a:r>
            <a:r>
              <a:rPr lang="en-US" dirty="0" smtClean="0"/>
              <a:t>proportion of owner-occupied units built prior to 1940.</a:t>
            </a:r>
          </a:p>
          <a:p>
            <a:pPr fontAlgn="base"/>
            <a:r>
              <a:rPr lang="en-US" i="1" dirty="0" err="1" smtClean="0"/>
              <a:t>Dis</a:t>
            </a:r>
            <a:r>
              <a:rPr lang="en-US" i="1" dirty="0" smtClean="0"/>
              <a:t> - </a:t>
            </a:r>
            <a:r>
              <a:rPr lang="en-US" dirty="0" smtClean="0"/>
              <a:t>weighted mean of distances to five Boston employment </a:t>
            </a:r>
            <a:r>
              <a:rPr lang="en-US" dirty="0" err="1" smtClean="0"/>
              <a:t>centres</a:t>
            </a:r>
            <a:r>
              <a:rPr lang="en-US" dirty="0" smtClean="0"/>
              <a:t>.</a:t>
            </a:r>
          </a:p>
          <a:p>
            <a:pPr fontAlgn="base"/>
            <a:r>
              <a:rPr lang="en-US" i="1" dirty="0" err="1" smtClean="0"/>
              <a:t>Rad</a:t>
            </a:r>
            <a:r>
              <a:rPr lang="en-US" i="1" dirty="0" smtClean="0"/>
              <a:t> - </a:t>
            </a:r>
            <a:r>
              <a:rPr lang="en-US" dirty="0" smtClean="0"/>
              <a:t>index of accessibility to radial highways.</a:t>
            </a:r>
          </a:p>
          <a:p>
            <a:pPr fontAlgn="base"/>
            <a:r>
              <a:rPr lang="en-US" i="1" dirty="0" smtClean="0"/>
              <a:t>Tax - </a:t>
            </a:r>
            <a:r>
              <a:rPr lang="en-US" dirty="0" smtClean="0"/>
              <a:t>full-value property-tax rate per \$10,000.</a:t>
            </a:r>
          </a:p>
          <a:p>
            <a:pPr fontAlgn="base"/>
            <a:r>
              <a:rPr lang="en-US" i="1" dirty="0" err="1" smtClean="0"/>
              <a:t>Ptratio</a:t>
            </a:r>
            <a:r>
              <a:rPr lang="en-US" i="1" dirty="0" smtClean="0"/>
              <a:t> - </a:t>
            </a:r>
            <a:r>
              <a:rPr lang="en-US" dirty="0" smtClean="0"/>
              <a:t>pupil-teacher ratio by town.</a:t>
            </a:r>
          </a:p>
          <a:p>
            <a:pPr fontAlgn="base"/>
            <a:r>
              <a:rPr lang="en-US" i="1" dirty="0" smtClean="0"/>
              <a:t>Black - </a:t>
            </a:r>
            <a:r>
              <a:rPr lang="en-US" dirty="0" smtClean="0"/>
              <a:t>1000(</a:t>
            </a:r>
            <a:r>
              <a:rPr lang="en-US" dirty="0" err="1" smtClean="0"/>
              <a:t>Bk</a:t>
            </a:r>
            <a:r>
              <a:rPr lang="en-US" dirty="0" smtClean="0"/>
              <a:t> - 0.63)^2 where </a:t>
            </a:r>
            <a:r>
              <a:rPr lang="en-US" dirty="0" err="1" smtClean="0"/>
              <a:t>Bk</a:t>
            </a:r>
            <a:r>
              <a:rPr lang="en-US" dirty="0" smtClean="0"/>
              <a:t> is the proportion of blacks by town.</a:t>
            </a:r>
          </a:p>
          <a:p>
            <a:pPr fontAlgn="base"/>
            <a:r>
              <a:rPr lang="en-US" i="1" dirty="0" err="1" smtClean="0"/>
              <a:t>Lstat</a:t>
            </a:r>
            <a:r>
              <a:rPr lang="en-US" i="1" dirty="0" smtClean="0"/>
              <a:t> - </a:t>
            </a:r>
            <a:r>
              <a:rPr lang="en-US" dirty="0" smtClean="0"/>
              <a:t>lower status of the population (percent).</a:t>
            </a:r>
          </a:p>
          <a:p>
            <a:pPr fontAlgn="base"/>
            <a:r>
              <a:rPr lang="en-US" i="1" dirty="0" err="1" smtClean="0"/>
              <a:t>Medv</a:t>
            </a:r>
            <a:r>
              <a:rPr lang="en-US" i="1" dirty="0" smtClean="0"/>
              <a:t> - </a:t>
            </a:r>
            <a:r>
              <a:rPr lang="en-US" dirty="0" smtClean="0"/>
              <a:t>median value of owner-occupied homes in \$1000s.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Порядок исследования данных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514350" indent="-514350">
              <a:buAutoNum type="arabicPeriod"/>
            </a:pPr>
            <a:r>
              <a:rPr lang="ru-RU" dirty="0" smtClean="0"/>
              <a:t>Общее изучение набора данных</a:t>
            </a:r>
          </a:p>
          <a:p>
            <a:pPr marL="514350" indent="-514350">
              <a:buAutoNum type="arabicPeriod"/>
            </a:pPr>
            <a:r>
              <a:rPr lang="ru-RU" dirty="0" smtClean="0"/>
              <a:t>Предобработка данных: название столбцов, недостающие данные, проверка типов данных, проверка диапазонов.</a:t>
            </a:r>
          </a:p>
          <a:p>
            <a:pPr marL="514350" indent="-514350">
              <a:buAutoNum type="arabicPeriod"/>
            </a:pPr>
            <a:r>
              <a:rPr lang="ru-RU" dirty="0" smtClean="0"/>
              <a:t>Графики зависимостей (выявление выбросов, решение вопроса об их исключении/принятии)</a:t>
            </a:r>
          </a:p>
          <a:p>
            <a:pPr marL="514350" indent="-514350">
              <a:buAutoNum type="arabicPeriod"/>
            </a:pPr>
            <a:r>
              <a:rPr lang="ru-RU" dirty="0" smtClean="0"/>
              <a:t>Нахождение корреляции между столбцами</a:t>
            </a:r>
          </a:p>
          <a:p>
            <a:pPr marL="514350" indent="-514350">
              <a:buAutoNum type="arabicPeriod"/>
            </a:pPr>
            <a:r>
              <a:rPr lang="ru-RU" dirty="0" smtClean="0"/>
              <a:t>Проведение регрессионного анализа</a:t>
            </a:r>
          </a:p>
          <a:p>
            <a:pPr marL="514350" indent="-514350">
              <a:buAutoNum type="arabicPeriod"/>
            </a:pPr>
            <a:endParaRPr lang="ru-RU" dirty="0" smtClean="0"/>
          </a:p>
          <a:p>
            <a:pPr marL="514350" indent="-514350">
              <a:buAutoNum type="arabicPeriod"/>
            </a:pPr>
            <a:endParaRPr lang="ru-RU" dirty="0" smtClean="0"/>
          </a:p>
          <a:p>
            <a:pPr marL="514350" indent="-514350">
              <a:buAutoNum type="arabicPeriod"/>
            </a:pPr>
            <a:endParaRPr lang="ru-RU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Boston housing </a:t>
            </a:r>
            <a:br>
              <a:rPr lang="en-US" dirty="0" smtClean="0"/>
            </a:br>
            <a:r>
              <a:rPr lang="en-US" dirty="0" smtClean="0"/>
              <a:t>(506 rows and 14 columns)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pPr>
              <a:buNone/>
            </a:pPr>
            <a:r>
              <a:rPr lang="ru-RU" dirty="0" smtClean="0"/>
              <a:t>Разные диапазоны изменения признаков!</a:t>
            </a:r>
            <a:endParaRPr lang="ru-RU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/>
          <a:srcRect l="16584" t="27214" r="18357" b="34232"/>
          <a:stretch>
            <a:fillRect/>
          </a:stretch>
        </p:blipFill>
        <p:spPr bwMode="auto">
          <a:xfrm>
            <a:off x="500034" y="1785926"/>
            <a:ext cx="8358209" cy="2786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Boston housing </a:t>
            </a:r>
            <a:br>
              <a:rPr lang="en-US" dirty="0" smtClean="0"/>
            </a:br>
            <a:r>
              <a:rPr lang="en-US" dirty="0" smtClean="0"/>
              <a:t>(506 rows and 14 columns)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ru-RU" dirty="0" smtClean="0"/>
          </a:p>
          <a:p>
            <a:endParaRPr lang="ru-RU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ru-RU" dirty="0" smtClean="0"/>
              <a:t>Стандартизация:</a:t>
            </a:r>
          </a:p>
          <a:p>
            <a:pPr marL="514350" indent="-514350">
              <a:buAutoNum type="arabicPeriod"/>
            </a:pPr>
            <a:r>
              <a:rPr lang="ru-RU" dirty="0" smtClean="0"/>
              <a:t>Среднее значение = 0</a:t>
            </a:r>
          </a:p>
          <a:p>
            <a:pPr marL="514350" indent="-514350">
              <a:buAutoNum type="arabicPeriod"/>
            </a:pPr>
            <a:r>
              <a:rPr lang="ru-RU" dirty="0" smtClean="0"/>
              <a:t>Дисперсия = 1</a:t>
            </a:r>
            <a:endParaRPr lang="en-US" dirty="0" smtClean="0"/>
          </a:p>
          <a:p>
            <a:pPr>
              <a:buNone/>
            </a:pPr>
            <a:r>
              <a:rPr lang="ru-RU" dirty="0" smtClean="0"/>
              <a:t>Алгоритм:</a:t>
            </a:r>
          </a:p>
          <a:p>
            <a:pPr marL="514350" indent="-514350">
              <a:buAutoNum type="arabicPeriod"/>
            </a:pPr>
            <a:r>
              <a:rPr lang="ru-RU" dirty="0" smtClean="0"/>
              <a:t>Вычесть среднее значение</a:t>
            </a:r>
          </a:p>
          <a:p>
            <a:pPr marL="514350" indent="-514350">
              <a:buAutoNum type="arabicPeriod"/>
            </a:pPr>
            <a:r>
              <a:rPr lang="ru-RU" dirty="0" smtClean="0"/>
              <a:t>Разделить на стандартное отклонение</a:t>
            </a:r>
            <a:endParaRPr lang="ru-RU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/>
          <a:srcRect l="16584" t="27214" r="18357" b="34232"/>
          <a:stretch>
            <a:fillRect/>
          </a:stretch>
        </p:blipFill>
        <p:spPr bwMode="auto">
          <a:xfrm>
            <a:off x="2500298" y="1500174"/>
            <a:ext cx="6429383" cy="2143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241</Words>
  <PresentationFormat>Экран (4:3)</PresentationFormat>
  <Paragraphs>46</Paragraphs>
  <Slides>6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7" baseType="lpstr">
      <vt:lpstr>Тема Office</vt:lpstr>
      <vt:lpstr>Решение задачи регрессии при помощи НС</vt:lpstr>
      <vt:lpstr>Регрессия</vt:lpstr>
      <vt:lpstr>1. Общее изучение набора данных Boston housing (506 rows and 14 columns)</vt:lpstr>
      <vt:lpstr>Порядок исследования данных</vt:lpstr>
      <vt:lpstr>Boston housing  (506 rows and 14 columns)</vt:lpstr>
      <vt:lpstr>Boston housing  (506 rows and 14 columns)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Решение задачи регрессии при помощи НС</dc:title>
  <dc:creator>Anton Katermin</dc:creator>
  <cp:lastModifiedBy>Anton Katermin</cp:lastModifiedBy>
  <cp:revision>7</cp:revision>
  <dcterms:created xsi:type="dcterms:W3CDTF">2021-11-10T05:57:00Z</dcterms:created>
  <dcterms:modified xsi:type="dcterms:W3CDTF">2022-10-24T09:41:11Z</dcterms:modified>
</cp:coreProperties>
</file>